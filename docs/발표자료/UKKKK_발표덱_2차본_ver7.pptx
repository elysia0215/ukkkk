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2df6f557ab413d" /><Relationship Type="http://schemas.openxmlformats.org/officeDocument/2006/relationships/extended-properties" Target="/docProps/app.xml" Id="R5848db7f9bc44da0" /><Relationship Type="http://schemas.openxmlformats.org/officeDocument/2006/relationships/officeDocument" Target="/ppt/presentation.xml" Id="Reb51adda1f8742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08b776af5a4b5f"/>
  </p:sldMasterIdLst>
  <p:notesMasterIdLst>
    <p:notesMasterId xmlns:r="http://schemas.openxmlformats.org/officeDocument/2006/relationships" r:id="Re642f3aa9aea4799"/>
  </p:notesMasterIdLst>
  <p:sldIdLst>
    <p:sldId xmlns:r="http://schemas.openxmlformats.org/officeDocument/2006/relationships" id="256" r:id="R1e66c3e0003e4e0b"/>
    <p:sldId xmlns:r="http://schemas.openxmlformats.org/officeDocument/2006/relationships" id="257" r:id="Rc07ed3fd8ec14861"/>
    <p:sldId xmlns:r="http://schemas.openxmlformats.org/officeDocument/2006/relationships" id="258" r:id="Rac0193cdf2b241a6"/>
    <p:sldId xmlns:r="http://schemas.openxmlformats.org/officeDocument/2006/relationships" id="259" r:id="R66d745e8ff5f476c"/>
    <p:sldId xmlns:r="http://schemas.openxmlformats.org/officeDocument/2006/relationships" id="260" r:id="Rd1fa209881ad465d"/>
    <p:sldId xmlns:r="http://schemas.openxmlformats.org/officeDocument/2006/relationships" id="261" r:id="Rd10b070f66584d6b"/>
    <p:sldId xmlns:r="http://schemas.openxmlformats.org/officeDocument/2006/relationships" id="262" r:id="Rf1ac526200264855"/>
    <p:sldId xmlns:r="http://schemas.openxmlformats.org/officeDocument/2006/relationships" id="263" r:id="R505d705f9df84394"/>
    <p:sldId xmlns:r="http://schemas.openxmlformats.org/officeDocument/2006/relationships" id="264" r:id="R16c806a55a8943fd"/>
    <p:sldId xmlns:r="http://schemas.openxmlformats.org/officeDocument/2006/relationships" id="265" r:id="Reed24fd22bed421a"/>
    <p:sldId xmlns:r="http://schemas.openxmlformats.org/officeDocument/2006/relationships" id="266" r:id="R37f66d143bdd45d2"/>
    <p:sldId xmlns:r="http://schemas.openxmlformats.org/officeDocument/2006/relationships" id="267" r:id="Ra37933e3c6934e1c"/>
    <p:sldId xmlns:r="http://schemas.openxmlformats.org/officeDocument/2006/relationships" id="268" r:id="Rfc8f80c59d8f4e73"/>
    <p:sldId xmlns:r="http://schemas.openxmlformats.org/officeDocument/2006/relationships" id="269" r:id="Rbb117332078f444c"/>
    <p:sldId xmlns:r="http://schemas.openxmlformats.org/officeDocument/2006/relationships" id="270" r:id="R458914c75e344c87"/>
    <p:sldId xmlns:r="http://schemas.openxmlformats.org/officeDocument/2006/relationships" id="271" r:id="Rec034f3e40b34028"/>
    <p:sldId xmlns:r="http://schemas.openxmlformats.org/officeDocument/2006/relationships" id="272" r:id="R3edd35ee085a42c6"/>
    <p:sldId xmlns:r="http://schemas.openxmlformats.org/officeDocument/2006/relationships" id="273" r:id="Ra86dd400ebbe4290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c5a19a6125402a" /><Relationship Type="http://schemas.openxmlformats.org/officeDocument/2006/relationships/slideMaster" Target="/ppt/slideMasters/slideMaster1.xml" Id="R8008b776af5a4b5f" /><Relationship Type="http://schemas.openxmlformats.org/officeDocument/2006/relationships/notesMaster" Target="/ppt/notesMasters/notesMaster1.xml" Id="Re642f3aa9aea4799" /><Relationship Type="http://schemas.openxmlformats.org/officeDocument/2006/relationships/presProps" Target="/ppt/presProps.xml" Id="R452d76049523447f" /><Relationship Type="http://schemas.openxmlformats.org/officeDocument/2006/relationships/viewProps" Target="/ppt/viewProps.xml" Id="R8abf1a565e844f7a" /><Relationship Type="http://schemas.openxmlformats.org/officeDocument/2006/relationships/tableStyles" Target="/ppt/tableStyles.xml" Id="R5a5f76f18bf54d82" /><Relationship Type="http://schemas.openxmlformats.org/officeDocument/2006/relationships/slide" Target="/ppt/slides/slide1.xml" Id="R1e66c3e0003e4e0b" /><Relationship Type="http://schemas.openxmlformats.org/officeDocument/2006/relationships/slide" Target="/ppt/slides/slide2.xml" Id="Rc07ed3fd8ec14861" /><Relationship Type="http://schemas.openxmlformats.org/officeDocument/2006/relationships/slide" Target="/ppt/slides/slide3.xml" Id="Rac0193cdf2b241a6" /><Relationship Type="http://schemas.openxmlformats.org/officeDocument/2006/relationships/slide" Target="/ppt/slides/slide4.xml" Id="R66d745e8ff5f476c" /><Relationship Type="http://schemas.openxmlformats.org/officeDocument/2006/relationships/slide" Target="/ppt/slides/slide5.xml" Id="Rd1fa209881ad465d" /><Relationship Type="http://schemas.openxmlformats.org/officeDocument/2006/relationships/slide" Target="/ppt/slides/slide6.xml" Id="Rd10b070f66584d6b" /><Relationship Type="http://schemas.openxmlformats.org/officeDocument/2006/relationships/slide" Target="/ppt/slides/slide7.xml" Id="Rf1ac526200264855" /><Relationship Type="http://schemas.openxmlformats.org/officeDocument/2006/relationships/slide" Target="/ppt/slides/slide8.xml" Id="R505d705f9df84394" /><Relationship Type="http://schemas.openxmlformats.org/officeDocument/2006/relationships/slide" Target="/ppt/slides/slide9.xml" Id="R16c806a55a8943fd" /><Relationship Type="http://schemas.openxmlformats.org/officeDocument/2006/relationships/slide" Target="/ppt/slides/slide10.xml" Id="Reed24fd22bed421a" /><Relationship Type="http://schemas.openxmlformats.org/officeDocument/2006/relationships/slide" Target="/ppt/slides/slide11.xml" Id="R37f66d143bdd45d2" /><Relationship Type="http://schemas.openxmlformats.org/officeDocument/2006/relationships/slide" Target="/ppt/slides/slide12.xml" Id="Ra37933e3c6934e1c" /><Relationship Type="http://schemas.openxmlformats.org/officeDocument/2006/relationships/slide" Target="/ppt/slides/slide13.xml" Id="Rfc8f80c59d8f4e73" /><Relationship Type="http://schemas.openxmlformats.org/officeDocument/2006/relationships/slide" Target="/ppt/slides/slide14.xml" Id="Rbb117332078f444c" /><Relationship Type="http://schemas.openxmlformats.org/officeDocument/2006/relationships/slide" Target="/ppt/slides/slide15.xml" Id="R458914c75e344c87" /><Relationship Type="http://schemas.openxmlformats.org/officeDocument/2006/relationships/slide" Target="/ppt/slides/slide16.xml" Id="Rec034f3e40b34028" /><Relationship Type="http://schemas.openxmlformats.org/officeDocument/2006/relationships/slide" Target="/ppt/slides/slide17.xml" Id="R3edd35ee085a42c6" /><Relationship Type="http://schemas.openxmlformats.org/officeDocument/2006/relationships/slide" Target="/ppt/slides/slide18.xml" Id="Ra86dd400ebbe42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412c062684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2f6100fd2f472e" /><Relationship Type="http://schemas.openxmlformats.org/officeDocument/2006/relationships/notesMaster" Target="/ppt/notesMasters/notesMaster1.xml" Id="R54d7c7df205e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10989d9032418e" /><Relationship Type="http://schemas.openxmlformats.org/officeDocument/2006/relationships/notesMaster" Target="/ppt/notesMasters/notesMaster1.xml" Id="R42af8c21a08943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b83885a92a4afd" /><Relationship Type="http://schemas.openxmlformats.org/officeDocument/2006/relationships/notesMaster" Target="/ppt/notesMasters/notesMaster1.xml" Id="R46a5397cda7942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9d287ed6424e08" /><Relationship Type="http://schemas.openxmlformats.org/officeDocument/2006/relationships/notesMaster" Target="/ppt/notesMasters/notesMaster1.xml" Id="R650ae860aebc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02ae6c22274de7" /><Relationship Type="http://schemas.openxmlformats.org/officeDocument/2006/relationships/notesMaster" Target="/ppt/notesMasters/notesMaster1.xml" Id="Rbb3e411d134e48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7df201d94b478f" /><Relationship Type="http://schemas.openxmlformats.org/officeDocument/2006/relationships/notesMaster" Target="/ppt/notesMasters/notesMaster1.xml" Id="R7843d6a753cc47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05a9b468ca4b03" /><Relationship Type="http://schemas.openxmlformats.org/officeDocument/2006/relationships/notesMaster" Target="/ppt/notesMasters/notesMaster1.xml" Id="R48777244ce1343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ca97b20a0c4216" /><Relationship Type="http://schemas.openxmlformats.org/officeDocument/2006/relationships/notesMaster" Target="/ppt/notesMasters/notesMaster1.xml" Id="R3b368f2247a240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e0b5f4a8f84291" /><Relationship Type="http://schemas.openxmlformats.org/officeDocument/2006/relationships/notesMaster" Target="/ppt/notesMasters/notesMaster1.xml" Id="Re172e0c4966941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d63c0fe3884752" /><Relationship Type="http://schemas.openxmlformats.org/officeDocument/2006/relationships/notesMaster" Target="/ppt/notesMasters/notesMaster1.xml" Id="R42be4fb566e347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c16b9e579c496c" /><Relationship Type="http://schemas.openxmlformats.org/officeDocument/2006/relationships/notesMaster" Target="/ppt/notesMasters/notesMaster1.xml" Id="R8a2fca6db2e04b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a98f37cdb34eb5" /><Relationship Type="http://schemas.openxmlformats.org/officeDocument/2006/relationships/notesMaster" Target="/ppt/notesMasters/notesMaster1.xml" Id="Raeb4ccff67574b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4b181d1f3c420e" /><Relationship Type="http://schemas.openxmlformats.org/officeDocument/2006/relationships/notesMaster" Target="/ppt/notesMasters/notesMaster1.xml" Id="Rf0cce14ece0c4e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e5193dee7e461a" /><Relationship Type="http://schemas.openxmlformats.org/officeDocument/2006/relationships/notesMaster" Target="/ppt/notesMasters/notesMaster1.xml" Id="Rb32336c87d074a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669f0b4ccc4ee4" /><Relationship Type="http://schemas.openxmlformats.org/officeDocument/2006/relationships/notesMaster" Target="/ppt/notesMasters/notesMaster1.xml" Id="R0e7431344a9c4a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71a2afb4f04b60" /><Relationship Type="http://schemas.openxmlformats.org/officeDocument/2006/relationships/notesMaster" Target="/ppt/notesMasters/notesMaster1.xml" Id="R5433d6d99a004f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bc93d93c3b487b" /><Relationship Type="http://schemas.openxmlformats.org/officeDocument/2006/relationships/notesMaster" Target="/ppt/notesMasters/notesMaster1.xml" Id="R48db8b14a65746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175ef3e9864db5" /><Relationship Type="http://schemas.openxmlformats.org/officeDocument/2006/relationships/notesMaster" Target="/ppt/notesMasters/notesMaster1.xml" Id="R5918f8c4cccc47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4조 UKKKK입니다.  </a:t>
            </a:r>
          </a:p>
          <a:p xmlns:a="http://schemas.openxmlformats.org/drawingml/2006/main">
            <a:r>
              <a:t>원래 과제는 출산·양육 관련 민원과 데이터를 수집해 정책 수요를 도출하는 것이었습니다. 그런데 실제 ‘상상대로 서울’ 데이터를 확인하면서, 시민 제안의 답변 상태와 반복 수요, 실제 담당팀 후보, 기존 정책 근거가 한 흐름으로 연결되어 있지 않다는 점에 주목했습니다.  </a:t>
            </a:r>
          </a:p>
          <a:p xmlns:a="http://schemas.openxmlformats.org/drawingml/2006/main">
            <a:r>
              <a:t>그래서 저희는 상상대로 서울을 대체하는 서비스가 아니라, **시민 제안을 정책 검토와 후속 조치로 연결해 플랫폼의 활용을 돕는 백오피스**를 만들었습니다.  </a:t>
            </a:r>
          </a:p>
          <a:p xmlns:a="http://schemas.openxmlformats.org/drawingml/2006/main">
            <a:r>
              <a:t>UKKKK는 시민 제안·민원·정책·뉴스·통계를 통합하고, 시민 수요를 담당 범위와 판단 근거, 다음 조치로 연결하는 행정 의사결정 지원 대시보드입니다.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  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  </a:t>
            </a:r>
          </a:p>
          <a:p xmlns:a="http://schemas.openxmlformats.org/drawingml/2006/main">
            <a:r>
              <a:t>여러 정책 영역에 걸친 제안과 본문·지역 범위 미확인은 실제 데이터에서 확인했습니다. 담당자의 시스템 사용 방식과 업무 부담은 이번 분석 범위에 포함하지 않았으며, 가상 페르소나는 제품 기능과 시연 흐름을 설명하기 위한 설정입니다.  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상상대로 서울에는 시민 제안이 축적되어 있지만, 제안만으로는 **어떤 수요를 먼저 살펴볼지, 어느 정책 영역과 실제 담당 후보가 연결되는지, 판단 근거와 다음 조치가 무엇인지**를 한 흐름에서 확인하기 어렵습니다.  </a:t>
            </a:r>
          </a:p>
          <a:p xmlns:a="http://schemas.openxmlformats.org/drawingml/2006/main">
            <a:r>
              <a:t>저희는 시민 수요와 정책·민원·뉴스·통계, R&amp;R 근거를 연결해 이 단절을 보완하는 것을 제품이 다룰 문제로 정의했습니다.  </a:t>
            </a:r>
          </a:p>
          <a:p xmlns:a="http://schemas.openxmlformats.org/drawingml/2006/main">
            <a:r>
              <a:t>화면의 누락·혼선·근거 단절은 실제 기관의 확정된 업무 절차가 아니라, 수집 데이터와 제품 구조를 바탕으로 설정한 검토 위험입니다.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왼쪽은 UKKKK가 받는 입력입니다. 시민 제안과 민원, 기존 정책과 뉴스, 자치구 통계를 한데 모읍니다.  </a:t>
            </a:r>
          </a:p>
          <a:p xmlns:a="http://schemas.openxmlformats.org/drawingml/2006/main">
            <a:r>
              <a:t>오른쪽은 그 데이터를 연결해 만든 출력입니다. 반복되는 수요와 정책 Gap, 주관·협조 R&amp;R 후보, 원문 근거, 맞춤 보고서와 검토 로그를 제공합니다.  </a:t>
            </a:r>
          </a:p>
          <a:p xmlns:a="http://schemas.openxmlformats.org/drawingml/2006/main">
            <a:r>
              <a:t>즉, 이 화면은 실제 조작 순서를 설명하는 페이지가 아니라 **흩어진 입력을 검토 가능한 출력으로 바꾸는 제품의 역할**을 보여줍니다. 최종 판단과 승인은 담당자에게 남겨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  </a:t>
            </a:r>
          </a:p>
          <a:p xmlns:a="http://schemas.openxmlformats.org/drawingml/2006/main">
            <a:r>
              <a:t>현재 데모는 이 데이터를 미리 수집·정제해 캐시한 구조로 안정적으로 재현됩니다.  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  </a:t>
            </a:r>
          </a:p>
          <a:p xmlns:a="http://schemas.openxmlformats.org/drawingml/2006/main">
            <a:r>
              <a:t>정제된 데이터는 8대 계층 분류, 의미 유사 군집화, 원본 업무분장 기반 R&amp;R 후보 매칭을 거쳐 화면에서 서로 대조합니다.  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새싹이가 먼저 안내할 기능은 상단의 두 단계 담당 범위 선택입니다.  </a:t>
            </a:r>
          </a:p>
          <a:p xmlns:a="http://schemas.openxmlformats.org/drawingml/2006/main">
            <a:r>
              <a:t>첫 번째는 조직이 아니라 8대 **정책 대분류 담당군**입니다. 두 번째가 원본 업무분장에 근거한 **실제 R&amp;R 팀**입니다.  </a:t>
            </a:r>
          </a:p>
          <a:p xmlns:a="http://schemas.openxmlformats.org/drawingml/2006/main">
            <a:r>
              <a:t>전체 담당군에서 팀을 고르면 그 팀이 주관 또는 협조로 포함된 모든 안건을 찾습니다. 반면 특정 대분류를 먼저 고르면, 그 범위에서 해당 팀이 1순위 주관인 안건만 보여줍니다.  </a:t>
            </a:r>
          </a:p>
          <a:p xmlns:a="http://schemas.openxmlformats.org/drawingml/2006/main">
            <a:r>
              <a:t>따라서 가족지원팀처럼 여러 분야에 협조로 참여하는 팀도 중복을 숨기지 않으면서, 사용자는 지금 ‘관련 안건 전체’를 보는지 ‘주관 안건’을 보는지 구분할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UKKKK는 전체 범위의 제안을 57개 문제 군집으로 묶고, 수요·정책 공백·시급성·실행성·근거 신뢰도의 다섯 축으로 비교합니다.  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  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  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새싹이를 따라 여덟 개 화면이 어떤 질문에 답하는지 보겠습니다.  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  </a:t>
            </a:r>
          </a:p>
          <a:p xmlns:a="http://schemas.openxmlformats.org/drawingml/2006/main">
            <a:r>
              <a:t>각 화면은 독립된 메뉴처럼 보이지만, 제품 안에서는 선택한 담당 범위를 공유하는 **하나의 검토 여정**으로 연결됩니다.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새싹이가 안내하는 제품 시연 흐름은 여섯 장면으로 구성됩니다.  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  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  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 오피스 길잡이는 사용자가 현재 화면에서 무엇을 확인할 수 있는지 안내합니다. 정책 담당군을 선택하면 대분류 기준으로, 실제 팀을 선택하면 팀 기준으로 안내 내용과 화면 흐름을 바꿉니다.  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  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  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  </a:t>
            </a:r>
          </a:p>
          <a:p xmlns:a="http://schemas.openxmlformats.org/drawingml/2006/main">
            <a:r>
              <a:t>복원 후보는 담당자가 원문을 펼쳐 검토하고 선택한 결과만 반영 이력으로 남깁니다.  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라이브 화면을 열기 전에 다섯 장면만 먼저 말씀드리겠습니다.  </a:t>
            </a:r>
          </a:p>
          <a:p xmlns:a="http://schemas.openxmlformats.org/drawingml/2006/main">
            <a:r>
              <a:t>첫째 출산·산후 초기지원 담당군을 선택하고, 둘째 실제 건강팀을 선택해 68건으로 좁힙니다. 셋째 시민 목소리와 Gap이 같은 범위로 재계산되는지 확인합니다. 넷째 주관 1순위와 협조 2·3순위 근거를 보고, 마지막으로 같은 범위가 보고서까지 이어지는지 확인합니다.  </a:t>
            </a:r>
          </a:p>
          <a:p xmlns:a="http://schemas.openxmlformats.org/drawingml/2006/main">
            <a:r>
              <a:t>이제 다음 장의 버튼을 눌러 실제 데모 페이지로 이동하겠습니다.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데이터 정합성 검사와 빌드, 2단계 필터, 8개 화면 범위 연동은 확인했습니다.  </a:t>
            </a:r>
          </a:p>
          <a:p xmlns:a="http://schemas.openxmlformats.org/drawingml/2006/main">
            <a:r>
              <a:t>반면 업무시간 단축률, R&amp;R 추천 정확도, 만족도는 이번 프로젝트에서 측정하지 않았습니다.  </a:t>
            </a:r>
          </a:p>
          <a:p xmlns:a="http://schemas.openxmlformats.org/drawingml/2006/main">
            <a:r>
              <a:t>따라서 효과 수치를 성과로 제시하지 않고, 현재 확인한 범위를 **기능 구현과 데이터 처리 기준**으로 한정합니다.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운영형 도구로 확장하려면 세 가지 기반이 필요합니다.  </a:t>
            </a:r>
          </a:p>
          <a:p xmlns:a="http://schemas.openxmlformats.org/drawingml/2006/main">
            <a:r>
              <a:t>먼저 정기 수집과 출처 관리를 구축하고 상세 원문 확보율을 높여야 합니다. 다음으로 R&amp;R 후보와 지역 범위 분류를 평가할 수 있는 정답 기준과 검증 지표가 필요합니다.  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더 많은 숫자를 보여주는 대시보드가 아닙니다. 시민의 수요를 책임과 근거, 다음 조치로 연결하는 업무 도구입니다.  </a:t>
            </a:r>
          </a:p>
          <a:p xmlns:a="http://schemas.openxmlformats.org/drawingml/2006/main">
            <a:r>
              <a:t>모르는 것은 정직하게 표시하고, 근거는 연결하며, 최종 결정은 담당자가 합니다.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로드맵에서 요구한 시스템 기획·PRD, 데이터분석 정의서, 발표 대본, 프론트엔드, 데이터 검사, 배포 산출물을 실제 파일 경로 기준으로 정리했습니다.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dc0b5b5844a0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02edc2ff5a440f" /><Relationship Type="http://schemas.openxmlformats.org/officeDocument/2006/relationships/slideLayout" Target="/ppt/slideLayouts/slideLayout1.xml" Id="R0ea84aba10e9401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84aba10e9401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5643f75e84cae" /><Relationship Type="http://schemas.openxmlformats.org/officeDocument/2006/relationships/image" Target="/ppt/media/image.png" Id="R6ff4b028ab9e4483" /><Relationship Type="http://schemas.openxmlformats.org/officeDocument/2006/relationships/image" Target="/ppt/media/image2.png" Id="R6a1803b79a6a4e7c" /><Relationship Type="http://schemas.openxmlformats.org/officeDocument/2006/relationships/notesSlide" Target="/ppt/notesSlides/notesSlide1.xml" Id="R7ba5e8af1cb042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971bf52a44bb5" /><Relationship Type="http://schemas.openxmlformats.org/officeDocument/2006/relationships/image" Target="/ppt/media/image3.png" Id="Rb9fad8aaf8f341a5" /><Relationship Type="http://schemas.openxmlformats.org/officeDocument/2006/relationships/notesSlide" Target="/ppt/notesSlides/notesSlide2.xml" Id="R4f2e7ee8fa6048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0c1d60fb14e8a" /><Relationship Type="http://schemas.openxmlformats.org/officeDocument/2006/relationships/image" Target="/ppt/media/image4.png" Id="R9b023bc5af574f9b" /><Relationship Type="http://schemas.openxmlformats.org/officeDocument/2006/relationships/notesSlide" Target="/ppt/notesSlides/notesSlide3.xml" Id="R48954f856bf0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b78e1221c44ab" /><Relationship Type="http://schemas.openxmlformats.org/officeDocument/2006/relationships/image" Target="/ppt/media/image3.png" Id="R22ad135cb6b747e9" /><Relationship Type="http://schemas.openxmlformats.org/officeDocument/2006/relationships/notesSlide" Target="/ppt/notesSlides/notesSlide4.xml" Id="R5de9abfe2ee748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08de7238441a4" /><Relationship Type="http://schemas.openxmlformats.org/officeDocument/2006/relationships/image" Target="/ppt/media/image5.png" Id="Re87c9fbae6e34f36" /><Relationship Type="http://schemas.openxmlformats.org/officeDocument/2006/relationships/notesSlide" Target="/ppt/notesSlides/notesSlide5.xml" Id="R4ecb4c6a04a54c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aa8d87c514fd8" /><Relationship Type="http://schemas.openxmlformats.org/officeDocument/2006/relationships/image" Target="/ppt/media/image6.png" Id="R4ae6a21a14994ef8" /><Relationship Type="http://schemas.openxmlformats.org/officeDocument/2006/relationships/image" Target="/ppt/media/image7.png" Id="R1e57bebc4b2248ce" /><Relationship Type="http://schemas.openxmlformats.org/officeDocument/2006/relationships/notesSlide" Target="/ppt/notesSlides/notesSlide6.xml" Id="R06e0dc6782c744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8be1676f94610" /><Relationship Type="http://schemas.openxmlformats.org/officeDocument/2006/relationships/image" Target="/ppt/media/image8.png" Id="R6b2e09e8b7844708" /><Relationship Type="http://schemas.openxmlformats.org/officeDocument/2006/relationships/image" Target="/ppt/media/image9.png" Id="Rbcff4447cdb445e2" /><Relationship Type="http://schemas.openxmlformats.org/officeDocument/2006/relationships/notesSlide" Target="/ppt/notesSlides/notesSlide7.xml" Id="Rb03169af100f49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7a595f43b4d5c" /><Relationship Type="http://schemas.openxmlformats.org/officeDocument/2006/relationships/image" Target="/ppt/media/image10.png" Id="Rad39ef574dc74f87" /><Relationship Type="http://schemas.openxmlformats.org/officeDocument/2006/relationships/notesSlide" Target="/ppt/notesSlides/notesSlide8.xml" Id="R323206e931e34e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d5b6c7bb54210" /><Relationship Type="http://schemas.openxmlformats.org/officeDocument/2006/relationships/image" Target="/ppt/media/image10.png" Id="R473270d5bc184cb3" /><Relationship Type="http://schemas.openxmlformats.org/officeDocument/2006/relationships/notesSlide" Target="/ppt/notesSlides/notesSlide9.xml" Id="R5beecd758d3a4e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dd55172184e90" /><Relationship Type="http://schemas.openxmlformats.org/officeDocument/2006/relationships/image" Target="/ppt/media/image6.png" Id="Rf1de1360b1c64211" /><Relationship Type="http://schemas.openxmlformats.org/officeDocument/2006/relationships/image" Target="/ppt/media/image7.png" Id="Rdf91124770134439" /><Relationship Type="http://schemas.openxmlformats.org/officeDocument/2006/relationships/notesSlide" Target="/ppt/notesSlides/notesSlide10.xml" Id="Rba5f040b6df541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a9131e13d45cd" /><Relationship Type="http://schemas.openxmlformats.org/officeDocument/2006/relationships/image" Target="/ppt/media/image11.png" Id="R009da55af9bb4af8" /><Relationship Type="http://schemas.openxmlformats.org/officeDocument/2006/relationships/notesSlide" Target="/ppt/notesSlides/notesSlide11.xml" Id="R67e301300a444e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5c7cdbef04194" /><Relationship Type="http://schemas.openxmlformats.org/officeDocument/2006/relationships/image" Target="/ppt/media/image4.png" Id="Ree46c1a6d54c44fd" /><Relationship Type="http://schemas.openxmlformats.org/officeDocument/2006/relationships/notesSlide" Target="/ppt/notesSlides/notesSlide12.xml" Id="Rc4f03ecd317542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897a84998418e" /><Relationship Type="http://schemas.openxmlformats.org/officeDocument/2006/relationships/image" Target="/ppt/media/image12.png" Id="Rbf1e8af39c6246fd" /><Relationship Type="http://schemas.openxmlformats.org/officeDocument/2006/relationships/image" Target="/ppt/media/image13.png" Id="R14083747d7084cb8" /><Relationship Type="http://schemas.openxmlformats.org/officeDocument/2006/relationships/hyperlink" Target="https://ukkkk-two.vercel.app/" TargetMode="External" Id="R3dfbb634b5d8454a" /><Relationship Type="http://schemas.openxmlformats.org/officeDocument/2006/relationships/notesSlide" Target="/ppt/notesSlides/notesSlide13.xml" Id="R73c6db4bfff648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2b9e933ee4137" /><Relationship Type="http://schemas.openxmlformats.org/officeDocument/2006/relationships/image" Target="/ppt/media/image14.png" Id="Ra3a23a1a9a0b42fd" /><Relationship Type="http://schemas.openxmlformats.org/officeDocument/2006/relationships/notesSlide" Target="/ppt/notesSlides/notesSlide14.xml" Id="Rb8a71242919848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722d5b76c450a" /><Relationship Type="http://schemas.openxmlformats.org/officeDocument/2006/relationships/image" Target="/ppt/media/image15.png" Id="R81635ffa141749b3" /><Relationship Type="http://schemas.openxmlformats.org/officeDocument/2006/relationships/notesSlide" Target="/ppt/notesSlides/notesSlide15.xml" Id="R524ca0228e7043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ca86b23844b02" /><Relationship Type="http://schemas.openxmlformats.org/officeDocument/2006/relationships/image" Target="/ppt/media/image16.png" Id="R5e695366c5d24f94" /><Relationship Type="http://schemas.openxmlformats.org/officeDocument/2006/relationships/notesSlide" Target="/ppt/notesSlides/notesSlide16.xml" Id="R994d0e65d7a640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cddd727554d1e" /><Relationship Type="http://schemas.openxmlformats.org/officeDocument/2006/relationships/image" Target="/ppt/media/image17.png" Id="Raa307ae1563548b0" /><Relationship Type="http://schemas.openxmlformats.org/officeDocument/2006/relationships/notesSlide" Target="/ppt/notesSlides/notesSlide17.xml" Id="R75c917b7030347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4b859f6f6446c" /><Relationship Type="http://schemas.openxmlformats.org/officeDocument/2006/relationships/image" Target="/ppt/media/image17.png" Id="Rbd51d033f2dc46a1" /><Relationship Type="http://schemas.openxmlformats.org/officeDocument/2006/relationships/notesSlide" Target="/ppt/notesSlides/notesSlide18.xml" Id="R29b1fd47b83745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4b028ab9e44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4b028ab9e44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714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803b79a6a4e7c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시민 제안이 다음 검토로 이어지도록 안내할게요</a:t>
            </a:r>
          </a:p>
        </p:txBody>
      </p:sp>
      <p:sp>
        <p:nvSpPr>
          <p:cNvPr id="38" name="Cover value proposition">
            <a:extLst xmlns:a="http://schemas.openxmlformats.org/drawingml/2006/main">
              <a:ext uri="{FF2B5EF4-FFF2-40B4-BE49-F238E27FC236}">
                <a16:creationId xmlns:a16="http://schemas.microsoft.com/office/drawing/2014/main" id="{C90D2CF7-0CA9-4DC6-8A39-B62667F0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E6B8C"/>
                </a:solidFill>
              </a:defRPr>
            </a:pPr>
            <a:r>
              <a:rPr sz="1950">
                <a:solidFill>
                  <a:srgbClr val="5E6B8C"/>
                </a:solidFill>
              </a:rPr>
              <a:t>상상대로 서울 시민 제안을 담당 범위·근거·후속 조치로 연결하는 정책 백오피스</a:t>
            </a:r>
          </a:p>
        </p:txBody>
      </p:sp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ad8aaf8f341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ad8aaf8f341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ad8aaf8f341a5"/>
          <a:stretch xmlns:a="http://schemas.openxmlformats.org/drawingml/2006/main"/>
        </p:blipFill>
        <p:spPr>
          <a:xfrm xmlns:a="http://schemas.openxmlformats.org/drawingml/2006/main">
            <a:off x="323850" y="4935736"/>
            <a:ext cx="1381125" cy="112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23bc5af574f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23bc5af574f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기관별 업무 절차를 대표한다고 단정하지 않아요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23bc5af574f9b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d135cb6b747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d135cb6b747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d135cb6b747e9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c9fbae6e34f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c9fbae6e34f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스키마 → 정규화 → 8대 분류 → 문제 군집 → R&amp;R 후보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6a21a14994e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6a21a14994e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7bebc4b2248ce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전체+팀은 1·2·3순위, 대분류+팀은 1순위 주관만 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6a21a14994ef8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e09e8b7844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e09e8b7844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f4447cdb445e2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e09e8b7844708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9ef574dc74f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9ef574dc74f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9ef574dc74f87"/>
          <a:stretch xmlns:a="http://schemas.openxmlformats.org/drawingml/2006/main"/>
        </p:blipFill>
        <p:spPr>
          <a:xfrm xmlns:a="http://schemas.openxmlformats.org/drawingml/2006/main">
            <a:off x="377174" y="4762500"/>
            <a:ext cx="1322102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270d5bc184c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270d5bc184c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270d5bc184cb3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1360b1c642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1360b1c642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1124770134439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1360b1c64211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da55af9bb4a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da55af9bb4a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da55af9bb4af8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6c1a6d54c44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6c1a6d54c44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데모 전 안내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라이브 화면에서 볼 다섯 장면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 → 건강팀 68건 → 재계산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→ R&amp;R 근거 → 보고서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다음 장의 실행 화면에서 실제 데모를 열어요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6c1a6d54c44fd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e8af39c6246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e8af39c6246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라이브 데모 실행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실제 배포 페이지로 이동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건강팀 68건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보고서·CSV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83747d708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hlinkClick xmlns:r="http://schemas.openxmlformats.org/officeDocument/2006/relationships" xmlns:a="http://schemas.openxmlformats.org/drawingml/2006/main" r:id="R3dfbb634b5d8454a"/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https://ukkkk-two.vercel.app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e8af39c6246fd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23a1a9a0b42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23a1a9a0b42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검증 상태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확인된 기능과 검증하지 않은 효과를 분리합니다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동작 확인 ≠ 업무 효과 검증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확인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정합성·필터·8개 화면·빌드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미검증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시간 단축·R&amp;R 정확도·만족도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효과 수치는 검증하지 않아 성과로 제시하지 않아요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23a1a9a0b42fd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35ffa1417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35ffa1417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35ffa141749b3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95366c5d24f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95366c5d24f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결론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더 많은 데이터를 보여주는 것이 아니라, 담당자가 다음 행동을 더 정확히 선택하게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것은 표시하고, 근거는 연결하며, 결정은 사람이 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95366c5d24f94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07ae1563548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07ae1563548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1d033f2dc46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1d033f2dc46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docs/발표자료/발표_대본_PPT구성_ver2.md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2026-07-25T13:29:02.5130000Z</dcterms:created>
  <dcterms:modified xsi:type="dcterms:W3CDTF">2026-07-25T13:29:02.5130000Z</dcterms:modified>
</coreProperties>
</file>