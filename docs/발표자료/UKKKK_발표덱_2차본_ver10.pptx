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c30ef2ccfb41c3" /><Relationship Type="http://schemas.openxmlformats.org/officeDocument/2006/relationships/extended-properties" Target="/docProps/app.xml" Id="R7298d4787bfc4998" /><Relationship Type="http://schemas.openxmlformats.org/officeDocument/2006/relationships/officeDocument" Target="/ppt/presentation.xml" Id="R7f7da2c8e6f1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67922e1c594de1"/>
  </p:sldMasterIdLst>
  <p:notesMasterIdLst>
    <p:notesMasterId xmlns:r="http://schemas.openxmlformats.org/officeDocument/2006/relationships" r:id="R837d0d210a2246e3"/>
  </p:notesMasterIdLst>
  <p:sldIdLst>
    <p:sldId xmlns:r="http://schemas.openxmlformats.org/officeDocument/2006/relationships" id="256" r:id="R1d93de78a1894de1"/>
    <p:sldId xmlns:r="http://schemas.openxmlformats.org/officeDocument/2006/relationships" id="257" r:id="R808515fc74414f53"/>
    <p:sldId xmlns:r="http://schemas.openxmlformats.org/officeDocument/2006/relationships" id="258" r:id="Raf7cea01167748ab"/>
    <p:sldId xmlns:r="http://schemas.openxmlformats.org/officeDocument/2006/relationships" id="259" r:id="R6c415ad458ff4486"/>
    <p:sldId xmlns:r="http://schemas.openxmlformats.org/officeDocument/2006/relationships" id="260" r:id="Raa5eca5792804068"/>
    <p:sldId xmlns:r="http://schemas.openxmlformats.org/officeDocument/2006/relationships" id="261" r:id="Rbc7dedd70bbb4f47"/>
    <p:sldId xmlns:r="http://schemas.openxmlformats.org/officeDocument/2006/relationships" id="262" r:id="Rf5ccdc175198412e"/>
    <p:sldId xmlns:r="http://schemas.openxmlformats.org/officeDocument/2006/relationships" id="263" r:id="R807c7e8869d24389"/>
    <p:sldId xmlns:r="http://schemas.openxmlformats.org/officeDocument/2006/relationships" id="264" r:id="R20354b971f544323"/>
    <p:sldId xmlns:r="http://schemas.openxmlformats.org/officeDocument/2006/relationships" id="265" r:id="Rb123e31d2d6943da"/>
    <p:sldId xmlns:r="http://schemas.openxmlformats.org/officeDocument/2006/relationships" id="266" r:id="R319d61d7324e42c2"/>
    <p:sldId xmlns:r="http://schemas.openxmlformats.org/officeDocument/2006/relationships" id="267" r:id="R7d176ffef9ff4507"/>
    <p:sldId xmlns:r="http://schemas.openxmlformats.org/officeDocument/2006/relationships" id="268" r:id="R872c085fe1d5409d"/>
    <p:sldId xmlns:r="http://schemas.openxmlformats.org/officeDocument/2006/relationships" id="269" r:id="Rfaf9d597cc844425"/>
    <p:sldId xmlns:r="http://schemas.openxmlformats.org/officeDocument/2006/relationships" id="270" r:id="R5494535c37394e82"/>
    <p:sldId xmlns:r="http://schemas.openxmlformats.org/officeDocument/2006/relationships" id="271" r:id="R0479c4e40c8a4832"/>
    <p:sldId xmlns:r="http://schemas.openxmlformats.org/officeDocument/2006/relationships" id="272" r:id="R4301dc0936c44264"/>
    <p:sldId xmlns:r="http://schemas.openxmlformats.org/officeDocument/2006/relationships" id="273" r:id="Ra7ce8ceee0784f76"/>
    <p:sldId xmlns:r="http://schemas.openxmlformats.org/officeDocument/2006/relationships" id="274" r:id="Rb3e25b4296234968"/>
    <p:sldId xmlns:r="http://schemas.openxmlformats.org/officeDocument/2006/relationships" id="275" r:id="Rec88711b846043ac"/>
    <p:sldId xmlns:r="http://schemas.openxmlformats.org/officeDocument/2006/relationships" id="276" r:id="Rb4db40a85ba242e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1efb16a1454e29" /><Relationship Type="http://schemas.openxmlformats.org/officeDocument/2006/relationships/slideMaster" Target="/ppt/slideMasters/slideMaster1.xml" Id="R1767922e1c594de1" /><Relationship Type="http://schemas.openxmlformats.org/officeDocument/2006/relationships/notesMaster" Target="/ppt/notesMasters/notesMaster1.xml" Id="R837d0d210a2246e3" /><Relationship Type="http://schemas.openxmlformats.org/officeDocument/2006/relationships/presProps" Target="/ppt/presProps.xml" Id="Rdf77b6df582c4f3a" /><Relationship Type="http://schemas.openxmlformats.org/officeDocument/2006/relationships/viewProps" Target="/ppt/viewProps.xml" Id="R6561479d5f704687" /><Relationship Type="http://schemas.openxmlformats.org/officeDocument/2006/relationships/tableStyles" Target="/ppt/tableStyles.xml" Id="R29a446173c2947a0" /><Relationship Type="http://schemas.openxmlformats.org/officeDocument/2006/relationships/slide" Target="/ppt/slides/slide1.xml" Id="R1d93de78a1894de1" /><Relationship Type="http://schemas.openxmlformats.org/officeDocument/2006/relationships/slide" Target="/ppt/slides/slide2.xml" Id="R808515fc74414f53" /><Relationship Type="http://schemas.openxmlformats.org/officeDocument/2006/relationships/slide" Target="/ppt/slides/slide3.xml" Id="Raf7cea01167748ab" /><Relationship Type="http://schemas.openxmlformats.org/officeDocument/2006/relationships/slide" Target="/ppt/slides/slide4.xml" Id="R6c415ad458ff4486" /><Relationship Type="http://schemas.openxmlformats.org/officeDocument/2006/relationships/slide" Target="/ppt/slides/slide5.xml" Id="Raa5eca5792804068" /><Relationship Type="http://schemas.openxmlformats.org/officeDocument/2006/relationships/slide" Target="/ppt/slides/slide6.xml" Id="Rbc7dedd70bbb4f47" /><Relationship Type="http://schemas.openxmlformats.org/officeDocument/2006/relationships/slide" Target="/ppt/slides/slide7.xml" Id="Rf5ccdc175198412e" /><Relationship Type="http://schemas.openxmlformats.org/officeDocument/2006/relationships/slide" Target="/ppt/slides/slide8.xml" Id="R807c7e8869d24389" /><Relationship Type="http://schemas.openxmlformats.org/officeDocument/2006/relationships/slide" Target="/ppt/slides/slide9.xml" Id="R20354b971f544323" /><Relationship Type="http://schemas.openxmlformats.org/officeDocument/2006/relationships/slide" Target="/ppt/slides/slide10.xml" Id="Rb123e31d2d6943da" /><Relationship Type="http://schemas.openxmlformats.org/officeDocument/2006/relationships/slide" Target="/ppt/slides/slide11.xml" Id="R319d61d7324e42c2" /><Relationship Type="http://schemas.openxmlformats.org/officeDocument/2006/relationships/slide" Target="/ppt/slides/slide12.xml" Id="R7d176ffef9ff4507" /><Relationship Type="http://schemas.openxmlformats.org/officeDocument/2006/relationships/slide" Target="/ppt/slides/slide13.xml" Id="R872c085fe1d5409d" /><Relationship Type="http://schemas.openxmlformats.org/officeDocument/2006/relationships/slide" Target="/ppt/slides/slide14.xml" Id="Rfaf9d597cc844425" /><Relationship Type="http://schemas.openxmlformats.org/officeDocument/2006/relationships/slide" Target="/ppt/slides/slide15.xml" Id="R5494535c37394e82" /><Relationship Type="http://schemas.openxmlformats.org/officeDocument/2006/relationships/slide" Target="/ppt/slides/slide16.xml" Id="R0479c4e40c8a4832" /><Relationship Type="http://schemas.openxmlformats.org/officeDocument/2006/relationships/slide" Target="/ppt/slides/slide17.xml" Id="R4301dc0936c44264" /><Relationship Type="http://schemas.openxmlformats.org/officeDocument/2006/relationships/slide" Target="/ppt/slides/slide18.xml" Id="Ra7ce8ceee0784f76" /><Relationship Type="http://schemas.openxmlformats.org/officeDocument/2006/relationships/slide" Target="/ppt/slides/slide19.xml" Id="Rb3e25b4296234968" /><Relationship Type="http://schemas.openxmlformats.org/officeDocument/2006/relationships/slide" Target="/ppt/slides/slide20.xml" Id="Rec88711b846043ac" /><Relationship Type="http://schemas.openxmlformats.org/officeDocument/2006/relationships/slide" Target="/ppt/slides/slide21.xml" Id="Rb4db40a85ba242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c69c6ec4294b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388f1bce1e4316" /><Relationship Type="http://schemas.openxmlformats.org/officeDocument/2006/relationships/notesMaster" Target="/ppt/notesMasters/notesMaster1.xml" Id="R478225ead7034a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d42740bac4907" /><Relationship Type="http://schemas.openxmlformats.org/officeDocument/2006/relationships/notesMaster" Target="/ppt/notesMasters/notesMaster1.xml" Id="Rb912c1350fd640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0d420748c44de7" /><Relationship Type="http://schemas.openxmlformats.org/officeDocument/2006/relationships/notesMaster" Target="/ppt/notesMasters/notesMaster1.xml" Id="R2f03bd9491cf49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ab9a28cad4c4d" /><Relationship Type="http://schemas.openxmlformats.org/officeDocument/2006/relationships/notesMaster" Target="/ppt/notesMasters/notesMaster1.xml" Id="R33e05c307f38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23e0fd4ce3435e" /><Relationship Type="http://schemas.openxmlformats.org/officeDocument/2006/relationships/notesMaster" Target="/ppt/notesMasters/notesMaster1.xml" Id="Rb963e69e05df41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62effcb5484659" /><Relationship Type="http://schemas.openxmlformats.org/officeDocument/2006/relationships/notesMaster" Target="/ppt/notesMasters/notesMaster1.xml" Id="Ree1c0a3cc47d4e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ae928215d44a4c" /><Relationship Type="http://schemas.openxmlformats.org/officeDocument/2006/relationships/notesMaster" Target="/ppt/notesMasters/notesMaster1.xml" Id="R65cbbeb01ad642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4aee57a044ac6" /><Relationship Type="http://schemas.openxmlformats.org/officeDocument/2006/relationships/notesMaster" Target="/ppt/notesMasters/notesMaster1.xml" Id="Rd25d1aa3488345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abe2e5f0914185" /><Relationship Type="http://schemas.openxmlformats.org/officeDocument/2006/relationships/notesMaster" Target="/ppt/notesMasters/notesMaster1.xml" Id="R4aec36ba08d94e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1bfc1e5ca8435e" /><Relationship Type="http://schemas.openxmlformats.org/officeDocument/2006/relationships/notesMaster" Target="/ppt/notesMasters/notesMaster1.xml" Id="R43208bcb8d3b48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2a49faa12a4e1f" /><Relationship Type="http://schemas.openxmlformats.org/officeDocument/2006/relationships/notesMaster" Target="/ppt/notesMasters/notesMaster1.xml" Id="R7db7be75ef8a43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7b4872aa974188" /><Relationship Type="http://schemas.openxmlformats.org/officeDocument/2006/relationships/notesMaster" Target="/ppt/notesMasters/notesMaster1.xml" Id="R928685f424b24d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f9b8232e7c49d7" /><Relationship Type="http://schemas.openxmlformats.org/officeDocument/2006/relationships/notesMaster" Target="/ppt/notesMasters/notesMaster1.xml" Id="R92caa6e0aac242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0244d0ab444e63" /><Relationship Type="http://schemas.openxmlformats.org/officeDocument/2006/relationships/notesMaster" Target="/ppt/notesMasters/notesMaster1.xml" Id="R811079ac86234c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aca8cfa47a4c13" /><Relationship Type="http://schemas.openxmlformats.org/officeDocument/2006/relationships/notesMaster" Target="/ppt/notesMasters/notesMaster1.xml" Id="R3fda3bbb7aa14e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f024db5fca4b95" /><Relationship Type="http://schemas.openxmlformats.org/officeDocument/2006/relationships/notesMaster" Target="/ppt/notesMasters/notesMaster1.xml" Id="R4c4512b9e6d647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4101969ad3406d" /><Relationship Type="http://schemas.openxmlformats.org/officeDocument/2006/relationships/notesMaster" Target="/ppt/notesMasters/notesMaster1.xml" Id="R7560f870f1b249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abc856e7fe40ec" /><Relationship Type="http://schemas.openxmlformats.org/officeDocument/2006/relationships/notesMaster" Target="/ppt/notesMasters/notesMaster1.xml" Id="R6cbd1ca4759e42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2a916fc3be49d3" /><Relationship Type="http://schemas.openxmlformats.org/officeDocument/2006/relationships/notesMaster" Target="/ppt/notesMasters/notesMaster1.xml" Id="R7bf4844a4b1347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5f9daab9ac413d" /><Relationship Type="http://schemas.openxmlformats.org/officeDocument/2006/relationships/notesMaster" Target="/ppt/notesMasters/notesMaster1.xml" Id="R7c04e7af153440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c717f28961444b" /><Relationship Type="http://schemas.openxmlformats.org/officeDocument/2006/relationships/notesMaster" Target="/ppt/notesMasters/notesMaster1.xml" Id="Rb4e5ec7232d44b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4조 UKKKK입니다. 이름이 길어서 발표에서는 편의상 **‘유케이’**라고 부르겠습니다.</a:t>
            </a:r>
          </a:p>
          <a:p xmlns:a="http://schemas.openxmlformats.org/drawingml/2006/main">
            <a:r>
              <a:t>화면별 기능을 안내하는 오피스 길잡이 **새싹이**도 오늘의 여정을 함께합니다.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과제는 출산·양육 관련 민원과 데이터를 수집해 정책 수요를 도출하는 것이었습니다.</a:t>
            </a:r>
          </a:p>
          <a:p xmlns:a="http://schemas.openxmlformats.org/drawingml/2006/main">
            <a:r>
              <a:t>그런데 실제 상상대로 서울 데이터를 확인하면서, 시민 제안의 답변 상태와 반복 수요, 실제 담당팀 후보, 기존 정책 근거가 하나의 검토 흐름으로 연결되어 있지 않다는 점에 주목했습니다.</a:t>
            </a:r>
          </a:p>
          <a:p xmlns:a="http://schemas.openxmlformats.org/drawingml/2006/main">
            <a:r>
              <a:t>그래서 유케이는 상상대로 서울을 대체하는 서비스가 아니라, **시민 제안을 정책 검토와 후속 조치로 연결해 기존 플랫폼의 활용을 돕는 백오피스**로 발전했습니다.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</a:t>
            </a:r>
          </a:p>
          <a:p xmlns:a="http://schemas.openxmlformats.org/drawingml/2006/main">
            <a:r>
              <a:t>실제 상상대로 서울에서는 답변 상태와 반복 수요, 담당 후보와 정책 근거가 서로 분리되어 있어 검토 대상과 다음 조치를 한 화면에서 직관적으로 파악하기 어렵습니다. 가상 페르소나는 이 제품 기능과 시연 흐름을 구체적으로 보여주기 위한 설정입니다.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상상대로 서울에는 시민 제안이 축적되어 있지만, 제안만으로는 **어떤 수요를 먼저 살펴볼지, 어느 정책 영역과 실제 담당 후보가 연결되는지, 판단 근거와 다음 조치가 무엇인지**를 한 흐름에서 확인하기 어렵습니다.</a:t>
            </a:r>
          </a:p>
          <a:p xmlns:a="http://schemas.openxmlformats.org/drawingml/2006/main">
            <a:r>
              <a:t>저희는 시민 수요와 정책·민원·뉴스·통계, R&amp;R 근거를 연결해 이 단절을 보완하는 것을 제품이 다룰 문제로 정의했습니다.</a:t>
            </a:r>
          </a:p>
          <a:p xmlns:a="http://schemas.openxmlformats.org/drawingml/2006/main">
            <a:r>
              <a:t>화면의 누락·혼선·근거 단절은 실제 기관의 확정된 업무 절차가 아니라, 수집 데이터와 제품 구조를 바탕으로 설정한 검토 위험입니다.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UKKKK가 받는 입력입니다. 시민 제안과 민원, 기존 정책과 뉴스, 자치구 통계를 한데 모읍니다.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</a:t>
            </a:r>
          </a:p>
          <a:p xmlns:a="http://schemas.openxmlformats.org/drawingml/2006/main">
            <a:r>
              <a:t>현재 데모는 이 데이터를 미리 수집·정제해 캐시한 구조로 안정적으로 재현됩니다.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</a:t>
            </a:r>
          </a:p>
          <a:p xmlns:a="http://schemas.openxmlformats.org/drawingml/2006/main">
            <a:r>
              <a:t>텍스트는 한 모델이 한 번에 결정하지 않습니다. 먼저 조사·접미사와 불용어를 정리하고 유사어를 통합한 뒤, 규칙 기반으로 8대·중·소분류와 신뢰도를 만듭니다. KR-SBERT는 의미상 가까운 카테고리와 유사 제안 군집을 찾고, 뉴스는 규칙 분류 뒤 기존 카테고리·수집 분류·NMF 토픽 순으로 보완합니다. 마지막으로 본문 자치구와 원본 업무분장을 각각 파싱해 지역 후보와 R&amp;R 후보를 연결합니다.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앞서 소개한 오피스 길잡이 새싹이가 첫 번째로 안내할 기능은 상단의 두 단계 담당 범위 선택입니다.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</a:t>
            </a:r>
          </a:p>
          <a:p xmlns:a="http://schemas.openxmlformats.org/drawingml/2006/main">
            <a:r>
              <a:t>이때 별도의 감독학습 모델이 팀을 확정하는 것은 아닙니다. 제안 분류와 원본 업무분장 일치 여부, 본문의 업무 키워드, 기존 담당 후보를 점수화해 R&amp;R 후보 순위를 만듭니다.</a:t>
            </a:r>
          </a:p>
          <a:p xmlns:a="http://schemas.openxmlformats.org/drawingml/2006/main">
            <a:r>
              <a:t>전체 담당군에서 팀을 고르면 그 팀이 주관 또는 협조로 포함된 모든 안건을 찾습니다. 특정 대분류를 먼저 고르면 동일한 R&amp;R 기준을 그 정책 범위 안에서 적용해 관련 안건만 보여줍니다.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새싹이를 따라 여덟 개 화면이 어떤 질문에 답하는지 보겠습니다.</a:t>
            </a:r>
          </a:p>
          <a:p xmlns:a="http://schemas.openxmlformats.org/drawingml/2006/main">
            <a:r>
              <a:t>어느 페이지에서든 화면 하단의 새싹이를 클릭하면 현재 페이지의 목적과 기본 사용법을 보여주고, 상단에서 선택한 정책 담당군과 실제 R&amp;R 팀에 맞춰 안내 순서도 달라집니다.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</a:t>
            </a:r>
          </a:p>
          <a:p xmlns:a="http://schemas.openxmlformats.org/drawingml/2006/main">
            <a:r>
              <a:t>각 화면은 독립된 메뉴처럼 보이지만, 제품 안에서는 선택한 담당 범위를 공유하는 **하나의 검토 여정**으로 연결됩니다. 라이브 시연에서는 이 여덟 메뉴를 한 번씩 열어 같은 15건 범위가 유지되는지 먼저 확인한 뒤, 핵심 판단 화면을 자세히 보겠습니다.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안내하는 제품 시연 흐름은 여섯 장면으로 구성됩니다.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 오피스 길잡이는 사용자가 현재 화면에서 무엇을 확인할 수 있는지 안내합니다. 정책 담당군을 선택하면 대분류 기준으로, 실제 팀을 선택하면 팀 기준으로 안내 내용과 화면 흐름을 바꿉니다.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</a:t>
            </a:r>
          </a:p>
          <a:p xmlns:a="http://schemas.openxmlformats.org/drawingml/2006/main">
            <a:r>
              <a:t>복원 후보는 담당자가 원문을 펼쳐 검토하고 선택한 결과만 반영 이력으로 남깁니다.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주무관의 화면에서 먼저 정보·상담·교육·거버넌스 담당군을 선택해 28건을 확인하고, 실제 저출생사업1팀을 선택해 15건으로 좁히겠습니다.</a:t>
            </a:r>
          </a:p>
          <a:p xmlns:a="http://schemas.openxmlformats.org/drawingml/2006/main">
            <a:r>
              <a:t>이어서 여덟 개 메뉴를 한 번씩 열어 같은 담당 범위가 유지되는지 빠르게 확인합니다. 그다음 갭 진단, 제안 원문과 R&amp;R 근거, 보고서 내보내기 세 장면을 자세히 보겠습니다.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성과를 과장하지 않으면서도 구현 효과는 재현 가능한 과업 단위로 확인할 수 있습니다.</a:t>
            </a:r>
          </a:p>
          <a:p xmlns:a="http://schemas.openxmlformats.org/drawingml/2006/main">
            <a:r>
              <a:t>이번 시연에서는 824건 전체 목록이 정책 담당군 28건, 실제 팀 15건으로 줄어드는 후보 축소율을 확인합니다. 이것은 업무시간 절감률이 아니라, 동일한 데이터를 대상으로 사용자가 직접 확인해야 할 후보 수가 얼마나 줄었는지를 보여주는 값입니다.</a:t>
            </a:r>
          </a:p>
          <a:p xmlns:a="http://schemas.openxmlformats.org/drawingml/2006/main">
            <a:r>
              <a:t>또한 메뉴 이동 후 건수 유지, 원문과 R&amp;R 근거의 동시 표시, 같은 범위의 보고서 생성 여부를 화면과 데이터로 대조합니다.</a:t>
            </a:r>
          </a:p>
          <a:p xmlns:a="http://schemas.openxmlformats.org/drawingml/2006/main">
            <a:r>
              <a:t>향후에는 이 과업 로그를 이용해 클릭 수, 탐색 단계, 오분류 수정률을 반복 측정할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운영형 도구로 확장하려면 세 가지 기반이 필요합니다.</a:t>
            </a:r>
          </a:p>
          <a:p xmlns:a="http://schemas.openxmlformats.org/drawingml/2006/main">
            <a:r>
              <a:t>먼저 정기 수집과 출처 관리를 구축하고 상세 원문 확보율을 높여야 합니다. 다음으로 R&amp;R 후보와 지역 범위 분류를 평가할 수 있는 정답 기준과 검증 지표가 필요합니다.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확인한 여덟 화면은 각각 다른 기능을 나열한 것이 아닙니다. 현황·시민 목소리·긴급 민원에서 수요를 발견하고, 현행 정책·사각지대·자치구 통계에서 공급과 지역 조건을 대조합니다. 갭 진단에서 우선순위와 R&amp;R 후보를 검토한 뒤, 답변 초안과 목적별 보고서, CSV, 개선 로그로 다음 조치를 남깁니다.</a:t>
            </a:r>
          </a:p>
          <a:p xmlns:a="http://schemas.openxmlformats.org/drawingml/2006/main">
            <a:r>
              <a:t>UKKKK는 이렇게 시민 제안을 **수요에서 책임으로, 근거에서 조치로 연결해 상상대로 서울의 후속 활용을 돕는 백오피스**입니다. 모르는 값은 표시하고, 근거는 연결하며, 최종 결정은 담당자가 합니다. 새싹이와 함께한 유케이의 여정이었습니다.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텍스트 처리는 한 모델이 모든 값을 한 번에 예측하는 구조가 아닙니다.</a:t>
            </a:r>
          </a:p>
          <a:p xmlns:a="http://schemas.openxmlformats.org/drawingml/2006/main">
            <a:r>
              <a:t>먼저 한국어 조사와 접미사, 불용어를 제거하고 도메인 유사어를 통합합니다.</a:t>
            </a:r>
          </a:p>
          <a:p xmlns:a="http://schemas.openxmlformats.org/drawingml/2006/main">
            <a:r>
              <a:t>계층 분류는 제목·본문·원 카테고리의 키워드 점수로 8대·중·소분류와 신뢰도를 만듭니다.</a:t>
            </a:r>
          </a:p>
          <a:p xmlns:a="http://schemas.openxmlformats.org/drawingml/2006/main">
            <a:r>
              <a:t>KR-SBERT는 카테고리 설명과의 코사인 유사도로 의미 분류를 보완하고, 코사인 거리와 average linkage를 사용한 계층적 군집으로 유사 제안의 cluster_id와 cluster_size를 만듭니다.</a:t>
            </a:r>
          </a:p>
          <a:p xmlns:a="http://schemas.openxmlformats.org/drawingml/2006/main">
            <a:r>
              <a:t>뉴스는 규칙 결과가 없을 때 기존 8대 분류, 수집 카테고리, 이미 생성된 NMF 토픽 라벨을 순서대로 매핑합니다.</a:t>
            </a:r>
          </a:p>
          <a:p xmlns:a="http://schemas.openxmlformats.org/drawingml/2006/main">
            <a:r>
              <a:t>자치구는 본문 키워드와 모호어 감점으로 후보·점수·근거어를 남기고, 실제 팀은 업무분장 원문과 제안 텍스트를 가중치로 대조합니다.</a:t>
            </a:r>
          </a:p>
          <a:p xmlns:a="http://schemas.openxmlformats.org/drawingml/2006/main">
            <a:r>
              <a:t>따라서 각 결과가 어떤 입력과 규칙에서 나왔는지 단계별로 추적할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/Users/parkcy/Desktop/sesac_pjt/UKKKK/frontend/src/utils/textMining.ts</a:t>
            </a:r>
          </a:p>
          <a:p xmlns:a="http://schemas.openxmlformats.org/drawingml/2006/main">
            <a:r>
              <a:t>- /Users/parkcy/Desktop/sesac_pjt/UKKKK/scripts/테스트용/classify_policy_and_match_staff.py</a:t>
            </a:r>
          </a:p>
          <a:p xmlns:a="http://schemas.openxmlformats.org/drawingml/2006/main">
            <a:r>
              <a:t>- /Users/parkcy/Desktop/sesac_pjt/UKKKK/scripts/테스트용/04_semantic_grouping.py</a:t>
            </a:r>
          </a:p>
          <a:p xmlns:a="http://schemas.openxmlformats.org/drawingml/2006/main">
            <a:r>
              <a:t>- /Users/parkcy/Desktop/sesac_pjt/UKKKK/scripts/테스트용/classify_naver_news_taxonomy.py</a:t>
            </a:r>
          </a:p>
          <a:p xmlns:a="http://schemas.openxmlformats.org/drawingml/2006/main">
            <a:r>
              <a:t>- /Users/parkcy/Desktop/sesac_pjt/UKKKK/scripts/06_build_department_ranking.py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페이지는 정책 대분류와 실제 조직 필터를 분리한 이유와 R&amp;R 후보 모델을 설명합니다.</a:t>
            </a:r>
          </a:p>
          <a:p xmlns:a="http://schemas.openxmlformats.org/drawingml/2006/main">
            <a:r>
              <a:t>첫 번째 결과는 제안을 8개 정책 영역으로 묶는 분류이고, 두 번째 결과는 업무분장 원문과 제안 텍스트를 대조해 만드는 R&amp;R 후보 순위입니다.</a:t>
            </a:r>
          </a:p>
          <a:p xmlns:a="http://schemas.openxmlformats.org/drawingml/2006/main">
            <a:r>
              <a:t>전체 담당군에서 팀을 고르면 1·2·3순위 관련 안건을 찾고, 특정 담당군을 함께 고르면 같은 후보 기준을 해당 정책 범위와 교차합니다.</a:t>
            </a:r>
          </a:p>
          <a:p xmlns:a="http://schemas.openxmlformats.org/drawingml/2006/main">
            <a:r>
              <a:t>이 순위는 공식 배정이 아니라 원문과 업무분장 근거를 확인하기 위한 검토 후보입니다.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/Users/parkcy/Desktop/sesac_pjt/UKKKK/frontend/src/utils/departments.ts</a:t>
            </a:r>
          </a:p>
          <a:p xmlns:a="http://schemas.openxmlformats.org/drawingml/2006/main">
            <a:r>
              <a:t>- /Users/parkcy/Desktop/sesac_pjt/UKKKK/frontend/src/App.tsx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로드맵의 PRD와 데이터분석 정의서, 발표 대본, 프론트엔드, 데이터 검사, 배포 산출물을 실제 경로로 정리했습니다.</a:t>
            </a:r>
          </a:p>
          <a:p xmlns:a="http://schemas.openxmlformats.org/drawingml/2006/main">
            <a:r>
              <a:t>별도 파일로 확인되지 않는 산출물이나 측정하지 않은 성과는 완료 사실로 제시하지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/Users/parkcy/Desktop/sesac_pjt/UKKKK/docs/SYSTEM_DESIGN_PRD.md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/Users/parkcy/Desktop/sesac_pjt/UKKKK/docs/발표자료/발표_대본_PPT구성_ver9.md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59eed8757408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9ef66203d4cec" /><Relationship Type="http://schemas.openxmlformats.org/officeDocument/2006/relationships/slideLayout" Target="/ppt/slideLayouts/slideLayout1.xml" Id="R9e1f0b4393404c5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1f0b4393404c5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bf8017e594e4e" /><Relationship Type="http://schemas.openxmlformats.org/officeDocument/2006/relationships/image" Target="/ppt/media/image.png" Id="R9efd926603504808" /><Relationship Type="http://schemas.openxmlformats.org/officeDocument/2006/relationships/image" Target="/ppt/media/image2.png" Id="R8c54dc78777c464e" /><Relationship Type="http://schemas.openxmlformats.org/officeDocument/2006/relationships/notesSlide" Target="/ppt/notesSlides/notesSlide1.xml" Id="R852b8ab885d8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c150c67904fb2" /><Relationship Type="http://schemas.openxmlformats.org/officeDocument/2006/relationships/image" Target="/ppt/media/image3.png" Id="Recb60322837e4c87" /><Relationship Type="http://schemas.openxmlformats.org/officeDocument/2006/relationships/notesSlide" Target="/ppt/notesSlides/notesSlide2.xml" Id="R83a0404826064b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cb6fabe9540fa" /><Relationship Type="http://schemas.openxmlformats.org/officeDocument/2006/relationships/image" Target="/ppt/media/image4.png" Id="Rbb1afc14f8dc4f59" /><Relationship Type="http://schemas.openxmlformats.org/officeDocument/2006/relationships/notesSlide" Target="/ppt/notesSlides/notesSlide3.xml" Id="R4293c256e1b64c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2b371b5344d80" /><Relationship Type="http://schemas.openxmlformats.org/officeDocument/2006/relationships/image" Target="/ppt/media/image3.png" Id="Raf2206e836ef4edd" /><Relationship Type="http://schemas.openxmlformats.org/officeDocument/2006/relationships/notesSlide" Target="/ppt/notesSlides/notesSlide4.xml" Id="R87de6b921b7b49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ed5e8ef834024" /><Relationship Type="http://schemas.openxmlformats.org/officeDocument/2006/relationships/image" Target="/ppt/media/image4.png" Id="R1aa1cd9750d74b73" /><Relationship Type="http://schemas.openxmlformats.org/officeDocument/2006/relationships/notesSlide" Target="/ppt/notesSlides/notesSlide5.xml" Id="Rd0477bc606ed41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4cda5f8054190" /><Relationship Type="http://schemas.openxmlformats.org/officeDocument/2006/relationships/image" Target="/ppt/media/image5.png" Id="R204ff427adbb4c94" /><Relationship Type="http://schemas.openxmlformats.org/officeDocument/2006/relationships/notesSlide" Target="/ppt/notesSlides/notesSlide6.xml" Id="Rf79906b116a6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ec283da3d4f69" /><Relationship Type="http://schemas.openxmlformats.org/officeDocument/2006/relationships/image" Target="/ppt/media/image6.png" Id="Rc0306c38e5c04a1d" /><Relationship Type="http://schemas.openxmlformats.org/officeDocument/2006/relationships/image" Target="/ppt/media/image7.png" Id="R9dff12b3db704972" /><Relationship Type="http://schemas.openxmlformats.org/officeDocument/2006/relationships/notesSlide" Target="/ppt/notesSlides/notesSlide7.xml" Id="R30f8fb81e40e48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936f446ac4acc" /><Relationship Type="http://schemas.openxmlformats.org/officeDocument/2006/relationships/image" Target="/ppt/media/image8.png" Id="R234c4b523af34e63" /><Relationship Type="http://schemas.openxmlformats.org/officeDocument/2006/relationships/image" Target="/ppt/media/image9.png" Id="R6a36bb01cd574c6c" /><Relationship Type="http://schemas.openxmlformats.org/officeDocument/2006/relationships/notesSlide" Target="/ppt/notesSlides/notesSlide8.xml" Id="R2163369721944b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93e6224cf4163" /><Relationship Type="http://schemas.openxmlformats.org/officeDocument/2006/relationships/image" Target="/ppt/media/image10.png" Id="Rcb7b037cec32497e" /><Relationship Type="http://schemas.openxmlformats.org/officeDocument/2006/relationships/notesSlide" Target="/ppt/notesSlides/notesSlide9.xml" Id="R9f7a28fa62b446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f6408b6fe4b5a" /><Relationship Type="http://schemas.openxmlformats.org/officeDocument/2006/relationships/image" Target="/ppt/media/image10.png" Id="R97316626ac5049dc" /><Relationship Type="http://schemas.openxmlformats.org/officeDocument/2006/relationships/notesSlide" Target="/ppt/notesSlides/notesSlide10.xml" Id="Rdd14218f10eb4e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dc03add684cf6" /><Relationship Type="http://schemas.openxmlformats.org/officeDocument/2006/relationships/image" Target="/ppt/media/image6.png" Id="R666d826875954c76" /><Relationship Type="http://schemas.openxmlformats.org/officeDocument/2006/relationships/image" Target="/ppt/media/image7.png" Id="Rbec861a4986f4067" /><Relationship Type="http://schemas.openxmlformats.org/officeDocument/2006/relationships/notesSlide" Target="/ppt/notesSlides/notesSlide11.xml" Id="R3ff6d905b2c841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eca7d4c334cbd" /><Relationship Type="http://schemas.openxmlformats.org/officeDocument/2006/relationships/image" Target="/ppt/media/image11.png" Id="Rf403cf23780946ac" /><Relationship Type="http://schemas.openxmlformats.org/officeDocument/2006/relationships/notesSlide" Target="/ppt/notesSlides/notesSlide12.xml" Id="R7267cf8bb67e4c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ea552e1a84479" /><Relationship Type="http://schemas.openxmlformats.org/officeDocument/2006/relationships/image" Target="/ppt/media/image3.png" Id="R172eee1b3c6e4072" /><Relationship Type="http://schemas.openxmlformats.org/officeDocument/2006/relationships/notesSlide" Target="/ppt/notesSlides/notesSlide13.xml" Id="Rd508ff79ecca45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3c5a99ca445a7" /><Relationship Type="http://schemas.openxmlformats.org/officeDocument/2006/relationships/image" Target="/ppt/media/image12.png" Id="Rf36a0fddb3e14cbf" /><Relationship Type="http://schemas.openxmlformats.org/officeDocument/2006/relationships/image" Target="/ppt/media/image13.png" Id="R9baae6fa18634159" /><Relationship Type="http://schemas.openxmlformats.org/officeDocument/2006/relationships/hyperlink" Target="https://ukkkk-two.vercel.app/" TargetMode="External" Id="R5cd3d4bfad514cbc" /><Relationship Type="http://schemas.openxmlformats.org/officeDocument/2006/relationships/notesSlide" Target="/ppt/notesSlides/notesSlide14.xml" Id="R673bf543885c45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bc9043d3e4e87" /><Relationship Type="http://schemas.openxmlformats.org/officeDocument/2006/relationships/image" Target="/ppt/media/image14.png" Id="Rcd537c478fe5415f" /><Relationship Type="http://schemas.openxmlformats.org/officeDocument/2006/relationships/notesSlide" Target="/ppt/notesSlides/notesSlide15.xml" Id="R9e87cde3414344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6db21c26b4bd9" /><Relationship Type="http://schemas.openxmlformats.org/officeDocument/2006/relationships/image" Target="/ppt/media/image15.png" Id="R6ce70931c9e04061" /><Relationship Type="http://schemas.openxmlformats.org/officeDocument/2006/relationships/notesSlide" Target="/ppt/notesSlides/notesSlide16.xml" Id="R03425389532a4e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6ec99496e493b" /><Relationship Type="http://schemas.openxmlformats.org/officeDocument/2006/relationships/image" Target="/ppt/media/image16.png" Id="Re6cc4806ef034f00" /><Relationship Type="http://schemas.openxmlformats.org/officeDocument/2006/relationships/notesSlide" Target="/ppt/notesSlides/notesSlide17.xml" Id="R4f373d2fed9247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b4905aea249a3" /><Relationship Type="http://schemas.openxmlformats.org/officeDocument/2006/relationships/image" Target="/ppt/media/image17.png" Id="R313f405b483744ed" /><Relationship Type="http://schemas.openxmlformats.org/officeDocument/2006/relationships/notesSlide" Target="/ppt/notesSlides/notesSlide18.xml" Id="R1908767b8d4a43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f1d76f5c443a1" /><Relationship Type="http://schemas.openxmlformats.org/officeDocument/2006/relationships/image" Target="/ppt/media/image17.png" Id="R79793c79cd7d4749" /><Relationship Type="http://schemas.openxmlformats.org/officeDocument/2006/relationships/notesSlide" Target="/ppt/notesSlides/notesSlide19.xml" Id="R7eb763f2f68d47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48fd080fc4338" /><Relationship Type="http://schemas.openxmlformats.org/officeDocument/2006/relationships/image" Target="/ppt/media/image17.png" Id="Re9ab111f7a3f4c53" /><Relationship Type="http://schemas.openxmlformats.org/officeDocument/2006/relationships/notesSlide" Target="/ppt/notesSlides/notesSlide20.xml" Id="Rc5cdd356c6a144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8fe0509054f9f" /><Relationship Type="http://schemas.openxmlformats.org/officeDocument/2006/relationships/image" Target="/ppt/media/image17.png" Id="R18eafa107c82432e" /><Relationship Type="http://schemas.openxmlformats.org/officeDocument/2006/relationships/notesSlide" Target="/ppt/notesSlides/notesSlide21.xml" Id="R78a72b15b90948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d92660350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d92660350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714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7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4dc78777c464e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안녕하세요! 오늘은 제가 유케이의 기능을 안내할게요</a:t>
            </a:r>
          </a:p>
        </p:txBody>
      </p:sp>
      <p:sp>
        <p:nvSpPr>
          <p:cNvPr id="38" name="Cover value proposition">
            <a:extLst xmlns:a="http://schemas.openxmlformats.org/drawingml/2006/main">
              <a:ext uri="{FF2B5EF4-FFF2-40B4-BE49-F238E27FC236}">
                <a16:creationId xmlns:a16="http://schemas.microsoft.com/office/drawing/2014/main" id="{C90D2CF7-0CA9-4DC6-8A39-B62667F0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E6B8C"/>
                </a:solidFill>
              </a:defRPr>
            </a:pPr>
            <a:r>
              <a:rPr sz="1950">
                <a:solidFill>
                  <a:srgbClr val="5E6B8C"/>
                </a:solidFill>
              </a:rPr>
              <a:t>상상대로 서울 시민 제안을 담당 범위·근거·후속 조치로 연결하는 정책 백오피스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60322837e4c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60322837e4c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과제에서 제품으로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과제 → 실제 데이터 → 제품 방향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수요 분석에서,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조치를 연결하는 백오피스로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상상대로 서울을 대체하지 않고, 기존 플랫폼의 활용을 돕습니다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60322837e4c87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afc14f8dc4f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afc14f8dc4f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2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afc14f8dc4f59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206e836ef4e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206e836ef4e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답변 상태·담당 후보·정책 근거를 한 화면에서 연결합니다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206e836ef4edd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1cd9750d74b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1cd9750d74b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1cd9750d74b73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ff427adbb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ff427adbb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텍스트 정규화 → 계층 분류 → 의미 군집 → 뉴스 토픽 → 지역·R&amp;R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06c38e5c04a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06c38e5c04a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f12b3db704972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규칙·가중치 R&amp;R 후보</a:t>
            </a:r>
          </a:p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 1·2·3 / 대분류+팀 1순위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06c38e5c04a1d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c4b523af34e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c4b523af34e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6bb01cd574c6c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c4b523af34e63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b037cec3249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b037cec3249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b037cec32497e"/>
          <a:stretch xmlns:a="http://schemas.openxmlformats.org/drawingml/2006/main"/>
        </p:blipFill>
        <p:spPr>
          <a:xfrm xmlns:a="http://schemas.openxmlformats.org/drawingml/2006/main">
            <a:off x="377174" y="4762500"/>
            <a:ext cx="1322102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16626ac50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16626ac50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16626ac5049dc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d826875954c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d826875954c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10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861a4986f4067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d826875954c76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3cf23780946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3cf23780946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3cf23780946ac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eee1b3c6e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eee1b3c6e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빠른 투어 + 핵심 기능 깊은 시연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28건 → 실제 팀 15건 → 8개 화면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Gap·R&amp;R → 원문·보고서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 하단 새싹이는 현재 화면·담당군·실제 팀 기준으로 안내해요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eee1b3c6e4072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a0fddb3e14c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a0fddb3e14c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김서현 주무관의 실제 데이터 여정을 시작합니다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정보·상담 28건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저출생1팀 15건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8개 화면·Gap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원문·보고서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ae6fa18634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5cd3d4bfad514cbc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a0fddb3e14cbf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37c478fe541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37c478fe541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재현 가능한 과업 비교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효과 수치 대신, 같은 과업에서 후보와 연결 단계를 비교합니다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824건 → 28건 → 15건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후보 축소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전체 탐색에서 담당 범위까지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연결 확인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8개 화면·원문·R&amp;R·보고서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 수·클릭·근거 연결을 같은 조건에서 다시 확인해요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37c478fe5415f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0931c9e04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0931c9e04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15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0931c9e04061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c4806ef034f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c4806ef034f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16 · 하나의 검토 결과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8개 화면을 하나의
검토 흐름으로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상상대로 서울의 시민 제안을 답변·보고·개선 로그로 연결합니다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c4806ef034f00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f405b483744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f405b483744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93c79cd7d4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93c79cd7d4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텍스트 파싱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TEXT PIPELINE · 모델별 입력과 출력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텍스트를 단계별 모델 입력으로 연결합니다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공통 전처리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조사·접미사 제거 → 유사어 통합 → 불용어 제거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계층 분류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규칙 키워드+원 분류 부스트 → 8대·중·소분류·신뢰도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의미 분류·군집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KR-SBERT 코사인 유사도 → 의미 분류·cluster_id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뉴스 파싱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규칙 → 기존 분류 → 수집 분류 → NMF 토픽 맵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지역 파싱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자치구 키워드+모호어 감점 → 후보·점수·근거어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파싱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업무분장+본문 가중치 → 주관 1순위·협조 2·3순위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b111f7a3f4c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b111f7a3f4c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C · 필터·R&amp;R 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MODEL DEFINITION · 규칙·가중치 기반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두 단계 필터와 R&amp;R 후보 모델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정책 분류와 실제 조직을 분리해 검색 의미를 명확히 함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카테고리·제목·본문·기존 담당 후보 + 18개 업무분장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담당군 정규화 · 본문 토큰과 업무분장 키워드 대조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랭킹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카테고리·업무 +30 · 키워드 +10 · 기존 담당 후보 +50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주관 1순위 · 협조 2·3순위 · 연락처 · 업무·매칭 근거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검색 규칙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전체+팀은 1·2·3순위 / 대분류+팀은 분류 범위와 교차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afa107c8243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afa107c8243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D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docs/발표자료/발표_대본_PPT구성_ver9.md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2026-07-25T19:53:58.9270000Z</dcterms:created>
  <dcterms:modified xsi:type="dcterms:W3CDTF">2026-07-25T19:53:58.9270000Z</dcterms:modified>
</coreProperties>
</file>