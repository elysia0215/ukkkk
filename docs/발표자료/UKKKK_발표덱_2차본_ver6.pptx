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9af700c0c8422e" /><Relationship Type="http://schemas.openxmlformats.org/officeDocument/2006/relationships/extended-properties" Target="/docProps/app.xml" Id="R4002e2cd1e38452e" /><Relationship Type="http://schemas.openxmlformats.org/officeDocument/2006/relationships/officeDocument" Target="/ppt/presentation.xml" Id="Ra857dc9634ca47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e742a299d34682"/>
  </p:sldMasterIdLst>
  <p:notesMasterIdLst>
    <p:notesMasterId xmlns:r="http://schemas.openxmlformats.org/officeDocument/2006/relationships" r:id="Re0acc149298e42c0"/>
  </p:notesMasterIdLst>
  <p:sldIdLst>
    <p:sldId xmlns:r="http://schemas.openxmlformats.org/officeDocument/2006/relationships" id="256" r:id="R38b3f04deb334f93"/>
    <p:sldId xmlns:r="http://schemas.openxmlformats.org/officeDocument/2006/relationships" id="257" r:id="Rb9986b7a271b4c8d"/>
    <p:sldId xmlns:r="http://schemas.openxmlformats.org/officeDocument/2006/relationships" id="258" r:id="R7e08f9ff191c4cd9"/>
    <p:sldId xmlns:r="http://schemas.openxmlformats.org/officeDocument/2006/relationships" id="259" r:id="R5dd8ba35400444c8"/>
    <p:sldId xmlns:r="http://schemas.openxmlformats.org/officeDocument/2006/relationships" id="260" r:id="R5c78102a02604419"/>
    <p:sldId xmlns:r="http://schemas.openxmlformats.org/officeDocument/2006/relationships" id="261" r:id="R444a72e5dfa14027"/>
    <p:sldId xmlns:r="http://schemas.openxmlformats.org/officeDocument/2006/relationships" id="262" r:id="Rccf072f76ff147c3"/>
    <p:sldId xmlns:r="http://schemas.openxmlformats.org/officeDocument/2006/relationships" id="263" r:id="R1b071d6db48e48fd"/>
    <p:sldId xmlns:r="http://schemas.openxmlformats.org/officeDocument/2006/relationships" id="264" r:id="Rcf7b0d33e6734e2b"/>
    <p:sldId xmlns:r="http://schemas.openxmlformats.org/officeDocument/2006/relationships" id="265" r:id="Rf1571fe582e74661"/>
    <p:sldId xmlns:r="http://schemas.openxmlformats.org/officeDocument/2006/relationships" id="266" r:id="R49932ac6610840b2"/>
    <p:sldId xmlns:r="http://schemas.openxmlformats.org/officeDocument/2006/relationships" id="267" r:id="R72d33ec1ff2d4726"/>
    <p:sldId xmlns:r="http://schemas.openxmlformats.org/officeDocument/2006/relationships" id="268" r:id="R3cc3d8d6a40d4758"/>
    <p:sldId xmlns:r="http://schemas.openxmlformats.org/officeDocument/2006/relationships" id="269" r:id="R2783235e68514cc8"/>
    <p:sldId xmlns:r="http://schemas.openxmlformats.org/officeDocument/2006/relationships" id="270" r:id="R5c92e3b892d142d1"/>
    <p:sldId xmlns:r="http://schemas.openxmlformats.org/officeDocument/2006/relationships" id="271" r:id="R36726a655b894342"/>
    <p:sldId xmlns:r="http://schemas.openxmlformats.org/officeDocument/2006/relationships" id="272" r:id="Rf9a40b0562634bdb"/>
    <p:sldId xmlns:r="http://schemas.openxmlformats.org/officeDocument/2006/relationships" id="273" r:id="R236ab7cc07dd4595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272e0e457348b6" /><Relationship Type="http://schemas.openxmlformats.org/officeDocument/2006/relationships/slideMaster" Target="/ppt/slideMasters/slideMaster1.xml" Id="R09e742a299d34682" /><Relationship Type="http://schemas.openxmlformats.org/officeDocument/2006/relationships/notesMaster" Target="/ppt/notesMasters/notesMaster1.xml" Id="Re0acc149298e42c0" /><Relationship Type="http://schemas.openxmlformats.org/officeDocument/2006/relationships/presProps" Target="/ppt/presProps.xml" Id="Rfdddf964d8f04dad" /><Relationship Type="http://schemas.openxmlformats.org/officeDocument/2006/relationships/viewProps" Target="/ppt/viewProps.xml" Id="Rbadaa1e7da9d4000" /><Relationship Type="http://schemas.openxmlformats.org/officeDocument/2006/relationships/tableStyles" Target="/ppt/tableStyles.xml" Id="Rfb3b056722a2433c" /><Relationship Type="http://schemas.openxmlformats.org/officeDocument/2006/relationships/slide" Target="/ppt/slides/slide1.xml" Id="R38b3f04deb334f93" /><Relationship Type="http://schemas.openxmlformats.org/officeDocument/2006/relationships/slide" Target="/ppt/slides/slide2.xml" Id="Rb9986b7a271b4c8d" /><Relationship Type="http://schemas.openxmlformats.org/officeDocument/2006/relationships/slide" Target="/ppt/slides/slide3.xml" Id="R7e08f9ff191c4cd9" /><Relationship Type="http://schemas.openxmlformats.org/officeDocument/2006/relationships/slide" Target="/ppt/slides/slide4.xml" Id="R5dd8ba35400444c8" /><Relationship Type="http://schemas.openxmlformats.org/officeDocument/2006/relationships/slide" Target="/ppt/slides/slide5.xml" Id="R5c78102a02604419" /><Relationship Type="http://schemas.openxmlformats.org/officeDocument/2006/relationships/slide" Target="/ppt/slides/slide6.xml" Id="R444a72e5dfa14027" /><Relationship Type="http://schemas.openxmlformats.org/officeDocument/2006/relationships/slide" Target="/ppt/slides/slide7.xml" Id="Rccf072f76ff147c3" /><Relationship Type="http://schemas.openxmlformats.org/officeDocument/2006/relationships/slide" Target="/ppt/slides/slide8.xml" Id="R1b071d6db48e48fd" /><Relationship Type="http://schemas.openxmlformats.org/officeDocument/2006/relationships/slide" Target="/ppt/slides/slide9.xml" Id="Rcf7b0d33e6734e2b" /><Relationship Type="http://schemas.openxmlformats.org/officeDocument/2006/relationships/slide" Target="/ppt/slides/slide10.xml" Id="Rf1571fe582e74661" /><Relationship Type="http://schemas.openxmlformats.org/officeDocument/2006/relationships/slide" Target="/ppt/slides/slide11.xml" Id="R49932ac6610840b2" /><Relationship Type="http://schemas.openxmlformats.org/officeDocument/2006/relationships/slide" Target="/ppt/slides/slide12.xml" Id="R72d33ec1ff2d4726" /><Relationship Type="http://schemas.openxmlformats.org/officeDocument/2006/relationships/slide" Target="/ppt/slides/slide13.xml" Id="R3cc3d8d6a40d4758" /><Relationship Type="http://schemas.openxmlformats.org/officeDocument/2006/relationships/slide" Target="/ppt/slides/slide14.xml" Id="R2783235e68514cc8" /><Relationship Type="http://schemas.openxmlformats.org/officeDocument/2006/relationships/slide" Target="/ppt/slides/slide15.xml" Id="R5c92e3b892d142d1" /><Relationship Type="http://schemas.openxmlformats.org/officeDocument/2006/relationships/slide" Target="/ppt/slides/slide16.xml" Id="R36726a655b894342" /><Relationship Type="http://schemas.openxmlformats.org/officeDocument/2006/relationships/slide" Target="/ppt/slides/slide17.xml" Id="Rf9a40b0562634bdb" /><Relationship Type="http://schemas.openxmlformats.org/officeDocument/2006/relationships/slide" Target="/ppt/slides/slide18.xml" Id="R236ab7cc07dd45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31dedaba14c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d322313a61445f" /><Relationship Type="http://schemas.openxmlformats.org/officeDocument/2006/relationships/notesMaster" Target="/ppt/notesMasters/notesMaster1.xml" Id="R9de45b5e028348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f277579294a25" /><Relationship Type="http://schemas.openxmlformats.org/officeDocument/2006/relationships/notesMaster" Target="/ppt/notesMasters/notesMaster1.xml" Id="R746210a16ff046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3c45efed29496e" /><Relationship Type="http://schemas.openxmlformats.org/officeDocument/2006/relationships/notesMaster" Target="/ppt/notesMasters/notesMaster1.xml" Id="Rf703e0fbb26841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1d05e14a6f4ee3" /><Relationship Type="http://schemas.openxmlformats.org/officeDocument/2006/relationships/notesMaster" Target="/ppt/notesMasters/notesMaster1.xml" Id="R92fc586c1f0342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a8ba401d1e4b70" /><Relationship Type="http://schemas.openxmlformats.org/officeDocument/2006/relationships/notesMaster" Target="/ppt/notesMasters/notesMaster1.xml" Id="Rad95fb333ec145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138db9abfc4bda" /><Relationship Type="http://schemas.openxmlformats.org/officeDocument/2006/relationships/notesMaster" Target="/ppt/notesMasters/notesMaster1.xml" Id="R9aa8a59a32924a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f0c71ec2d9402f" /><Relationship Type="http://schemas.openxmlformats.org/officeDocument/2006/relationships/notesMaster" Target="/ppt/notesMasters/notesMaster1.xml" Id="R76745b74c35c42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21dd285ad34a77" /><Relationship Type="http://schemas.openxmlformats.org/officeDocument/2006/relationships/notesMaster" Target="/ppt/notesMasters/notesMaster1.xml" Id="Rc78db02379684f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540d5b66044795" /><Relationship Type="http://schemas.openxmlformats.org/officeDocument/2006/relationships/notesMaster" Target="/ppt/notesMasters/notesMaster1.xml" Id="Red092072442543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a5f7965242471b" /><Relationship Type="http://schemas.openxmlformats.org/officeDocument/2006/relationships/notesMaster" Target="/ppt/notesMasters/notesMaster1.xml" Id="Rff26613e415041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0734e7c4094661" /><Relationship Type="http://schemas.openxmlformats.org/officeDocument/2006/relationships/notesMaster" Target="/ppt/notesMasters/notesMaster1.xml" Id="R9be88ad3719b40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472bc52d1544b3" /><Relationship Type="http://schemas.openxmlformats.org/officeDocument/2006/relationships/notesMaster" Target="/ppt/notesMasters/notesMaster1.xml" Id="R82569efeb1b64e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6d5e6818714ed2" /><Relationship Type="http://schemas.openxmlformats.org/officeDocument/2006/relationships/notesMaster" Target="/ppt/notesMasters/notesMaster1.xml" Id="R8a9e3521aac742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ab3b20ef9840a4" /><Relationship Type="http://schemas.openxmlformats.org/officeDocument/2006/relationships/notesMaster" Target="/ppt/notesMasters/notesMaster1.xml" Id="R918109c7b2ba46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71706a66e74379" /><Relationship Type="http://schemas.openxmlformats.org/officeDocument/2006/relationships/notesMaster" Target="/ppt/notesMasters/notesMaster1.xml" Id="Re1ab60b26bf947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766d5a5ac04ec1" /><Relationship Type="http://schemas.openxmlformats.org/officeDocument/2006/relationships/notesMaster" Target="/ppt/notesMasters/notesMaster1.xml" Id="R7dc63e30d0fb44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4e50ea14244ab7" /><Relationship Type="http://schemas.openxmlformats.org/officeDocument/2006/relationships/notesMaster" Target="/ppt/notesMasters/notesMaster1.xml" Id="R1508d35e056041f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a951f604d84bd7" /><Relationship Type="http://schemas.openxmlformats.org/officeDocument/2006/relationships/notesMaster" Target="/ppt/notesMasters/notesMaster1.xml" Id="Rf6c49e5749be40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4조 UKKKK입니다.  </a:t>
            </a:r>
          </a:p>
          <a:p xmlns:a="http://schemas.openxmlformats.org/drawingml/2006/main">
            <a:r>
              <a:t>원래 과제는 출산·양육 관련 민원과 데이터를 수집해 정책 수요를 도출하는 것이었습니다. 그런데 실제 ‘상상대로 서울’ 데이터를 확인하면서, 시민 제안의 답변 상태와 반복 수요, 실제 담당팀 후보, 기존 정책 근거가 한 흐름으로 연결되어 있지 않다는 점에 주목했습니다.  </a:t>
            </a:r>
          </a:p>
          <a:p xmlns:a="http://schemas.openxmlformats.org/drawingml/2006/main">
            <a:r>
              <a:t>그래서 저희는 상상대로 서울을 대체하는 서비스가 아니라, **시민 제안을 정책 검토와 후속 조치로 연결해 플랫폼의 활용을 돕는 백오피스**를 만들었습니다.  </a:t>
            </a:r>
          </a:p>
          <a:p xmlns:a="http://schemas.openxmlformats.org/drawingml/2006/main">
            <a:r>
              <a:t>UKKKK는 시민 제안·민원·정책·뉴스·통계를 통합하고, 시민 수요를 담당 범위와 판단 근거, 다음 조치로 연결하는 행정 의사결정 지원 대시보드입니다.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  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  </a:t>
            </a:r>
          </a:p>
          <a:p xmlns:a="http://schemas.openxmlformats.org/drawingml/2006/main">
            <a:r>
              <a:t>여러 정책 영역에 걸친 제안과 본문·지역 범위 미확인은 실제 데이터에서 확인했습니다. 담당자의 시스템 사용 방식과 업무 부담은 이번 분석 범위에 포함하지 않았으며, 가상 페르소나는 제품 기능과 시연 흐름을 설명하기 위한 설정입니다.  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상상대로 서울에는 시민 제안이 축적되어 있지만, 제안만으로는 **어떤 수요를 먼저 살펴볼지, 어느 정책 영역과 실제 담당 후보가 연결되는지, 판단 근거와 다음 조치가 무엇인지**를 한 흐름에서 확인하기 어렵습니다.  </a:t>
            </a:r>
          </a:p>
          <a:p xmlns:a="http://schemas.openxmlformats.org/drawingml/2006/main">
            <a:r>
              <a:t>저희는 시민 수요와 정책·민원·뉴스·통계, R&amp;R 근거를 연결해 이 단절을 보완하는 것을 제품이 다룰 문제로 정의했습니다.  </a:t>
            </a:r>
          </a:p>
          <a:p xmlns:a="http://schemas.openxmlformats.org/drawingml/2006/main">
            <a:r>
              <a:t>화면의 누락·혼선·근거 단절은 실제 기관의 확정된 업무 절차가 아니라, 수집 데이터와 제품 구조를 바탕으로 설정한 검토 위험입니다.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왼쪽은 UKKKK가 받는 입력입니다. 시민 제안과 민원, 기존 정책과 뉴스, 자치구 통계를 한데 모읍니다.  </a:t>
            </a:r>
          </a:p>
          <a:p xmlns:a="http://schemas.openxmlformats.org/drawingml/2006/main">
            <a:r>
              <a:t>오른쪽은 그 데이터를 연결해 만든 출력입니다. 반복되는 수요와 정책 Gap, 주관·협조 R&amp;R 후보, 원문 근거, 맞춤 보고서와 검토 로그를 제공합니다.  </a:t>
            </a:r>
          </a:p>
          <a:p xmlns:a="http://schemas.openxmlformats.org/drawingml/2006/main">
            <a:r>
              <a:t>즉, 이 화면은 실제 조작 순서를 설명하는 페이지가 아니라 **흩어진 입력을 검토 가능한 출력으로 바꾸는 제품의 역할**을 보여줍니다. 최종 판단과 승인은 담당자에게 남겨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  </a:t>
            </a:r>
          </a:p>
          <a:p xmlns:a="http://schemas.openxmlformats.org/drawingml/2006/main">
            <a:r>
              <a:t>현재 데모는 이 데이터를 미리 수집·정제해 캐시한 구조로 안정적으로 재현됩니다.  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  </a:t>
            </a:r>
          </a:p>
          <a:p xmlns:a="http://schemas.openxmlformats.org/drawingml/2006/main">
            <a:r>
              <a:t>정제된 데이터는 8대 계층 분류, 의미 유사 군집화, 원본 업무분장 기반 R&amp;R 후보 매칭을 거쳐 화면에서 서로 대조합니다.  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버전의 가장 중요한 개선은 상단 필터의 의미를 두 단계로 분리한 것입니다.  </a:t>
            </a:r>
          </a:p>
          <a:p xmlns:a="http://schemas.openxmlformats.org/drawingml/2006/main">
            <a:r>
              <a:t>첫 번째는 조직이 아니라 8대 **정책 대분류 담당군**입니다. 두 번째가 원본 업무분장에 근거한 **실제 R&amp;R 팀**입니다.  </a:t>
            </a:r>
          </a:p>
          <a:p xmlns:a="http://schemas.openxmlformats.org/drawingml/2006/main">
            <a:r>
              <a:t>전체 담당군에서 팀을 고르면 그 팀이 주관 또는 협조로 포함된 모든 안건을 찾습니다. 반면 특정 대분류를 먼저 고르면, 그 범위에서 해당 팀이 1순위 주관인 안건만 보여줍니다.  </a:t>
            </a:r>
          </a:p>
          <a:p xmlns:a="http://schemas.openxmlformats.org/drawingml/2006/main">
            <a:r>
              <a:t>따라서 가족지원팀처럼 여러 분야에 협조로 참여하는 팀도 중복을 숨기지 않으면서, 사용자는 지금 ‘관련 안건 전체’를 보는지 ‘주관 안건’을 보는지 구분할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UKKKK는 전체 범위의 제안을 57개 문제 군집으로 묶고, 수요·정책 공백·시급성·실행성·근거 신뢰도의 다섯 축으로 비교합니다.  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  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  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화면은 여덟 개지만 질문의 순서로 연결됩니다.  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  </a:t>
            </a:r>
          </a:p>
          <a:p xmlns:a="http://schemas.openxmlformats.org/drawingml/2006/main">
            <a:r>
              <a:t>각 화면은 독립 메뉴가 아니라 **하나의 정책 검토 과정의 단계**입니다.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주무관의 실제 흐름은 여섯 단계입니다.  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  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  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신규 담당자가 화면을 외워야 한다는 문제는 새싹이 오피스 길잡이로 줄였습니다. 새싹이는 현재 화면의 목적과 기본 단계, 고급 활용 팁을 안내하고, 정책 담당군을 선택하면 대분류 기준으로, 실제 팀을 선택하면 팀 기준으로 업무 동선을 바꿉니다.  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  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  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  </a:t>
            </a:r>
          </a:p>
          <a:p xmlns:a="http://schemas.openxmlformats.org/drawingml/2006/main">
            <a:r>
              <a:t>복원 후보는 담당자가 원문을 펼쳐 검토하고 선택한 결과만 반영 이력으로 남깁니다.  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/Users/parkcy/Desktop/sesac_pjt/UKKKK/data/final/proposals.json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라이브 화면을 열기 전에 다섯 장면만 먼저 말씀드리겠습니다.  </a:t>
            </a:r>
          </a:p>
          <a:p xmlns:a="http://schemas.openxmlformats.org/drawingml/2006/main">
            <a:r>
              <a:t>첫째 출산·산후 초기지원 담당군을 선택하고, 둘째 실제 건강팀을 선택해 68건으로 좁힙니다. 셋째 시민 목소리와 Gap이 같은 범위로 재계산되는지 확인합니다. 넷째 주관 1순위와 협조 2·3순위 근거를 보고, 마지막으로 같은 범위가 보고서까지 이어지는지 확인합니다.  </a:t>
            </a:r>
          </a:p>
          <a:p xmlns:a="http://schemas.openxmlformats.org/drawingml/2006/main">
            <a:r>
              <a:t>이제 다음 장의 버튼을 눌러 실제 데모 페이지로 이동하겠습니다.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 화면의 URL을 눌러 실제 배포 페이지를 엽니다.</a:t>
            </a:r>
          </a:p>
          <a:p xmlns:a="http://schemas.openxmlformats.org/drawingml/2006/main">
            <a:r>
              <a:t>데모 URL: https://ukkkk-two.vercel.app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데이터 정합성 검사와 빌드, 2단계 필터, 8개 화면 범위 연동은 확인했습니다.  </a:t>
            </a:r>
          </a:p>
          <a:p xmlns:a="http://schemas.openxmlformats.org/drawingml/2006/main">
            <a:r>
              <a:t>반면 업무시간 단축률, R&amp;R 추천의 실무 수용률, 결측치 복원 정밀도는 아직 실제 사용자 검증이 필요합니다.  </a:t>
            </a:r>
          </a:p>
          <a:p xmlns:a="http://schemas.openxmlformats.org/drawingml/2006/main">
            <a:r>
              <a:t>따라서 저희는 효과를 미리 확정하지 않고, 다음 단계에서 정책 담당자에게 동일 과업을 기존 방식과 UKKKK 방식으로 수행하게 해 시간, 오류, 수정 횟수, 만족도를 측정하겠습니다.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데모를 운영형 도구로 전환하는 것입니다.  </a:t>
            </a:r>
          </a:p>
          <a:p xmlns:a="http://schemas.openxmlformats.org/drawingml/2006/main">
            <a:r>
              <a:t>먼저 정기 수집과 출처·버전 관리를 구축하고 상세 원문 확보율을 높이겠습니다. 다음으로 담당자 피드백을 정답셋으로 쌓아 R&amp;R과 결측치 복원의 정확도를 측정하겠습니다.  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더 많은 숫자를 보여주는 대시보드가 아닙니다. 시민의 수요를 책임과 근거, 다음 조치로 연결하는 업무 도구입니다.  </a:t>
            </a:r>
          </a:p>
          <a:p xmlns:a="http://schemas.openxmlformats.org/drawingml/2006/main">
            <a:r>
              <a:t>모르는 것은 정직하게 표시하고, 근거는 연결하며, 최종 결정은 담당자가 합니다.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로드맵에서 요구한 시스템 기획·PRD, 데이터분석 정의서, 발표 대본, 프론트엔드, 데이터 검사, 배포 산출물을 실제 파일 경로 기준으로 정리했습니다.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d5caf35ac430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a4a47c455a4b6e" /><Relationship Type="http://schemas.openxmlformats.org/officeDocument/2006/relationships/slideLayout" Target="/ppt/slideLayouts/slideLayout1.xml" Id="Rb24d84bedee94c2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4d84bedee94c2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c58ac7e684b26" /><Relationship Type="http://schemas.openxmlformats.org/officeDocument/2006/relationships/image" Target="/ppt/media/image.png" Id="R09b21fd995a047ff" /><Relationship Type="http://schemas.openxmlformats.org/officeDocument/2006/relationships/image" Target="/ppt/media/image2.png" Id="R37cf3e6bef3b46f0" /><Relationship Type="http://schemas.openxmlformats.org/officeDocument/2006/relationships/notesSlide" Target="/ppt/notesSlides/notesSlide1.xml" Id="Ra514a987b0bd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09fa0e7b04007" /><Relationship Type="http://schemas.openxmlformats.org/officeDocument/2006/relationships/image" Target="/ppt/media/image3.png" Id="Ra083542e1c7b4016" /><Relationship Type="http://schemas.openxmlformats.org/officeDocument/2006/relationships/notesSlide" Target="/ppt/notesSlides/notesSlide2.xml" Id="R6baf12ec11a242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46dff64e24c2c" /><Relationship Type="http://schemas.openxmlformats.org/officeDocument/2006/relationships/image" Target="/ppt/media/image4.png" Id="R22188bce64a94050" /><Relationship Type="http://schemas.openxmlformats.org/officeDocument/2006/relationships/notesSlide" Target="/ppt/notesSlides/notesSlide3.xml" Id="R6011262e0604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0dc5adb514938" /><Relationship Type="http://schemas.openxmlformats.org/officeDocument/2006/relationships/image" Target="/ppt/media/image3.png" Id="Re69ce18ba9b04bbf" /><Relationship Type="http://schemas.openxmlformats.org/officeDocument/2006/relationships/notesSlide" Target="/ppt/notesSlides/notesSlide4.xml" Id="Ra6063856e1bb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2ba371f514e00" /><Relationship Type="http://schemas.openxmlformats.org/officeDocument/2006/relationships/image" Target="/ppt/media/image5.png" Id="R698b89380f794e36" /><Relationship Type="http://schemas.openxmlformats.org/officeDocument/2006/relationships/notesSlide" Target="/ppt/notesSlides/notesSlide5.xml" Id="R829894be3d934b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a117db715410f" /><Relationship Type="http://schemas.openxmlformats.org/officeDocument/2006/relationships/image" Target="/ppt/media/image6.png" Id="R5cc02346c80e411e" /><Relationship Type="http://schemas.openxmlformats.org/officeDocument/2006/relationships/image" Target="/ppt/media/image7.png" Id="R117430974c004575" /><Relationship Type="http://schemas.openxmlformats.org/officeDocument/2006/relationships/notesSlide" Target="/ppt/notesSlides/notesSlide6.xml" Id="R1e6c430ed7ae42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93179d18c48a3" /><Relationship Type="http://schemas.openxmlformats.org/officeDocument/2006/relationships/image" Target="/ppt/media/image8.png" Id="Rb3e24f7a7fae45e3" /><Relationship Type="http://schemas.openxmlformats.org/officeDocument/2006/relationships/image" Target="/ppt/media/image9.png" Id="R2d0dfd1655ad494a" /><Relationship Type="http://schemas.openxmlformats.org/officeDocument/2006/relationships/notesSlide" Target="/ppt/notesSlides/notesSlide7.xml" Id="R92bc5fd70c6244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b1180b07f4658" /><Relationship Type="http://schemas.openxmlformats.org/officeDocument/2006/relationships/image" Target="/ppt/media/image10.png" Id="R32380334bbc44c7c" /><Relationship Type="http://schemas.openxmlformats.org/officeDocument/2006/relationships/notesSlide" Target="/ppt/notesSlides/notesSlide8.xml" Id="R52e126cb7e8842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762001a0e476a" /><Relationship Type="http://schemas.openxmlformats.org/officeDocument/2006/relationships/image" Target="/ppt/media/image10.png" Id="R2c5b1536a5b64e81" /><Relationship Type="http://schemas.openxmlformats.org/officeDocument/2006/relationships/notesSlide" Target="/ppt/notesSlides/notesSlide9.xml" Id="Reae10163ee4c49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3f30f0623474e" /><Relationship Type="http://schemas.openxmlformats.org/officeDocument/2006/relationships/image" Target="/ppt/media/image6.png" Id="R0294500918b5409f" /><Relationship Type="http://schemas.openxmlformats.org/officeDocument/2006/relationships/image" Target="/ppt/media/image7.png" Id="R12b72b94aaa74ad1" /><Relationship Type="http://schemas.openxmlformats.org/officeDocument/2006/relationships/notesSlide" Target="/ppt/notesSlides/notesSlide10.xml" Id="R223aa865a7d440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7eb381c5344e9" /><Relationship Type="http://schemas.openxmlformats.org/officeDocument/2006/relationships/image" Target="/ppt/media/image11.png" Id="R9c28c15d91e549f5" /><Relationship Type="http://schemas.openxmlformats.org/officeDocument/2006/relationships/notesSlide" Target="/ppt/notesSlides/notesSlide11.xml" Id="Rc3fe02758cce42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c435bfd774132" /><Relationship Type="http://schemas.openxmlformats.org/officeDocument/2006/relationships/image" Target="/ppt/media/image4.png" Id="R51e6cf9b61224e44" /><Relationship Type="http://schemas.openxmlformats.org/officeDocument/2006/relationships/notesSlide" Target="/ppt/notesSlides/notesSlide12.xml" Id="R1cdd8aeffcd24d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8b6c938634a4b" /><Relationship Type="http://schemas.openxmlformats.org/officeDocument/2006/relationships/image" Target="/ppt/media/image12.png" Id="R7214953dcf6b4674" /><Relationship Type="http://schemas.openxmlformats.org/officeDocument/2006/relationships/image" Target="/ppt/media/image13.png" Id="R78e7a5153acd4758" /><Relationship Type="http://schemas.openxmlformats.org/officeDocument/2006/relationships/hyperlink" Target="https://ukkkk-two.vercel.app/" TargetMode="External" Id="R5e61081d8a584703" /><Relationship Type="http://schemas.openxmlformats.org/officeDocument/2006/relationships/notesSlide" Target="/ppt/notesSlides/notesSlide13.xml" Id="R6644268a1bf544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de06c71634ad7" /><Relationship Type="http://schemas.openxmlformats.org/officeDocument/2006/relationships/image" Target="/ppt/media/image14.png" Id="R7627f92497724704" /><Relationship Type="http://schemas.openxmlformats.org/officeDocument/2006/relationships/notesSlide" Target="/ppt/notesSlides/notesSlide14.xml" Id="R5bd91f1dd65845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8c4cee46e45ad" /><Relationship Type="http://schemas.openxmlformats.org/officeDocument/2006/relationships/image" Target="/ppt/media/image15.png" Id="R43209e7c61354458" /><Relationship Type="http://schemas.openxmlformats.org/officeDocument/2006/relationships/notesSlide" Target="/ppt/notesSlides/notesSlide15.xml" Id="Rb5119a538abc43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589564a154130" /><Relationship Type="http://schemas.openxmlformats.org/officeDocument/2006/relationships/image" Target="/ppt/media/image16.png" Id="Rf0cd1abe43094e65" /><Relationship Type="http://schemas.openxmlformats.org/officeDocument/2006/relationships/notesSlide" Target="/ppt/notesSlides/notesSlide16.xml" Id="Ra195288a58d948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42c41eb394146" /><Relationship Type="http://schemas.openxmlformats.org/officeDocument/2006/relationships/image" Target="/ppt/media/image17.png" Id="R26f56be4eb1048ad" /><Relationship Type="http://schemas.openxmlformats.org/officeDocument/2006/relationships/notesSlide" Target="/ppt/notesSlides/notesSlide17.xml" Id="Rbc64e50f590740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23cef5be549ae" /><Relationship Type="http://schemas.openxmlformats.org/officeDocument/2006/relationships/image" Target="/ppt/media/image17.png" Id="Rcf4cf8f43e9c49f9" /><Relationship Type="http://schemas.openxmlformats.org/officeDocument/2006/relationships/notesSlide" Target="/ppt/notesSlides/notesSlide18.xml" Id="R3fb7642ca5334a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21fd995a047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21fd995a047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40280"/>
            <a:ext cx="12191695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A05B4D2-D912-41AA-A749-8DCAA6DE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수요를 책임·근거·조치로 연결하는 정책 의사결정 지원 대시보드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f3e6bef3b46f0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값은 표시하고, 결정은 사람이 합니다</a:t>
            </a:r>
          </a:p>
        </p:txBody>
      </p:sp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3542e1c7b4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3542e1c7b4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3542e1c7b4016"/>
          <a:stretch xmlns:a="http://schemas.openxmlformats.org/drawingml/2006/main"/>
        </p:blipFill>
        <p:spPr>
          <a:xfrm xmlns:a="http://schemas.openxmlformats.org/drawingml/2006/main">
            <a:off x="323850" y="4935736"/>
            <a:ext cx="1381125" cy="112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88bce64a9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88bce64a9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기관별 업무 절차를 대표한다고 단정하지 않아요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88bce64a94050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ce18ba9b04b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ce18ba9b04b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ce18ba9b04bbf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b89380f794e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b89380f794e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스키마 → 정규화 → 8대 분류 → 문제 군집 → R&amp;R 후보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02346c80e41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02346c80e41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430974c004575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전체+팀은 1·2·3순위, 대분류+팀은 1순위 주관만 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02346c80e411e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24f7a7fae45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24f7a7fae45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dfd1655ad494a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24f7a7fae45e3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80334bbc44c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80334bbc44c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80334bbc44c7c"/>
          <a:stretch xmlns:a="http://schemas.openxmlformats.org/drawingml/2006/main"/>
        </p:blipFill>
        <p:spPr>
          <a:xfrm xmlns:a="http://schemas.openxmlformats.org/drawingml/2006/main">
            <a:off x="377174" y="4762500"/>
            <a:ext cx="1322102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b1536a5b64e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b1536a5b64e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b1536a5b64e81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4500918b540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4500918b540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72b94aaa74ad1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4500918b5409f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8c15d91e5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8c15d91e5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8c15d91e549f5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6cf9b61224e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6cf9b61224e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데모 전 안내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라이브 화면에서 볼 다섯 장면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 → 건강팀 68건 → 재계산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→ R&amp;R 근거 → 보고서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다음 장의 실행 화면에서 실제 데모를 열어요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6cf9b61224e44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4953dcf6b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4953dcf6b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라이브 데모 실행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실제 배포 페이지로 이동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건강팀 68건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보고서·CSV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7a5153acd47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hlinkClick xmlns:r="http://schemas.openxmlformats.org/officeDocument/2006/relationships" xmlns:a="http://schemas.openxmlformats.org/drawingml/2006/main" r:id="R5e61081d8a584703"/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https://ukkkk-two.vercel.app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4953dcf6b4674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7f9249772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7f9249772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검증 상태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확인된 기능과 검증하지 않은 효과를 분리합니다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동작 확인 ≠ 업무 효과 검증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확인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정합성·필터·8개 화면·빌드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미검증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시간 단축·R&amp;R 정확도·만족도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효과 수치는 검증하지 않아 성과로 제시하지 않아요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7f92497724704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09e7c6135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09e7c6135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09e7c61354458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d1abe43094e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d1abe43094e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결론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더 많은 데이터를 보여주는 것이 아니라, 담당자가 다음 행동을 더 정확히 선택하게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것은 표시하고, 근거는 연결하며, 결정은 사람이 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d1abe43094e65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56be4eb10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56be4eb10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cf8f43e9c49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cf8f43e9c49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docs/발표자료/발표_대본_PPT구성_ver2.md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2026-07-25T13:16:02.8130000Z</dcterms:created>
  <dcterms:modified xsi:type="dcterms:W3CDTF">2026-07-25T13:16:02.8130000Z</dcterms:modified>
</coreProperties>
</file>