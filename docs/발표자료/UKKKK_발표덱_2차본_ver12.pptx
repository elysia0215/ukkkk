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6f97d709f94754" /><Relationship Type="http://schemas.openxmlformats.org/officeDocument/2006/relationships/extended-properties" Target="/docProps/app.xml" Id="R55289217dcd945a8" /><Relationship Type="http://schemas.openxmlformats.org/officeDocument/2006/relationships/officeDocument" Target="/ppt/presentation.xml" Id="Raa234643661f49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211fb2f3ed48d0"/>
  </p:sldMasterIdLst>
  <p:notesMasterIdLst>
    <p:notesMasterId xmlns:r="http://schemas.openxmlformats.org/officeDocument/2006/relationships" r:id="R16287663034349cc"/>
  </p:notesMasterIdLst>
  <p:sldIdLst>
    <p:sldId xmlns:r="http://schemas.openxmlformats.org/officeDocument/2006/relationships" id="256" r:id="R77326db2f7df429c"/>
    <p:sldId xmlns:r="http://schemas.openxmlformats.org/officeDocument/2006/relationships" id="257" r:id="Re62467a190f74a12"/>
    <p:sldId xmlns:r="http://schemas.openxmlformats.org/officeDocument/2006/relationships" id="258" r:id="R24a74dfc55364534"/>
    <p:sldId xmlns:r="http://schemas.openxmlformats.org/officeDocument/2006/relationships" id="259" r:id="R01d3076d3a8941f6"/>
    <p:sldId xmlns:r="http://schemas.openxmlformats.org/officeDocument/2006/relationships" id="260" r:id="Rfcdf0f2c7aa54510"/>
    <p:sldId xmlns:r="http://schemas.openxmlformats.org/officeDocument/2006/relationships" id="261" r:id="R73533e1258d547f4"/>
    <p:sldId xmlns:r="http://schemas.openxmlformats.org/officeDocument/2006/relationships" id="262" r:id="Rbdc6f9eb33234950"/>
    <p:sldId xmlns:r="http://schemas.openxmlformats.org/officeDocument/2006/relationships" id="263" r:id="Red41a59861764e07"/>
    <p:sldId xmlns:r="http://schemas.openxmlformats.org/officeDocument/2006/relationships" id="264" r:id="R804f10b4468843f1"/>
    <p:sldId xmlns:r="http://schemas.openxmlformats.org/officeDocument/2006/relationships" id="265" r:id="Re7643f807e3b4ef4"/>
    <p:sldId xmlns:r="http://schemas.openxmlformats.org/officeDocument/2006/relationships" id="266" r:id="R2b54b8d538e64a35"/>
    <p:sldId xmlns:r="http://schemas.openxmlformats.org/officeDocument/2006/relationships" id="267" r:id="R36d2cafb391e4b4d"/>
    <p:sldId xmlns:r="http://schemas.openxmlformats.org/officeDocument/2006/relationships" id="268" r:id="Rcd632e94c51340a3"/>
    <p:sldId xmlns:r="http://schemas.openxmlformats.org/officeDocument/2006/relationships" id="269" r:id="Rd3c7fa3cb36146dd"/>
    <p:sldId xmlns:r="http://schemas.openxmlformats.org/officeDocument/2006/relationships" id="270" r:id="Rf1dc6093f3ae4839"/>
    <p:sldId xmlns:r="http://schemas.openxmlformats.org/officeDocument/2006/relationships" id="271" r:id="Rb459bcdc2cb24f88"/>
    <p:sldId xmlns:r="http://schemas.openxmlformats.org/officeDocument/2006/relationships" id="272" r:id="Raec7e2c115134626"/>
    <p:sldId xmlns:r="http://schemas.openxmlformats.org/officeDocument/2006/relationships" id="273" r:id="R842a89781a374d4d"/>
    <p:sldId xmlns:r="http://schemas.openxmlformats.org/officeDocument/2006/relationships" id="274" r:id="Rc42b30b55360444c"/>
    <p:sldId xmlns:r="http://schemas.openxmlformats.org/officeDocument/2006/relationships" id="275" r:id="Rab747eebe0a446a3"/>
    <p:sldId xmlns:r="http://schemas.openxmlformats.org/officeDocument/2006/relationships" id="276" r:id="Rbaa662fb95e74238"/>
    <p:sldId xmlns:r="http://schemas.openxmlformats.org/officeDocument/2006/relationships" id="277" r:id="Rc6d6ef5e19f142d7"/>
    <p:sldId xmlns:r="http://schemas.openxmlformats.org/officeDocument/2006/relationships" id="278" r:id="Rba5dc49c167a4cab"/>
    <p:sldId xmlns:r="http://schemas.openxmlformats.org/officeDocument/2006/relationships" id="279" r:id="Rbe9f5a036e3f427e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e9bee5f7d54ab1" /><Relationship Type="http://schemas.openxmlformats.org/officeDocument/2006/relationships/slideMaster" Target="/ppt/slideMasters/slideMaster1.xml" Id="R54211fb2f3ed48d0" /><Relationship Type="http://schemas.openxmlformats.org/officeDocument/2006/relationships/notesMaster" Target="/ppt/notesMasters/notesMaster1.xml" Id="R16287663034349cc" /><Relationship Type="http://schemas.openxmlformats.org/officeDocument/2006/relationships/presProps" Target="/ppt/presProps.xml" Id="Rbfb70eff88d64e2e" /><Relationship Type="http://schemas.openxmlformats.org/officeDocument/2006/relationships/viewProps" Target="/ppt/viewProps.xml" Id="R79cfe23835a24ceb" /><Relationship Type="http://schemas.openxmlformats.org/officeDocument/2006/relationships/tableStyles" Target="/ppt/tableStyles.xml" Id="Rcf4156bc270549b1" /><Relationship Type="http://schemas.openxmlformats.org/officeDocument/2006/relationships/slide" Target="/ppt/slides/slide1.xml" Id="R77326db2f7df429c" /><Relationship Type="http://schemas.openxmlformats.org/officeDocument/2006/relationships/slide" Target="/ppt/slides/slide2.xml" Id="Re62467a190f74a12" /><Relationship Type="http://schemas.openxmlformats.org/officeDocument/2006/relationships/slide" Target="/ppt/slides/slide3.xml" Id="R24a74dfc55364534" /><Relationship Type="http://schemas.openxmlformats.org/officeDocument/2006/relationships/slide" Target="/ppt/slides/slide4.xml" Id="R01d3076d3a8941f6" /><Relationship Type="http://schemas.openxmlformats.org/officeDocument/2006/relationships/slide" Target="/ppt/slides/slide5.xml" Id="Rfcdf0f2c7aa54510" /><Relationship Type="http://schemas.openxmlformats.org/officeDocument/2006/relationships/slide" Target="/ppt/slides/slide6.xml" Id="R73533e1258d547f4" /><Relationship Type="http://schemas.openxmlformats.org/officeDocument/2006/relationships/slide" Target="/ppt/slides/slide7.xml" Id="Rbdc6f9eb33234950" /><Relationship Type="http://schemas.openxmlformats.org/officeDocument/2006/relationships/slide" Target="/ppt/slides/slide8.xml" Id="Red41a59861764e07" /><Relationship Type="http://schemas.openxmlformats.org/officeDocument/2006/relationships/slide" Target="/ppt/slides/slide9.xml" Id="R804f10b4468843f1" /><Relationship Type="http://schemas.openxmlformats.org/officeDocument/2006/relationships/slide" Target="/ppt/slides/slide10.xml" Id="Re7643f807e3b4ef4" /><Relationship Type="http://schemas.openxmlformats.org/officeDocument/2006/relationships/slide" Target="/ppt/slides/slide11.xml" Id="R2b54b8d538e64a35" /><Relationship Type="http://schemas.openxmlformats.org/officeDocument/2006/relationships/slide" Target="/ppt/slides/slide12.xml" Id="R36d2cafb391e4b4d" /><Relationship Type="http://schemas.openxmlformats.org/officeDocument/2006/relationships/slide" Target="/ppt/slides/slide13.xml" Id="Rcd632e94c51340a3" /><Relationship Type="http://schemas.openxmlformats.org/officeDocument/2006/relationships/slide" Target="/ppt/slides/slide14.xml" Id="Rd3c7fa3cb36146dd" /><Relationship Type="http://schemas.openxmlformats.org/officeDocument/2006/relationships/slide" Target="/ppt/slides/slide15.xml" Id="Rf1dc6093f3ae4839" /><Relationship Type="http://schemas.openxmlformats.org/officeDocument/2006/relationships/slide" Target="/ppt/slides/slide16.xml" Id="Rb459bcdc2cb24f88" /><Relationship Type="http://schemas.openxmlformats.org/officeDocument/2006/relationships/slide" Target="/ppt/slides/slide17.xml" Id="Raec7e2c115134626" /><Relationship Type="http://schemas.openxmlformats.org/officeDocument/2006/relationships/slide" Target="/ppt/slides/slide18.xml" Id="R842a89781a374d4d" /><Relationship Type="http://schemas.openxmlformats.org/officeDocument/2006/relationships/slide" Target="/ppt/slides/slide19.xml" Id="Rc42b30b55360444c" /><Relationship Type="http://schemas.openxmlformats.org/officeDocument/2006/relationships/slide" Target="/ppt/slides/slide20.xml" Id="Rab747eebe0a446a3" /><Relationship Type="http://schemas.openxmlformats.org/officeDocument/2006/relationships/slide" Target="/ppt/slides/slide21.xml" Id="Rbaa662fb95e74238" /><Relationship Type="http://schemas.openxmlformats.org/officeDocument/2006/relationships/slide" Target="/ppt/slides/slide22.xml" Id="Rc6d6ef5e19f142d7" /><Relationship Type="http://schemas.openxmlformats.org/officeDocument/2006/relationships/slide" Target="/ppt/slides/slide23.xml" Id="Rba5dc49c167a4cab" /><Relationship Type="http://schemas.openxmlformats.org/officeDocument/2006/relationships/slide" Target="/ppt/slides/slide24.xml" Id="Rbe9f5a036e3f42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78073500174f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645443a3794ceb" /><Relationship Type="http://schemas.openxmlformats.org/officeDocument/2006/relationships/notesMaster" Target="/ppt/notesMasters/notesMaster1.xml" Id="R351389e2c88242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c450985c044072" /><Relationship Type="http://schemas.openxmlformats.org/officeDocument/2006/relationships/notesMaster" Target="/ppt/notesMasters/notesMaster1.xml" Id="Rfa5aa2502f564f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ee772c498847b1" /><Relationship Type="http://schemas.openxmlformats.org/officeDocument/2006/relationships/notesMaster" Target="/ppt/notesMasters/notesMaster1.xml" Id="R12da1337b32248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6e5155e9de4e33" /><Relationship Type="http://schemas.openxmlformats.org/officeDocument/2006/relationships/notesMaster" Target="/ppt/notesMasters/notesMaster1.xml" Id="R4fd00d7d37974d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b5dee5285f44c7" /><Relationship Type="http://schemas.openxmlformats.org/officeDocument/2006/relationships/notesMaster" Target="/ppt/notesMasters/notesMaster1.xml" Id="Rb877995ce42043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146fe2b335436e" /><Relationship Type="http://schemas.openxmlformats.org/officeDocument/2006/relationships/notesMaster" Target="/ppt/notesMasters/notesMaster1.xml" Id="R39f5b0cc64db49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aeb2d5d3e14d41" /><Relationship Type="http://schemas.openxmlformats.org/officeDocument/2006/relationships/notesMaster" Target="/ppt/notesMasters/notesMaster1.xml" Id="Rf792b6fa62694a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a3c68de87a4a59" /><Relationship Type="http://schemas.openxmlformats.org/officeDocument/2006/relationships/notesMaster" Target="/ppt/notesMasters/notesMaster1.xml" Id="R209492f11d4b4a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fb78af84624083" /><Relationship Type="http://schemas.openxmlformats.org/officeDocument/2006/relationships/notesMaster" Target="/ppt/notesMasters/notesMaster1.xml" Id="R79ec54f9e09641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4ba6a633894da0" /><Relationship Type="http://schemas.openxmlformats.org/officeDocument/2006/relationships/notesMaster" Target="/ppt/notesMasters/notesMaster1.xml" Id="Raf5fb574e33942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55ee0e64a247e9" /><Relationship Type="http://schemas.openxmlformats.org/officeDocument/2006/relationships/notesMaster" Target="/ppt/notesMasters/notesMaster1.xml" Id="Rf5c31f016ca24c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96d1a6a3f04be0" /><Relationship Type="http://schemas.openxmlformats.org/officeDocument/2006/relationships/notesMaster" Target="/ppt/notesMasters/notesMaster1.xml" Id="R8a4c74aa278c49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336dd58d7848d8" /><Relationship Type="http://schemas.openxmlformats.org/officeDocument/2006/relationships/notesMaster" Target="/ppt/notesMasters/notesMaster1.xml" Id="R8b5632e5723b43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4386b4d6924088" /><Relationship Type="http://schemas.openxmlformats.org/officeDocument/2006/relationships/notesMaster" Target="/ppt/notesMasters/notesMaster1.xml" Id="Red58c4a5db0c4b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3f643029f341d0" /><Relationship Type="http://schemas.openxmlformats.org/officeDocument/2006/relationships/notesMaster" Target="/ppt/notesMasters/notesMaster1.xml" Id="Rbb8fce5e3bbd41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343b2e849a4502" /><Relationship Type="http://schemas.openxmlformats.org/officeDocument/2006/relationships/notesMaster" Target="/ppt/notesMasters/notesMaster1.xml" Id="Rf5c5051f953142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0f4cc74b0c4dcd" /><Relationship Type="http://schemas.openxmlformats.org/officeDocument/2006/relationships/notesMaster" Target="/ppt/notesMasters/notesMaster1.xml" Id="R15aedf2abb2946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e60a902207c47d8" /><Relationship Type="http://schemas.openxmlformats.org/officeDocument/2006/relationships/notesMaster" Target="/ppt/notesMasters/notesMaster1.xml" Id="R54b0a3a37f18431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6ddd5c97754e63" /><Relationship Type="http://schemas.openxmlformats.org/officeDocument/2006/relationships/notesMaster" Target="/ppt/notesMasters/notesMaster1.xml" Id="Ra1d6501512c84ec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376fc79095c43cd" /><Relationship Type="http://schemas.openxmlformats.org/officeDocument/2006/relationships/notesMaster" Target="/ppt/notesMasters/notesMaster1.xml" Id="R0035952a7b5e480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ba903d468844c0e" /><Relationship Type="http://schemas.openxmlformats.org/officeDocument/2006/relationships/notesMaster" Target="/ppt/notesMasters/notesMaster1.xml" Id="Rb6ebef5cc4bb46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3bcdf305c6b45dc" /><Relationship Type="http://schemas.openxmlformats.org/officeDocument/2006/relationships/notesMaster" Target="/ppt/notesMasters/notesMaster1.xml" Id="R0a118ffb9e0f404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9f60d9395774dd2" /><Relationship Type="http://schemas.openxmlformats.org/officeDocument/2006/relationships/notesMaster" Target="/ppt/notesMasters/notesMaster1.xml" Id="Rbdabf0ad2b6d404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c1731ad30894c87" /><Relationship Type="http://schemas.openxmlformats.org/officeDocument/2006/relationships/notesMaster" Target="/ppt/notesMasters/notesMaster1.xml" Id="R0a513e2fba3846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안녕하십니까. 저희는 4조 UKKKK입니다. 이름이 길어서 발표에서는 편의상 **‘유케이’**라고 부르겠습니다.  </a:t>
            </a:r>
          </a:p>
          <a:p xmlns:a="http://schemas.openxmlformats.org/drawingml/2006/main">
            <a:r>
              <a:t>화면별 기능을 안내하는 오피스 길잡이 **새싹이**도 오늘의 여정을 함께합니다.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과제는 출산·양육 관련 민원과 데이터를 수집해 정책 수요를 도출하는 것이었습니다. 그런데 실제 ‘상상대로 서울’ 데이터를 확인하면서, 시민 제안의 답변 상태와 반복 수요, 실제 담당팀 후보, 기존 정책 근거가 한 흐름으로 연결되어 있지 않다는 점에 주목했습니다.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그래서 저희는 상상대로 서울을 대체하는 서비스가 아니라, **시민 제안을 정책 검토와 후속 조치로 연결해 플랫폼의 활용을 돕는 백오피스**를 만들었습니다.  </a:t>
            </a:r>
          </a:p>
          <a:p xmlns:a="http://schemas.openxmlformats.org/drawingml/2006/main">
            <a:r>
              <a:t>유케이는 시민 제안·민원·정책·뉴스·통계를 통합하고, 시민 수요를 담당 범위와 판단 근거, 다음 조치로 연결하는 행정 의사결정 지원 대시보드입니다.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주무관은 실제 인물이 아니라 제품의 기능과 시연 과업을 구체화하기 위해 설정한 가상 페르소나입니다.  </a:t>
            </a:r>
          </a:p>
          <a:p xmlns:a="http://schemas.openxmlformats.org/drawingml/2006/main">
            <a:r>
              <a:t>시민 제안을 검토하고 담당 후보와 기존 정책 근거를 대조한 뒤 보고자료를 만든다는 과업을 가정했습니다.  </a:t>
            </a:r>
          </a:p>
          <a:p xmlns:a="http://schemas.openxmlformats.org/drawingml/2006/main">
            <a:r>
              <a:t>실제 상상대로 서울에서는 답변 상태와 반복 수요, 담당 후보와 정책 근거가 서로 분리되어 있어 검토 대상과 다음 조치를 한 화면에서 직관적으로 파악하기 어렵습니다. 가상 페르소나는 이 제품 기능과 시연 흐름을 구체적으로 보여주기 위한 설정입니다.  </a:t>
            </a:r>
          </a:p>
          <a:p xmlns:a="http://schemas.openxmlformats.org/drawingml/2006/main">
            <a:r>
              <a:t>그래서 사용자의 질문을 하나로 정의했습니다. **“이 안건은 누가, 왜, 얼마나 먼저 봐야 하는가?”**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상상대로 서울에는 시민 제안이 축적되어 있지만, 제안만으로는 **어떤 수요를 먼저 살펴볼지, 어느 정책 영역과 실제 담당 후보가 연결되는지, 판단 근거와 다음 조치가 무엇인지**를 한 흐름에서 확인하기 어렵습니다.  </a:t>
            </a:r>
          </a:p>
          <a:p xmlns:a="http://schemas.openxmlformats.org/drawingml/2006/main">
            <a:r>
              <a:t>저희는 시민 수요와 정책·민원·뉴스·통계, 그리고 **주관·협조부서 후보가 제시된 이유**를 연결해 이 단절을 보완하는 것을 제품이 다룰 문제로 정의했습니다.  </a:t>
            </a:r>
          </a:p>
          <a:p xmlns:a="http://schemas.openxmlformats.org/drawingml/2006/main">
            <a:r>
              <a:t>화면의 누락·혼선·근거 단절은 실제 기관의 확정된 업무 절차가 아니라, 수집 데이터와 제품 구조를 바탕으로 설정한 검토 위험입니다.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화면의 왼쪽은 유케이가 받는 입력입니다. 시민 제안과 민원, 기존 정책과 뉴스, 자치구 통계를 한데 모읍니다.  </a:t>
            </a:r>
          </a:p>
          <a:p xmlns:a="http://schemas.openxmlformats.org/drawingml/2006/main">
            <a:r>
              <a:t>오른쪽은 그 데이터를 연결해 만든 출력입니다. 반복되는 수요와 정책 Gap, 주관·협조 R&amp;R 후보, 원문 근거, 맞춤 보고서와 검토 로그를 제공합니다.  </a:t>
            </a:r>
          </a:p>
          <a:p xmlns:a="http://schemas.openxmlformats.org/drawingml/2006/main">
            <a:r>
              <a:t>즉, 이 화면은 실제 조작 순서를 설명하는 페이지가 아니라 **흩어진 입력을 검토 가능한 출력으로 바꾸는 제품의 역할**을 보여줍니다. 최종 판단과 승인은 담당자에게 남겨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데이터는 다섯 출처를 결합했습니다. 상상대로 시민 제안 824건은 정책 수요, 국민신문고 582건은 현장 고충, 몽땅정보통 322개 사업은 기존 공급, 뉴스 1,145건은 사회적 이슈, 자치구 통계는 지역 조건을 보여줍니다.  </a:t>
            </a:r>
          </a:p>
          <a:p xmlns:a="http://schemas.openxmlformats.org/drawingml/2006/main">
            <a:r>
              <a:t>현재 데모는 이 데이터를 미리 수집·정제해 캐시한 구조로 안정적으로 재현됩니다.  </a:t>
            </a:r>
          </a:p>
          <a:p xmlns:a="http://schemas.openxmlformats.org/drawingml/2006/main">
            <a:r>
              <a:t>서로 다른 출처는 제안 ID와 본문, 날짜, 공감·답변 상태, 지역, 정책 계층, R&amp;R 순위, 원문 URL을 가진 공통 스키마로 맞췄습니다. 이후 불용어와 유사어를 정규화하고, 본문과 지역이 없는 값은 임의로 채우지 않은 채 별도 상태로 관리합니다.  </a:t>
            </a:r>
          </a:p>
          <a:p xmlns:a="http://schemas.openxmlformats.org/drawingml/2006/main">
            <a:r>
              <a:t>텍스트는 한 모델이 한 번에 결정하지 않습니다. 먼저 조사·접미사와 불용어를 정리하고 유사어를 통합한 뒤, 규칙 기반으로 8대·중·소분류와 신뢰도를 만듭니다. KR-SBERT는 의미상 가까운 카테고리와 유사 제안 군집을 찾고, 뉴스는 규칙 분류 뒤 기존 카테고리·수집 분류·NMF 토픽 순으로 보완합니다. 마지막으로 본문 자치구와 원본 업무분장을 각각 파싱해 지역 후보와 R&amp;R 후보를 연결합니다.  </a:t>
            </a:r>
          </a:p>
          <a:p xmlns:a="http://schemas.openxmlformats.org/drawingml/2006/main">
            <a:r>
              <a:t>즉, 제안 건수 하나만으로 판단하지 않고 **수요·현장·공급·사회·지역 근거를 함께 보는 구조**입니다.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앞서 소개한 오피스 길잡이 새싹이가 첫 번째로 안내할 기능은 상단의 두 단계 담당 범위 선택입니다.  </a:t>
            </a:r>
          </a:p>
          <a:p xmlns:a="http://schemas.openxmlformats.org/drawingml/2006/main">
            <a:r>
              <a:t>첫 번째는 조직이 아니라 8대 **정책 대분류 담당군**입니다. 두 번째가 원본 업무분장에 근거한 **실제 R&amp;R 팀**입니다.  </a:t>
            </a:r>
          </a:p>
          <a:p xmlns:a="http://schemas.openxmlformats.org/drawingml/2006/main">
            <a:r>
              <a:t>이때 별도의 감독학습 모델이 팀을 확정하는 것은 아닙니다. 제안 분류와 원본 업무분장 일치 여부, 본문의 업무 키워드, 기존 담당 후보를 점수화해 R&amp;R 후보 순위를 만듭니다.  </a:t>
            </a:r>
          </a:p>
          <a:p xmlns:a="http://schemas.openxmlformats.org/drawingml/2006/main">
            <a:r>
              <a:t>전체 담당군에서 팀을 고르면 그 팀이 주관 또는 협조로 포함된 모든 안건을 찾습니다. 특정 대분류를 먼저 고르면 동일한 R&amp;R 기준을 그 정책 범위 안에서 적용해 관련 안건만 보여줍니다.  </a:t>
            </a:r>
          </a:p>
          <a:p xmlns:a="http://schemas.openxmlformats.org/drawingml/2006/main">
            <a:r>
              <a:t>따라서 가족지원팀처럼 여러 분야에 협조로 참여하는 팀도 중복을 숨기지 않으면서, 사용자는 지금 ‘관련 안건 전체’를 보는지 ‘주관 안건’을 보는지 구분할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제안만 읽으면 같은 요구가 여러 표현으로 흩어집니다. 유케이는 전체 범위의 제안을 57개 문제 군집으로 묶고, 수요·정책 공백·시급성·실행성·근거 신뢰도의 다섯 축으로 비교합니다.  </a:t>
            </a:r>
          </a:p>
          <a:p xmlns:a="http://schemas.openxmlformats.org/drawingml/2006/main">
            <a:r>
              <a:t>이 진단도 고정된 전체 결과만 보여주는 것이 아닙니다. 상단에서 대분류 담당군이나 실제 R&amp;R 팀을 선택하면 그 업무 범위에 포함되는 문제 군집만 남고, 우선점수와 진단 매트릭스, 상세 근거 패널이 같은 기준으로 다시 구성됩니다.  </a:t>
            </a:r>
          </a:p>
          <a:p xmlns:a="http://schemas.openxmlformats.org/drawingml/2006/main">
            <a:r>
              <a:t>기본 모델은 수요 30%, 공백과 시급성 각 25%, 실행성과 신뢰도 각 10%입니다. 사용자는 목적에 따라 시민수요 강조형과 지역형평성 강조형으로 가중치를 바꿔 순위 변화를 볼 수 있습니다.  </a:t>
            </a:r>
          </a:p>
          <a:p xmlns:a="http://schemas.openxmlformats.org/drawingml/2006/main">
            <a:r>
              <a:t>이 점수는 정답이 아니라 **검토 순서를 설명하는 의사결정 보조 지표**입니다.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먼저 수요를 발견하는 세 화면입니다. 수요 현황 종합에서 선택 범위의 KPI와 답변 분포를 보고, 시민 목소리 분석에서 반복 키워드와 이슈 흐름을 확인합니다. 긴급 민원 처리에서는 고공감·미답변 안건의 원문과 주관·협조부서 후보가 제시된 이유를 함께 봅니다.  </a:t>
            </a:r>
          </a:p>
          <a:p xmlns:a="http://schemas.openxmlformats.org/drawingml/2006/main">
            <a:r>
              <a:t>어느 화면에서든 하단의 새싹이를 누르면 현재 페이지와 선택한 정책 담당군·실제 팀에 맞춰 다음 확인 순서를 안내합니다.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다음은 공급과 지역 조건을 대조하는 세 화면입니다. 현행 정책 검색에서 322개 사업 중 직접 연결되는 정책을 찾고, 정책 사각지대 탐색에서 반복 수요에 비해 대응 정책이 부족한 지점을 확인합니다. 자치구 통계 비교에서는 특정 지역 요구일 때 실제 지역 지표가 같은 방향을 보이는지 대조합니다.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세 화면이 판단의 근거와 데이터 품질을 연결합니다. 새로 추가한 통합 정책 근거 분석에서는 시민제안·민원·정책·뉴스·통계를 한 화면에서 교차 확인하고 출처까지 추적합니다. 정책 갭 진단에서는 문제 군집과 다섯 축 우선순위, 담당부서 매칭 이유를 검토합니다. 결측치 복원과 로그에서는 지역 범위 후보, 원문 연결 상태, 담당자의 수정 이력을 남깁니다.  </a:t>
            </a:r>
          </a:p>
          <a:p xmlns:a="http://schemas.openxmlformats.org/drawingml/2006/main">
            <a:r>
              <a:t>세 화면 모두 자동 결정을 내리는 것이 아니라 담당자가 검증할 근거를 모아주는 단계입니다.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새싹이가 안내하는 제품 시연 흐름은 여섯 장면으로 구성됩니다.  </a:t>
            </a:r>
          </a:p>
          <a:p xmlns:a="http://schemas.openxmlformats.org/drawingml/2006/main">
            <a:r>
              <a:t>먼저 정책 담당군과 실제 팀으로 오늘 볼 업무를 정합니다. 다음으로 KPI와 키워드, 긴급 안건에서 신호를 찾습니다. 관심 안건은 원문과 주관·협조 후보, 공식 URL로 검증합니다. 이어서 기존 사업과 민원·뉴스·자치구 통계를 대조합니다.  </a:t>
            </a:r>
          </a:p>
          <a:p xmlns:a="http://schemas.openxmlformats.org/drawingml/2006/main">
            <a:r>
              <a:t>정책 공백이 확인되면 갭 점수와 추천 조치를 보되, 담당자가 문구를 수정하고 승인합니다. 마지막으로 선택한 범위가 반영된 보고서나 CSV를 내보냅니다.  </a:t>
            </a:r>
          </a:p>
          <a:p xmlns:a="http://schemas.openxmlformats.org/drawingml/2006/main">
            <a:r>
              <a:t>이 흐름의 핵심은 **필터 조건과 판단 근거가 다음 화면까지 이어진다는 것**입니다.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새싹이 오피스 길잡이는 사용자가 현재 화면에서 무엇을 확인할 수 있는지 안내합니다. 정책 담당군을 선택하면 대분류 기준으로, 실제 팀을 선택하면 팀 기준으로 안내 내용과 화면 흐름을 바꿉니다.  </a:t>
            </a:r>
          </a:p>
          <a:p xmlns:a="http://schemas.openxmlformats.org/drawingml/2006/main">
            <a:r>
              <a:t>이 선택 범위는 화면 조회에서 끝나지 않고 보고서까지 그대로 이어집니다. 전체 범위를 선택하면 전체 R&amp;R 통합 보고서가, 특정 대분류 담당군을 선택하면 해당 정책 분야 보고서가, 실제 팀까지 선택하면 그 팀의 주관·협조 대상만 집계한 맞춤 보고서가 생성됩니다.  </a:t>
            </a:r>
          </a:p>
          <a:p xmlns:a="http://schemas.openxmlformats.org/drawingml/2006/main">
            <a:r>
              <a:t>검토 결과는 우측 보고서 다운로드에서 상세형, 간부 브리핑, 외부 공유용으로 구성할 수 있습니다. 현재 구현은 HWP용 텍스트, PDF 요약 미리보기, CSV 원자료를 제공하며, 현재 선택한 담당 범위와 카테고리·지역 조건이 보고서의 수치, 본문, 추천 섹션에 함께 반영됩니다.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저희는 원본의 자치구 `미상`을 모두 결측치로 보거나 특정 구로 강제 복원하지 않습니다. 824건 중 원본에서 자치구가 선택된 것은 20건입니다. 나머지 중 본문에 25개 자치구명이 직접 등장하는 복원 후보는 49건, 서울시 전체 범위를 명시한 제안은 5건이며, 750건은 서울시 전체 요구와 판별 불가가 섞인 `지역 범위 미확인`으로 남깁니다.  </a:t>
            </a:r>
          </a:p>
          <a:p xmlns:a="http://schemas.openxmlformats.org/drawingml/2006/main">
            <a:r>
              <a:t>별도로 원문이 연결되지 않았거나 30자 미만인 레코드는 186건이며, 본문이 없으면 제목을 반복해 보여주지 않고 수집 상태를 표시합니다.  </a:t>
            </a:r>
          </a:p>
          <a:p xmlns:a="http://schemas.openxmlformats.org/drawingml/2006/main">
            <a:r>
              <a:t>복원 후보는 담당자가 원문을 펼쳐 검토하고 선택한 결과만 반영 이력으로 남깁니다.  </a:t>
            </a:r>
          </a:p>
          <a:p xmlns:a="http://schemas.openxmlformats.org/drawingml/2006/main">
            <a:r>
              <a:t>데이터 품질을 숨기지 않는 것이 공공 의사결정 시스템의 신뢰라고 판단했습니다.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주무관의 화면에서 먼저 정보·상담·교육·거버넌스 담당군을 선택해 28건을 확인하고, 실제 저출생사업1팀을 선택해 15건으로 좁히겠습니다.  </a:t>
            </a:r>
          </a:p>
          <a:p xmlns:a="http://schemas.openxmlformats.org/drawingml/2006/main">
            <a:r>
              <a:t>이어서 아홉 개 메뉴를 한 번씩 열어 같은 담당 범위가 유지되는지 빠르게 확인합니다. `통합 정책 근거 분석`에서는 제안·민원·정책·뉴스·통계의 연결 근거를 확인하고, 그다음 갭 진단, **제안 원문과 주관·협조부서 후보의 매칭 이유**, 보고서 내보내기 세 장면을 자세히 보겠습니다.  </a:t>
            </a:r>
          </a:p>
          <a:p xmlns:a="http://schemas.openxmlformats.org/drawingml/2006/main">
            <a:r>
              <a:t>이제 다음 장의 버튼을 눌러 실제 데모 페이지로 이동하겠습니다.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상태에서 시작하겠습니다.  </a:t>
            </a:r>
          </a:p>
          <a:p xmlns:a="http://schemas.openxmlformats.org/drawingml/2006/main">
            <a:r>
              <a:t>첫 번째 필터에서 출산·산후 초기지원을 선택하면 총 87건으로 좁혀지고, 실제 주관팀 후보는 가족건강팀과 건강팀 두 개만 남습니다.  </a:t>
            </a:r>
          </a:p>
          <a:p xmlns:a="http://schemas.openxmlformats.org/drawingml/2006/main">
            <a:r>
              <a:t>여기서 건강팀을 선택하면 건강팀이 1순위 주관으로 매칭된 68건이 표시됩니다.  </a:t>
            </a:r>
          </a:p>
          <a:p xmlns:a="http://schemas.openxmlformats.org/drawingml/2006/main">
            <a:r>
              <a:t>시민 목소리 분석으로 이동해도 68건 범위가 유지되고 키워드와 차트가 다시 계산됩니다.  </a:t>
            </a:r>
          </a:p>
          <a:p xmlns:a="http://schemas.openxmlformats.org/drawingml/2006/main">
            <a:r>
              <a:t>정책 갭 진단으로 이동하면 전체 57개 군집 중 건강팀 범위에 해당하는 문제 군집만 남고, 우선점수와 매트릭스, 상세 근거가 같은 기준으로 다시 구성됩니다. 이 점수는 정책을 자동 결정하는 값이 아니라 먼저 검토할 대상을 좁히는 보조 지표입니다.  </a:t>
            </a:r>
          </a:p>
          <a:p xmlns:a="http://schemas.openxmlformats.org/drawingml/2006/main">
            <a:r>
              <a:t>긴급 민원 처리에서는 제안의 상세 본문과 공식 원문을 확인하고, 건강팀이 주관 1순위인지 어떤 팀이 2·3순위 협조 후보인지 구분해 볼 수 있습니다.  </a:t>
            </a:r>
          </a:p>
          <a:p xmlns:a="http://schemas.openxmlformats.org/drawingml/2006/main">
            <a:r>
              <a:t>새싹이도 건강팀 기준의 다음 업무를 안내합니다. 마지막으로 보고서 다운로드를 누르면 지금 선택한 범위로 브리핑 문서와 CSV를 만들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성과를 과장하지 않으면서도 구현 효과는 재현 가능한 과업 단위로 확인할 수 있습니다.  </a:t>
            </a:r>
          </a:p>
          <a:p xmlns:a="http://schemas.openxmlformats.org/drawingml/2006/main">
            <a:r>
              <a:t>이번 시연에서는 824건 전체 목록이 정책 담당군 28건, 실제 팀 15건으로 줄어드는 후보 축소율을 확인합니다. 이것은 업무시간 절감률이 아니라, 동일한 데이터를 대상으로 사용자가 직접 확인해야 할 후보 수가 얼마나 줄었는지를 보여주는 값입니다.  </a:t>
            </a:r>
          </a:p>
          <a:p xmlns:a="http://schemas.openxmlformats.org/drawingml/2006/main">
            <a:r>
              <a:t>또한 메뉴 이동 후 건수 유지, **원문과 담당부서 매칭 이유의 동시 표시**, 같은 범위의 보고서 생성 여부를 화면과 데이터로 대조합니다.  </a:t>
            </a:r>
          </a:p>
          <a:p xmlns:a="http://schemas.openxmlformats.org/drawingml/2006/main">
            <a:r>
              <a:t>향후에는 이 과업 로그를 이용해 클릭 수, 탐색 단계, 오분류 수정률을 반복 측정할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운영형 도구로 확장하려면 세 가지 기반이 필요합니다.  </a:t>
            </a:r>
          </a:p>
          <a:p xmlns:a="http://schemas.openxmlformats.org/drawingml/2006/main">
            <a:r>
              <a:t>먼저 정기 수집과 출처 관리를 구축하고 상세 원문 확보율을 높여야 합니다. 다음으로 R&amp;R 후보와 지역 범위 분류를 평가할 수 있는 정답 기준과 검증 지표가 필요합니다.  </a:t>
            </a:r>
          </a:p>
          <a:p xmlns:a="http://schemas.openxmlformats.org/drawingml/2006/main">
            <a:r>
              <a:t>마지막으로 대용량 데이터를 API와 데이터베이스로 분리하고, 권한·감사로그·개인정보 보호, 실제 PDF와 HWP 생성까지 연결해야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확인한 아홉 화면은 각각 다른 기능을 나열한 것이 아닙니다. 현황·시민 목소리·긴급 민원에서 수요를 발견하고, 현행 정책·사각지대·자치구 통계에서 공급과 지역 조건을 대조합니다. 통합 정책 근거 분석에서 시민제안·민원·정책·뉴스·통계를 교차 확인한 뒤, 갭 진단에서 우선순위와 R&amp;R 후보를 검토합니다. 마지막으로 답변 초안과 목적별 보고서, CSV, 개선 로그로 다음 조치를 남깁니다.  </a:t>
            </a:r>
          </a:p>
          <a:p xmlns:a="http://schemas.openxmlformats.org/drawingml/2006/main">
            <a:r>
              <a:t>유케이는 이렇게 시민 제안을 **수요에서 책임으로, 근거에서 조치로 연결해 상상대로 서울의 후속 활용을 돕는 백오피스**입니다. 모르는 값은 표시하고, 근거는 연결하며, 최종 결정은 담당자가 합니다. 새싹이와 함께한 유케이의 여정이었습니다. 감사합니다.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UKKKK application: http://127.0.0.1:3002/</a:t>
            </a:r>
          </a:p>
          <a:p xmlns:a="http://schemas.openxmlformats.org/drawingml/2006/main">
            <a:r>
              <a:t>- 발표_대본_PPT구성_ver12.md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분석 엔진은 감독학습 정답 예측이 아니라 NLP·규칙·가중치 기반 분류, 군집, 우선순위, R&amp;R 후보 추천 구조입니다. 가중치와 임계값은 운영 규칙이며 검증된 정확도 수치로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텍스트 처리는 한 모델이 모든 값을 한 번에 예측하는 구조가 아닙니다.</a:t>
            </a:r>
          </a:p>
          <a:p xmlns:a="http://schemas.openxmlformats.org/drawingml/2006/main">
            <a:r>
              <a:t>먼저 한국어 조사와 접미사, 불용어를 제거하고 도메인 유사어를 통합합니다.</a:t>
            </a:r>
          </a:p>
          <a:p xmlns:a="http://schemas.openxmlformats.org/drawingml/2006/main">
            <a:r>
              <a:t>계층 분류는 제목·본문·원 카테고리의 키워드 점수로 8대·중·소분류와 신뢰도를 만듭니다.</a:t>
            </a:r>
          </a:p>
          <a:p xmlns:a="http://schemas.openxmlformats.org/drawingml/2006/main">
            <a:r>
              <a:t>KR-SBERT는 카테고리 설명과의 코사인 유사도로 의미 분류를 보완하고, 코사인 거리와 average linkage를 사용한 계층적 군집으로 유사 제안의 cluster_id와 cluster_size를 만듭니다.</a:t>
            </a:r>
          </a:p>
          <a:p xmlns:a="http://schemas.openxmlformats.org/drawingml/2006/main">
            <a:r>
              <a:t>뉴스는 규칙 결과가 없을 때 기존 8대 분류, 수집 카테고리, 이미 생성된 NMF 토픽 라벨을 순서대로 매핑합니다.</a:t>
            </a:r>
          </a:p>
          <a:p xmlns:a="http://schemas.openxmlformats.org/drawingml/2006/main">
            <a:r>
              <a:t>자치구는 본문 키워드와 모호어 감점으로 후보·점수·근거어를 남기고, 실제 팀은 업무분장 원문과 제안 텍스트를 가중치로 대조합니다.</a:t>
            </a:r>
          </a:p>
          <a:p xmlns:a="http://schemas.openxmlformats.org/drawingml/2006/main">
            <a:r>
              <a:t>따라서 각 결과가 어떤 입력과 규칙에서 나왔는지 단계별로 추적할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/Users/parkcy/Desktop/sesac_pjt/UKKKK/docs/데이터분석정의서.md</a:t>
            </a:r>
          </a:p>
          <a:p xmlns:a="http://schemas.openxmlformats.org/drawingml/2006/main">
            <a:r>
              <a:t>- /Users/parkcy/Desktop/sesac_pjt/UKKKK/frontend/src/utils/textMining.ts</a:t>
            </a:r>
          </a:p>
          <a:p xmlns:a="http://schemas.openxmlformats.org/drawingml/2006/main">
            <a:r>
              <a:t>- /Users/parkcy/Desktop/sesac_pjt/UKKKK/scripts/테스트용/classify_policy_and_match_staff.py</a:t>
            </a:r>
          </a:p>
          <a:p xmlns:a="http://schemas.openxmlformats.org/drawingml/2006/main">
            <a:r>
              <a:t>- /Users/parkcy/Desktop/sesac_pjt/UKKKK/scripts/테스트용/04_semantic_grouping.py</a:t>
            </a:r>
          </a:p>
          <a:p xmlns:a="http://schemas.openxmlformats.org/drawingml/2006/main">
            <a:r>
              <a:t>- /Users/parkcy/Desktop/sesac_pjt/UKKKK/scripts/테스트용/classify_naver_news_taxonomy.py</a:t>
            </a:r>
          </a:p>
          <a:p xmlns:a="http://schemas.openxmlformats.org/drawingml/2006/main">
            <a:r>
              <a:t>- /Users/parkcy/Desktop/sesac_pjt/UKKKK/scripts/06_build_department_ranking.py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페이지는 정책 대분류와 실제 조직 필터를 분리한 이유와 R&amp;R 후보 모델을 설명합니다.</a:t>
            </a:r>
          </a:p>
          <a:p xmlns:a="http://schemas.openxmlformats.org/drawingml/2006/main">
            <a:r>
              <a:t>첫 번째 결과는 제안을 8개 정책 영역으로 묶는 분류이고, 두 번째 결과는 업무분장 원문과 제안 텍스트를 대조해 만드는 R&amp;R 후보 순위입니다.</a:t>
            </a:r>
          </a:p>
          <a:p xmlns:a="http://schemas.openxmlformats.org/drawingml/2006/main">
            <a:r>
              <a:t>전체 담당군에서 팀을 고르면 1·2·3순위 관련 안건을 찾고, 특정 담당군을 함께 고르면 같은 후보 기준을 해당 정책 범위와 교차합니다.</a:t>
            </a:r>
          </a:p>
          <a:p xmlns:a="http://schemas.openxmlformats.org/drawingml/2006/main">
            <a:r>
              <a:t>이 순위는 공식 배정이 아니라 원문과 업무분장 근거를 확인하기 위한 검토 후보입니다.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/Users/parkcy/Desktop/sesac_pjt/UKKKK/frontend/src/utils/departments.ts</a:t>
            </a:r>
          </a:p>
          <a:p xmlns:a="http://schemas.openxmlformats.org/drawingml/2006/main">
            <a:r>
              <a:t>- /Users/parkcy/Desktop/sesac_pjt/UKKKK/frontend/src/App.tsx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로드맵의 PRD와 데이터분석 정의서, 발표 대본, 프론트엔드, 데이터 검사, 배포 산출물을 실제 경로로 정리했습니다.</a:t>
            </a:r>
          </a:p>
          <a:p xmlns:a="http://schemas.openxmlformats.org/drawingml/2006/main">
            <a:r>
              <a:t>별도 파일로 확인되지 않는 산출물이나 측정하지 않은 성과는 완료 사실로 제시하지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/Users/parkcy/Desktop/sesac_pjt/UKKKK/docs/SYSTEM_DESIGN_PRD.md</a:t>
            </a:r>
          </a:p>
          <a:p xmlns:a="http://schemas.openxmlformats.org/drawingml/2006/main">
            <a:r>
              <a:t>- /Users/parkcy/Desktop/sesac_pjt/UKKKK/docs/데이터분석정의서.md</a:t>
            </a:r>
          </a:p>
          <a:p xmlns:a="http://schemas.openxmlformats.org/drawingml/2006/main">
            <a:r>
              <a:t>- /Users/parkcy/Desktop/sesac_pjt/UKKKK/docs/발표자료/발표_대본_PPT구성_ver9.md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52993c75b441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6c6cd0bb144146" /><Relationship Type="http://schemas.openxmlformats.org/officeDocument/2006/relationships/slideLayout" Target="/ppt/slideLayouts/slideLayout1.xml" Id="Rcd2372d6db064a6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2372d6db064a6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0a4e355554332" /><Relationship Type="http://schemas.openxmlformats.org/officeDocument/2006/relationships/image" Target="/ppt/media/image.png" Id="Ra44a8c3c5f374bcc" /><Relationship Type="http://schemas.openxmlformats.org/officeDocument/2006/relationships/image" Target="/ppt/media/image2.png" Id="Rf7e40f87784648b7" /><Relationship Type="http://schemas.openxmlformats.org/officeDocument/2006/relationships/notesSlide" Target="/ppt/notesSlides/notesSlide1.xml" Id="R4edbe18057c249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719fc8e3b477b" /><Relationship Type="http://schemas.openxmlformats.org/officeDocument/2006/relationships/image" Target="/ppt/media/image3.png" Id="R9ae5c770d57746c5" /><Relationship Type="http://schemas.openxmlformats.org/officeDocument/2006/relationships/notesSlide" Target="/ppt/notesSlides/notesSlide2.xml" Id="Re084f731b3864d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072941946418d" /><Relationship Type="http://schemas.openxmlformats.org/officeDocument/2006/relationships/image" Target="/ppt/media/image3.png" Id="Rd47e600462ad475e" /><Relationship Type="http://schemas.openxmlformats.org/officeDocument/2006/relationships/notesSlide" Target="/ppt/notesSlides/notesSlide3.xml" Id="R0ba5b5f8949e4a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a3c248794431f" /><Relationship Type="http://schemas.openxmlformats.org/officeDocument/2006/relationships/image" Target="/ppt/media/image4.png" Id="R6b54fe8db95042a9" /><Relationship Type="http://schemas.openxmlformats.org/officeDocument/2006/relationships/notesSlide" Target="/ppt/notesSlides/notesSlide4.xml" Id="R167394cfa5fe47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7a2c78f554e03" /><Relationship Type="http://schemas.openxmlformats.org/officeDocument/2006/relationships/image" Target="/ppt/media/image3.png" Id="R14b0eeb377c84e6c" /><Relationship Type="http://schemas.openxmlformats.org/officeDocument/2006/relationships/notesSlide" Target="/ppt/notesSlides/notesSlide5.xml" Id="R377fc1ad36d943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50e282db84483" /><Relationship Type="http://schemas.openxmlformats.org/officeDocument/2006/relationships/image" Target="/ppt/media/image4.png" Id="R4c2169695c0b413b" /><Relationship Type="http://schemas.openxmlformats.org/officeDocument/2006/relationships/notesSlide" Target="/ppt/notesSlides/notesSlide6.xml" Id="R140763fd7f844e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1c06709664ee4" /><Relationship Type="http://schemas.openxmlformats.org/officeDocument/2006/relationships/image" Target="/ppt/media/image5.png" Id="Rc816fb03db56454f" /><Relationship Type="http://schemas.openxmlformats.org/officeDocument/2006/relationships/notesSlide" Target="/ppt/notesSlides/notesSlide7.xml" Id="R3d933a05164f4d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8b3c37998400e" /><Relationship Type="http://schemas.openxmlformats.org/officeDocument/2006/relationships/image" Target="/ppt/media/image6.png" Id="Rb2d425f7cce9460e" /><Relationship Type="http://schemas.openxmlformats.org/officeDocument/2006/relationships/image" Target="/ppt/media/image7.png" Id="Ra5b8a3b8ebd84dc7" /><Relationship Type="http://schemas.openxmlformats.org/officeDocument/2006/relationships/notesSlide" Target="/ppt/notesSlides/notesSlide8.xml" Id="Rb75024f782df40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64c989bc64d80" /><Relationship Type="http://schemas.openxmlformats.org/officeDocument/2006/relationships/image" Target="/ppt/media/image8.png" Id="R1b1cc3db9203411f" /><Relationship Type="http://schemas.openxmlformats.org/officeDocument/2006/relationships/image" Target="/ppt/media/image9.png" Id="R0f234115cdb3444e" /><Relationship Type="http://schemas.openxmlformats.org/officeDocument/2006/relationships/notesSlide" Target="/ppt/notesSlides/notesSlide9.xml" Id="Rb22835fe27eb49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2066acc9a49e9" /><Relationship Type="http://schemas.openxmlformats.org/officeDocument/2006/relationships/image" Target="/ppt/media/image10.png" Id="R048364d841c443cd" /><Relationship Type="http://schemas.openxmlformats.org/officeDocument/2006/relationships/image" Target="/ppt/media/image.jpeg" Id="Rd72d8e5958d34275" /><Relationship Type="http://schemas.openxmlformats.org/officeDocument/2006/relationships/image" Target="/ppt/media/image2.jpeg" Id="Ra98c1d8302a84e26" /><Relationship Type="http://schemas.openxmlformats.org/officeDocument/2006/relationships/image" Target="/ppt/media/image3.jpeg" Id="Re46ac21d56c14751" /><Relationship Type="http://schemas.openxmlformats.org/officeDocument/2006/relationships/notesSlide" Target="/ppt/notesSlides/notesSlide10.xml" Id="Rde5e82c5e01541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4e5f134ee4229" /><Relationship Type="http://schemas.openxmlformats.org/officeDocument/2006/relationships/image" Target="/ppt/media/image10.png" Id="R65a2b4ef98e845e5" /><Relationship Type="http://schemas.openxmlformats.org/officeDocument/2006/relationships/image" Target="/ppt/media/image4.jpeg" Id="Re9e78774bf5f433c" /><Relationship Type="http://schemas.openxmlformats.org/officeDocument/2006/relationships/image" Target="/ppt/media/image5.jpeg" Id="Rfddc3261a0d04e17" /><Relationship Type="http://schemas.openxmlformats.org/officeDocument/2006/relationships/image" Target="/ppt/media/image6.jpeg" Id="R5432222eee004c78" /><Relationship Type="http://schemas.openxmlformats.org/officeDocument/2006/relationships/notesSlide" Target="/ppt/notesSlides/notesSlide11.xml" Id="R3a78502b08b24d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17980e774489f" /><Relationship Type="http://schemas.openxmlformats.org/officeDocument/2006/relationships/image" Target="/ppt/media/image10.png" Id="R9c8b5eb843274ce9" /><Relationship Type="http://schemas.openxmlformats.org/officeDocument/2006/relationships/image" Target="/ppt/media/image7.jpeg" Id="Re8c70800f4ba45e4" /><Relationship Type="http://schemas.openxmlformats.org/officeDocument/2006/relationships/image" Target="/ppt/media/image8.jpeg" Id="R9b9feff6f6d64bc8" /><Relationship Type="http://schemas.openxmlformats.org/officeDocument/2006/relationships/image" Target="/ppt/media/image9.jpeg" Id="Rff34acfe7dba40e2" /><Relationship Type="http://schemas.openxmlformats.org/officeDocument/2006/relationships/notesSlide" Target="/ppt/notesSlides/notesSlide12.xml" Id="R9b095504845143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581f89e594fb3" /><Relationship Type="http://schemas.openxmlformats.org/officeDocument/2006/relationships/image" Target="/ppt/media/image10.png" Id="Ra093da2227034abb" /><Relationship Type="http://schemas.openxmlformats.org/officeDocument/2006/relationships/notesSlide" Target="/ppt/notesSlides/notesSlide13.xml" Id="R43edf311e79a45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c557c3b1e422f" /><Relationship Type="http://schemas.openxmlformats.org/officeDocument/2006/relationships/image" Target="/ppt/media/image6.png" Id="Raba8c306962a45f1" /><Relationship Type="http://schemas.openxmlformats.org/officeDocument/2006/relationships/image" Target="/ppt/media/image7.png" Id="R2b82d9ab6a3041ee" /><Relationship Type="http://schemas.openxmlformats.org/officeDocument/2006/relationships/notesSlide" Target="/ppt/notesSlides/notesSlide14.xml" Id="Rabbdd2c566cd44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382fb23f14d3b" /><Relationship Type="http://schemas.openxmlformats.org/officeDocument/2006/relationships/image" Target="/ppt/media/image11.png" Id="Rafc5689f39a94eba" /><Relationship Type="http://schemas.openxmlformats.org/officeDocument/2006/relationships/notesSlide" Target="/ppt/notesSlides/notesSlide15.xml" Id="Rf0bc222cc4c044e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84d8bd0fb47fb" /><Relationship Type="http://schemas.openxmlformats.org/officeDocument/2006/relationships/image" Target="/ppt/media/image3.png" Id="R9885b244742a4741" /><Relationship Type="http://schemas.openxmlformats.org/officeDocument/2006/relationships/notesSlide" Target="/ppt/notesSlides/notesSlide16.xml" Id="Rca74f8bf62954d3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303c43bc240b5" /><Relationship Type="http://schemas.openxmlformats.org/officeDocument/2006/relationships/image" Target="/ppt/media/image12.png" Id="R56df73b6299b49db" /><Relationship Type="http://schemas.openxmlformats.org/officeDocument/2006/relationships/image" Target="/ppt/media/image13.png" Id="R31da744e50404e5e" /><Relationship Type="http://schemas.openxmlformats.org/officeDocument/2006/relationships/hyperlink" Target="https://ukkkk-two.vercel.app/" TargetMode="External" Id="R37721f0964a947a8" /><Relationship Type="http://schemas.openxmlformats.org/officeDocument/2006/relationships/notesSlide" Target="/ppt/notesSlides/notesSlide17.xml" Id="R0c94f3645b2f4ef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1220acefd48cf" /><Relationship Type="http://schemas.openxmlformats.org/officeDocument/2006/relationships/image" Target="/ppt/media/image14.png" Id="R717615cac38e4a0c" /><Relationship Type="http://schemas.openxmlformats.org/officeDocument/2006/relationships/notesSlide" Target="/ppt/notesSlides/notesSlide18.xml" Id="R381013ead84e47e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0994ec0ac4172" /><Relationship Type="http://schemas.openxmlformats.org/officeDocument/2006/relationships/image" Target="/ppt/media/image15.png" Id="R7ef9e5fe7d764c90" /><Relationship Type="http://schemas.openxmlformats.org/officeDocument/2006/relationships/notesSlide" Target="/ppt/notesSlides/notesSlide19.xml" Id="Ra0cc4a6ff2ae4f2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bfdbe6c2548ae" /><Relationship Type="http://schemas.openxmlformats.org/officeDocument/2006/relationships/image" Target="/ppt/media/image16.png" Id="Rc8bc6ce605604e49" /><Relationship Type="http://schemas.openxmlformats.org/officeDocument/2006/relationships/notesSlide" Target="/ppt/notesSlides/notesSlide20.xml" Id="Rfd10d350b71346f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e98ad46664ae2" /><Relationship Type="http://schemas.openxmlformats.org/officeDocument/2006/relationships/image" Target="/ppt/media/image17.png" Id="Racb537c521ef4cab" /><Relationship Type="http://schemas.openxmlformats.org/officeDocument/2006/relationships/notesSlide" Target="/ppt/notesSlides/notesSlide21.xml" Id="Rd8c183642e09452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18aa80b66416a" /><Relationship Type="http://schemas.openxmlformats.org/officeDocument/2006/relationships/image" Target="/ppt/media/image17.png" Id="R8faa2ec96c3749de" /><Relationship Type="http://schemas.openxmlformats.org/officeDocument/2006/relationships/notesSlide" Target="/ppt/notesSlides/notesSlide22.xml" Id="R6db53794e4424a3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19033fb594416" /><Relationship Type="http://schemas.openxmlformats.org/officeDocument/2006/relationships/image" Target="/ppt/media/image17.png" Id="R88454e194aac499c" /><Relationship Type="http://schemas.openxmlformats.org/officeDocument/2006/relationships/notesSlide" Target="/ppt/notesSlides/notesSlide23.xml" Id="R655ee4229edf4b4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a9a1b3bb645dd" /><Relationship Type="http://schemas.openxmlformats.org/officeDocument/2006/relationships/image" Target="/ppt/media/image17.png" Id="R908407641f19474a" /><Relationship Type="http://schemas.openxmlformats.org/officeDocument/2006/relationships/notesSlide" Target="/ppt/notesSlides/notesSlide24.xml" Id="R3cbc198e0f244d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8F5466-C2C7-4651-88CC-CAD43D62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141DD26-F233-408D-A8BE-E38F4A0E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FAF8468-8EC9-4219-AB1F-69C61F4E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1D7A79C-EAFA-4E09-9C39-F1A0842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a8c3c5f374b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5D03BEF-8EE0-493C-8BAD-C7483F98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F87B268-1561-40AE-802E-EF5C97FA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0E065A-0757-4BBD-87F1-37411C74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0BDCF98-5C93-4534-B1CD-6E84855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B86C6B5-623F-4D92-BA50-E559DEDF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8035B35-B554-4559-8366-255D9477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a8c3c5f374b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C2BFA5A-83BD-484E-A89C-1CB41B27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UKKKK 2차 발표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F820B7D-BD32-4464-BD26-0F546EEE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90194C8-BBB2-45E4-9DB3-4C05E322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C105082-997E-413F-AE34-E33FB3FA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A4622C9-7831-4A66-90D7-51C63708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A8A16C7-E10F-4698-BB93-FFFCBDC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A1F09F-1404-4C8E-A666-B39B9AC8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CE9AD44-E399-44FC-AFBF-CB8220B4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3FB8705F-087A-45E4-B953-C9A7888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94F5969-B4C8-4D33-B15B-F6641210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C70DF73-A762-4C09-85E8-1BA534E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452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SEOUL · DATA-DRIVEN MATERNITY &amp; CHILDCARE POLICY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B702F7-67F4-4DE4-810C-85786A90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714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9BE82982-7871-4B4E-875F-FAB44481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9768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Unified Key-Knowledge Kit for Kid · Human-in-the-loop MVP</a:t>
            </a:r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44E7ABE1-21A9-43ED-A7C8-39F3AE15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5875">
            <a:solidFill>
              <a:srgbClr val="6B6B66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FE9A7014-B0DD-4B30-A6AC-5FEF6ED0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3176C0E5-89C9-41DA-B7F9-B2CAA50B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4572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0842DD3-1973-4B17-A992-E9C4E776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▶  2차 발표 시작</a:t>
            </a:r>
          </a:p>
        </p:txBody>
      </p:sp>
      <p:pic>
        <p:nvPicPr>
          <p:cNvPr id="7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40f87784648b7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8E1402FC-FAC7-4886-BC93-103EDC59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BAFF73D9-34B4-48DB-A897-C7DE693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안녕하세요! 오늘은 제가 유케이의 기능을 안내할게요</a:t>
            </a:r>
          </a:p>
        </p:txBody>
      </p:sp>
      <p:sp>
        <p:nvSpPr>
          <p:cNvPr id="38" name="Cover value proposition">
            <a:extLst xmlns:a="http://schemas.openxmlformats.org/drawingml/2006/main">
              <a:ext uri="{FF2B5EF4-FFF2-40B4-BE49-F238E27FC236}">
                <a16:creationId xmlns:a16="http://schemas.microsoft.com/office/drawing/2014/main" id="{C90D2CF7-0CA9-4DC6-8A39-B62667F0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5E6B8C"/>
                </a:solidFill>
              </a:defRPr>
            </a:pPr>
            <a:r>
              <a:rPr sz="1950">
                <a:solidFill>
                  <a:srgbClr val="5E6B8C"/>
                </a:solidFill>
              </a:rPr>
              <a:t>상상대로 서울 시민 제안을 담당 범위·근거·후속 조치로 연결하는 정책 백오피스</a:t>
            </a:r>
          </a:p>
        </p:txBody>
      </p:sp>
    </p:spTree>
    <p:extLst>
      <p:ext uri="{BB962C8B-B14F-4D97-AF65-F5344CB8AC3E}">
        <p14:creationId xmlns:p14="http://schemas.microsoft.com/office/powerpoint/2010/main" val="54129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5c770d57746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5c770d57746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문제 정의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상상대로 서울 실제 데이터에서 확인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답변 상태·반복 수요·담당팀 후보·정책 근거가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한 흐름으로 연결되지 않았습니다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원래 과제: 출산·양육 민원과 데이터에서 정책 수요 도출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5c770d57746c5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e600462ad47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e600462ad47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2 · 상상대로 활용 백오피스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대체가 아니라 연결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상상대로를 대체하지 않고,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검토와 후속 조치를 연결합니다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시민제안·민원·정책·뉴스·통계를 다음 조치까지 이어드릴게요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e600462ad475e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4fe8db95042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4fe8db95042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2 · 페르소나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가상 페르소나 · 신규 정책담당 김서현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월요일 오전, 무엇부터 봐야 할까요?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출산·양육 정책 담당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여러 출처와 화면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검토 우선순위 필요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필요한 지원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내 담당 범위 설정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수요·근거 확인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보고자료 작성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인물이 아닌 기능 시연용 가상 페르소나예요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4fe8db95042a9"/>
          <a:stretch xmlns:a="http://schemas.openxmlformats.org/drawingml/2006/main"/>
        </p:blipFill>
        <p:spPr>
          <a:xfrm xmlns:a="http://schemas.openxmlformats.org/drawingml/2006/main">
            <a:off x="323850" y="4935736"/>
            <a:ext cx="1381125" cy="11203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0eeb377c84e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0eeb377c84e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검증할 문제 가설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검증할 문제 가설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데이터는 있었지만,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수요와 책임·근거·조치가 끊겨 있었습니다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답변 상태·담당 후보·정책 근거를 한 화면에서 연결합니다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0eeb377c84e6c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169695c0b41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169695c0b41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4 · TO-BE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한 화면에서 근거와 R&amp;R까지 연결합니다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제안·민원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정책·뉴스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수요·Gap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후보·원문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맞춤 보고서·로그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후보와 근거를 연결하고 최종 결정은 사람이 해요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169695c0b413b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15CC833-3EA2-4D0E-9EE2-5996FB71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72DE01-03D5-4A23-BEBB-12805614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9B9A54B-70BD-4828-B5DE-84A97990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AD69EF-7AC5-45B2-AE69-87CF493B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6fb03db5645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96B987A-AE0C-4A3B-85F8-07E796A5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B176C70-3233-415C-80D3-6E3DCC6C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CC6BF1-D951-47F3-AB45-DB80F6D4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BAF3597-ACEF-4F57-B226-55E77455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CFE2892-8A3A-4C19-B85C-047D205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B48BFE9-9371-4153-B911-1D2740B1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6fb03db5645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1D2ACCE-6B28-4215-94C9-B19163EA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5 · 데이터 파이프라인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79B426C-BEDA-4FED-81CD-876C8CB0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F490C22-C6C4-4177-A899-CADCB577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8A7F2D0-2907-44B1-840F-E3463573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C816E39-3779-4B7F-A3D8-EE6D107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1D42055-784D-41C1-ADCA-BB61EE72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CEFB8EA-A676-4010-B7FC-29283F36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4A30CC-1ECE-4DB6-8748-824D63C3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491FC0E-8D00-4552-9736-EF5C8B47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84F77C6-48A0-417C-A08E-505C5644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98AF6AF0-29D2-418C-AC41-413CB12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수집·정제·캐시 기반 재현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4BF1851-D08A-40C9-A4FD-4D6DBDAB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5개 출처를 공통 스키마로 연결했습니다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3C2681F-4494-432A-BD64-BF3D87FD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5804E55-2BB5-4044-9441-FBCC864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824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B9F328D4-41F8-4EA7-A6DF-1250055E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E3C1FAC3-3831-49D5-8C9F-C42B92D5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5CC41A71-AEFB-4357-AEC9-B3866EC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582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87D1CE81-67D0-4D7D-83EF-91BF1C30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현장 민원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D1D853C0-C7A8-41FF-A61C-75392A13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1A0EE75-3CAE-44CF-82A0-A21D789C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322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D192D4A7-0FD9-407C-A59A-CFFC05B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공식 정책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5E600F6B-8BC6-41D3-B121-3FDFD47B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A19336E2-C495-46E1-970C-7957344B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1,145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0D2EA8CB-2107-4C3F-81F8-97D718C7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뉴스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94B71F55-793A-4445-A30A-D16019D5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AFD84046-C4C8-4765-86A3-DEBA5EE5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25개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CC4668A-C8FC-47C0-9DE6-3F4FBB9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16586B18-CB6F-4F76-947D-489AA30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9AA3C7"/>
                </a:solidFill>
              </a:rPr>
              <a:t>▼</a:t>
            </a:r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C7050CC4-AA16-4F15-9E55-A1DCD51D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8D6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FD1FE06-5A70-42B4-8A2F-8892DA4F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텍스트 정규화 → 계층 분류 → 의미 군집 → 뉴스 토픽 → 지역·R&amp;R</a:t>
            </a:r>
          </a:p>
        </p:txBody>
      </p:sp>
    </p:spTree>
    <p:extLst>
      <p:ext uri="{BB962C8B-B14F-4D97-AF65-F5344CB8AC3E}">
        <p14:creationId xmlns:p14="http://schemas.microsoft.com/office/powerpoint/2010/main" val="4538696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425f7cce946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425f7cce946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6 · 두 단계 담당 범위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정책 대분류 담당군 × 실제 R&amp;R 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조직명과 정책 분류를 분리해 검색 의미를 명확히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8a3b8ebd84dc7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규칙·가중치 R&amp;R 후보</a:t>
            </a:r>
          </a:p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전체+팀 1·2·3 / 대분류+팀 1순위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425f7cce9460e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28BF50D-7557-409C-A2E1-8E6DAFB8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C8D8F4-6AF8-4CEC-8596-C6556EE9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8AC9AB-70DA-4405-BFAB-D91EC2B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916BD7-4492-4BDF-A232-14085D8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cc3db920341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D0274B-0753-4D0B-804D-0EA46532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45DC19-CABD-47D2-AEB2-F655DC56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CCEC243-96DE-4E93-950A-12866952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CFF1A22-268F-4F0D-9D1B-294DB338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18843AE-E06E-45C4-AD3A-DB0FF77E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3F14FDC-14B8-49FC-B86F-CBABB267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cc3db920341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BBE9741-AE91-4C2F-815F-BDA884CD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7 · 문제 군집과 Gap 진단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5960E81D-1120-49C0-8572-BC2F14E8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7D5E110-381E-411C-BE5A-10ED7D0F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2097747-483F-4B76-BC8A-7912C0BF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2323332-D03F-44F1-84E6-1371968A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069A73B-5035-466D-AABB-F346DBF2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CB4084D-F84D-411A-B09F-1C78ABB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AB25D41-0F4A-4259-BEB3-87C02BA3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55A014E-BE73-42AC-B956-9734DE9B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0BCB530-0BA0-4AC1-9727-9673F7C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6E46C09-9414-471D-A8CC-303F93D7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전체 57개 문제 군집 · 선택 범위별 재구성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DDC75AA-7632-44E4-8A1F-45F0163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개별 제안을 넘어 반복되는 문제 단위로 판단합니다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1F2BB539-D185-4EB9-9261-9F2B7D19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34115cdb3444e"/>
          <a:stretch xmlns:a="http://schemas.openxmlformats.org/drawingml/2006/main"/>
        </p:blipFill>
        <p:spPr>
          <a:xfrm xmlns:a="http://schemas.openxmlformats.org/drawingml/2006/main">
            <a:off x="2922757" y="2103120"/>
            <a:ext cx="6346182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7CC6B6B6-BAEA-42CD-B4FC-C7F1B6C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86004E55-CC3C-4FD6-B153-A6CFE30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점수는 검토 우선순위이며 정책 결정 자체가 아니에요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cc3db9203411f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126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6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364d841c443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7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364d841c443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9 · 실제 화면 1/3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수요 발견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수요를 발견하는 3개 화면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d8e5958d34275"/>
          <a:srcRect xmlns:a="http://schemas.openxmlformats.org/drawingml/2006/main" l="0" t="62" r="0" b="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781300"/>
            <a:ext cx="3371850" cy="1895475"/>
          </a:xfrm>
          <a:prstGeom xmlns:a="http://schemas.openxmlformats.org/drawingml/2006/main" prst="roundRect">
            <a:avLst>
              <a:gd name="adj" fmla="val 4020"/>
            </a:avLst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3BCB2F-EF98-4C0A-9B4B-81403D9E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1. 수요 현황 종합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E5F2B9-2F24-4FF0-96F2-4F2438E5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3295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rPr>
              <a:t>KPI·답변 분포·데이터 품질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c1d8302a84e26"/>
          <a:srcRect xmlns:a="http://schemas.openxmlformats.org/drawingml/2006/main" l="0" t="62" r="0" b="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9575" y="2781300"/>
            <a:ext cx="3371850" cy="1895475"/>
          </a:xfrm>
          <a:prstGeom xmlns:a="http://schemas.openxmlformats.org/drawingml/2006/main" prst="roundRect">
            <a:avLst>
              <a:gd name="adj" fmla="val 4020"/>
            </a:avLst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D4993D-12A1-465C-A97F-3B894D49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810125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2. 시민 목소리 분석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086171-E734-4E12-ADB0-F0B91465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162550"/>
            <a:ext cx="3295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rPr>
              <a:t>반복 키워드·감정·이슈 흐름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ac21d56c14751"/>
          <a:srcRect xmlns:a="http://schemas.openxmlformats.org/drawingml/2006/main" l="0" t="62" r="0" b="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9550" y="2781300"/>
            <a:ext cx="3371850" cy="1895475"/>
          </a:xfrm>
          <a:prstGeom xmlns:a="http://schemas.openxmlformats.org/drawingml/2006/main" prst="roundRect">
            <a:avLst>
              <a:gd name="adj" fmla="val 4020"/>
            </a:avLst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A1BD461-B996-4DF1-AE48-2CAFE493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10125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3. 긴급 민원 처리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9AFED8-DFB2-4208-A419-F5A79BE1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62550"/>
            <a:ext cx="3295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rPr>
              <a:t>고공감·미답변 원문과 담당 후보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07E7C4C-956C-4B1B-89D8-191BEA9A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531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E8"/>
          </a:solidFill>
          <a:ln xmlns:a="http://schemas.openxmlformats.org/drawingml/2006/main" w="9525">
            <a:solidFill>
              <a:srgbClr val="D8D3A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하단 새싹이를 누르면 현재 화면과 선택한 담당 범위에 맞춰 다음 순서를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6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2b4ef98e845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7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2b4ef98e845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10 · 실제 화면 2/3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공급·지역 대조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공급 정책과 지역 조건을 대조합니다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78774bf5f433c"/>
          <a:srcRect xmlns:a="http://schemas.openxmlformats.org/drawingml/2006/main" l="0" t="62" r="0" b="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781300"/>
            <a:ext cx="3371850" cy="1895475"/>
          </a:xfrm>
          <a:prstGeom xmlns:a="http://schemas.openxmlformats.org/drawingml/2006/main" prst="roundRect">
            <a:avLst>
              <a:gd name="adj" fmla="val 4020"/>
            </a:avLst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F77950-EDC1-4ABF-A2AF-990BFF46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1. 현행 정책 검색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4ECCE79-FD34-495E-A945-1B18CFDF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3295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rPr>
              <a:t>322개 사업 검색과 제안 대조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c3261a0d04e17"/>
          <a:srcRect xmlns:a="http://schemas.openxmlformats.org/drawingml/2006/main" l="0" t="62" r="0" b="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9575" y="2781300"/>
            <a:ext cx="3371850" cy="1895475"/>
          </a:xfrm>
          <a:prstGeom xmlns:a="http://schemas.openxmlformats.org/drawingml/2006/main" prst="roundRect">
            <a:avLst>
              <a:gd name="adj" fmla="val 4020"/>
            </a:avLst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3DCBCA-5C07-4A53-85AE-14B4BDB4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810125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2. 정책 사각지대 탐색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8AB3D2-68C1-422D-9270-1F5A3E93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162550"/>
            <a:ext cx="3295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rPr>
              <a:t>반복 수요와 직접 대응 공백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2222eee004c78"/>
          <a:srcRect xmlns:a="http://schemas.openxmlformats.org/drawingml/2006/main" l="0" t="62" r="0" b="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9550" y="2781300"/>
            <a:ext cx="3371850" cy="1895475"/>
          </a:xfrm>
          <a:prstGeom xmlns:a="http://schemas.openxmlformats.org/drawingml/2006/main" prst="roundRect">
            <a:avLst>
              <a:gd name="adj" fmla="val 4020"/>
            </a:avLst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4F85F51-6D1C-4F13-9BE0-6041F427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10125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3. 자치구 통계 비교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797B987-3932-4634-A8B4-4A1FCAF5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62550"/>
            <a:ext cx="3295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rPr>
              <a:t>지역 지표와 시민 수요 비교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339F0A1-1719-434F-BDC1-C4205E26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531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E8"/>
          </a:solidFill>
          <a:ln xmlns:a="http://schemas.openxmlformats.org/drawingml/2006/main" w="9525">
            <a:solidFill>
              <a:srgbClr val="D8D3A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하단 새싹이를 누르면 현재 화면과 선택한 담당 범위에 맞춰 다음 순서를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6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b5eb843274c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7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b5eb843274c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11 · 실제 화면 3/3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근거·판단·품질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근거를 모아 판단하고 수정 이력을 남깁니다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70800f4ba45e4"/>
          <a:srcRect xmlns:a="http://schemas.openxmlformats.org/drawingml/2006/main" l="0" t="62" r="0" b="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781300"/>
            <a:ext cx="3371850" cy="1895475"/>
          </a:xfrm>
          <a:prstGeom xmlns:a="http://schemas.openxmlformats.org/drawingml/2006/main" prst="roundRect">
            <a:avLst>
              <a:gd name="adj" fmla="val 4020"/>
            </a:avLst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51FACD-BB37-4954-B255-7D7EE885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1. 통합 정책 근거 분석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445FD39-40DA-4AC4-ACB0-D92A3030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3295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rPr>
              <a:t>제안·민원·정책·뉴스·통계 교차 확인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feff6f6d64bc8"/>
          <a:srcRect xmlns:a="http://schemas.openxmlformats.org/drawingml/2006/main" l="0" t="62" r="0" b="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9575" y="2781300"/>
            <a:ext cx="3371850" cy="1895475"/>
          </a:xfrm>
          <a:prstGeom xmlns:a="http://schemas.openxmlformats.org/drawingml/2006/main" prst="roundRect">
            <a:avLst>
              <a:gd name="adj" fmla="val 4020"/>
            </a:avLst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3781E9E-D253-4392-90F7-3F30E64C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810125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2. 정책 갭 진단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82ABA4-BEC0-421F-AD8E-B4968E08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162550"/>
            <a:ext cx="3295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rPr>
              <a:t>문제 군집·우선순위·매칭 이유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4acfe7dba40e2"/>
          <a:srcRect xmlns:a="http://schemas.openxmlformats.org/drawingml/2006/main" l="0" t="62" r="0" b="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9550" y="2781300"/>
            <a:ext cx="3371850" cy="1895475"/>
          </a:xfrm>
          <a:prstGeom xmlns:a="http://schemas.openxmlformats.org/drawingml/2006/main" prst="roundRect">
            <a:avLst>
              <a:gd name="adj" fmla="val 4020"/>
            </a:avLst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92616E-3EB5-482F-AEB4-CFC17E11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10125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3. 결측치 복원 &amp; 로그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E81A6D-44A6-422B-A1B9-A994E801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62550"/>
            <a:ext cx="3295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59627A"/>
                </a:solidFill>
                <a:latin typeface="Malgun Gothic"/>
                <a:ea typeface="Malgun Gothic"/>
                <a:cs typeface="Malgun Gothic"/>
              </a:rPr>
              <a:t>지역 후보·원문 품질·수정 이력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A5243F0-6A6A-4932-9FE4-62BA5F10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531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E8"/>
          </a:solidFill>
          <a:ln xmlns:a="http://schemas.openxmlformats.org/drawingml/2006/main" w="9525">
            <a:solidFill>
              <a:srgbClr val="D8D3A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점수와 담당 후보는 검토를 돕는 값이며, 최종 결정은 담당자가 합니다.</a:t>
            </a:r>
          </a:p>
        </p:txBody>
      </p:sp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3da2227034a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3da2227034a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9 · End-to-End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발견에서 보고서까지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선택한 범위가 근거 검토와 후속 조치까지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 범위 선택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KPI·키워드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원문 검증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대조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민원·뉴스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수요 → 책임 → 근거 → 조치를 한 흐름으로 연결해요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3da2227034abb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8c306962a45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8c306962a45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10 · 길잡이와 보고서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현재 화면·담당 범위에 맞춘 업무 안내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대분류·실제 팀 선택이 맞춤 보고서까지 그대로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2d9ab6a3041ee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전체·대분류·팀 기준으로 수치·본문·추천 섹션을 다시 구성해요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8c306962a45f1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E270FD-9BBF-4E6F-AA51-A4393EC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FD06088-6BB1-4055-B9BB-ECB2BA8E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3320FF-374C-4ABC-9C5A-8B12CBF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2D870D-6B4B-445B-BF5D-EC6F4C9D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5689f39a94e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3CC8931-2FEE-45CB-9CCB-C587AB19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A989F7B-732F-4EB6-B6DD-9C5406B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FD351D-86F8-4CBE-B1DF-5E02366D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DD54B6C-620B-42D3-BA12-393C298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B767FE7-EEC2-4817-BB81-314398FE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DDA77C1-932B-4391-9332-F77DB9F0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5689f39a94e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7B267C4-9D3B-4836-AEA1-D3493F58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11 · 데이터 품질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A8A2193-F52F-40F4-9971-B8D6152B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72DCED6-AEA8-4FD8-8EE5-665F353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0E3299D-07F4-4F5B-95A6-E3040CDF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4E0611C-7F7D-47B8-936C-02C0038B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01C4691-F64F-4CE4-A062-ADA0837B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F6E9A0-2001-4E6B-A588-F4E9574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E76A657-DAA3-42B0-8946-3A5BB3D9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46DD0-3737-4359-9CD2-12EEDF0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06462A81-2D9D-4211-A2AB-C6D6455F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0A0FD98-A082-4105-9201-E25C9937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5448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모르는 값은 모른다고 표시합니다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0EA32B8-008A-441E-9429-2784EE9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0312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804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C084A70B-5101-4ED0-A994-A1E1427C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16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5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원본 미상 804건 · 원본 특정 자치구 20건</a:t>
            </a:r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8FCD1F74-BDC3-47B8-B91B-EAD48EA3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0FA968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1ACFA58-A759-4FFE-8E56-20D79FA0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본문 자치구 후보 49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A0786225-57F2-40F8-9528-1DF9B198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12700">
            <a:solidFill>
              <a:srgbClr val="3558D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1DE7587-49AA-4B16-9575-ADF319B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서울시 전체 명시 5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3FAAE6AF-2424-40AE-AFD8-0E71EF94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7C5CE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F7F7B57-123A-473E-A798-9DF68031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지역 범위 미확인 750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1539C9C8-C002-493B-A431-4C002B3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9204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C7"/>
                </a:solidFill>
                <a:latin typeface="Malgun Gothic"/>
                <a:ea typeface="Malgun Gothic"/>
                <a:cs typeface="Malgun Gothic"/>
              </a:rPr>
              <a:t>분류 기준 · 원본 선택값 + 본문 직접 지명 · 원문 미연결 186건 별도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A41A804-46C5-4B98-9DE9-62E24242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57200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D8CF3E53-9158-4BC7-BBFD-F5CFF245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38912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미상을 결측치로 일괄 처리하지 않고 지역 범위를 구분해요</a:t>
            </a:r>
          </a:p>
        </p:txBody>
      </p:sp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5689f39a94eba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853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5b244742a47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5b244742a47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12 · 데모 전 안내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8개 화면 빠른 투어 + 핵심 기능 깊은 시연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담당군 28건 → 실제 팀 15건 → 8개 화면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→ Gap·R&amp;R → 원문·보고서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페이지 하단 새싹이는 현재 화면·담당군·실제 팀 기준으로 안내해요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5b244742a4741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06ECD12-AB96-4D74-90E5-7E7C7D0B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1CBE152-BBD3-4831-9117-8C8C032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E2405E3-A020-4109-86F0-F23F6800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E6DB040-E546-4440-B2ED-F328AD1D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f73b6299b49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09B8BF-A55C-4F98-8188-79DF911F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023716E-94F6-4040-87AD-823548CB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96FD638-43D9-4DE4-B2DC-70BBCFC2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6347249-1800-42A0-8265-EF1DE2B8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8CA0EE0-E28C-4C3F-9B77-2BA1076C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7E108A6-AAE8-4BE3-8DCC-06BE72D7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f73b6299b49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B05D8A7-485B-4AF2-A0AD-6A821B71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13 · 라이브 데모 실행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B822EBF-A04F-4394-9E1C-95073A4F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4586BFA-AD56-4CAC-940D-64CD3B1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9AFDF8C-9BE9-403D-BAB3-243A2FC2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81CD298-0988-4BE5-817F-6C2A19B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1E822D95-1971-4458-B78F-67AEEC6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C32D499-24E4-4F72-8298-0ED29E86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3211111-4B11-4AE3-972E-034D4A1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11E73DA-0819-4FC6-A580-8638FB36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4999D27-9CA1-47A8-A3CF-2A6B573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7641F6A-FFD6-442F-870E-707765B6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김서현 주무관의 실제 데이터 여정을 시작합니다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9E5130D6-378C-4A87-8F5E-88D56B9A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A8669F19-2AC1-46BF-A506-9354D33D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912C5E9-BC62-4ECB-949D-4D615066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정보·상담 28건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CF97DEEE-B82C-4E21-BF3D-71547D7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74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BA70C37-12ED-42E4-87A2-7E407E5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0CFF4F3-C8AE-43CC-8BBD-D7CA58AC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A188AFD-4A76-4220-9EE4-B130227E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저출생1팀 15건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028D1208-5BB3-4FA2-BC95-AD583AD5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66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2388ADD3-D25D-41B6-A945-A5E816C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1EAA4E86-66C1-4BB0-92BE-03323680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6C1AC0FB-F81B-4924-83B6-010BB8AA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8개 화면·Gap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822EAAEC-BC76-4B41-B33E-28426F2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58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9B64CD6F-2F23-4534-B851-84ECA2B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E6B5922A-EFED-4633-A413-5BCCFCEC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D4A8AFD9-6C79-4C72-9BE8-A8B02654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원문·보고서</a:t>
            </a:r>
          </a:p>
        </p:txBody>
      </p:sp>
      <p:pic>
        <p:nvPicPr>
          <p:cNvPr id="8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a744e50404e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64523" y="2929116"/>
            <a:ext cx="934787" cy="1143000"/>
          </a:xfrm>
          <a:prstGeom xmlns:a="http://schemas.openxmlformats.org/drawingml/2006/main" prst="rect">
            <a:avLst/>
          </a:prstGeom>
        </p:spPr>
      </p:pic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A47B8172-3078-4FB2-B82E-10B6E24F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42" name="Text 37">
            <a:hlinkClick xmlns:r="http://schemas.openxmlformats.org/officeDocument/2006/relationships" xmlns:a="http://schemas.openxmlformats.org/drawingml/2006/main" r:id="R37721f0964a947a8"/>
            <a:extLst xmlns:a="http://schemas.openxmlformats.org/drawingml/2006/main">
              <a:ext uri="{FF2B5EF4-FFF2-40B4-BE49-F238E27FC236}">
                <a16:creationId xmlns:a16="http://schemas.microsoft.com/office/drawing/2014/main" id="{A264E091-E010-4775-BE5D-6FD46DAC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https://ukkkk-two.vercel.app</a:t>
            </a:r>
          </a:p>
        </p:txBody>
      </p:sp>
      <p:pic>
        <p:nvPicPr>
          <p:cNvPr id="8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f73b6299b49db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443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824A226-81DA-4B8B-A57B-51EDDC0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0521AB-35F6-4E12-8A90-B438B909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B8732A-8C57-494E-8C21-7F145B73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AF0182-4139-4003-AF33-8A739FE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615cac38e4a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EBC46CB-C98E-423E-BD61-10B9F46B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911FC47-7304-4D83-89A9-887D633A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65865C0-054B-4AD3-8FB6-8B840962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319D760-DFE4-4E75-AB7C-F137336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786B291-C783-4BE2-8545-F9B277C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958BE32-FF96-482B-B174-7078A425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615cac38e4a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5BF17D2-C0DF-40A9-AF0D-440FF30C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14 · 재현 가능한 과업 비교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A27E8ED-FF96-4171-B8FA-8AB2D43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D42B7E-1FBE-4421-A60A-B3DBC3E2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ED95D05-EB64-46FA-A35A-10126ED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32C329-2F10-44A4-B5AD-91E3F601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DEEEF6D-1716-4662-BC99-FDCC3475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1E6B0EB-8C1A-44E9-915C-97B810C4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A7EF3ED-0CFA-446B-B9FC-BF1AAE30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85DC3FE-FFAA-4FBF-A2CD-3519DED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2C509BE-45C6-447D-AA73-CED434BA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86BF7CC-A6EF-45D9-974F-9049E3F3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효과 수치 대신, 같은 과업에서 후보와 연결 단계를 비교합니다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23CDB5E-0AEE-46EB-A209-FAD18FD7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824건 → 28건 → 15건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079665CA-868A-458B-841F-937D06B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70"/>
          </a:solidFill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23100A9E-50FF-4ABB-94AC-D5D5C8E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후보 축소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8F3B317-C6DB-46F3-AF23-7571D1C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2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전체 탐색에서 담당 범위까지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707B2E-9A7F-4B74-AD89-FB3B250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128" y="4379976"/>
            <a:ext cx="1463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00"/>
          </a:solidFill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1D83D95B-3AF3-4647-9EC4-C9F9A3E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3877056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연결 확인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5B23402-4D9D-4292-8784-39623B3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8개 화면·원문·R&amp;R·보고서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2EEBB172-0C30-449D-87CB-56C230A3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CD1CDBF3-43FD-4286-BEAB-56444709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후보 수·클릭·근거 연결을 같은 조건에서 다시 확인해요</a:t>
            </a:r>
          </a:p>
        </p:txBody>
      </p:sp>
      <p:pic>
        <p:nvPicPr>
          <p:cNvPr id="6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615cac38e4a0c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246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83A23B-6CBF-4357-9EB6-66EDFF9A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32989B-6775-4EE6-9996-358BCE65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4F4317-47AD-439F-8D98-507FCD63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2F8E4C-04FF-494A-8DFF-38E4DC77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9e5fe7d764c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7989151-D089-42B5-823F-FC9C781E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322039B-6325-4749-8A42-9035B26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348E33-EC9A-415F-AB76-34A8A4A3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53B3AC0-0CB5-4D8A-AFE7-CB244198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4880495-E371-4724-ABE5-A33E21E2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0FB16EC-B345-404A-84AD-BE41D9E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9e5fe7d764c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1CC91B5-1331-448E-8AC9-8B88A251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15 · 운영화 로드맵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9F7189-DFED-4462-AFD0-C15F12C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9B984D0-B90B-4CE5-878E-A3BBEB8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C2B7829-4A8C-4773-8698-7143A9B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8AF3681-D958-479E-B152-8E223923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45BB062-7B5C-47FD-83F7-84F6B9A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21E32F5-5E6C-46A8-B404-117EA852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25E78B0-C233-4BA9-88CD-A1D7016F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44B986D-59E9-4B1C-B036-55F2AD85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E906970B-5D54-4B59-9D24-D5763ED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88BE74F7-289A-4D11-882E-1E23A5BF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데모에서 운영형 의사결정 도구로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50915ED-B553-4D2B-A859-B3C6811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운영화 → 행정 검증 → 서비스 안정화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8C44740-196A-473A-B254-26B0259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8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39C4094-11A6-4B42-BB96-7D62B0C2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8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STEP 1·2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정기 수집·버전·출처 관리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정답셋·담당자 피드백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원문 확보·복원 성능 측정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0EC00BA-61F4-4A21-89FC-7C260260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48" y="2788920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099588D5-E2C9-4C72-8EFB-A632069F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CECBF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F40A2A66-532F-4072-8C44-FD589FE2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STEP 3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API·DB 분리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권한·감사로그·개인정보 보호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네이티브 PDF·HWP 생성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B1263E1A-04A4-4352-94F8-9F854F07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1E3BF5C-1E2F-4E40-B708-F3209952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정확도와 운영 책임을 먼저 검증한 뒤 확장할게요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9e5fe7d764c90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803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B66D27-151B-4DAF-B199-3BF2D6BB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9DA734-24B5-416B-BB48-18673CFD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62C370F-CC34-4AA2-9DD2-52AE98B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269540-49D9-4D42-8197-82A9AD9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c6ce605604e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4DA868-25DA-4630-ACCF-47131EA1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BADE83A-0832-41ED-B7EE-F90F9910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F2A4AF9-9912-4CBC-9BBA-56424EB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7922247-85AF-4536-9855-F1E06B4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4E57A53-7A79-4323-8B8D-EDC5E601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7A0214-A504-4F92-85EF-139DCA0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c6ce605604e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567D311-1AAD-417E-A9D3-6C8B2A17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16 · 하나의 검토 결과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AA6D9EE-D1A0-4F5E-A117-5B349885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3F891C4-E14A-45BF-B66C-CB78B0C2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FD5232F-3FB5-43C7-B2FD-EBD1D23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2EAA86E-C256-4022-B2DD-058A1B3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3D77F82-1DBD-4F20-A67F-49637D87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D52F23F-B94E-4180-9422-949829EB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C899714-9371-48DA-B099-6BCC5D80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E41775D4-2FE8-437B-A175-8EE99E8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D635C84-1537-453F-9776-F1EC9CB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7236B1B-8B40-434D-B862-EB793CA3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수요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C6A9FE3-7AE5-468A-82F5-CD8D7C8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476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8개 화면을 하나의
검토 흐름으로 연결합니다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19391D7-EFBA-4727-8DF3-F2E8ADF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230368"/>
            <a:ext cx="3008376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E59429E-D8EA-43F6-8179-488C32E5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230368"/>
            <a:ext cx="28254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상상대로 서울의 시민 제안을 답변·보고·개선 로그로 연결합니다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c6ce605604e49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0243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537c521ef4c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537c521ef4c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A · 데이터·모델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DATA &amp; MODEL · 재현성과 한계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통합 스키마와 분석 결과 정의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입력 피처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건수·공감·댓글·답변·날짜·본문·지역·정책/뉴스/통계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분류·군집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8대 대분류→중·소분류 / 전체 57개 문제 군집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 결과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수요·공백·시급성·실행성·근거 신뢰도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R&amp;R 결과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실제 업무분장 기반 주관 1순위·협조 2·3순위 후보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최종 결정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담당자가 원문과 근거를 대조해 수정·승인·반려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후속 검증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군집 안정성·R&amp;R 수용률·임계값 민감도·보고서 수정률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a2ec96c3749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a2ec96c3749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B · 텍스트 파싱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TEXT PIPELINE · 모델별 입력과 출력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텍스트를 단계별 모델 입력으로 연결합니다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공통 전처리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조사·접미사 제거 → 유사어 통합 → 불용어 제거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계층 분류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규칙 키워드+원 분류 부스트 → 8대·중·소분류·신뢰도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의미 분류·군집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KR-SBERT 코사인 유사도 → 의미 분류·cluster_id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뉴스 파싱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규칙 → 기존 분류 → 수집 분류 → NMF 토픽 맵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지역 파싱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자치구 키워드+모호어 감점 → 후보·점수·근거어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R&amp;R 파싱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업무분장+본문 가중치 → 주관 1순위·협조 2·3순위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54e194aac49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54e194aac49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C · 필터·R&amp;R 모델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MODEL DEFINITION · 규칙·가중치 기반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두 단계 필터와 R&amp;R 후보 모델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정책 분류와 실제 조직을 분리해 검색 의미를 명확히 함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카테고리·제목·본문·기존 담당 후보 + 18개 업무분장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8대 담당군 정규화 · 본문 토큰과 업무분장 키워드 대조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랭킹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카테고리·업무 +30 · 키워드 +10 · 기존 담당 후보 +50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주관 1순위 · 협조 2·3순위 · 연락처 · 업무·매칭 근거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검색 규칙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전체+팀은 1·2·3순위 / 대분류+팀은 분류 범위와 교차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407641f1947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407641f1947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D · 산출물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DELIVERABLES · 실제 파일 기준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로드맵 요구사항과 확인 가능한 산출물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시스템 기획·PRD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docs/SYSTEM_DESIGN_PRD.md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데이터분석 정의서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docs/데이터분석정의서.md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발표 대본·시연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docs/발표자료/발표_대본_PPT구성_ver9.md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프론트엔드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React·TypeScript·Vite / frontend/src/App.tsx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검사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Python 동기화·정합성 검사 스크립트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배포·생성형 AI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Vercel / Gemini 초안 + 템플릿 Fallback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2026-07-26T02:14:01.7460000Z</dcterms:created>
  <dcterms:modified xsi:type="dcterms:W3CDTF">2026-07-26T02:14:01.7460000Z</dcterms:modified>
</coreProperties>
</file>