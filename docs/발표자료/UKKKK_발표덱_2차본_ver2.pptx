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431a4f95344575" /><Relationship Type="http://schemas.openxmlformats.org/officeDocument/2006/relationships/extended-properties" Target="/docProps/app.xml" Id="R2ea0200ad9e64bee" /><Relationship Type="http://schemas.openxmlformats.org/officeDocument/2006/relationships/officeDocument" Target="/ppt/presentation.xml" Id="Rfe7443b1b8cd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941e37c0954073"/>
  </p:sldMasterIdLst>
  <p:notesMasterIdLst>
    <p:notesMasterId xmlns:r="http://schemas.openxmlformats.org/officeDocument/2006/relationships" r:id="R24517e3b96f0401e"/>
  </p:notesMasterIdLst>
  <p:sldIdLst>
    <p:sldId xmlns:r="http://schemas.openxmlformats.org/officeDocument/2006/relationships" id="256" r:id="Rc5b4c5efe82a4a67"/>
    <p:sldId xmlns:r="http://schemas.openxmlformats.org/officeDocument/2006/relationships" id="257" r:id="R917cc520b55d4a70"/>
    <p:sldId xmlns:r="http://schemas.openxmlformats.org/officeDocument/2006/relationships" id="258" r:id="Rbef9d416d159417c"/>
    <p:sldId xmlns:r="http://schemas.openxmlformats.org/officeDocument/2006/relationships" id="259" r:id="Rec300999ada64094"/>
    <p:sldId xmlns:r="http://schemas.openxmlformats.org/officeDocument/2006/relationships" id="260" r:id="Rd67ac6cb226041cf"/>
    <p:sldId xmlns:r="http://schemas.openxmlformats.org/officeDocument/2006/relationships" id="261" r:id="R62ee3ca21a3c4d7e"/>
    <p:sldId xmlns:r="http://schemas.openxmlformats.org/officeDocument/2006/relationships" id="262" r:id="Rc24c8ca620ef421b"/>
    <p:sldId xmlns:r="http://schemas.openxmlformats.org/officeDocument/2006/relationships" id="263" r:id="R969a76a2d34a41c5"/>
    <p:sldId xmlns:r="http://schemas.openxmlformats.org/officeDocument/2006/relationships" id="264" r:id="R0ce3d6d434f6496c"/>
    <p:sldId xmlns:r="http://schemas.openxmlformats.org/officeDocument/2006/relationships" id="265" r:id="R9cf8d9d952aa4213"/>
    <p:sldId xmlns:r="http://schemas.openxmlformats.org/officeDocument/2006/relationships" id="266" r:id="Rfda2aa66d52d40c4"/>
    <p:sldId xmlns:r="http://schemas.openxmlformats.org/officeDocument/2006/relationships" id="267" r:id="R7553a9fd69ea4b2e"/>
    <p:sldId xmlns:r="http://schemas.openxmlformats.org/officeDocument/2006/relationships" id="268" r:id="Rd8e2ad4d4a604ba8"/>
    <p:sldId xmlns:r="http://schemas.openxmlformats.org/officeDocument/2006/relationships" id="269" r:id="R2455491658274832"/>
    <p:sldId xmlns:r="http://schemas.openxmlformats.org/officeDocument/2006/relationships" id="270" r:id="R59b02166632346f7"/>
    <p:sldId xmlns:r="http://schemas.openxmlformats.org/officeDocument/2006/relationships" id="271" r:id="Rd6e568ae74ce43af"/>
    <p:sldId xmlns:r="http://schemas.openxmlformats.org/officeDocument/2006/relationships" id="272" r:id="R9888a1cbab394163"/>
    <p:sldId xmlns:r="http://schemas.openxmlformats.org/officeDocument/2006/relationships" id="273" r:id="Rbab9916cfa1048a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6301d9a4a84770" /><Relationship Type="http://schemas.openxmlformats.org/officeDocument/2006/relationships/slideMaster" Target="/ppt/slideMasters/slideMaster1.xml" Id="Rcd941e37c0954073" /><Relationship Type="http://schemas.openxmlformats.org/officeDocument/2006/relationships/notesMaster" Target="/ppt/notesMasters/notesMaster1.xml" Id="R24517e3b96f0401e" /><Relationship Type="http://schemas.openxmlformats.org/officeDocument/2006/relationships/presProps" Target="/ppt/presProps.xml" Id="R17653b45712e4c7e" /><Relationship Type="http://schemas.openxmlformats.org/officeDocument/2006/relationships/viewProps" Target="/ppt/viewProps.xml" Id="R2d3c942b189f48c8" /><Relationship Type="http://schemas.openxmlformats.org/officeDocument/2006/relationships/tableStyles" Target="/ppt/tableStyles.xml" Id="Rd1646e0e63394059" /><Relationship Type="http://schemas.openxmlformats.org/officeDocument/2006/relationships/slide" Target="/ppt/slides/slide1.xml" Id="Rc5b4c5efe82a4a67" /><Relationship Type="http://schemas.openxmlformats.org/officeDocument/2006/relationships/slide" Target="/ppt/slides/slide2.xml" Id="R917cc520b55d4a70" /><Relationship Type="http://schemas.openxmlformats.org/officeDocument/2006/relationships/slide" Target="/ppt/slides/slide3.xml" Id="Rbef9d416d159417c" /><Relationship Type="http://schemas.openxmlformats.org/officeDocument/2006/relationships/slide" Target="/ppt/slides/slide4.xml" Id="Rec300999ada64094" /><Relationship Type="http://schemas.openxmlformats.org/officeDocument/2006/relationships/slide" Target="/ppt/slides/slide5.xml" Id="Rd67ac6cb226041cf" /><Relationship Type="http://schemas.openxmlformats.org/officeDocument/2006/relationships/slide" Target="/ppt/slides/slide6.xml" Id="R62ee3ca21a3c4d7e" /><Relationship Type="http://schemas.openxmlformats.org/officeDocument/2006/relationships/slide" Target="/ppt/slides/slide7.xml" Id="Rc24c8ca620ef421b" /><Relationship Type="http://schemas.openxmlformats.org/officeDocument/2006/relationships/slide" Target="/ppt/slides/slide8.xml" Id="R969a76a2d34a41c5" /><Relationship Type="http://schemas.openxmlformats.org/officeDocument/2006/relationships/slide" Target="/ppt/slides/slide9.xml" Id="R0ce3d6d434f6496c" /><Relationship Type="http://schemas.openxmlformats.org/officeDocument/2006/relationships/slide" Target="/ppt/slides/slide10.xml" Id="R9cf8d9d952aa4213" /><Relationship Type="http://schemas.openxmlformats.org/officeDocument/2006/relationships/slide" Target="/ppt/slides/slide11.xml" Id="Rfda2aa66d52d40c4" /><Relationship Type="http://schemas.openxmlformats.org/officeDocument/2006/relationships/slide" Target="/ppt/slides/slide12.xml" Id="R7553a9fd69ea4b2e" /><Relationship Type="http://schemas.openxmlformats.org/officeDocument/2006/relationships/slide" Target="/ppt/slides/slide13.xml" Id="Rd8e2ad4d4a604ba8" /><Relationship Type="http://schemas.openxmlformats.org/officeDocument/2006/relationships/slide" Target="/ppt/slides/slide14.xml" Id="R2455491658274832" /><Relationship Type="http://schemas.openxmlformats.org/officeDocument/2006/relationships/slide" Target="/ppt/slides/slide15.xml" Id="R59b02166632346f7" /><Relationship Type="http://schemas.openxmlformats.org/officeDocument/2006/relationships/slide" Target="/ppt/slides/slide16.xml" Id="Rd6e568ae74ce43af" /><Relationship Type="http://schemas.openxmlformats.org/officeDocument/2006/relationships/slide" Target="/ppt/slides/slide17.xml" Id="R9888a1cbab394163" /><Relationship Type="http://schemas.openxmlformats.org/officeDocument/2006/relationships/slide" Target="/ppt/slides/slide18.xml" Id="Rbab9916cfa1048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0be309bee4c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80d2d5b8b044db" /><Relationship Type="http://schemas.openxmlformats.org/officeDocument/2006/relationships/notesMaster" Target="/ppt/notesMasters/notesMaster1.xml" Id="Rc25a0bc66e49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a7a9b5abc47e7" /><Relationship Type="http://schemas.openxmlformats.org/officeDocument/2006/relationships/notesMaster" Target="/ppt/notesMasters/notesMaster1.xml" Id="R4db2574074814c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3069ada07849f2" /><Relationship Type="http://schemas.openxmlformats.org/officeDocument/2006/relationships/notesMaster" Target="/ppt/notesMasters/notesMaster1.xml" Id="R654d736afe6e40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d54398bac94ddc" /><Relationship Type="http://schemas.openxmlformats.org/officeDocument/2006/relationships/notesMaster" Target="/ppt/notesMasters/notesMaster1.xml" Id="R7c6fbc909e4e40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efcdf2db024512" /><Relationship Type="http://schemas.openxmlformats.org/officeDocument/2006/relationships/notesMaster" Target="/ppt/notesMasters/notesMaster1.xml" Id="Rd423a8a7f6e142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be863dd114423e" /><Relationship Type="http://schemas.openxmlformats.org/officeDocument/2006/relationships/notesMaster" Target="/ppt/notesMasters/notesMaster1.xml" Id="R2735e915c9cd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4beaeb62594934" /><Relationship Type="http://schemas.openxmlformats.org/officeDocument/2006/relationships/notesMaster" Target="/ppt/notesMasters/notesMaster1.xml" Id="R86938d6b1f8f43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54b1afa8254f13" /><Relationship Type="http://schemas.openxmlformats.org/officeDocument/2006/relationships/notesMaster" Target="/ppt/notesMasters/notesMaster1.xml" Id="R6f5a67c2d45944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5196975a9f4c81" /><Relationship Type="http://schemas.openxmlformats.org/officeDocument/2006/relationships/notesMaster" Target="/ppt/notesMasters/notesMaster1.xml" Id="R46b8894670684c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17ea2faf8e487e" /><Relationship Type="http://schemas.openxmlformats.org/officeDocument/2006/relationships/notesMaster" Target="/ppt/notesMasters/notesMaster1.xml" Id="R3ed1357bead743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c81480e8fc4eba" /><Relationship Type="http://schemas.openxmlformats.org/officeDocument/2006/relationships/notesMaster" Target="/ppt/notesMasters/notesMaster1.xml" Id="Rc10385b34e2f476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ad4f3a17804451" /><Relationship Type="http://schemas.openxmlformats.org/officeDocument/2006/relationships/notesMaster" Target="/ppt/notesMasters/notesMaster1.xml" Id="Re1c5506c0bc444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5478f42c6b4b2f" /><Relationship Type="http://schemas.openxmlformats.org/officeDocument/2006/relationships/notesMaster" Target="/ppt/notesMasters/notesMaster1.xml" Id="R8578ae5b42124e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bcad7cb3614313" /><Relationship Type="http://schemas.openxmlformats.org/officeDocument/2006/relationships/notesMaster" Target="/ppt/notesMasters/notesMaster1.xml" Id="Re1ec498eba464f0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d15bf7d66f47e4" /><Relationship Type="http://schemas.openxmlformats.org/officeDocument/2006/relationships/notesMaster" Target="/ppt/notesMasters/notesMaster1.xml" Id="R94a28aa102624f1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89873759734df7" /><Relationship Type="http://schemas.openxmlformats.org/officeDocument/2006/relationships/notesMaster" Target="/ppt/notesMasters/notesMaster1.xml" Id="Rce38a51f255748c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737a4ce4cc74504" /><Relationship Type="http://schemas.openxmlformats.org/officeDocument/2006/relationships/notesMaster" Target="/ppt/notesMasters/notesMaster1.xml" Id="Ra5aa704bdb0e494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8efd645f37430c" /><Relationship Type="http://schemas.openxmlformats.org/officeDocument/2006/relationships/notesMaster" Target="/ppt/notesMasters/notesMaster1.xml" Id="Rf7124ae8899c4a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안녕하십니까. 저희는 시민 제안에서 검토 대상과 담당 후보, 판단 근거를 연결하는 과정에 탐색 부담이 있을 수 있다는 문제 가설에서 출발했습니다. 실제 업무 절차와 부담의 크기는 후속 실무자 인터뷰로 검증할 예정입니다.  </a:t>
            </a:r>
          </a:p>
          <a:p xmlns:a="http://schemas.openxmlformats.org/drawingml/2006/main">
            <a:r>
              <a:t>저희 UKKKK는 흩어진 출산·양육 정책 데이터를 한곳에 모아 **시민 수요를 담당 범위와 근거, 다음 조치로 연결하는 행정 의사결정 대시보드**입니다.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주무관은 실제 인물이 아니라 제품의 기능과 시연 과업을 구체화하기 위해 설정한 가상 페르소나입니다.  </a:t>
            </a:r>
          </a:p>
          <a:p xmlns:a="http://schemas.openxmlformats.org/drawingml/2006/main">
            <a:r>
              <a:t>시민 제안을 검토하고 담당 후보와 기존 정책 근거를 대조한 뒤 보고자료를 만든다는 과업을 가정했습니다.  </a:t>
            </a:r>
          </a:p>
          <a:p xmlns:a="http://schemas.openxmlformats.org/drawingml/2006/main">
            <a:r>
              <a:t>여러 정책 영역에 걸친 제안과 본문·자치구 결측은 데이터에서 확인했지만, 실제 담당자가 어떤 시스템을 사용하고 어디에서 가장 큰 어려움을 겪는지는 후속 인터뷰로 확인해야 합니다.  </a:t>
            </a:r>
          </a:p>
          <a:p xmlns:a="http://schemas.openxmlformats.org/drawingml/2006/main">
            <a:r>
              <a:t>그래서 사용자의 질문을 하나로 정의했습니다. **“이 안건은 누가, 왜, 얼마나 먼저 봐야 하는가?”**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다섯 단계는 실제 공무원의 확정된 업무 절차가 아니라, 저희가 제품을 설계하기 위해 설정한 검토 흐름 가설입니다.  </a:t>
            </a:r>
          </a:p>
          <a:p xmlns:a="http://schemas.openxmlformats.org/drawingml/2006/main">
            <a:r>
              <a:t>제안 탐색, 내용 분류, 담당 후보 확인, 현행 정책 대조, 보고자료 작성이 서로 분리되어 있을 가능성을 가정했습니다.  </a:t>
            </a:r>
          </a:p>
          <a:p xmlns:a="http://schemas.openxmlformats.org/drawingml/2006/main">
            <a:r>
              <a:t>다음 단계에서는 관련 실무자에게 실제 사용하는 시스템과 이관·답변·결재 절차를 확인하고, **수요·담당 후보·판단 근거·후속 조치를 연결했을 때 탐색 부담이 실제로 줄어드는지** 검증하겠습니다.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앞서 설정한 업무 가설을 하나의 제품 흐름으로 구현한 파일럿입니다.  </a:t>
            </a:r>
          </a:p>
          <a:p xmlns:a="http://schemas.openxmlformats.org/drawingml/2006/main">
            <a:r>
              <a:t>먼저 정책 대분류와 실제 R&amp;R 팀으로 업무 범위를 정하고, 반복 수요와 원문을 확인합니다. 다음으로 기존 사업과 민원·뉴스·통계를 대조해 공백을 판단하고, 담당자가 초안을 수정·승인한 뒤 같은 범위로 보고서를 내보냅니다.  </a:t>
            </a:r>
          </a:p>
          <a:p xmlns:a="http://schemas.openxmlformats.org/drawingml/2006/main">
            <a:r>
              <a:t>자동화의 목적은 결정을 대신하는 것이 아닙니다. 실제 실무에 도움이 되는지는 후속 사용자 테스트로 확인하되, 제품은 **담당자가 검증 가능한 후보와 근거를 한곳에서 확인하도록 지원하는 것**을 목표로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데이터는 다섯 출처를 결합했습니다. 상상대로 시민 제안 824건은 정책 수요, 국민신문고 582건은 현장 고충, 몽땅정보통 322개 사업은 기존 공급, 뉴스 1,145건은 사회적 이슈, 자치구 통계는 지역 조건을 보여줍니다.  </a:t>
            </a:r>
          </a:p>
          <a:p xmlns:a="http://schemas.openxmlformats.org/drawingml/2006/main">
            <a:r>
              <a:t>현재 데모는 이 데이터를 미리 수집·정제해 캐시한 구조로 안정적으로 재현됩니다.  </a:t>
            </a:r>
          </a:p>
          <a:p xmlns:a="http://schemas.openxmlformats.org/drawingml/2006/main">
            <a:r>
              <a:t>서로 다른 출처는 제안 ID와 본문, 날짜, 공감·답변 상태, 지역, 정책 계층, R&amp;R 순위, 원문 URL을 가진 공통 스키마로 맞췄습니다. 이후 불용어와 유사어를 정규화하고, 본문과 지역이 없는 값은 임의로 채우지 않은 채 별도 상태로 관리합니다.  </a:t>
            </a:r>
          </a:p>
          <a:p xmlns:a="http://schemas.openxmlformats.org/drawingml/2006/main">
            <a:r>
              <a:t>정제된 데이터는 8대 계층 분류, 의미 유사 군집화, 원본 업무분장 기반 R&amp;R 후보 매칭을 거쳐 화면에서 서로 대조합니다.  </a:t>
            </a:r>
          </a:p>
          <a:p xmlns:a="http://schemas.openxmlformats.org/drawingml/2006/main">
            <a:r>
              <a:t>즉, 제안 건수 하나만으로 판단하지 않고 **수요·현장·공급·사회·지역 근거를 함께 보는 구조**입니다.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이번 버전의 가장 중요한 개선은 상단 필터의 의미를 두 단계로 분리한 것입니다.  </a:t>
            </a:r>
          </a:p>
          <a:p xmlns:a="http://schemas.openxmlformats.org/drawingml/2006/main">
            <a:r>
              <a:t>첫 번째는 조직이 아니라 8대 **정책 대분류 담당군**입니다. 두 번째가 원본 업무분장에 근거한 **실제 R&amp;R 팀**입니다.  </a:t>
            </a:r>
          </a:p>
          <a:p xmlns:a="http://schemas.openxmlformats.org/drawingml/2006/main">
            <a:r>
              <a:t>전체 담당군에서 팀을 고르면 그 팀이 주관 또는 협조로 포함된 모든 안건을 찾습니다. 반면 특정 대분류를 먼저 고르면, 그 범위에서 해당 팀이 1순위 주관인 안건만 보여줍니다.  </a:t>
            </a:r>
          </a:p>
          <a:p xmlns:a="http://schemas.openxmlformats.org/drawingml/2006/main">
            <a:r>
              <a:t>따라서 가족지원팀처럼 여러 분야에 협조로 참여하는 팀도 중복을 숨기지 않으면서, 사용자는 지금 ‘관련 안건 전체’를 보는지 ‘주관 안건’을 보는지 구분할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제안만 읽으면 같은 요구가 여러 표현으로 흩어집니다. UKKKK는 전체 범위의 제안을 57개 문제 군집으로 묶고, 수요·정책 공백·시급성·실행성·근거 신뢰도의 다섯 축으로 비교합니다.  </a:t>
            </a:r>
          </a:p>
          <a:p xmlns:a="http://schemas.openxmlformats.org/drawingml/2006/main">
            <a:r>
              <a:t>이 진단도 고정된 전체 결과만 보여주는 것이 아닙니다. 상단에서 대분류 담당군이나 실제 R&amp;R 팀을 선택하면 그 업무 범위에 포함되는 문제 군집만 남고, 우선점수와 진단 매트릭스, 상세 근거 패널이 같은 기준으로 다시 구성됩니다.  </a:t>
            </a:r>
          </a:p>
          <a:p xmlns:a="http://schemas.openxmlformats.org/drawingml/2006/main">
            <a:r>
              <a:t>기본 모델은 수요 30%, 공백과 시급성 각 25%, 실행성과 신뢰도 각 10%입니다. 사용자는 목적에 따라 시민수요 강조형과 지역형평성 강조형으로 가중치를 바꿔 순위 변화를 볼 수 있습니다.  </a:t>
            </a:r>
          </a:p>
          <a:p xmlns:a="http://schemas.openxmlformats.org/drawingml/2006/main">
            <a:r>
              <a:t>이 점수는 정답이 아니라 **검토 순서를 설명하는 의사결정 보조 지표**입니다.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화면은 여덟 개지만 질문의 순서로 연결됩니다.  </a:t>
            </a:r>
          </a:p>
          <a:p xmlns:a="http://schemas.openxmlformats.org/drawingml/2006/main">
            <a:r>
              <a:t>현황에서 범위를 확인하고, 시민 목소리와 긴급 민원에서 수요를 찾습니다. 현행 정책과 사각지대에서 공급 여부를 대조하고, 자치구 통계에서 지역 조건을 봅니다. 마지막으로 갭 진단에서 조치 후보를 검토하고, 결측치·통합 로그에서 데이터 품질과 결정 이력을 관리합니다.  </a:t>
            </a:r>
          </a:p>
          <a:p xmlns:a="http://schemas.openxmlformats.org/drawingml/2006/main">
            <a:r>
              <a:t>각 화면은 독립 메뉴가 아니라 **하나의 정책 검토 과정의 단계**입니다.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김서현 주무관의 실제 흐름은 여섯 단계입니다.  </a:t>
            </a:r>
          </a:p>
          <a:p xmlns:a="http://schemas.openxmlformats.org/drawingml/2006/main">
            <a:r>
              <a:t>먼저 정책 담당군과 실제 팀으로 오늘 볼 업무를 정합니다. 다음으로 KPI와 키워드, 긴급 안건에서 신호를 찾습니다. 관심 안건은 원문과 주관·협조 후보, 공식 URL로 검증합니다. 이어서 기존 사업과 민원·뉴스·자치구 통계를 대조합니다.  </a:t>
            </a:r>
          </a:p>
          <a:p xmlns:a="http://schemas.openxmlformats.org/drawingml/2006/main">
            <a:r>
              <a:t>정책 공백이 확인되면 갭 점수와 추천 조치를 보되, 담당자가 문구를 수정하고 승인합니다. 마지막으로 선택한 범위가 반영된 보고서나 CSV를 내보냅니다.  </a:t>
            </a:r>
          </a:p>
          <a:p xmlns:a="http://schemas.openxmlformats.org/drawingml/2006/main">
            <a:r>
              <a:t>이 흐름의 핵심은 **필터 조건과 판단 근거가 다음 화면까지 이어진다는 것**입니다.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신규 담당자가 화면을 외워야 한다는 문제는 새싹이 오피스 길잡이로 줄였습니다. 새싹이는 현재 화면의 목적과 기본 단계, 고급 활용 팁을 안내하고, 정책 담당군을 선택하면 대분류 기준으로, 실제 팀을 선택하면 팀 기준으로 업무 동선을 바꿉니다.  </a:t>
            </a:r>
          </a:p>
          <a:p xmlns:a="http://schemas.openxmlformats.org/drawingml/2006/main">
            <a:r>
              <a:t>이 선택 범위는 화면 조회에서 끝나지 않고 보고서까지 그대로 이어집니다. 전체 범위를 선택하면 전체 R&amp;R 통합 보고서가, 특정 대분류 담당군을 선택하면 해당 정책 분야 보고서가, 실제 팀까지 선택하면 그 팀의 주관·협조 대상만 집계한 맞춤 보고서가 생성됩니다.  </a:t>
            </a:r>
          </a:p>
          <a:p xmlns:a="http://schemas.openxmlformats.org/drawingml/2006/main">
            <a:r>
              <a:t>검토 결과는 우측 보고서 다운로드에서 상세형, 간부 브리핑, 외부 공유용으로 구성할 수 있습니다. 현재 구현은 HWP용 텍스트, PDF 요약 미리보기, CSV 원자료를 제공하며, 현재 선택한 담당 범위와 카테고리·지역 조건이 보고서의 수치, 본문, 추천 섹션에 함께 반영됩니다.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저희는 데이터가 없는 부분을 AI가 아는 것처럼 채우지 않습니다. 현재 824건 중 자치구 미상은 804건이고, 원문이 아직 연결되지 않았거나 30자 미만인 레코드는 186건입니다.  </a:t>
            </a:r>
          </a:p>
          <a:p xmlns:a="http://schemas.openxmlformats.org/drawingml/2006/main">
            <a:r>
              <a:t>본문이 없으면 제목을 반복해 보여주지 않고 미수집 상태를 표시합니다. 지역도 확실한 지명이 없으면 특정 자치구로 강제 배정하지 않습니다.  </a:t>
            </a:r>
          </a:p>
          <a:p xmlns:a="http://schemas.openxmlformats.org/drawingml/2006/main">
            <a:r>
              <a:t>복원 후보는 담당자가 원문을 펼쳐 검토하고 선택한 결과만 반영 이력으로 남깁니다.  </a:t>
            </a:r>
          </a:p>
          <a:p xmlns:a="http://schemas.openxmlformats.org/drawingml/2006/main">
            <a:r>
              <a:t>데이터 품질을 숨기지 않는 것이 공공 의사결정 시스템의 신뢰라고 판단했습니다.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 가상 페르소나 김서현 주무관에게 설정한 시연 과업으로 보여드리겠습니다.  </a:t>
            </a:r>
          </a:p>
          <a:p xmlns:a="http://schemas.openxmlformats.org/drawingml/2006/main">
            <a:r>
              <a:t>오늘 확인할 업무는 출산·산후 초기지원 분야에서 건강팀이 주관해야 할 제안을 찾고, 반복되는 수요를 검토한 뒤 보고자료로 넘기는 것입니다.  </a:t>
            </a:r>
          </a:p>
          <a:p xmlns:a="http://schemas.openxmlformats.org/drawingml/2006/main">
            <a:r>
              <a:t>화면이 예쁜지가 아니라 **선택한 업무 범위가 여러 화면과 보고서까지 정확히 이어지는지**를 봐주시면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상태에서 시작하겠습니다.  </a:t>
            </a:r>
          </a:p>
          <a:p xmlns:a="http://schemas.openxmlformats.org/drawingml/2006/main">
            <a:r>
              <a:t>첫 번째 필터에서 출산·산후 초기지원을 선택하면 총 87건으로 좁혀지고, 실제 주관팀 후보는 가족건강팀과 건강팀 두 개만 남습니다.  </a:t>
            </a:r>
          </a:p>
          <a:p xmlns:a="http://schemas.openxmlformats.org/drawingml/2006/main">
            <a:r>
              <a:t>여기서 건강팀을 선택하면 건강팀이 1순위 주관으로 매칭된 68건이 표시됩니다.  </a:t>
            </a:r>
          </a:p>
          <a:p xmlns:a="http://schemas.openxmlformats.org/drawingml/2006/main">
            <a:r>
              <a:t>시민 목소리 분석으로 이동해도 68건 범위가 유지되고 키워드와 차트가 다시 계산됩니다.  </a:t>
            </a:r>
          </a:p>
          <a:p xmlns:a="http://schemas.openxmlformats.org/drawingml/2006/main">
            <a:r>
              <a:t>정책 갭 진단으로 이동하면 전체 57개 군집 중 건강팀 범위에 해당하는 문제 군집만 남고, 우선점수와 매트릭스, 상세 근거가 같은 기준으로 다시 구성됩니다. 이 점수는 정책을 자동 결정하는 값이 아니라 먼저 검토할 대상을 좁히는 보조 지표입니다.  </a:t>
            </a:r>
          </a:p>
          <a:p xmlns:a="http://schemas.openxmlformats.org/drawingml/2006/main">
            <a:r>
              <a:t>긴급 민원 처리에서는 제안의 상세 본문과 공식 원문을 확인하고, 건강팀이 주관 1순위인지 어떤 팀이 2·3순위 협조 후보인지 구분해 볼 수 있습니다.  </a:t>
            </a:r>
          </a:p>
          <a:p xmlns:a="http://schemas.openxmlformats.org/drawingml/2006/main">
            <a:r>
              <a:t>새싹이도 건강팀 기준의 다음 업무를 안내합니다. 마지막으로 보고서 다운로드를 누르면 지금 선택한 범위로 브리핑 문서와 CSV를 만들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데이터 정합성 검사와 빌드, 2단계 필터, 8개 화면 범위 연동은 확인했습니다.  </a:t>
            </a:r>
          </a:p>
          <a:p xmlns:a="http://schemas.openxmlformats.org/drawingml/2006/main">
            <a:r>
              <a:t>반면 업무시간 단축률, R&amp;R 추천의 실무 수용률, 결측치 복원 정밀도는 아직 실제 사용자 검증이 필요합니다.  </a:t>
            </a:r>
          </a:p>
          <a:p xmlns:a="http://schemas.openxmlformats.org/drawingml/2006/main">
            <a:r>
              <a:t>따라서 저희는 효과를 미리 확정하지 않고, 다음 단계에서 정책 담당자에게 동일 과업을 기존 방식과 UKKKK 방식으로 수행하게 해 시간, 오류, 수정 횟수, 만족도를 측정하겠습니다.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단계는 데모를 운영형 도구로 전환하는 것입니다.  </a:t>
            </a:r>
          </a:p>
          <a:p xmlns:a="http://schemas.openxmlformats.org/drawingml/2006/main">
            <a:r>
              <a:t>먼저 정기 수집과 출처·버전 관리를 구축하고 상세 원문 확보율을 높이겠습니다. 다음으로 담당자 피드백을 정답셋으로 쌓아 R&amp;R과 결측치 복원의 정확도를 측정하겠습니다.  </a:t>
            </a:r>
          </a:p>
          <a:p xmlns:a="http://schemas.openxmlformats.org/drawingml/2006/main">
            <a:r>
              <a:t>마지막으로 대용량 데이터를 API와 데이터베이스로 분리하고, 권한·감사로그·개인정보 보호, 실제 PDF와 HWP 생성까지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UKKKK는 더 많은 숫자를 보여주는 대시보드가 아닙니다. 시민의 수요를 책임과 근거, 다음 조치로 연결하는 업무 도구입니다.  </a:t>
            </a:r>
          </a:p>
          <a:p xmlns:a="http://schemas.openxmlformats.org/drawingml/2006/main">
            <a:r>
              <a:t>모르는 것은 정직하게 표시하고, 근거는 연결하며, 최종 결정은 담당자가 합니다. 감사합니다.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분석 엔진은 감독학습 정답 예측이 아니라 NLP·규칙·가중치 기반 분류, 군집, 우선순위, R&amp;R 후보 추천 구조입니다. 가중치와 임계값은 운영 규칙이며 실제 담당자 정답셋 기반 검증이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로드맵에서 요구한 시스템 기획·PRD, 데이터분석 정의서, 발표 대본, 프론트엔드, 데이터 검사, 배포 산출물을 실제 파일 경로 기준으로 정리했습니다.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064a3cd2b4b5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950b7ffb984beb" /><Relationship Type="http://schemas.openxmlformats.org/officeDocument/2006/relationships/slideLayout" Target="/ppt/slideLayouts/slideLayout1.xml" Id="Rf6fda9ce01644c5f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fda9ce01644c5f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7cd16461343a6" /><Relationship Type="http://schemas.openxmlformats.org/officeDocument/2006/relationships/image" Target="/ppt/media/image.png" Id="R6b8e464d995d4209" /><Relationship Type="http://schemas.openxmlformats.org/officeDocument/2006/relationships/image" Target="/ppt/media/image2.png" Id="R024b611317f24f7f" /><Relationship Type="http://schemas.openxmlformats.org/officeDocument/2006/relationships/notesSlide" Target="/ppt/notesSlides/notesSlide1.xml" Id="Rd72299ccd4ec44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0fde7f81dc4147" /><Relationship Type="http://schemas.openxmlformats.org/officeDocument/2006/relationships/image" Target="/ppt/media/image3.png" Id="R26babff208af4766" /><Relationship Type="http://schemas.openxmlformats.org/officeDocument/2006/relationships/notesSlide" Target="/ppt/notesSlides/notesSlide2.xml" Id="Ra09f2fc851ee4c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1de3559e146d3" /><Relationship Type="http://schemas.openxmlformats.org/officeDocument/2006/relationships/image" Target="/ppt/media/image4.png" Id="Reddbd011c1dc4bb2" /><Relationship Type="http://schemas.openxmlformats.org/officeDocument/2006/relationships/notesSlide" Target="/ppt/notesSlides/notesSlide3.xml" Id="Rc69faa8d09f04f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d5187f03d4daa" /><Relationship Type="http://schemas.openxmlformats.org/officeDocument/2006/relationships/image" Target="/ppt/media/image3.png" Id="R1ec81ca843394077" /><Relationship Type="http://schemas.openxmlformats.org/officeDocument/2006/relationships/notesSlide" Target="/ppt/notesSlides/notesSlide4.xml" Id="Re2d20fc6fbb34b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705fc74e754d1f" /><Relationship Type="http://schemas.openxmlformats.org/officeDocument/2006/relationships/image" Target="/ppt/media/image5.png" Id="R7bc60eecbf7f4c52" /><Relationship Type="http://schemas.openxmlformats.org/officeDocument/2006/relationships/notesSlide" Target="/ppt/notesSlides/notesSlide5.xml" Id="R68286505a5b641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7bd7f74c1345a3" /><Relationship Type="http://schemas.openxmlformats.org/officeDocument/2006/relationships/image" Target="/ppt/media/image6.png" Id="R06fa01644e4146d2" /><Relationship Type="http://schemas.openxmlformats.org/officeDocument/2006/relationships/image" Target="/ppt/media/image7.png" Id="Rc145dbd7037a47e3" /><Relationship Type="http://schemas.openxmlformats.org/officeDocument/2006/relationships/notesSlide" Target="/ppt/notesSlides/notesSlide6.xml" Id="Rdabaf9c3d1f045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dd23264e74702" /><Relationship Type="http://schemas.openxmlformats.org/officeDocument/2006/relationships/image" Target="/ppt/media/image8.png" Id="R67078038c81b4ff5" /><Relationship Type="http://schemas.openxmlformats.org/officeDocument/2006/relationships/image" Target="/ppt/media/image9.png" Id="Rf5c8a730a9de404b" /><Relationship Type="http://schemas.openxmlformats.org/officeDocument/2006/relationships/notesSlide" Target="/ppt/notesSlides/notesSlide7.xml" Id="R9432c243b92f4f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9e697da4e4c7d" /><Relationship Type="http://schemas.openxmlformats.org/officeDocument/2006/relationships/image" Target="/ppt/media/image10.png" Id="Rf57a242230564571" /><Relationship Type="http://schemas.openxmlformats.org/officeDocument/2006/relationships/notesSlide" Target="/ppt/notesSlides/notesSlide8.xml" Id="R2c6e701e6f6f49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0926cf5d14e66" /><Relationship Type="http://schemas.openxmlformats.org/officeDocument/2006/relationships/image" Target="/ppt/media/image10.png" Id="R677388795fee4bf7" /><Relationship Type="http://schemas.openxmlformats.org/officeDocument/2006/relationships/notesSlide" Target="/ppt/notesSlides/notesSlide9.xml" Id="R77bca9812a5c4a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01d6f7ead44d4" /><Relationship Type="http://schemas.openxmlformats.org/officeDocument/2006/relationships/image" Target="/ppt/media/image6.png" Id="R77aa3393b1c34646" /><Relationship Type="http://schemas.openxmlformats.org/officeDocument/2006/relationships/image" Target="/ppt/media/image7.png" Id="Rdd7261623e9044d7" /><Relationship Type="http://schemas.openxmlformats.org/officeDocument/2006/relationships/notesSlide" Target="/ppt/notesSlides/notesSlide10.xml" Id="Rfaf855d4f45e4c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e9215a89aa44a8" /><Relationship Type="http://schemas.openxmlformats.org/officeDocument/2006/relationships/image" Target="/ppt/media/image11.png" Id="Rce3a441a6b7b478b" /><Relationship Type="http://schemas.openxmlformats.org/officeDocument/2006/relationships/notesSlide" Target="/ppt/notesSlides/notesSlide11.xml" Id="R565a5cce57314e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dc68998fc4087" /><Relationship Type="http://schemas.openxmlformats.org/officeDocument/2006/relationships/image" Target="/ppt/media/image4.png" Id="Rb1e66a40f0914423" /><Relationship Type="http://schemas.openxmlformats.org/officeDocument/2006/relationships/notesSlide" Target="/ppt/notesSlides/notesSlide12.xml" Id="R59c5243a6305415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b0052ec74520" /><Relationship Type="http://schemas.openxmlformats.org/officeDocument/2006/relationships/image" Target="/ppt/media/image12.png" Id="R0da51c231ae342f4" /><Relationship Type="http://schemas.openxmlformats.org/officeDocument/2006/relationships/image" Target="/ppt/media/image13.png" Id="Rb82b0ba3ec414bd3" /><Relationship Type="http://schemas.openxmlformats.org/officeDocument/2006/relationships/notesSlide" Target="/ppt/notesSlides/notesSlide13.xml" Id="Rf956733290cb4ba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5646c12724a12" /><Relationship Type="http://schemas.openxmlformats.org/officeDocument/2006/relationships/image" Target="/ppt/media/image14.png" Id="R4013a70808764ad9" /><Relationship Type="http://schemas.openxmlformats.org/officeDocument/2006/relationships/notesSlide" Target="/ppt/notesSlides/notesSlide14.xml" Id="Rf3183eb9ab1b43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31cb8c4d1e405e" /><Relationship Type="http://schemas.openxmlformats.org/officeDocument/2006/relationships/image" Target="/ppt/media/image15.png" Id="Rf5a75415290b43dd" /><Relationship Type="http://schemas.openxmlformats.org/officeDocument/2006/relationships/notesSlide" Target="/ppt/notesSlides/notesSlide15.xml" Id="R6d7b1d319cd94e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d5d9f530476c" /><Relationship Type="http://schemas.openxmlformats.org/officeDocument/2006/relationships/image" Target="/ppt/media/image16.png" Id="R47a6f2850a3a45fe" /><Relationship Type="http://schemas.openxmlformats.org/officeDocument/2006/relationships/notesSlide" Target="/ppt/notesSlides/notesSlide16.xml" Id="R4439776b6273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b16036ad24306" /><Relationship Type="http://schemas.openxmlformats.org/officeDocument/2006/relationships/image" Target="/ppt/media/image17.png" Id="Re164f836bcad465e" /><Relationship Type="http://schemas.openxmlformats.org/officeDocument/2006/relationships/notesSlide" Target="/ppt/notesSlides/notesSlide17.xml" Id="R7a6678f3626b4b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7b36d6f434fc3" /><Relationship Type="http://schemas.openxmlformats.org/officeDocument/2006/relationships/image" Target="/ppt/media/image17.png" Id="R1c3cdbf30d42424b" /><Relationship Type="http://schemas.openxmlformats.org/officeDocument/2006/relationships/notesSlide" Target="/ppt/notesSlides/notesSlide18.xml" Id="R6b92ae11f53d44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8F5466-C2C7-4651-88CC-CAD43D6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141DD26-F233-408D-A8BE-E38F4A0E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FAF8468-8EC9-4219-AB1F-69C61F4E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D7A79C-EAFA-4E09-9C39-F1A08427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e464d995d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5D03BEF-8EE0-493C-8BAD-C7483F98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6F87B268-1561-40AE-802E-EF5C97F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20E065A-0757-4BBD-87F1-37411C74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D0BDCF98-5C93-4534-B1CD-6E84855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B86C6B5-623F-4D92-BA50-E559DEDF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8035B35-B554-4559-8366-255D9477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e464d995d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C2BFA5A-83BD-484E-A89C-1CB41B27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UKKKK 2차 발표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F820B7D-BD32-4464-BD26-0F546EEE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90194C8-BBB2-45E4-9DB3-4C05E322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C105082-997E-413F-AE34-E33FB3FA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A4622C9-7831-4A66-90D7-51C63708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9A8A16C7-E10F-4698-BB93-FFFCBDCF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A1F09F-1404-4C8E-A666-B39B9AC8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CE9AD44-E399-44FC-AFBF-CB8220B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3FB8705F-087A-45E4-B953-C9A78889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94F5969-B4C8-4D33-B15B-F6641210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C70DF73-A762-4C09-85E8-1BA534E3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7452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SEOUL · DATA-DRIVEN MATERNITY &amp; CHILDCARE POLICY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B702F7-67F4-4DE4-810C-85786A90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40280"/>
            <a:ext cx="12191695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6A05B4D2-D912-41AA-A749-8DCAA6DE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8620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수요를 책임·근거·조치로 연결하는 정책 의사결정 지원 대시보드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9BE82982-7871-4B4E-875F-FAB44481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9768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9AA3C7"/>
                </a:solidFill>
                <a:latin typeface="Calibri"/>
                <a:ea typeface="Calibri"/>
                <a:cs typeface="Calibri"/>
              </a:rPr>
              <a:t>Unified Key-Knowledge Kit for Kid · Human-in-the-loop MVP</a:t>
            </a:r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44E7ABE1-21A9-43ED-A7C8-39F3AE15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5875">
            <a:solidFill>
              <a:srgbClr val="6B6B66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FE9A7014-B0DD-4B30-A6AC-5FEF6ED0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76C0E5-89C9-41DA-B7F9-B2CAA50B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45720" cy="6035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0842DD3-1973-4B17-A992-E9C4E776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648" y="4590288"/>
            <a:ext cx="3200400" cy="6035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▶  2차 발표 시작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b611317f24f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9919" y="4703660"/>
            <a:ext cx="1121745" cy="1371600"/>
          </a:xfrm>
          <a:prstGeom xmlns:a="http://schemas.openxmlformats.org/drawingml/2006/main" prst="rect">
            <a:avLst/>
          </a:prstGeom>
        </p:spPr>
      </p:pic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8E1402FC-FAC7-4886-BC93-103EDC59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BAFF73D9-34B4-48DB-A897-C7DE6930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값은 표시하고, 결정은 사람이 합니다</a:t>
            </a:r>
          </a:p>
        </p:txBody>
      </p:sp>
      <p:pic>
        <p:nvPicPr>
          <p:cNvPr id="7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e464d995d42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91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abff208af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abff208af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페르소나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신규 정책담당 김서현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월요일 오전, 무엇부터 봐야 할까요?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상황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출산·양육 정책 담당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여러 출처와 화면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검토 우선순위 필요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필요한 지원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내 담당 범위 설정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수요·근거 확인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보고자료 작성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인물이 아닌 기능 시연용 가상 페르소나예요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abff208af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bd011c1dc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bd011c1dc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 · 검증할 문제 가설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검증할 문제 가설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데이터는 있었지만,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수요와 책임·근거·조치가 끊겨 있었습니다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실제 업무 절차와 병목은 후속 인터뷰로 검증해요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dbd011c1dc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0CEED8-6C09-4FB4-B857-9C8B4391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A0E26A1-FCB9-4863-9BA6-D7B57D23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AB58862-61DD-43B1-8B3E-62185306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94042FB-F43F-49F5-8E20-7EF1E127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81ca84339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01B6C90-B846-44F6-89CA-4A6ED2C3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35E495D-F210-4157-B098-D1CE642F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002467D-1E97-447B-B7A6-39F366A5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9E92B9-34AF-44E5-937B-FB892D8E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3CC2200-B718-4CD8-8227-E093007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18A3382-8BFF-45AB-B611-96271714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81ca84339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02E6B78-4B60-4E79-8F49-8F0EC25C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TO-BE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BC71F7-169F-4883-AB56-E90D242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B4A5B94-B0F6-4C8F-984D-D59BCA67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BB10564-D750-4CED-A9B4-19DC17A5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26B8E63-1349-48BA-B9AB-3A80B077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6A577EC-D88F-454D-9932-1FD9FC92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BDD8A20-1567-4312-B173-E62C8711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98589F-8B90-40A1-A628-5295CD8F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C3062D3-ED78-491D-89EC-D2A0ACB4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D6F6370-A145-46D0-8FFD-EDF7912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6CCE3D6-07DE-4C28-B386-2669C9BAA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E7F0B98-50CF-4A6E-9F62-F66C49F1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한 화면에서 근거와 R&amp;R까지 연결합니다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D4D1DBD-259B-46F2-9A93-E5308C10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35A22D90-1C5A-4A49-B0FA-0A9BF4F6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92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A4470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제안·민원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정책·뉴스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60403628-BFBD-4F71-ADC6-3C9A8A0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888" y="2788920"/>
            <a:ext cx="164592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0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E04BA05-B476-4166-A593-849F90E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5968" y="2788920"/>
            <a:ext cx="4343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9FE1CB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895656E-299E-48D2-8A35-D8D19BF7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560" y="2898648"/>
            <a:ext cx="4014216" cy="2066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반복 수요·Gap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후보·원문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맞춤 보고서·로그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0CB39D8C-FD8A-4221-A3F6-0773999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7E6971A-A1BD-4474-A669-165C107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후보와 근거를 연결하고 최종 결정은 사람이 해요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81ca8433940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036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15CC833-3EA2-4D0E-9EE2-5996FB71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272DE01-03D5-4A23-BEBB-12805614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9B9A54B-70BD-4828-B5DE-84A97990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AD69EF-7AC5-45B2-AE69-87CF493B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60eecbf7f4c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96B987A-AE0C-4A3B-85F8-07E796A5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B176C70-3233-415C-80D3-6E3DCC6C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CC6BF1-D951-47F3-AB45-DB80F6D4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BAF3597-ACEF-4F57-B226-55E7745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CFE2892-8A3A-4C19-B85C-047D205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B48BFE9-9371-4153-B911-1D2740B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60eecbf7f4c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1D2ACCE-6B28-4215-94C9-B19163EA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3 · 데이터 파이프라인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B426C-BEDA-4FED-81CD-876C8CB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F490C22-C6C4-4177-A899-CADCB577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8A7F2D0-2907-44B1-840F-E3463573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816E39-3779-4B7F-A3D8-EE6D107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1D42055-784D-41C1-ADCA-BB61EE72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2CEFB8EA-A676-4010-B7FC-29283F36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B14A30CC-1ECE-4DB6-8748-824D63C3E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491FC0E-8D00-4552-9736-EF5C8B47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184F77C6-48A0-417C-A08E-505C5644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8AF6AF0-29D2-418C-AC41-413CB12E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수집·정제·캐시 기반 재현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4BF1851-D08A-40C9-A4FD-4D6DBDAB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5개 출처를 공통 스키마로 연결했습니다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C2681F-4494-432A-BD64-BF3D87FD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5804E55-2BB5-4044-9441-FBCC8648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824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B9F328D4-41F8-4EA7-A6DF-1250055E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036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시민 제안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3C1FAC3-3831-49D5-8C9F-C42B92D5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CC41A71-AEFB-4357-AEC9-B3866EC2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582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87D1CE81-67D0-4D7D-83EF-91BF1C3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7452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현장 민원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1D853C0-C7A8-41FF-A61C-75392A13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61A0EE75-3CAE-44CF-82A0-A21D789C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322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D192D4A7-0FD9-407C-A59A-CFFC05B0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868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공식 정책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5E600F6B-8BC6-41D3-B121-3FDFD47B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19336E2-C495-46E1-970C-7957344B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1,145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D2EA8CB-2107-4C3F-81F8-97D718C7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284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뉴스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94B71F55-793A-4445-A30A-D16019D5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834640"/>
            <a:ext cx="19659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AFD84046-C4C8-4765-86A3-DEBA5EE5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2999232"/>
            <a:ext cx="19659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25개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CC4668A-C8FC-47C0-9DE6-3F4FBB9F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3700" y="3730752"/>
            <a:ext cx="19659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6586B18-CB6F-4F76-947D-489AA306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43400"/>
            <a:ext cx="12191695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>
                <a:solidFill>
                  <a:srgbClr val="9AA3C7"/>
                </a:solidFill>
              </a:rPr>
              <a:t>▼</a:t>
            </a:r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C7050CC4-AA16-4F15-9E55-A1DCD51D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8D6"/>
          </a:solidFill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FD1FE06-5A70-42B4-8A2F-8892DA4F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048" y="4709160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공통 스키마 → 정규화 → 8대 분류 → 문제 군집 → R&amp;R 후보</a:t>
            </a:r>
          </a:p>
        </p:txBody>
      </p:sp>
    </p:spTree>
    <p:extLst>
      <p:ext uri="{BB962C8B-B14F-4D97-AF65-F5344CB8AC3E}">
        <p14:creationId xmlns:p14="http://schemas.microsoft.com/office/powerpoint/2010/main" val="4538696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01644e41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01644e41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4 · 두 단계 담당 범위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정책 대분류 담당군 × 실제 R&amp;R 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조직명과 정책 분류를 분리해 검색 의미를 명확히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5dbd7037a47e3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전체+팀은 1·2·3순위, 대분류+팀은 1순위 주관만 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a01644e4146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28BF50D-7557-409C-A2E1-8E6DAFB8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CC8D8F4-6AF8-4CEC-8596-C6556EE9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18AC9AB-70DA-4405-BFAB-D91EC2B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916BD7-4492-4BDF-A232-14085D89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8038c81b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D0274B-0753-4D0B-804D-0EA46532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45DC19-CABD-47D2-AEB2-F655DC5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CCEC243-96DE-4E93-950A-12866952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3CFF1A22-268F-4F0D-9D1B-294DB338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843AE-E06E-45C4-AD3A-DB0FF77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E3F14FDC-14B8-49FC-B86F-CBABB26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8038c81b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BBE9741-AE91-4C2F-815F-BDA884CD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5 · 문제 군집과 Gap 진단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960E81D-1120-49C0-8572-BC2F14E8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7D5E110-381E-411C-BE5A-10ED7D0F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22097747-483F-4B76-BC8A-7912C0BF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2323332-D03F-44F1-84E6-1371968A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069A73B-5035-466D-AABB-F346DBF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CB4084D-F84D-411A-B09F-1C78ABB3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AB25D41-0F4A-4259-BEB3-87C02BA3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D55A014E-BE73-42AC-B956-9734DE9B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F0BCB530-0BA0-4AC1-9727-9673F7C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6E46C09-9414-471D-A8CC-303F93D7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전체 57개 문제 군집 · 선택 범위별 재구성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FDDC75AA-7632-44E4-8A1F-45F0163B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개별 제안을 넘어 반복되는 문제 단위로 판단합니다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1F2BB539-D185-4EB9-9261-9F2B7D1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8a730a9de404b"/>
          <a:stretch xmlns:a="http://schemas.openxmlformats.org/drawingml/2006/main"/>
        </p:blipFill>
        <p:spPr>
          <a:xfrm xmlns:a="http://schemas.openxmlformats.org/drawingml/2006/main">
            <a:off x="2922757" y="2103120"/>
            <a:ext cx="6346182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7CC6B6B6-BAEA-42CD-B4FC-C7F1B6C1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86004E55-CC3C-4FD6-B153-A6CFE30A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점수는 검토 우선순위이며 정책 결정 자체가 아니에요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078038c81b4f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412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a242230564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a242230564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6 · 8개 화면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8개 화면 · 공통 담당 범위 연동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각 화면은 다른 질문에 답하지만 선택 범위는 하나로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수요 현황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시민 목소리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긴급 민원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현행 정책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사각지대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Gap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결측·로그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페이지를 바꿔도 담당군·실제 팀 기준이 유지돼요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a2422305645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BE5180-73FC-4DCE-91D4-D6EBBC3C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90A7FB6-EE89-4028-9CB0-C4D2779A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870F790-A103-4855-A82C-F9C5164E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7A9C996-6C9D-4DB1-A241-3F0EEA1F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388795fee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9A31C8-D431-4427-AC68-1B0FAEF3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F126725-0516-465E-826C-05C0F0C1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6835C2F-4ABA-48B9-8ECD-CC0489F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5899C8AF-A655-4893-A625-545C9281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A71DBDD-E960-48B8-9984-7F10A46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D190EC8-26EE-4805-839F-F3F73852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388795fee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EE87D8F-C918-494A-8CB3-FC69C5BA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7 · End-to-End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158A1966-D186-4A76-83BE-2765C1E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390D3E-4979-46AC-B7C9-4D88BEA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33C1429F-E157-4672-BF50-3D2F102E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9D57518-4838-408F-B40F-2B9AAE74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C7A8405-5085-4340-8AC5-58E98555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47ED5A7-BE59-4FE5-BFB7-AB6182A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C5CDF375-ADC5-4ED8-B253-EA41DC1D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050379D-7D18-4401-AC2E-95FED142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3E42FE-B46A-4453-A0DE-E911A4A8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C96287D-4104-4D0F-8BFE-DD18BBC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801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발견에서 보고서까지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D344160-1E25-4C7F-A5DC-A725A146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27632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선택한 범위가 근거 검토와 후속 조치까지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66336C66-E5D0-480C-AF5F-1E5C6371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D45C03F-7930-4191-8118-376ED10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5D4080DB-92A1-4B09-9239-69F8C177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담당 범위 선택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4C4A1F-A6DE-4C62-A4CB-DFA00353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99A1A54D-31E1-4454-A944-625730A3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AEBCED9-70AB-432B-ADCA-2ED01E72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KPI·키워드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6C73ED73-D243-4B62-A291-FC395163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FD84CB2E-252C-419D-9888-F905E812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6591C5A4-05B6-4950-86F0-6B3AEF8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원문 검증</a:t>
            </a:r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6B1B259-AC06-4A51-B5EF-21ED5E11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2697480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DF9A24D-DFEE-4B49-A8C7-81571EB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2697480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971B0AB3-6BE5-473F-941D-D808CCEB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2697480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정책 대조</a:t>
            </a:r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AA4E36B6-35DC-4F76-B675-0ADF076E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28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4DDC87E-C262-4C23-9F92-45DE84E3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344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9F941046-BAB1-4C1B-A453-E9F78A66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528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민원·뉴스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CA3AF210-BACB-4725-B0A6-A8D3D00D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8952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03450745-E85E-4BC0-9C3C-5B8D0794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6968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A42484F5-2DFD-4631-9ACC-4110EB64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6152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자치구 통계</a:t>
            </a:r>
          </a:p>
        </p:txBody>
      </p:sp>
      <p:sp>
        <p:nvSpPr>
          <p:cNvPr id="44" name="Shape 40">
            <a:extLst xmlns:a="http://schemas.openxmlformats.org/drawingml/2006/main">
              <a:ext uri="{FF2B5EF4-FFF2-40B4-BE49-F238E27FC236}">
                <a16:creationId xmlns:a16="http://schemas.microsoft.com/office/drawing/2014/main" id="{98660215-2AD5-4C56-92A4-1CEBDD8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5576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CFA3B4EA-31B3-4787-93BF-A9CEB6E5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3592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B3FDA57C-48E9-4E97-AC56-E88DE9C1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776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</a:t>
            </a:r>
          </a:p>
        </p:txBody>
      </p:sp>
      <p:sp>
        <p:nvSpPr>
          <p:cNvPr id="47" name="Shape 43">
            <a:extLst xmlns:a="http://schemas.openxmlformats.org/drawingml/2006/main">
              <a:ext uri="{FF2B5EF4-FFF2-40B4-BE49-F238E27FC236}">
                <a16:creationId xmlns:a16="http://schemas.microsoft.com/office/drawing/2014/main" id="{C0E58E67-E41D-41D1-AACF-558566EB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2200" y="3557016"/>
            <a:ext cx="2487168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AA8F6199-C9C7-4B80-994B-A84AAAC9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216" y="3557016"/>
            <a:ext cx="3657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7C5CE0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20C4FE76-8C35-49CF-AD8D-6A454A0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9400" y="3557016"/>
            <a:ext cx="1938528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보고서·로그</a:t>
            </a:r>
          </a:p>
        </p:txBody>
      </p:sp>
      <p:sp>
        <p:nvSpPr>
          <p:cNvPr id="50" name="Shape 46">
            <a:extLst xmlns:a="http://schemas.openxmlformats.org/drawingml/2006/main">
              <a:ext uri="{FF2B5EF4-FFF2-40B4-BE49-F238E27FC236}">
                <a16:creationId xmlns:a16="http://schemas.microsoft.com/office/drawing/2014/main" id="{69797A59-C63E-4E7C-AADF-74F4999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230368"/>
            <a:ext cx="402336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51" name="Text 47">
            <a:extLst xmlns:a="http://schemas.openxmlformats.org/drawingml/2006/main">
              <a:ext uri="{FF2B5EF4-FFF2-40B4-BE49-F238E27FC236}">
                <a16:creationId xmlns:a16="http://schemas.microsoft.com/office/drawing/2014/main" id="{40FBBE47-D27D-470F-B9F0-A9330EBE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5230368"/>
            <a:ext cx="384048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수요 → 책임 → 근거 → 조치를 한 흐름으로 연결해요</a:t>
            </a:r>
          </a:p>
        </p:txBody>
      </p:sp>
      <p:pic>
        <p:nvPicPr>
          <p:cNvPr id="10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388795fee4b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02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547D7-2D73-4BA1-838B-EE8A1EA1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239C6C-5F3E-46D3-B33F-F5EC7067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65DAFA-C801-48F5-AA46-93255BA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D50DBF2-2376-42C2-ACAC-E992717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3393b1c3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696C270-65D4-4376-87BC-691C4988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6A7ED09-8521-4BA7-AE2F-31B6F83C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2AD32B1-C3D1-452B-8EB4-333F7F5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E0AB4A6-A26E-4A3E-BFAE-AB7F11FA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5917F6B-4C08-46F7-A104-C5710D3D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ED89CE5-F9CD-4510-826B-DBC991F9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3393b1c3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E60850B7-8227-4578-A349-04D5C69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8 · 길잡이와 보고서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8DA0427-9E9D-4655-B338-0AF3BA5A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32E76F2E-C252-4C47-A4FF-70A6EECF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2BC1127-AE2C-4977-BCF6-6453C78C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0F735D3-4F6B-47CE-B56F-B5EB6368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97AECAB-676D-48A8-B5E7-21926955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8A3703E-3888-485F-A8A4-0EE8472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6807D00-BBCC-4318-8370-96951A2D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C1228D9-5322-4BC7-B719-A3950969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2A2F794-BF4F-4103-9A29-C313ED6E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486EDD-FD68-4A70-9660-5E8B7A1E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6012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현재 화면·담당 범위에 맞춘 업무 안내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EDC52F84-59FD-4596-8F0D-DB35F4A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298448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6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대분류·실제 팀 선택이 맞춤 보고서까지 그대로 이어집니다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1B42EC0-4394-4968-B572-12066D45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8560" y="1993392"/>
            <a:ext cx="6894576" cy="36027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2340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pic>
        <p:nvPicPr>
          <p:cNvPr id="5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61623e9044d7"/>
          <a:stretch xmlns:a="http://schemas.openxmlformats.org/drawingml/2006/main"/>
        </p:blipFill>
        <p:spPr>
          <a:xfrm xmlns:a="http://schemas.openxmlformats.org/drawingml/2006/main">
            <a:off x="3613575" y="2103120"/>
            <a:ext cx="4964547" cy="3383280"/>
          </a:xfrm>
          <a:prstGeom xmlns:a="http://schemas.openxmlformats.org/drawingml/2006/main" prst="rect">
            <a:avLst/>
          </a:prstGeom>
        </p:spPr>
      </p:pic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38012B29-7953-4652-8C2B-07D9F627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C7793120-FA2B-4533-A185-E172455C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전체·대분류·팀 기준으로 수치·본문·추천 섹션을 다시 구성해요</a:t>
            </a:r>
          </a:p>
        </p:txBody>
      </p:sp>
      <p:pic>
        <p:nvPicPr>
          <p:cNvPr id="6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a3393b1c3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9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FE270FD-9BBF-4E6F-AA51-A4393ECA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FD06088-6BB1-4055-B9BB-ECB2BA8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33320FF-374C-4ABC-9C5A-8B12CBF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A2D870D-6B4B-445B-BF5D-EC6F4C9D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441a6b7b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3CC8931-2FEE-45CB-9CCB-C587AB19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A989F7B-732F-4EB6-B6DD-9C5406B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FD351D-86F8-4CBE-B1DF-5E02366D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DD54B6C-620B-42D3-BA12-393C298C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AB767FE7-EEC2-4817-BB81-314398FE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8DDA77C1-932B-4391-9332-F77DB9F0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441a6b7b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7B267C4-9D3B-4836-AEA1-D3493F58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9 · 데이터 품질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A8A2193-F52F-40F4-9971-B8D6152B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072DCED6-AEA8-4FD8-8EE5-665F353E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0E3299D-07F4-4F5B-95A6-E3040CDF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4E0611C-7F7D-47B8-936C-02C003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F01C4691-F64F-4CE4-A062-ADA0837BA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1F6E9A0-2001-4E6B-A588-F4E9574B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E76A657-DAA3-42B0-8946-3A5BB3D9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46DD0-3737-4359-9CD2-12EEDF0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06462A81-2D9D-4211-A2AB-C6D6455F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0A0FD98-A082-4105-9201-E25C993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5448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모르는 값은 모른다고 표시합니다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0EA32B8-008A-441E-9429-2784EE90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0312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804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C084A70B-5101-4ED0-A994-A1E1427C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169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0000"/>
              </a:lnSpc>
              <a:buNone/>
            </a:pPr>
            <a:r>
              <a:rPr sz="15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건 · 자치구 미상 / 시민 제안 824건</a:t>
            </a:r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8FCD1F74-BDC3-47B8-B91B-EAD48EA3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5EC"/>
          </a:solidFill>
          <a:ln xmlns:a="http://schemas.openxmlformats.org/drawingml/2006/main" w="12700">
            <a:solidFill>
              <a:srgbClr val="0FA968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1ACFA58-A759-4FFE-8E56-20D79FA0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0856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0FA968"/>
                </a:solidFill>
                <a:latin typeface="Malgun Gothic"/>
                <a:ea typeface="Malgun Gothic"/>
                <a:cs typeface="Malgun Gothic"/>
              </a:rPr>
              <a:t>본문 확인 638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A0786225-57F2-40F8-9528-1DF9B198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DFF"/>
          </a:solidFill>
          <a:ln xmlns:a="http://schemas.openxmlformats.org/drawingml/2006/main" w="12700">
            <a:solidFill>
              <a:srgbClr val="3558D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1DE7587-49AA-4B16-9575-ADF319BE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008" y="4251960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원문 확인 필요 186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FAAE6AF-2424-40AE-AFD8-0E71EF94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7C5CE0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FF7F7B57-123A-473E-A798-9DF68031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80" y="42519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자치구 확인 20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1539C9C8-C002-493B-A431-4C002B3A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92040"/>
            <a:ext cx="12191695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9AA3C7"/>
                </a:solidFill>
                <a:latin typeface="Malgun Gothic"/>
                <a:ea typeface="Malgun Gothic"/>
                <a:cs typeface="Malgun Gothic"/>
              </a:rPr>
              <a:t>판정 기준 · 상세 본문 30자 이상 / 원 데이터 지역값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6A41A804-46C5-4B98-9DE9-62E24242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4572000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D8CF3E53-9158-4BC7-BBFD-F5CFF24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438912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임의 복원하지 않고 원문과 추정 근거를 사람이 검토해요</a:t>
            </a:r>
          </a:p>
        </p:txBody>
      </p:sp>
      <p:pic>
        <p:nvPicPr>
          <p:cNvPr id="7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441a6b7b47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853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E45E7B-19F2-47E5-BB38-085F0DE7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2739D35-E8E5-4180-A93F-73FEE79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275AB19-4FC5-4C49-A20C-EF32020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B932A8-AA0B-4897-9FC4-D8B8C275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6a40f09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84BB376-A733-46AB-B6AA-8B6BE3CF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06FD7266-11DB-4A18-AEDD-37201922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D2C9D7B-08C2-40EC-B005-EEBA166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EC2200A9-F434-477E-8442-9CBBA6D6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9136510-38ED-4222-A150-78ED7205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35E3B63-462F-4A0F-B434-23339D1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6a40f09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4692A2A-E56F-4F83-B493-3C43587C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10 · 시연 과업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4E4E4B-A0C3-47DB-BAED-924D8B99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7BF0085D-9140-43E0-AA09-C3A937DC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4F6ECCD-B796-475E-8E51-17B40B7A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8B9517-9E60-448D-93CB-1DE9AA6D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7D59888B-CAE6-4135-B898-4B57B02E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447723E-F930-4775-8A91-05800938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8B1E101-E67A-4593-953E-0E821AB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589D70BD-B7B9-450A-869D-9873EBA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435574-9772-45E9-993D-910DD8C9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BA63D61-E5D6-4800-A45A-FE8F21A2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가상 페르소나 · 월요일 오전 9:10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1DE2D97F-B1C0-4FAB-BCF7-7FB39793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69748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출산·산후 초기지원에서 건강팀이</a:t>
            </a:r>
          </a:p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주관할 반복 수요를 찾아 보고자료로 넘깁니다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9BFD0D00-2008-4023-B4D0-5D497B46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36" y="5230368"/>
            <a:ext cx="453085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8141230B-A26A-42EF-91BB-78596FD1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76" y="5230368"/>
            <a:ext cx="434797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선택한 범위가 화면과 보고서까지 이어지는지 봐주세요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66a40f09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28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06ECD12-AB96-4D74-90E5-7E7C7D0B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1CBE152-BBD3-4831-9117-8C8C0325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E2405E3-A020-4109-86F0-F23F6800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E6DB040-E546-4440-B2ED-F328AD1D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51c231ae3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09B8BF-A55C-4F98-8188-79DF911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023716E-94F6-4040-87AD-823548CB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96FD638-43D9-4DE4-B2DC-70BBCFC2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347249-1800-42A0-8265-EF1DE2B8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8CA0EE0-E28C-4C3F-9B77-2BA1076C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7E108A6-AAE8-4BE3-8DCC-06BE72D7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51c231ae3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5B05D8A7-485B-4AF2-A0AD-6A821B71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11 · 라이브 데모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B822EBF-A04F-4394-9E1C-95073A4F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4586BFA-AD56-4CAC-940D-64CD3B14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9AFDF8C-9BE9-403D-BAB3-243A2FC2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781CD298-0988-4BE5-817F-6C2A19B8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E822D95-1971-4458-B78F-67AEEC6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C32D499-24E4-4F72-8298-0ED29E86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3211111-4B11-4AE3-972E-034D4A17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811E73DA-0819-4FC6-A580-8638FB3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4999D27-9CA1-47A8-A3CF-2A6B573A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7641F6A-FFD6-442F-870E-707765B6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90초 라이브 시연 · 담당 범위가 끝까지 이어지는가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9E5130D6-378C-4A87-8F5E-88D56B9A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A8669F19-2AC1-46BF-A506-9354D33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912C5E9-BC62-4ECB-949D-4D615066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8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대분류 87건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CF97DEEE-B82C-4E21-BF3D-71547D70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74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BA70C37-12ED-42E4-87A2-7E407E54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0CFF4F3-C8AE-43CC-8BBD-D7CA58AC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A188AFD-4A76-4220-9EE4-B130227E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10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건강팀 68건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028D1208-5BB3-4FA2-BC95-AD583AD5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66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2388ADD3-D25D-41B6-A945-A5E816C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1EAA4E86-66C1-4BB0-92BE-03323680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6C1AC0FB-F81B-4924-83B6-010BB8AA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302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Gap·R&amp;R 검증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822EAAEC-BC76-4B41-B33E-28426F20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7588" y="2743200"/>
            <a:ext cx="594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9B64CD6F-2F23-4534-B851-84ECA2B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743200"/>
            <a:ext cx="219456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E6B5922A-EFED-4633-A413-5BCCFCEC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29260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4A8AFD9-6C79-4C72-9BE8-A8B0265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948" y="349300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보고서·CSV</a:t>
            </a:r>
          </a:p>
        </p:txBody>
      </p:sp>
      <p:pic>
        <p:nvPicPr>
          <p:cNvPr id="8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b0ba3ec414b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64523" y="2929116"/>
            <a:ext cx="934787" cy="1143000"/>
          </a:xfrm>
          <a:prstGeom xmlns:a="http://schemas.openxmlformats.org/drawingml/2006/main" prst="rect">
            <a:avLst/>
          </a:prstGeom>
        </p:spPr>
      </p:pic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A47B8172-3078-4FB2-B82E-10B6E24FD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364" y="5230368"/>
            <a:ext cx="4192524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A264E091-E010-4775-BE5D-6FD46DAC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804" y="5230368"/>
            <a:ext cx="4009644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시민 목소리·Gap·긴급 민원·새싹이·보고서가 같은 범위로 연동돼요</a:t>
            </a:r>
          </a:p>
        </p:txBody>
      </p:sp>
      <p:pic>
        <p:nvPicPr>
          <p:cNvPr id="8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51c231ae342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443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824A226-81DA-4B8B-A57B-51EDDC08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0521AB-35F6-4E12-8A90-B438B90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BB8732A-8C57-494E-8C21-7F145B73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AF0182-4139-4003-AF33-8A739FE7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3a7080876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EBC46CB-C98E-423E-BD61-10B9F46B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911FC47-7304-4D83-89A9-887D633A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A65865C0-054B-4AD3-8FB6-8B840962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319D760-DFE4-4E75-AB7C-F1373365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786B291-C783-4BE2-8545-F9B277C2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958BE32-FF96-482B-B174-7078A425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3a7080876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85BF17D2-C0DF-40A9-AF0D-440FF30C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12 · 검증 상태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A27E8ED-FF96-4171-B8FA-8AB2D43A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17D42B7E-1FBE-4421-A60A-B3DBC3E2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6ED95D05-EB64-46FA-A35A-10126ED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32C329-2F10-44A4-B5AD-91E3F601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ADEEEF6D-1716-4662-BC99-FDCC347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1E6B0EB-8C1A-44E9-915C-97B810C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AA7EF3ED-0CFA-446B-B9FC-BF1AAE30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DC3FE-FFAA-4FBF-A2CD-3519DED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D2C509BE-45C6-447D-AA73-CED434BA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B86BF7CC-A6EF-45D9-974F-9049E3F3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확인된 기능과 후속 검증을 분리합니다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23CDB5E-0AEE-46EB-A209-FAD18FD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동작 확인 ≠ 업무 효과 검증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079665CA-868A-458B-841F-937D06BF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4470"/>
          </a:solidFill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23100A9E-50FF-4ABB-94AC-D5D5C8EC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528" y="2651760"/>
            <a:ext cx="1463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확인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E8F3B317-C6DB-46F3-AF23-7571D1CE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12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정합성·필터·8개 화면·빌드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4D707B2E-9A7F-4B74-AD89-FB3B250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128" y="4379976"/>
            <a:ext cx="146304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7D00"/>
          </a:solidFill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1D83D95B-3AF3-4647-9EC4-C9F9A3EB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3877056"/>
            <a:ext cx="2011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검증 예정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D5B23402-4D9D-4292-8784-39623B33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4818888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시간·오류·수정률·수용률·만족도</a:t>
            </a:r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2EEBB172-0C30-449D-87CB-56C230A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048" y="5230368"/>
            <a:ext cx="3515868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CD1CDBF3-43FD-4286-BEAB-56444709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5230368"/>
            <a:ext cx="3332988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같은 과업을 기존 방식과 UKKKK 방식으로 비교할게요</a:t>
            </a:r>
          </a:p>
        </p:txBody>
      </p:sp>
      <p:pic>
        <p:nvPicPr>
          <p:cNvPr id="6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3a70808764a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246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83A23B-6CBF-4357-9EB6-66EDFF9A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32989B-6775-4EE6-9996-358BCE65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24F4317-47AD-439F-8D98-507FCD63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C2F8E4C-04FF-494A-8DFF-38E4DC77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75415290b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7989151-D089-42B5-823F-FC9C781E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5322039B-6325-4749-8A42-9035B26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348E33-EC9A-415F-AB76-34A8A4A3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953B3AC0-0CB5-4D8A-AFE7-CB244198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4880495-E371-4724-ABE5-A33E21E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0FB16EC-B345-404A-84AD-BE41D9E4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75415290b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1CC91B5-1331-448E-8AC9-8B88A251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13 · 운영화 로드맵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39F7189-DFED-4462-AFD0-C15F12C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29B984D0-B90B-4CE5-878E-A3BBEB80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C2B7829-4A8C-4773-8698-7143A9BB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B8AF3681-D958-479E-B152-8E223923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845BB062-7B5C-47FD-83F7-84F6B9AD8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821E32F5-5E6C-46A8-B404-117EA852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25E78B0-C233-4BA9-88CD-A1D7016F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44B986D-59E9-4B1C-B036-55F2AD85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E906970B-5D54-4B59-9D24-D5763ED4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88BE74F7-289A-4D11-882E-1E23A5B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데모에서 운영형 의사결정 도구로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50915ED-B553-4D2B-A859-B3C6811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3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운영화 → 행정 검증 → 서비스 안정화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8C44740-196A-473A-B254-26B0259C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48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C"/>
          </a:solidFill>
          <a:ln xmlns:a="http://schemas.openxmlformats.org/drawingml/2006/main" w="12700">
            <a:solidFill>
              <a:srgbClr val="D4DAF0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39C4094-11A6-4B42-BB96-7D62B0C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8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3558D6"/>
                </a:solidFill>
                <a:latin typeface="Malgun Gothic"/>
                <a:ea typeface="Malgun Gothic"/>
                <a:cs typeface="Malgun Gothic"/>
              </a:rPr>
              <a:t>STEP 1·2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정기 수집·버전·출처 관리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R&amp;R 정답셋·담당자 피드백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원문 확보·복원 성능 측정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40EC00BA-61F4-4A21-89FC-7C26026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048" y="2788920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C77D00"/>
                </a:solidFill>
              </a:rPr>
              <a:t>➜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099588D5-E2C9-4C72-8EFB-A632069F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808" y="2788920"/>
            <a:ext cx="434340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BFB"/>
          </a:solidFill>
          <a:ln xmlns:a="http://schemas.openxmlformats.org/drawingml/2006/main" w="12700">
            <a:solidFill>
              <a:srgbClr val="CECBF6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F40A2A66-532F-4072-8C44-FD589FE2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400" y="2898648"/>
            <a:ext cx="4014216" cy="19751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Aft>
                <a:spcPts val="1000"/>
              </a:spcAft>
              <a:buNone/>
            </a:pPr>
            <a:r>
              <a:rPr sz="19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STEP 3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API·DB 분리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권한·감사로그·개인정보 보호</a:t>
            </a:r>
          </a:p>
          <a:p xmlns:a="http://schemas.openxmlformats.org/drawingml/2006/main">
            <a:pPr marL="0" indent="0" algn="ctr">
              <a:lnSpc>
                <a:spcPct val="130000"/>
              </a:lnSpc>
              <a:buNone/>
            </a:pPr>
            <a:r>
              <a:rPr sz="1700">
                <a:solidFill>
                  <a:srgbClr val="5C6684"/>
                </a:solidFill>
                <a:latin typeface="Malgun Gothic"/>
                <a:ea typeface="Malgun Gothic"/>
                <a:cs typeface="Malgun Gothic"/>
              </a:rPr>
              <a:t>네이티브 PDF·HWP 생성</a:t>
            </a:r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B1263E1A-04A4-4352-94F8-9F854F07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856" y="5230368"/>
            <a:ext cx="3685032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31E3BF5C-1E2F-4E40-B708-F320995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5230368"/>
            <a:ext cx="3502152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정확도와 운영 책임을 먼저 검증한 뒤 확장할게요</a:t>
            </a:r>
          </a:p>
        </p:txBody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75415290b43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4803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5B66D27-151B-4DAF-B199-3BF2D6BB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9DA734-24B5-416B-BB48-18673CF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2C370F-CC34-4AA2-9DD2-52AE98B7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269540-49D9-4D42-8197-82A9AD9F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f2850a3a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24DA868-25DA-4630-ACCF-47131EA1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8BADE83A-0832-41ED-B7EE-F90F9910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F2A4AF9-9912-4CBC-9BBA-56424EB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7922247-85AF-4536-9855-F1E06B4E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4E57A53-7A79-4323-8B8D-EDC5E601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77A0214-A504-4F92-85EF-139DCA098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4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f2850a3a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567D311-1AAD-417E-A9D3-6C8B2A17F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14 · 결론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AA6D9EE-D1A0-4F5E-A117-5B34988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3F891C4-E14A-45BF-B66C-CB78B0C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9FD5232F-3FB5-43C7-B2FD-EBD1D23A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82EAA86E-C256-4022-B2DD-058A1B38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3D77F82-1DBD-4F20-A67F-49637D8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52F23F-B94E-4180-9422-949829EB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4C899714-9371-48DA-B099-6BCC5D8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41775D4-2FE8-437B-A175-8EE99E8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D635C84-1537-453F-9776-F1EC9CB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17236B1B-8B40-434D-B862-EB793CA3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1695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0" b="1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수요 → 책임 → 근거 → 조치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C6A9FE3-7AE5-468A-82F5-CD8D7C82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94760"/>
            <a:ext cx="1219169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더 많은 데이터를 보여주는 것이 아니라, 담당자가 다음 행동을 더 정확히 선택하게 합니다</a:t>
            </a:r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319391D7-EFBA-4727-8DF3-F2E8ADFB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5512" y="5230368"/>
            <a:ext cx="3008376" cy="67665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BE6"/>
          </a:solidFill>
          <a:ln xmlns:a="http://schemas.openxmlformats.org/drawingml/2006/main" w="22225">
            <a:solidFill>
              <a:srgbClr val="111111"/>
            </a:solidFill>
            <a:prstDash val="solid"/>
          </a:ln>
          <a:effectLst xmlns:a="http://schemas.openxmlformats.org/drawingml/2006/main">
            <a:outerShdw blurRad="25400" dist="25400" dir="5400000" sx="100000" sy="100000" kx="0" ky="0" algn="bl" rotWithShape="0">
              <a:srgbClr val="444444">
                <a:alpha val="35000"/>
              </a:srgbClr>
            </a:outerShdw>
          </a:effectLst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E59429E-D8EA-43F6-8179-488C32E5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5230368"/>
            <a:ext cx="2825496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A2340"/>
                </a:solidFill>
                <a:latin typeface="Malgun Gothic"/>
                <a:ea typeface="Malgun Gothic"/>
                <a:cs typeface="Malgun Gothic"/>
              </a:rPr>
              <a:t>모르는 것은 표시하고, 근거는 연결하며, 결정은 사람이 합니다</a:t>
            </a:r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6f2850a3a45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88168" y="5029200"/>
            <a:ext cx="1005840" cy="10058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024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4f836bcad46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4f836bcad46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A · 데이터·모델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DATA &amp; MODEL · 재현성과 한계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통합 스키마와 분석 결과 정의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입력 피처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건수·공감·댓글·답변·날짜·본문·지역·정책/뉴스/통계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분류·군집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8대 대분류→중·소분류 / 전체 57개 문제 군집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Gap 결과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수요·공백·시급성·실행성·근거 신뢰도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R&amp;R 결과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실제 업무분장 기반 주관 1순위·협조 2·3순위 후보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최종 결정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담당자가 원문과 근거를 대조해 수정·승인·반려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후속 검증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군집 안정성·R&amp;R 수용률·임계값 민감도·보고서 수정률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E807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5456CDC-DB89-4717-8375-7C6E46AF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BA56DE2-54C6-4C69-8382-2730E121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1695" cy="320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C96557E-8967-4DE1-BDE3-FD51B6F1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12700">
            <a:solidFill>
              <a:srgbClr val="6B6B66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F658C7C-1AAC-435D-8845-AAE2D5BD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" y="6483096"/>
            <a:ext cx="105156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cdbf30d42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168" y="6510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2582327-9CD4-4017-ADDF-A1465880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3096"/>
            <a:ext cx="6858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AD45906-AACC-465A-9973-69AA1D25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6C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2980519-33C0-4975-AAFE-3D5FC6C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1360" y="6492240"/>
            <a:ext cx="11704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1B2340"/>
                </a:solidFill>
                <a:latin typeface="Calibri"/>
                <a:ea typeface="Calibri"/>
                <a:cs typeface="Calibri"/>
              </a:rPr>
              <a:t>UKKKK.exe</a:t>
            </a: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4F556BF4-7389-4B72-B8A0-EEA16F5B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59984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1B2340"/>
            </a:solidFill>
            <a:prstDash val="solid"/>
          </a:ln>
          <a:effectLst xmlns:a="http://schemas.openxmlformats.org/drawingml/2006/main">
            <a:outerShdw blurRad="88900" dist="50800" dir="5400000" sx="100000" sy="100000" kx="0" ky="0" algn="bl" rotWithShape="0">
              <a:srgbClr val="05433D">
                <a:alpha val="40000"/>
              </a:srgbClr>
            </a:outerShdw>
          </a:effectLst>
        </p:spPr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544330-6ACC-4366-BA70-7EE2C3AC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" y="246888"/>
            <a:ext cx="11512296" cy="228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CDFA4A4-EAAF-4F6C-BF39-23413A8D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219456"/>
            <a:ext cx="1156716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4ABF"/>
          </a:solidFill>
        </p:spPr>
      </p:sp>
      <p:pic>
        <p:nvPicPr>
          <p:cNvPr id="6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3cdbf30d42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912" y="2926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5FAA8C-5B1E-4F74-A576-8FDAFD5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9456"/>
            <a:ext cx="9326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새싹이 오피스 길잡이   —   APPENDIX B · 산출물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B2B36C4-BE5F-45EB-9F39-24BD651C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A8C62F1D-58EC-47AC-A345-ABD72695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1529D3-D072-4EAE-ADDC-C81ECB9C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3928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_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517BE0B-2727-4F1D-8618-0EF687DB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E9448854-F798-4B3E-A9E4-E1B29F7C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615693E6-2F73-4646-9020-65BED9C9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4824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❑</a:t>
            </a:r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94549DF-8F8D-4CE4-A6EE-ABF7B88A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6BE"/>
          </a:solidFill>
          <a:ln xmlns:a="http://schemas.openxmlformats.org/drawingml/2006/main" w="9525">
            <a:solidFill>
              <a:srgbClr val="6B6B66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B64A99AC-2318-4249-9D2B-AA1BA87E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A"/>
          </a:solidFill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2157A890-0F8F-4BF5-910D-411B174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5720" y="320040"/>
            <a:ext cx="265176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1B2340"/>
                </a:solidFill>
              </a:rPr>
              <a:t>✕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8D5F0E6-1A37-44B2-AC43-1CA1737B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51560"/>
            <a:ext cx="12191695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7C5CE0"/>
                </a:solidFill>
                <a:latin typeface="Malgun Gothic"/>
                <a:ea typeface="Malgun Gothic"/>
                <a:cs typeface="Malgun Gothic"/>
              </a:rPr>
              <a:t>DELIVERABLES · 실제 파일 기준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7C26C48-FFE7-47F9-93F5-A8CFCF15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71600"/>
            <a:ext cx="11091672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8000"/>
              </a:lnSpc>
              <a:buNone/>
            </a:pPr>
            <a:r>
              <a:rPr sz="2800" b="1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로드맵 요구사항과 확인 가능한 산출물</a:t>
            </a:r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7B2C155C-D545-470D-B1E0-3568845A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51460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4C2E2DA-9F42-420B-BEA0-6BE31AC5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51460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시스템 기획·PRD</a:t>
            </a:r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A46BE384-2EEA-48F0-A853-9E9A2A7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docs/SYSTEM_DESIGN_PRD.md</a:t>
            </a:r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55F7B87E-D265-48EB-AFC7-4844AC3C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0837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4AD37972-35E0-421B-B4E2-375A1F97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81528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7D04B64D-2AAA-41D2-A0C7-D35BA2DA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81528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데이터분석 정의서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C720B9B3-DAC6-44EA-A498-EDBDDD69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81528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docs/데이터분석정의서.md</a:t>
            </a:r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DC6DCB87-0749-4BDD-9D8C-DB067BAAE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75304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7F80AE9D-D0DB-4A92-B682-91EE5087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48456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70739ED0-CED6-416A-844B-B4EE7CE7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648456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발표 대본·시연</a:t>
            </a:r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9DC5FB55-0795-483C-8338-BC310EB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456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docs/발표자료/발표_대본_PPT구성_ver2.md</a:t>
            </a:r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56A17034-3FDE-4D00-8636-F092A26C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42232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BE12A197-64D3-4D68-8823-9332CD2B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215384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FE126BFF-B00F-4FD1-8637-ADACF82D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215384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프론트엔드</a:t>
            </a:r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29C6F7C8-3F94-49B1-93AE-17770F03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5384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React·TypeScript·Vite / frontend/src/App.tsx</a:t>
            </a:r>
          </a:p>
        </p:txBody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ECC18854-3364-48FF-937E-E2F67957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09160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F0B13506-7511-445C-BFD6-3FF73FE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782312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7AEB1C1-40E0-4AEB-9361-A156B935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782312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데이터 검사</a:t>
            </a:r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843397BE-3419-4860-A8AF-18F66952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82312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Python 동기화·정합성 검사 스크립트</a:t>
            </a:r>
          </a:p>
        </p:txBody>
      </p:sp>
      <p:sp>
        <p:nvSpPr>
          <p:cNvPr id="45" name="Shape 41">
            <a:extLst xmlns:a="http://schemas.openxmlformats.org/drawingml/2006/main">
              <a:ext uri="{FF2B5EF4-FFF2-40B4-BE49-F238E27FC236}">
                <a16:creationId xmlns:a16="http://schemas.microsoft.com/office/drawing/2014/main" id="{72462C4C-B015-41EB-AECE-548374F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276088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CC917FD3-6836-418B-B99C-E34649A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349240"/>
            <a:ext cx="457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C77D0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BCDE62F1-DB64-4722-89A9-C04B0146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349240"/>
            <a:ext cx="42062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B2340"/>
                </a:solidFill>
                <a:latin typeface="Malgun Gothic"/>
                <a:ea typeface="Malgun Gothic"/>
                <a:cs typeface="Malgun Gothic"/>
              </a:rPr>
              <a:t>배포·생성형 AI</a:t>
            </a:r>
          </a:p>
        </p:txBody>
      </p:sp>
      <p:sp>
        <p:nvSpPr>
          <p:cNvPr id="48" name="Text 44">
            <a:extLst xmlns:a="http://schemas.openxmlformats.org/drawingml/2006/main">
              <a:ext uri="{FF2B5EF4-FFF2-40B4-BE49-F238E27FC236}">
                <a16:creationId xmlns:a16="http://schemas.microsoft.com/office/drawing/2014/main" id="{4AFA8B1B-16F1-411A-9B3C-13E13BFC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349240"/>
            <a:ext cx="50292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3558D6"/>
                </a:solidFill>
                <a:latin typeface="Calibri"/>
                <a:ea typeface="Calibri"/>
                <a:cs typeface="Calibri"/>
              </a:rPr>
              <a:t>Vercel / Gemini 초안 + 템플릿 Fallback</a:t>
            </a:r>
          </a:p>
        </p:txBody>
      </p:sp>
      <p:sp>
        <p:nvSpPr>
          <p:cNvPr id="49" name="Shape 45">
            <a:extLst xmlns:a="http://schemas.openxmlformats.org/drawingml/2006/main">
              <a:ext uri="{FF2B5EF4-FFF2-40B4-BE49-F238E27FC236}">
                <a16:creationId xmlns:a16="http://schemas.microsoft.com/office/drawing/2014/main" id="{2A15DDA8-B758-4E13-9269-2B33E195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843016"/>
            <a:ext cx="97840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AF0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910093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2026-07-25T12:25:30.7910000Z</dcterms:created>
  <dcterms:modified xsi:type="dcterms:W3CDTF">2026-07-25T12:25:30.7910000Z</dcterms:modified>
</coreProperties>
</file>