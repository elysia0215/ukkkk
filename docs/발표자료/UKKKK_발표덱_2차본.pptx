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b01027b75c496d" /><Relationship Type="http://schemas.openxmlformats.org/officeDocument/2006/relationships/extended-properties" Target="/docProps/app.xml" Id="R9a126c4e261246bc" /><Relationship Type="http://schemas.openxmlformats.org/officeDocument/2006/relationships/officeDocument" Target="/ppt/presentation.xml" Id="R52a4ea913aa04ea4" /></Relationships>
</file>

<file path=ppt/presentation.xml><?xml version="1.0" encoding="utf-8"?>
<p:presentation xmlns:p="http://schemas.openxmlformats.org/presentationml/2006/main">
  <p:sldMasterIdLst>
    <p:sldMasterId xmlns:r="http://schemas.openxmlformats.org/officeDocument/2006/relationships" id="2147483648" r:id="R53e01412e1814713"/>
  </p:sldMasterIdLst>
  <p:notesMasterIdLst>
    <p:notesMasterId xmlns:r="http://schemas.openxmlformats.org/officeDocument/2006/relationships" r:id="R9b027b0acf314911"/>
  </p:notesMasterIdLst>
  <p:sldIdLst>
    <p:sldId xmlns:r="http://schemas.openxmlformats.org/officeDocument/2006/relationships" id="256" r:id="R7f25f2041ff9469a"/>
    <p:sldId xmlns:r="http://schemas.openxmlformats.org/officeDocument/2006/relationships" id="257" r:id="R00d19a062c984666"/>
    <p:sldId xmlns:r="http://schemas.openxmlformats.org/officeDocument/2006/relationships" id="258" r:id="R76648b9a6be04b0a"/>
    <p:sldId xmlns:r="http://schemas.openxmlformats.org/officeDocument/2006/relationships" id="259" r:id="Reef29c8daa5e4a4c"/>
    <p:sldId xmlns:r="http://schemas.openxmlformats.org/officeDocument/2006/relationships" id="260" r:id="R50b1eaba5aab4718"/>
    <p:sldId xmlns:r="http://schemas.openxmlformats.org/officeDocument/2006/relationships" id="261" r:id="R3224ee94c1824593"/>
    <p:sldId xmlns:r="http://schemas.openxmlformats.org/officeDocument/2006/relationships" id="262" r:id="Rda6ec3e6175d4824"/>
    <p:sldId xmlns:r="http://schemas.openxmlformats.org/officeDocument/2006/relationships" id="263" r:id="R106fa7c9e2e6453e"/>
    <p:sldId xmlns:r="http://schemas.openxmlformats.org/officeDocument/2006/relationships" id="264" r:id="Rfddee875d4484130"/>
    <p:sldId xmlns:r="http://schemas.openxmlformats.org/officeDocument/2006/relationships" id="265" r:id="R045b270cfeca4c85"/>
    <p:sldId xmlns:r="http://schemas.openxmlformats.org/officeDocument/2006/relationships" id="266" r:id="R151369a2d5314924"/>
    <p:sldId xmlns:r="http://schemas.openxmlformats.org/officeDocument/2006/relationships" id="267" r:id="Rc2181c28ec7b419a"/>
    <p:sldId xmlns:r="http://schemas.openxmlformats.org/officeDocument/2006/relationships" id="268" r:id="R2ac5fefa180b4058"/>
    <p:sldId xmlns:r="http://schemas.openxmlformats.org/officeDocument/2006/relationships" id="269" r:id="Rec19e25342124a2a"/>
    <p:sldId xmlns:r="http://schemas.openxmlformats.org/officeDocument/2006/relationships" id="270" r:id="R71b2708348694b89"/>
    <p:sldId xmlns:r="http://schemas.openxmlformats.org/officeDocument/2006/relationships" id="271" r:id="R706f430ee3074fdd"/>
    <p:sldId xmlns:r="http://schemas.openxmlformats.org/officeDocument/2006/relationships" id="272" r:id="Rffb4d0a731bb4279"/>
    <p:sldId xmlns:r="http://schemas.openxmlformats.org/officeDocument/2006/relationships" id="273" r:id="R329bd15b40fe4ee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36180d0c6ec4764" /><Relationship Type="http://schemas.openxmlformats.org/officeDocument/2006/relationships/slideMaster" Target="/ppt/slideMasters/slideMaster1.xml" Id="R53e01412e1814713" /><Relationship Type="http://schemas.openxmlformats.org/officeDocument/2006/relationships/notesMaster" Target="/ppt/notesMasters/notesMaster1.xml" Id="R9b027b0acf314911" /><Relationship Type="http://schemas.openxmlformats.org/officeDocument/2006/relationships/presProps" Target="/ppt/presProps.xml" Id="Ra628d0e563a0421c" /><Relationship Type="http://schemas.openxmlformats.org/officeDocument/2006/relationships/viewProps" Target="/ppt/viewProps.xml" Id="R7e889990401743d5" /><Relationship Type="http://schemas.openxmlformats.org/officeDocument/2006/relationships/tableStyles" Target="/ppt/tableStyles.xml" Id="Rc6a47ab3bd4e4309" /><Relationship Type="http://schemas.openxmlformats.org/officeDocument/2006/relationships/slide" Target="/ppt/slides/slide1.xml" Id="R7f25f2041ff9469a" /><Relationship Type="http://schemas.openxmlformats.org/officeDocument/2006/relationships/slide" Target="/ppt/slides/slide2.xml" Id="R00d19a062c984666" /><Relationship Type="http://schemas.openxmlformats.org/officeDocument/2006/relationships/slide" Target="/ppt/slides/slide3.xml" Id="R76648b9a6be04b0a" /><Relationship Type="http://schemas.openxmlformats.org/officeDocument/2006/relationships/slide" Target="/ppt/slides/slide4.xml" Id="Reef29c8daa5e4a4c" /><Relationship Type="http://schemas.openxmlformats.org/officeDocument/2006/relationships/slide" Target="/ppt/slides/slide5.xml" Id="R50b1eaba5aab4718" /><Relationship Type="http://schemas.openxmlformats.org/officeDocument/2006/relationships/slide" Target="/ppt/slides/slide6.xml" Id="R3224ee94c1824593" /><Relationship Type="http://schemas.openxmlformats.org/officeDocument/2006/relationships/slide" Target="/ppt/slides/slide7.xml" Id="Rda6ec3e6175d4824" /><Relationship Type="http://schemas.openxmlformats.org/officeDocument/2006/relationships/slide" Target="/ppt/slides/slide8.xml" Id="R106fa7c9e2e6453e" /><Relationship Type="http://schemas.openxmlformats.org/officeDocument/2006/relationships/slide" Target="/ppt/slides/slide9.xml" Id="Rfddee875d4484130" /><Relationship Type="http://schemas.openxmlformats.org/officeDocument/2006/relationships/slide" Target="/ppt/slides/slide10.xml" Id="R045b270cfeca4c85" /><Relationship Type="http://schemas.openxmlformats.org/officeDocument/2006/relationships/slide" Target="/ppt/slides/slide11.xml" Id="R151369a2d5314924" /><Relationship Type="http://schemas.openxmlformats.org/officeDocument/2006/relationships/slide" Target="/ppt/slides/slide12.xml" Id="Rc2181c28ec7b419a" /><Relationship Type="http://schemas.openxmlformats.org/officeDocument/2006/relationships/slide" Target="/ppt/slides/slide13.xml" Id="R2ac5fefa180b4058" /><Relationship Type="http://schemas.openxmlformats.org/officeDocument/2006/relationships/slide" Target="/ppt/slides/slide14.xml" Id="Rec19e25342124a2a" /><Relationship Type="http://schemas.openxmlformats.org/officeDocument/2006/relationships/slide" Target="/ppt/slides/slide15.xml" Id="R71b2708348694b89" /><Relationship Type="http://schemas.openxmlformats.org/officeDocument/2006/relationships/slide" Target="/ppt/slides/slide16.xml" Id="R706f430ee3074fdd" /><Relationship Type="http://schemas.openxmlformats.org/officeDocument/2006/relationships/slide" Target="/ppt/slides/slide17.xml" Id="Rffb4d0a731bb4279" /><Relationship Type="http://schemas.openxmlformats.org/officeDocument/2006/relationships/slide" Target="/ppt/slides/slide18.xml" Id="R329bd15b40fe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b9ee98233540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5d85a505b34830" /><Relationship Type="http://schemas.openxmlformats.org/officeDocument/2006/relationships/notesMaster" Target="/ppt/notesMasters/notesMaster1.xml" Id="Rf6544f3a0cc34f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9cb264752d4877" /><Relationship Type="http://schemas.openxmlformats.org/officeDocument/2006/relationships/notesMaster" Target="/ppt/notesMasters/notesMaster1.xml" Id="R1a1cb4f6424147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bfa580cd1d4d07" /><Relationship Type="http://schemas.openxmlformats.org/officeDocument/2006/relationships/notesMaster" Target="/ppt/notesMasters/notesMaster1.xml" Id="R6f398a8bc1f943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e99878a6864fe8" /><Relationship Type="http://schemas.openxmlformats.org/officeDocument/2006/relationships/notesMaster" Target="/ppt/notesMasters/notesMaster1.xml" Id="R9090a42242cb46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b31e0f83c04c1c" /><Relationship Type="http://schemas.openxmlformats.org/officeDocument/2006/relationships/notesMaster" Target="/ppt/notesMasters/notesMaster1.xml" Id="Rea7ebe274d0d43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833fefed334682" /><Relationship Type="http://schemas.openxmlformats.org/officeDocument/2006/relationships/notesMaster" Target="/ppt/notesMasters/notesMaster1.xml" Id="Rceea29dd14cd4c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6a1a9050174ced" /><Relationship Type="http://schemas.openxmlformats.org/officeDocument/2006/relationships/notesMaster" Target="/ppt/notesMasters/notesMaster1.xml" Id="R4541a55d073e4e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af27246cb64e4d" /><Relationship Type="http://schemas.openxmlformats.org/officeDocument/2006/relationships/notesMaster" Target="/ppt/notesMasters/notesMaster1.xml" Id="Ra2eb8d15cacf40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61f538b6c64fea" /><Relationship Type="http://schemas.openxmlformats.org/officeDocument/2006/relationships/notesMaster" Target="/ppt/notesMasters/notesMaster1.xml" Id="Rf5502d398a284d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9a1c3c94fd46bc" /><Relationship Type="http://schemas.openxmlformats.org/officeDocument/2006/relationships/notesMaster" Target="/ppt/notesMasters/notesMaster1.xml" Id="R53eedff5c02248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2e6655eb024611" /><Relationship Type="http://schemas.openxmlformats.org/officeDocument/2006/relationships/notesMaster" Target="/ppt/notesMasters/notesMaster1.xml" Id="Re5b66089fbc049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f060aecd9a4777" /><Relationship Type="http://schemas.openxmlformats.org/officeDocument/2006/relationships/notesMaster" Target="/ppt/notesMasters/notesMaster1.xml" Id="Re108057111874c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be2c8be13d4286" /><Relationship Type="http://schemas.openxmlformats.org/officeDocument/2006/relationships/notesMaster" Target="/ppt/notesMasters/notesMaster1.xml" Id="R2b32574cc78148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5005cc2ae044c6" /><Relationship Type="http://schemas.openxmlformats.org/officeDocument/2006/relationships/notesMaster" Target="/ppt/notesMasters/notesMaster1.xml" Id="Ra3e201ad389842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519a23e7e74016" /><Relationship Type="http://schemas.openxmlformats.org/officeDocument/2006/relationships/notesMaster" Target="/ppt/notesMasters/notesMaster1.xml" Id="R027b868c380d4e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c3a2cbaebf4259" /><Relationship Type="http://schemas.openxmlformats.org/officeDocument/2006/relationships/notesMaster" Target="/ppt/notesMasters/notesMaster1.xml" Id="R2ab986a9a5ed42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756e7dabc94858" /><Relationship Type="http://schemas.openxmlformats.org/officeDocument/2006/relationships/notesMaster" Target="/ppt/notesMasters/notesMaster1.xml" Id="R8a7109454dfc44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a9f062e90a46d6" /><Relationship Type="http://schemas.openxmlformats.org/officeDocument/2006/relationships/notesMaster" Target="/ppt/notesMasters/notesMaster1.xml" Id="Reabbd0df6d1d4d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시민 제안에서 검토 대상과 담당 후보, 판단 근거를 연결하는 과정에 탐색 부담이 있을 수 있다는 문제 가설에서 출발했습니다. UKKKK는 수요를 책임과 근거, 다음 조치로 연결하는 Human-in-the-loop 정책 의사결정 지원 MVP입니다.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공무원의 확정된 업무 절차라고 단정하지 않습니다. 제안 탐색, 담당 후보 확인, 기존 정책 대조, 보고서 작성 사이에 연결 부담이 있을 수 있다는 제품 가설이며 후속 실무자 인터뷰와 과업 테스트로 검증합니다.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김서현 주무관은 시연을 위해 만든 가상 페르소나입니다. 자동화가 결정을 대신하는 것이 아니라 검증 가능한 후보와 근거를 한곳에 모아 탐색과 대조를 지원하는 것이 목표입니다.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시민 제안 824건, 국민신문고 582건, 공식 정책 322건, 뉴스 1,145건, 25개 자치구 통계를 결합했습니다. 현재 데모는 발표 순간 새로 수집하는 실시간 API가 아니라 미리 수집·정제한 캐시 데이터로 안정적으로 재현합니다. 공통 스키마에는 ID, 제목·본문, 날짜, 공감·답변, 지역, 분류, R&amp;R 순위, 원문 URL이 포함됩니다.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선택기는 조직이 아니라 8대 정책 대분류 담당군이고, 두 번째가 실제 업무분장 기반 R&amp;R 팀입니다. 전체 담당군에서 팀을 고르면 주관·협조 1·2·3순위 관련 안건을, 특정 대분류에서 팀을 고르면 그 분야의 1순위 주관 안건을 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제안을 57개 문제 군집으로 묶고 수요, 정책 공백, 시급성, 실행 가능성, 근거 신뢰도 다섯 축으로 비교합니다. 담당군이나 실제 팀을 선택하면 해당 범위의 군집, 점수, 매트릭스, 상세 근거가 재구성됩니다. 점수는 정답이 아니라 검토 순서를 설명하는 보조 지표입니다.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수요 현황, 시민 목소리, 긴급 민원, 현행 정책, 사각지대, 자치구 통계, 정책 Gap, 결측·로그의 여덟 화면이 하나의 담당 범위를 공유합니다.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범위를 정한 뒤 KPI와 키워드에서 신호를 찾고, 원문과 주관·협조 후보를 검증합니다. 기존 정책, 민원, 뉴스, 통계를 대조한 뒤 Gap을 판단하고 같은 범위로 보고서와 로그를 남깁니다.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새싹이는 현재 화면과 선택한 정책 담당군·실제 팀에 맞춰 업무 흐름을 안내합니다. 같은 선택 범위는 보고서까지 이어져 전체 R&amp;R 통합, 정책 대분류, 실제 팀별 맞춤 보고서의 수치·본문·추천 섹션을 재구성합니다.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824건 중 자치구 미상은 804건이고, 상세 본문 확인 가능은 638건, 원문 미연결 또는 30자 미만은 186건입니다. 불확실한 지역을 강제 배정하거나 제목을 본문으로 반복하지 않고, 복원 후보는 원문을 확인한 뒤 사람이 반영합니다.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 페르소나 김서현 주무관의 시연 과업입니다. 출산·산후 초기지원에서 건강팀이 주관할 제안을 찾고 반복 수요와 기존 정책을 검토한 뒤 보고자료로 넘깁니다.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전체에서 출산·산후 초기지원 87건으로 좁히고 건강팀을 선택해 1순위 주관 68건을 확인합니다. 시민 목소리와 Gap 진단이 재계산되고, 긴급 민원에서 주관·협조 후보를 검증한 뒤 새싹이 안내와 보고서·CSV로 마무리합니다.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정합성 검사, 빌드, 2단계 필터, 8개 화면 연동은 확인했습니다. 업무시간 단축과 R&amp;R 수용률, 복원 정밀도는 아직 실무자 검증 전이며 같은 과업의 시간, 오류, 수정 횟수, 만족도를 비교할 계획입니다.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첫째 정기 수집과 출처·버전 관리, 둘째 담당자 피드백 기반 R&amp;R 정답셋과 복원 성능 측정, 셋째 API·DB·권한·감사로그·개인정보 보호와 실제 PDF·HWP 생성으로 운영화합니다.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UKKKK는 숫자를 더 보여주는 대시보드가 아니라 시민 수요를 책임과 근거, 다음 조치로 연결하는 업무 지원 도구입니다.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받습니다. 8개 담당군은 정책 대분류이며 실제 조직은 두 번째 R&amp;R 팀 선택기입니다. 자동 결정·자동 발송이 아니라 후보와 초안을 사람이 검토합니다.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엔진은 정답 라벨을 예측하는 감독학습이 아니라 NLP·규칙·가중치 기반 분류, 군집, 우선순위, R&amp;R 후보 추천 구조입니다. 가중치와 임계값은 운영 규칙이며 정답셋 기반 검증이 필요합니다.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로드맵의 PRD와 데이터분석 정의서, 발표 대본, 프론트엔드, 데이터 검사, 배포 산출물을 실제 경로로 정리했습니다. 역할 문서에 적힌 별도 EDA 노트북은 현재 저장소에서 확인되지 않아 존재한다고 발표하지 않습니다.</a:t>
            </a:r>
          </a:p>
          <a:p xmlns:a="http://schemas.openxmlformats.org/drawingml/2006/main">
            <a:r>
              <a:t/>
            </a:r>
          </a:p>
          <a:p xmlns:a="http://schemas.openxmlformats.org/drawingml/2006/main">
            <a:r>
              <a:t>[Sources]</a:t>
            </a:r>
          </a:p>
          <a:p xmlns:a="http://schemas.openxmlformats.org/drawingml/2006/main">
            <a:r>
              <a:t>- /Users/parkcy/Desktop/sesac_pjt/UKKKK/docs/발표자료/발표_대본_PPT구성_ver2.md</a:t>
            </a:r>
          </a:p>
          <a:p xmlns:a="http://schemas.openxmlformats.org/drawingml/2006/main">
            <a:r>
              <a:t>- /Users/parkcy/Desktop/sesac_pjt/UKKKK/docs/데이터분석정의서.md</a:t>
            </a:r>
          </a:p>
          <a:p xmlns:a="http://schemas.openxmlformats.org/drawingml/2006/main">
            <a:r>
              <a:t>- /Users/parkcy/Desktop/sesac_pjt/UKKKK/docs/SYSTEM_DESIGN_PRD.md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5cf05ce8c84e6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91c17680634d0c" /><Relationship Type="http://schemas.openxmlformats.org/officeDocument/2006/relationships/slideLayout" Target="/ppt/slideLayouts/slideLayout1.xml" Id="R55ce8bbd25a7412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ce8bbd25a7412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c527d7827848bd" /><Relationship Type="http://schemas.openxmlformats.org/officeDocument/2006/relationships/image" Target="/ppt/media/image.png" Id="Rb879650674934f75" /><Relationship Type="http://schemas.openxmlformats.org/officeDocument/2006/relationships/image" Target="/ppt/media/image2.png" Id="R6f4cc70ca6e346f3" /><Relationship Type="http://schemas.openxmlformats.org/officeDocument/2006/relationships/notesSlide" Target="/ppt/notesSlides/notesSlide1.xml" Id="Re9598a63639441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d79222c1b44ded" /><Relationship Type="http://schemas.openxmlformats.org/officeDocument/2006/relationships/image" Target="/ppt/media/image3.png" Id="R1a612548b20c41b8" /><Relationship Type="http://schemas.openxmlformats.org/officeDocument/2006/relationships/notesSlide" Target="/ppt/notesSlides/notesSlide2.xml" Id="R7993c0cd72ab47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ac38aa5dae4d9d" /><Relationship Type="http://schemas.openxmlformats.org/officeDocument/2006/relationships/image" Target="/ppt/media/image4.png" Id="R24aeac42b0504a41" /><Relationship Type="http://schemas.openxmlformats.org/officeDocument/2006/relationships/notesSlide" Target="/ppt/notesSlides/notesSlide3.xml" Id="R824b2498ac2f4e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b9de8a7de2451d" /><Relationship Type="http://schemas.openxmlformats.org/officeDocument/2006/relationships/image" Target="/ppt/media/image5.png" Id="Ra8b365cea0054955" /><Relationship Type="http://schemas.openxmlformats.org/officeDocument/2006/relationships/notesSlide" Target="/ppt/notesSlides/notesSlide4.xml" Id="Rba70652d5f2143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98d97ade4d4c3e" /><Relationship Type="http://schemas.openxmlformats.org/officeDocument/2006/relationships/image" Target="/ppt/media/image6.png" Id="Rc0b1cebfd5d445ac" /><Relationship Type="http://schemas.openxmlformats.org/officeDocument/2006/relationships/image" Target="/ppt/media/image7.png" Id="R7e7b5855fae949d4" /><Relationship Type="http://schemas.openxmlformats.org/officeDocument/2006/relationships/notesSlide" Target="/ppt/notesSlides/notesSlide5.xml" Id="Rd1a4c777f32447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b69ef86d7e47f5" /><Relationship Type="http://schemas.openxmlformats.org/officeDocument/2006/relationships/image" Target="/ppt/media/image8.png" Id="R384121c47ec142ab" /><Relationship Type="http://schemas.openxmlformats.org/officeDocument/2006/relationships/image" Target="/ppt/media/image9.png" Id="R955df6346a4241e8" /><Relationship Type="http://schemas.openxmlformats.org/officeDocument/2006/relationships/notesSlide" Target="/ppt/notesSlides/notesSlide6.xml" Id="Rde23689d62884e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1360e7f12049ff" /><Relationship Type="http://schemas.openxmlformats.org/officeDocument/2006/relationships/image" Target="/ppt/media/image10.png" Id="R459ffe180d41465c" /><Relationship Type="http://schemas.openxmlformats.org/officeDocument/2006/relationships/notesSlide" Target="/ppt/notesSlides/notesSlide7.xml" Id="R631168ffadd940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449f7c76ca48a9" /><Relationship Type="http://schemas.openxmlformats.org/officeDocument/2006/relationships/image" Target="/ppt/media/image10.png" Id="Rbe5e3e3c8f8f415e" /><Relationship Type="http://schemas.openxmlformats.org/officeDocument/2006/relationships/notesSlide" Target="/ppt/notesSlides/notesSlide8.xml" Id="Rd0c90826413349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92b91e07db48d6" /><Relationship Type="http://schemas.openxmlformats.org/officeDocument/2006/relationships/image" Target="/ppt/media/image6.png" Id="R4bb1174941d545ce" /><Relationship Type="http://schemas.openxmlformats.org/officeDocument/2006/relationships/image" Target="/ppt/media/image7.png" Id="R656ef377c4d64dd4" /><Relationship Type="http://schemas.openxmlformats.org/officeDocument/2006/relationships/notesSlide" Target="/ppt/notesSlides/notesSlide9.xml" Id="Rfdc92e1de7d247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94154691c142ac" /><Relationship Type="http://schemas.openxmlformats.org/officeDocument/2006/relationships/image" Target="/ppt/media/image11.png" Id="R05b69f06de3e4ec7" /><Relationship Type="http://schemas.openxmlformats.org/officeDocument/2006/relationships/notesSlide" Target="/ppt/notesSlides/notesSlide10.xml" Id="R0d52fa74c92a4e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e7724706404ffd" /><Relationship Type="http://schemas.openxmlformats.org/officeDocument/2006/relationships/image" Target="/ppt/media/image3.png" Id="Raf244ee2bd2140a2" /><Relationship Type="http://schemas.openxmlformats.org/officeDocument/2006/relationships/notesSlide" Target="/ppt/notesSlides/notesSlide11.xml" Id="Rab21fb657fe849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03c26c9f8347c2" /><Relationship Type="http://schemas.openxmlformats.org/officeDocument/2006/relationships/image" Target="/ppt/media/image12.png" Id="Rf1032164606a4067" /><Relationship Type="http://schemas.openxmlformats.org/officeDocument/2006/relationships/image" Target="/ppt/media/image13.png" Id="Rca624bfa898640f7" /><Relationship Type="http://schemas.openxmlformats.org/officeDocument/2006/relationships/notesSlide" Target="/ppt/notesSlides/notesSlide12.xml" Id="R034824db6d2b44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a32ce89761471a" /><Relationship Type="http://schemas.openxmlformats.org/officeDocument/2006/relationships/image" Target="/ppt/media/image14.png" Id="R8cfe3079abb547d5" /><Relationship Type="http://schemas.openxmlformats.org/officeDocument/2006/relationships/notesSlide" Target="/ppt/notesSlides/notesSlide13.xml" Id="R68c215c6ce6049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f5917a1aa64180" /><Relationship Type="http://schemas.openxmlformats.org/officeDocument/2006/relationships/image" Target="/ppt/media/image15.png" Id="R742b2f4c4b634eae" /><Relationship Type="http://schemas.openxmlformats.org/officeDocument/2006/relationships/notesSlide" Target="/ppt/notesSlides/notesSlide14.xml" Id="R504c64db904243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73397286674e91" /><Relationship Type="http://schemas.openxmlformats.org/officeDocument/2006/relationships/image" Target="/ppt/media/image16.png" Id="Rb45d0629d875419a" /><Relationship Type="http://schemas.openxmlformats.org/officeDocument/2006/relationships/notesSlide" Target="/ppt/notesSlides/notesSlide15.xml" Id="Rf15a682cf28548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2b5bada06440e0" /><Relationship Type="http://schemas.openxmlformats.org/officeDocument/2006/relationships/image" Target="/ppt/media/image16.png" Id="Rd2f898180a53487e" /><Relationship Type="http://schemas.openxmlformats.org/officeDocument/2006/relationships/notesSlide" Target="/ppt/notesSlides/notesSlide16.xml" Id="R36ad59c0b75744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be2e3d5fe83476e" /><Relationship Type="http://schemas.openxmlformats.org/officeDocument/2006/relationships/image" Target="/ppt/media/image17.png" Id="R064584111b644117" /><Relationship Type="http://schemas.openxmlformats.org/officeDocument/2006/relationships/notesSlide" Target="/ppt/notesSlides/notesSlide17.xml" Id="R6439e8a5d70e44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6a1270999c4cf6" /><Relationship Type="http://schemas.openxmlformats.org/officeDocument/2006/relationships/image" Target="/ppt/media/image17.png" Id="R2f908e27ef194d1a" /><Relationship Type="http://schemas.openxmlformats.org/officeDocument/2006/relationships/notesSlide" Target="/ppt/notesSlides/notesSlide18.xml" Id="Rfda7d18ce49841e9" /></Relationships>
</file>

<file path=ppt/slides/slide1.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69B7E9-F285-487A-8E5A-6C8FE141D418}"/>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647308DF-EF63-4091-8644-E0FD710565CD}"/>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4FEA15B-4380-4260-AF5E-607B77E9B191}"/>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3E2D669C-D55D-4619-9BE7-04F9FC9A731A}"/>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b879650674934f7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656100D-5184-4772-B370-5F539E448020}"/>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6F62B635-55BD-463E-A800-203AC7631A4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5609FFD2-D5EB-4472-A3CC-A020A83A125F}"/>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1CAD5C0A-8AA5-4494-958E-71434B68F14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D08C86D5-F70F-4183-BAE6-DD30D6F7546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9E6F938D-7EC2-4DB4-AD08-F38D3FCBB8BB}"/>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b879650674934f7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5084A6C7-BA92-42B6-B971-0999522BA89C}"/>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UKKKK 2차 발표</a:t>
            </a:r>
          </a:p>
        </p:txBody>
      </p:sp>
      <p:sp>
        <p:nvSpPr>
          <p:cNvPr id="15" name="Shape 11">
            <a:extLst xmlns:a="http://schemas.openxmlformats.org/drawingml/2006/main">
              <a:ext uri="{FF2B5EF4-FFF2-40B4-BE49-F238E27FC236}">
                <a16:creationId xmlns:a16="http://schemas.microsoft.com/office/drawing/2014/main" id="{5CA51B0F-D366-4379-9409-4C1ADECDD59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8E18BEBF-DB35-4C95-B871-16F1F9D30810}"/>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88EA7797-F745-4BC1-98B7-015C641F6C6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91BD6D37-F495-481E-A528-1F01A60A234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AEC8749B-3AEB-4F22-B321-CA5DE18F0CA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EDEE2EF0-BAAD-4186-8C1C-12464C0BEEA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3963F310-4FBA-4FA5-B037-DEA55EEDB921}"/>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9DFFD8E1-84BA-49A5-AA0C-6FA3D30D6710}"/>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08E86868-4E97-44E2-9EF4-AC6D710397E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B7244D5-0314-41F5-AF7E-FC2A45BEA742}"/>
              </a:ext>
            </a:extLst>
          </p:cNvPr>
          <p:cNvSpPr>
            <a:spLocks xmlns:a="http://schemas.openxmlformats.org/drawingml/2006/main" noGrp="1"/>
          </p:cNvSpPr>
          <p:nvPr/>
        </p:nvSpPr>
        <p:spPr>
          <a:xfrm xmlns:a="http://schemas.openxmlformats.org/drawingml/2006/main">
            <a:off x="0" y="187452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7C5CE0"/>
                </a:solidFill>
                <a:latin typeface="Calibri"/>
                <a:ea typeface="Calibri"/>
                <a:cs typeface="Calibri"/>
              </a:rPr>
              <a:t>SEOUL · DATA-DRIVEN MATERNITY &amp; CHILDCARE POLICY</a:t>
            </a:r>
          </a:p>
        </p:txBody>
      </p:sp>
      <p:sp>
        <p:nvSpPr>
          <p:cNvPr id="25" name="Text 21">
            <a:extLst xmlns:a="http://schemas.openxmlformats.org/drawingml/2006/main">
              <a:ext uri="{FF2B5EF4-FFF2-40B4-BE49-F238E27FC236}">
                <a16:creationId xmlns:a16="http://schemas.microsoft.com/office/drawing/2014/main" id="{D20D0A70-3C7A-41D0-8F28-173A79A67CAA}"/>
              </a:ext>
            </a:extLst>
          </p:cNvPr>
          <p:cNvSpPr>
            <a:spLocks xmlns:a="http://schemas.openxmlformats.org/drawingml/2006/main" noGrp="1"/>
          </p:cNvSpPr>
          <p:nvPr/>
        </p:nvSpPr>
        <p:spPr>
          <a:xfrm xmlns:a="http://schemas.openxmlformats.org/drawingml/2006/main">
            <a:off x="0" y="2240280"/>
            <a:ext cx="1219169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0" b="1">
                <a:solidFill>
                  <a:srgbClr val="1B2340"/>
                </a:solidFill>
                <a:latin typeface="Calibri"/>
                <a:ea typeface="Calibri"/>
                <a:cs typeface="Calibri"/>
              </a:rPr>
              <a:t>UKKKK</a:t>
            </a:r>
          </a:p>
        </p:txBody>
      </p:sp>
      <p:sp>
        <p:nvSpPr>
          <p:cNvPr id="26" name="Text 22">
            <a:extLst xmlns:a="http://schemas.openxmlformats.org/drawingml/2006/main">
              <a:ext uri="{FF2B5EF4-FFF2-40B4-BE49-F238E27FC236}">
                <a16:creationId xmlns:a16="http://schemas.microsoft.com/office/drawing/2014/main" id="{8244E3E5-438F-4D01-AAB2-1DD6CB2C9970}"/>
              </a:ext>
            </a:extLst>
          </p:cNvPr>
          <p:cNvSpPr>
            <a:spLocks xmlns:a="http://schemas.openxmlformats.org/drawingml/2006/main" noGrp="1"/>
          </p:cNvSpPr>
          <p:nvPr/>
        </p:nvSpPr>
        <p:spPr>
          <a:xfrm xmlns:a="http://schemas.openxmlformats.org/drawingml/2006/main">
            <a:off x="0" y="3886200"/>
            <a:ext cx="121916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5C6684"/>
                </a:solidFill>
                <a:latin typeface="Malgun Gothic"/>
                <a:ea typeface="Malgun Gothic"/>
                <a:cs typeface="Malgun Gothic"/>
              </a:rPr>
              <a:t>시민 수요를 책임·근거·조치로 연결하는 정책 의사결정 지원 대시보드</a:t>
            </a:r>
          </a:p>
        </p:txBody>
      </p:sp>
      <p:sp>
        <p:nvSpPr>
          <p:cNvPr id="27" name="Text 23">
            <a:extLst xmlns:a="http://schemas.openxmlformats.org/drawingml/2006/main">
              <a:ext uri="{FF2B5EF4-FFF2-40B4-BE49-F238E27FC236}">
                <a16:creationId xmlns:a16="http://schemas.microsoft.com/office/drawing/2014/main" id="{0ECEB30D-1E96-492F-B714-C4D5ED537295}"/>
              </a:ext>
            </a:extLst>
          </p:cNvPr>
          <p:cNvSpPr>
            <a:spLocks xmlns:a="http://schemas.openxmlformats.org/drawingml/2006/main" noGrp="1"/>
          </p:cNvSpPr>
          <p:nvPr/>
        </p:nvSpPr>
        <p:spPr>
          <a:xfrm xmlns:a="http://schemas.openxmlformats.org/drawingml/2006/main">
            <a:off x="0" y="429768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9AA3C7"/>
                </a:solidFill>
                <a:latin typeface="Calibri"/>
                <a:ea typeface="Calibri"/>
                <a:cs typeface="Calibri"/>
              </a:rPr>
              <a:t>Unified Key-Knowledge Kit for Kid · Human-in-the-loop MVP</a:t>
            </a:r>
          </a:p>
        </p:txBody>
      </p:sp>
      <p:sp>
        <p:nvSpPr>
          <p:cNvPr id="28" name="Shape 24">
            <a:extLst xmlns:a="http://schemas.openxmlformats.org/drawingml/2006/main">
              <a:ext uri="{FF2B5EF4-FFF2-40B4-BE49-F238E27FC236}">
                <a16:creationId xmlns:a16="http://schemas.microsoft.com/office/drawing/2014/main" id="{790EC023-9F55-4BC5-B234-0818F75CE751}"/>
              </a:ext>
            </a:extLst>
          </p:cNvPr>
          <p:cNvSpPr>
            <a:spLocks xmlns:a="http://schemas.openxmlformats.org/drawingml/2006/main" noGrp="1"/>
          </p:cNvSpPr>
          <p:nvPr/>
        </p:nvSpPr>
        <p:spPr>
          <a:xfrm xmlns:a="http://schemas.openxmlformats.org/drawingml/2006/main">
            <a:off x="4495648" y="4590288"/>
            <a:ext cx="3200400" cy="603504"/>
          </a:xfrm>
          <a:prstGeom xmlns:a="http://schemas.openxmlformats.org/drawingml/2006/main" prst="rect">
            <a:avLst/>
          </a:prstGeom>
          <a:solidFill xmlns:a="http://schemas.openxmlformats.org/drawingml/2006/main">
            <a:srgbClr val="C6C6BE"/>
          </a:solidFill>
          <a:ln xmlns:a="http://schemas.openxmlformats.org/drawingml/2006/main" w="15875">
            <a:solidFill>
              <a:srgbClr val="6B6B66"/>
            </a:solidFill>
            <a:prstDash val="solid"/>
          </a:ln>
        </p:spPr>
      </p:sp>
      <p:sp>
        <p:nvSpPr>
          <p:cNvPr id="29" name="Shape 25">
            <a:extLst xmlns:a="http://schemas.openxmlformats.org/drawingml/2006/main">
              <a:ext uri="{FF2B5EF4-FFF2-40B4-BE49-F238E27FC236}">
                <a16:creationId xmlns:a16="http://schemas.microsoft.com/office/drawing/2014/main" id="{BA15EEAD-4D28-466D-B7D5-3ED9F3F1077A}"/>
              </a:ext>
            </a:extLst>
          </p:cNvPr>
          <p:cNvSpPr>
            <a:spLocks xmlns:a="http://schemas.openxmlformats.org/drawingml/2006/main" noGrp="1"/>
          </p:cNvSpPr>
          <p:nvPr/>
        </p:nvSpPr>
        <p:spPr>
          <a:xfrm xmlns:a="http://schemas.openxmlformats.org/drawingml/2006/main">
            <a:off x="4495648" y="4590288"/>
            <a:ext cx="3200400" cy="45720"/>
          </a:xfrm>
          <a:prstGeom xmlns:a="http://schemas.openxmlformats.org/drawingml/2006/main" prst="rect">
            <a:avLst/>
          </a:prstGeom>
          <a:solidFill xmlns:a="http://schemas.openxmlformats.org/drawingml/2006/main">
            <a:srgbClr val="EFEFEA"/>
          </a:solidFill>
        </p:spPr>
      </p:sp>
      <p:sp>
        <p:nvSpPr>
          <p:cNvPr id="30" name="Shape 26">
            <a:extLst xmlns:a="http://schemas.openxmlformats.org/drawingml/2006/main">
              <a:ext uri="{FF2B5EF4-FFF2-40B4-BE49-F238E27FC236}">
                <a16:creationId xmlns:a16="http://schemas.microsoft.com/office/drawing/2014/main" id="{4C9291F9-F2E3-4EB5-A22D-546EAAEB7158}"/>
              </a:ext>
            </a:extLst>
          </p:cNvPr>
          <p:cNvSpPr>
            <a:spLocks xmlns:a="http://schemas.openxmlformats.org/drawingml/2006/main" noGrp="1"/>
          </p:cNvSpPr>
          <p:nvPr/>
        </p:nvSpPr>
        <p:spPr>
          <a:xfrm xmlns:a="http://schemas.openxmlformats.org/drawingml/2006/main">
            <a:off x="4495648" y="4590288"/>
            <a:ext cx="45720" cy="603504"/>
          </a:xfrm>
          <a:prstGeom xmlns:a="http://schemas.openxmlformats.org/drawingml/2006/main" prst="rect">
            <a:avLst/>
          </a:prstGeom>
          <a:solidFill xmlns:a="http://schemas.openxmlformats.org/drawingml/2006/main">
            <a:srgbClr val="EFEFEA"/>
          </a:solidFill>
        </p:spPr>
      </p:sp>
      <p:sp>
        <p:nvSpPr>
          <p:cNvPr id="31" name="Text 27">
            <a:extLst xmlns:a="http://schemas.openxmlformats.org/drawingml/2006/main">
              <a:ext uri="{FF2B5EF4-FFF2-40B4-BE49-F238E27FC236}">
                <a16:creationId xmlns:a16="http://schemas.microsoft.com/office/drawing/2014/main" id="{DBA8EA8F-AA4D-476B-AA3A-A6E63A21D08E}"/>
              </a:ext>
            </a:extLst>
          </p:cNvPr>
          <p:cNvSpPr>
            <a:spLocks xmlns:a="http://schemas.openxmlformats.org/drawingml/2006/main" noGrp="1"/>
          </p:cNvSpPr>
          <p:nvPr/>
        </p:nvSpPr>
        <p:spPr>
          <a:xfrm xmlns:a="http://schemas.openxmlformats.org/drawingml/2006/main">
            <a:off x="4495648" y="4590288"/>
            <a:ext cx="32004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B2340"/>
                </a:solidFill>
                <a:latin typeface="Malgun Gothic"/>
                <a:ea typeface="Malgun Gothic"/>
                <a:cs typeface="Malgun Gothic"/>
              </a:rPr>
              <a:t>▶  2차 발표 시작</a:t>
            </a:r>
          </a:p>
        </p:txBody>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6f4cc70ca6e346f3"/>
          <a:stretch xmlns:a="http://schemas.openxmlformats.org/drawingml/2006/main">
            <a:fillRect l="0" t="0" r="0" b="0"/>
          </a:stretch>
        </p:blipFill>
        <p:spPr>
          <a:xfrm xmlns:a="http://schemas.openxmlformats.org/drawingml/2006/main">
            <a:off x="6439919" y="4703660"/>
            <a:ext cx="1121745" cy="1371600"/>
          </a:xfrm>
          <a:prstGeom xmlns:a="http://schemas.openxmlformats.org/drawingml/2006/main" prst="rect">
            <a:avLst/>
          </a:prstGeom>
        </p:spPr>
      </p:pic>
      <p:sp>
        <p:nvSpPr>
          <p:cNvPr id="33" name="Shape 28">
            <a:extLst xmlns:a="http://schemas.openxmlformats.org/drawingml/2006/main">
              <a:ext uri="{FF2B5EF4-FFF2-40B4-BE49-F238E27FC236}">
                <a16:creationId xmlns:a16="http://schemas.microsoft.com/office/drawing/2014/main" id="{AE84DBB5-F1E0-4437-8236-F1E88F9BDB7A}"/>
              </a:ext>
            </a:extLst>
          </p:cNvPr>
          <p:cNvSpPr>
            <a:spLocks xmlns:a="http://schemas.openxmlformats.org/drawingml/2006/main" noGrp="1"/>
          </p:cNvSpPr>
          <p:nvPr/>
        </p:nvSpPr>
        <p:spPr>
          <a:xfrm xmlns:a="http://schemas.openxmlformats.org/drawingml/2006/main">
            <a:off x="1527048"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4" name="Text 29">
            <a:extLst xmlns:a="http://schemas.openxmlformats.org/drawingml/2006/main">
              <a:ext uri="{FF2B5EF4-FFF2-40B4-BE49-F238E27FC236}">
                <a16:creationId xmlns:a16="http://schemas.microsoft.com/office/drawing/2014/main" id="{EBEB7881-0EE7-4922-92D9-D7882A11C3D5}"/>
              </a:ext>
            </a:extLst>
          </p:cNvPr>
          <p:cNvSpPr>
            <a:spLocks xmlns:a="http://schemas.openxmlformats.org/drawingml/2006/main" noGrp="1"/>
          </p:cNvSpPr>
          <p:nvPr/>
        </p:nvSpPr>
        <p:spPr>
          <a:xfrm xmlns:a="http://schemas.openxmlformats.org/drawingml/2006/main">
            <a:off x="1618488"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모르는 값은 표시하고, 결정은 사람이 합니다</a:t>
            </a:r>
          </a:p>
        </p:txBody>
      </p:sp>
      <p:pic>
        <p:nvPicPr>
          <p:cNvPr id="72" name="Image 3"/>
          <p:cNvPicPr>
            <a:picLocks xmlns:a="http://schemas.openxmlformats.org/drawingml/2006/main" noChangeAspect="1"/>
          </p:cNvPicPr>
          <p:nvPr/>
        </p:nvPicPr>
        <p:blipFill>
          <a:blip xmlns:r="http://schemas.openxmlformats.org/officeDocument/2006/relationships" xmlns:a="http://schemas.openxmlformats.org/drawingml/2006/main" r:embed="Rb879650674934f75"/>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1528275206"/>
      </p:ext>
    </p:extLst>
  </p:cSld>
</p:sld>
</file>

<file path=ppt/slides/slide2.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E7C6B13-6E01-451C-9FB0-B463C2216EB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EA5F80-06E0-446A-B8D1-41BB17EBFBD9}"/>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0A8F86F-06C5-4824-B31C-B8F0CE6FE19B}"/>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60474B3F-2D47-47DE-B83D-2485CE92B368}"/>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1a612548b20c41b8"/>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B7C34D2-0273-4B78-AC56-F730F58FA69C}"/>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51F2F4C1-177C-497E-AC90-F903FB61C39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3F03B08A-CBCE-44F2-993C-56A4AE9D0B3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FFE1EF40-8BD1-4773-93C0-FD9DA000B615}"/>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514168D9-F29A-4493-A06B-3DEBB71BDCC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86E5D15E-931C-49B1-BF67-404560EB75B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1a612548b20c41b8"/>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6D034D4-D63F-4789-AD35-2A0673CE83CA}"/>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 · 검증할 문제 가설</a:t>
            </a:r>
          </a:p>
        </p:txBody>
      </p:sp>
      <p:sp>
        <p:nvSpPr>
          <p:cNvPr id="15" name="Shape 11">
            <a:extLst xmlns:a="http://schemas.openxmlformats.org/drawingml/2006/main">
              <a:ext uri="{FF2B5EF4-FFF2-40B4-BE49-F238E27FC236}">
                <a16:creationId xmlns:a16="http://schemas.microsoft.com/office/drawing/2014/main" id="{EBCB5A54-14A2-49F4-8A48-CD6B0FCC7126}"/>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8BBB2C6-C71E-464F-9D59-8AAC0103A526}"/>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F084911E-F47A-4C69-A462-760ADFC75AE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AC60E22-7AB2-44C1-99F7-0281CC98CA98}"/>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2254E4B5-341C-4D08-80AA-E34327BB4CEB}"/>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A8F50D4-8E45-4BA3-89D8-9BA2303E4423}"/>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61046DF7-E275-4E21-B9D8-DEE76CF2E8FE}"/>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26110F93-74E8-4582-B8FD-1F80AC42C86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8B9049D3-D547-4F63-81E8-39031889FC3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9EE7A35-22B7-4C4A-A5DE-2D52C1C6DD7D}"/>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검증할 문제 가설</a:t>
            </a:r>
          </a:p>
        </p:txBody>
      </p:sp>
      <p:sp>
        <p:nvSpPr>
          <p:cNvPr id="25" name="Text 21">
            <a:extLst xmlns:a="http://schemas.openxmlformats.org/drawingml/2006/main">
              <a:ext uri="{FF2B5EF4-FFF2-40B4-BE49-F238E27FC236}">
                <a16:creationId xmlns:a16="http://schemas.microsoft.com/office/drawing/2014/main" id="{776E6EBB-27C1-42BD-B275-B40ABC3A362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데이터는 있었지만,</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수요와 책임·근거·조치가 끊겨 있었습니다</a:t>
            </a:r>
          </a:p>
        </p:txBody>
      </p:sp>
      <p:sp>
        <p:nvSpPr>
          <p:cNvPr id="26" name="Shape 22">
            <a:extLst xmlns:a="http://schemas.openxmlformats.org/drawingml/2006/main">
              <a:ext uri="{FF2B5EF4-FFF2-40B4-BE49-F238E27FC236}">
                <a16:creationId xmlns:a16="http://schemas.microsoft.com/office/drawing/2014/main" id="{46808EC9-DD3D-4774-A72B-518FED99E6D2}"/>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30B720F3-E5B4-4159-95A7-39D8634E8684}"/>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실제 업무 절차와 병목은 후속 인터뷰로 검증해요</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1a612548b20c41b8"/>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371132179"/>
      </p:ext>
    </p:extLst>
  </p:cSld>
</p:sld>
</file>

<file path=ppt/slides/slide3.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BF34D1B-507B-405B-8031-6EDFE165725F}"/>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4C132788-764E-4BC9-9B36-3144AE361B9E}"/>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3ED5171-5CAD-4DE9-9F17-D39707482B14}"/>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C083E36-2266-4972-89BE-D3281E41928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24aeac42b0504a41"/>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35FC00B-BA47-4EAE-8A4D-382738458785}"/>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69847C4-B69B-4BEA-8C86-DD0141B768E9}"/>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81858E7D-698A-4B49-B032-4B9AD8F1C955}"/>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8055F081-5435-427E-A921-D5F66B0C1322}"/>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897F25EB-C06C-4495-912B-398D49AA832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61F01023-8A00-43A9-8852-C54EEC391E7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24aeac42b0504a41"/>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1AB9FD13-014B-4684-8A6A-9C6649817B3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2 · 가상 페르소나 업무 흐름</a:t>
            </a:r>
          </a:p>
        </p:txBody>
      </p:sp>
      <p:sp>
        <p:nvSpPr>
          <p:cNvPr id="15" name="Shape 11">
            <a:extLst xmlns:a="http://schemas.openxmlformats.org/drawingml/2006/main">
              <a:ext uri="{FF2B5EF4-FFF2-40B4-BE49-F238E27FC236}">
                <a16:creationId xmlns:a16="http://schemas.microsoft.com/office/drawing/2014/main" id="{0734AD1E-E4D8-4234-AEFF-62CD7FBBE408}"/>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043BF4C1-90AD-4BE4-8FBB-8DB04BFEB2E5}"/>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529A846D-0998-4DB0-911C-EF4808BBDB7A}"/>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1B4149BF-FE9E-4DC0-B791-0CE61025A78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B26663E6-46D4-43B4-88B0-B8784F3DD2C0}"/>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3246A1B5-E122-4F15-84F3-2141C87848B9}"/>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4E61DD4A-D48F-44FD-A521-579140E98B2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CC195CB2-4129-4DD2-B9CD-578C2C02A308}"/>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78DF13BE-7CBE-4113-8963-1F344F447371}"/>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BB17A00-C905-4583-AF73-3DDDA14E7CB1}"/>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가상 페르소나 · 신규 정책담당 김서현</a:t>
            </a:r>
          </a:p>
        </p:txBody>
      </p:sp>
      <p:sp>
        <p:nvSpPr>
          <p:cNvPr id="25" name="Text 21">
            <a:extLst xmlns:a="http://schemas.openxmlformats.org/drawingml/2006/main">
              <a:ext uri="{FF2B5EF4-FFF2-40B4-BE49-F238E27FC236}">
                <a16:creationId xmlns:a16="http://schemas.microsoft.com/office/drawing/2014/main" id="{E4EFCD31-414F-49B0-9242-D681BDCEF249}"/>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가정한 검토 흐름을 한 화면으로 연결합니다</a:t>
            </a:r>
          </a:p>
        </p:txBody>
      </p:sp>
      <p:sp>
        <p:nvSpPr>
          <p:cNvPr id="26" name="Shape 22">
            <a:extLst xmlns:a="http://schemas.openxmlformats.org/drawingml/2006/main">
              <a:ext uri="{FF2B5EF4-FFF2-40B4-BE49-F238E27FC236}">
                <a16:creationId xmlns:a16="http://schemas.microsoft.com/office/drawing/2014/main" id="{AC94EC71-A88D-4B90-9203-52635E5BE313}"/>
              </a:ext>
            </a:extLst>
          </p:cNvPr>
          <p:cNvSpPr>
            <a:spLocks xmlns:a="http://schemas.openxmlformats.org/drawingml/2006/main" noGrp="1"/>
          </p:cNvSpPr>
          <p:nvPr/>
        </p:nvSpPr>
        <p:spPr>
          <a:xfrm xmlns:a="http://schemas.openxmlformats.org/drawingml/2006/main">
            <a:off x="792328" y="2788920"/>
            <a:ext cx="4343400" cy="22860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6B75CADC-BEAC-4EED-A781-BB7982F99520}"/>
              </a:ext>
            </a:extLst>
          </p:cNvPr>
          <p:cNvSpPr>
            <a:spLocks xmlns:a="http://schemas.openxmlformats.org/drawingml/2006/main" noGrp="1"/>
          </p:cNvSpPr>
          <p:nvPr/>
        </p:nvSpPr>
        <p:spPr>
          <a:xfrm xmlns:a="http://schemas.openxmlformats.org/drawingml/2006/main">
            <a:off x="95692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3A4470"/>
                </a:solidFill>
                <a:latin typeface="Malgun Gothic"/>
                <a:ea typeface="Malgun Gothic"/>
                <a:cs typeface="Malgun Gothic"/>
              </a:rPr>
              <a:t>가정한 현재 흐름</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제안·민원 탐색</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분류·담당 후보 확인</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정책·통계 재검색</a:t>
            </a:r>
          </a:p>
        </p:txBody>
      </p:sp>
      <p:sp>
        <p:nvSpPr>
          <p:cNvPr id="28" name="Text 24">
            <a:extLst xmlns:a="http://schemas.openxmlformats.org/drawingml/2006/main">
              <a:ext uri="{FF2B5EF4-FFF2-40B4-BE49-F238E27FC236}">
                <a16:creationId xmlns:a16="http://schemas.microsoft.com/office/drawing/2014/main" id="{67588C47-EECE-4503-A693-89BEEB94EF90}"/>
              </a:ext>
            </a:extLst>
          </p:cNvPr>
          <p:cNvSpPr>
            <a:spLocks xmlns:a="http://schemas.openxmlformats.org/drawingml/2006/main" noGrp="1"/>
          </p:cNvSpPr>
          <p:nvPr/>
        </p:nvSpPr>
        <p:spPr>
          <a:xfrm xmlns:a="http://schemas.openxmlformats.org/drawingml/2006/main">
            <a:off x="5272888" y="2788920"/>
            <a:ext cx="16459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24A39417-63E9-4BD2-904A-749FED6670A0}"/>
              </a:ext>
            </a:extLst>
          </p:cNvPr>
          <p:cNvSpPr>
            <a:spLocks xmlns:a="http://schemas.openxmlformats.org/drawingml/2006/main" noGrp="1"/>
          </p:cNvSpPr>
          <p:nvPr/>
        </p:nvSpPr>
        <p:spPr>
          <a:xfrm xmlns:a="http://schemas.openxmlformats.org/drawingml/2006/main">
            <a:off x="7055968" y="2788920"/>
            <a:ext cx="4343400" cy="2286000"/>
          </a:xfrm>
          <a:prstGeom xmlns:a="http://schemas.openxmlformats.org/drawingml/2006/main" prst="rect">
            <a:avLst/>
          </a:prstGeom>
          <a:solidFill xmlns:a="http://schemas.openxmlformats.org/drawingml/2006/main">
            <a:srgbClr val="E1F5EC"/>
          </a:solidFill>
          <a:ln xmlns:a="http://schemas.openxmlformats.org/drawingml/2006/main" w="12700">
            <a:solidFill>
              <a:srgbClr val="9FE1CB"/>
            </a:solidFill>
            <a:prstDash val="solid"/>
          </a:ln>
        </p:spPr>
      </p:sp>
      <p:sp>
        <p:nvSpPr>
          <p:cNvPr id="30" name="Text 26">
            <a:extLst xmlns:a="http://schemas.openxmlformats.org/drawingml/2006/main">
              <a:ext uri="{FF2B5EF4-FFF2-40B4-BE49-F238E27FC236}">
                <a16:creationId xmlns:a16="http://schemas.microsoft.com/office/drawing/2014/main" id="{D2257AF5-0C0C-4E55-AFB2-AEC1E1B36221}"/>
              </a:ext>
            </a:extLst>
          </p:cNvPr>
          <p:cNvSpPr>
            <a:spLocks xmlns:a="http://schemas.openxmlformats.org/drawingml/2006/main" noGrp="1"/>
          </p:cNvSpPr>
          <p:nvPr/>
        </p:nvSpPr>
        <p:spPr>
          <a:xfrm xmlns:a="http://schemas.openxmlformats.org/drawingml/2006/main">
            <a:off x="7220560" y="2898648"/>
            <a:ext cx="4014216" cy="20665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0FA968"/>
                </a:solidFill>
                <a:latin typeface="Malgun Gothic"/>
                <a:ea typeface="Malgun Gothic"/>
                <a:cs typeface="Malgun Gothic"/>
              </a:rPr>
              <a:t>UKKKK 파일럿</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담당 범위 선택</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반복 수요·Gap 진단</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R&amp;R·원문·보고서 연결</a:t>
            </a:r>
          </a:p>
        </p:txBody>
      </p:sp>
      <p:sp>
        <p:nvSpPr>
          <p:cNvPr id="31" name="Shape 27">
            <a:extLst xmlns:a="http://schemas.openxmlformats.org/drawingml/2006/main">
              <a:ext uri="{FF2B5EF4-FFF2-40B4-BE49-F238E27FC236}">
                <a16:creationId xmlns:a16="http://schemas.microsoft.com/office/drawing/2014/main" id="{F089C07C-BDEC-4387-BDB0-CD96A03840E0}"/>
              </a:ext>
            </a:extLst>
          </p:cNvPr>
          <p:cNvSpPr>
            <a:spLocks xmlns:a="http://schemas.openxmlformats.org/drawingml/2006/main" noGrp="1"/>
          </p:cNvSpPr>
          <p:nvPr/>
        </p:nvSpPr>
        <p:spPr>
          <a:xfrm xmlns:a="http://schemas.openxmlformats.org/drawingml/2006/main">
            <a:off x="6341364"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2" name="Text 28">
            <a:extLst xmlns:a="http://schemas.openxmlformats.org/drawingml/2006/main">
              <a:ext uri="{FF2B5EF4-FFF2-40B4-BE49-F238E27FC236}">
                <a16:creationId xmlns:a16="http://schemas.microsoft.com/office/drawing/2014/main" id="{EAC7DA22-53C4-4533-A233-ED4FA4363F6F}"/>
              </a:ext>
            </a:extLst>
          </p:cNvPr>
          <p:cNvSpPr>
            <a:spLocks xmlns:a="http://schemas.openxmlformats.org/drawingml/2006/main" noGrp="1"/>
          </p:cNvSpPr>
          <p:nvPr/>
        </p:nvSpPr>
        <p:spPr>
          <a:xfrm xmlns:a="http://schemas.openxmlformats.org/drawingml/2006/main">
            <a:off x="6432804"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가상 시연 흐름이며 실제 효용은 사용자 테스트로 확인해요</a:t>
            </a: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24aeac42b0504a41"/>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194851883"/>
      </p:ext>
    </p:extLst>
  </p:cSld>
</p:sld>
</file>

<file path=ppt/slides/slide4.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90EAB26-7472-48D1-9E9B-5C106FC9CF6A}"/>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5C9A9E55-8969-4E2F-8E2B-F27906485946}"/>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39C9FCD-D054-41D1-9F86-917AF820E664}"/>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A64A01C7-BC5E-49AE-B5B1-467F300A6F7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a8b365cea005495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03900486-5895-4F84-89B4-966EFC0B3292}"/>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9D0E6718-5B44-4B08-BF68-76297D540D3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209C5FED-C821-4FB6-A24E-E0A44D696906}"/>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B62A50D1-EDA9-4714-999B-8E7E053C5003}"/>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9447F6AB-FC92-449E-AB99-B0643C98CAB7}"/>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2ACD81A1-37CA-43E7-918D-D5E41133988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a8b365cea005495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B5EE8D3-8CDC-4B57-9FE0-FCA23FCB1852}"/>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3 · 데이터 파이프라인</a:t>
            </a:r>
          </a:p>
        </p:txBody>
      </p:sp>
      <p:sp>
        <p:nvSpPr>
          <p:cNvPr id="15" name="Shape 11">
            <a:extLst xmlns:a="http://schemas.openxmlformats.org/drawingml/2006/main">
              <a:ext uri="{FF2B5EF4-FFF2-40B4-BE49-F238E27FC236}">
                <a16:creationId xmlns:a16="http://schemas.microsoft.com/office/drawing/2014/main" id="{4A7465DE-7725-4B6E-928E-0B1330DD5667}"/>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CE53277-7DEA-4CF2-B5CF-49E62775F460}"/>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2B0BAAC5-AB01-480F-99BA-749CDE511B52}"/>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2C8D49BE-580D-4D12-95A6-205CA30E00EC}"/>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F2065653-20A0-4E9C-824F-32142130219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CCC8A478-13E6-45E9-A884-F2A1AECDA122}"/>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B806E980-BC9B-4F24-A562-30D71664D10E}"/>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5A2EF977-888D-4EC4-9A64-F972A0E96BAE}"/>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33A73778-62CB-474B-9A29-E372A62467D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9DAA8A0-6804-4100-B212-45BD60BBF89F}"/>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수집·정제·캐시 기반 재현</a:t>
            </a:r>
          </a:p>
        </p:txBody>
      </p:sp>
      <p:sp>
        <p:nvSpPr>
          <p:cNvPr id="25" name="Text 21">
            <a:extLst xmlns:a="http://schemas.openxmlformats.org/drawingml/2006/main">
              <a:ext uri="{FF2B5EF4-FFF2-40B4-BE49-F238E27FC236}">
                <a16:creationId xmlns:a16="http://schemas.microsoft.com/office/drawing/2014/main" id="{F47BF91B-0A35-4D83-9E1B-63A3C01B4B5F}"/>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5개 출처를 공통 스키마로 연결했습니다</a:t>
            </a:r>
          </a:p>
        </p:txBody>
      </p:sp>
      <p:sp>
        <p:nvSpPr>
          <p:cNvPr id="26" name="Shape 22">
            <a:extLst xmlns:a="http://schemas.openxmlformats.org/drawingml/2006/main">
              <a:ext uri="{FF2B5EF4-FFF2-40B4-BE49-F238E27FC236}">
                <a16:creationId xmlns:a16="http://schemas.microsoft.com/office/drawing/2014/main" id="{CA6B811C-83DD-4F79-A37E-1EE3FEBE8FF0}"/>
              </a:ext>
            </a:extLst>
          </p:cNvPr>
          <p:cNvSpPr>
            <a:spLocks xmlns:a="http://schemas.openxmlformats.org/drawingml/2006/main" noGrp="1"/>
          </p:cNvSpPr>
          <p:nvPr/>
        </p:nvSpPr>
        <p:spPr>
          <a:xfrm xmlns:a="http://schemas.openxmlformats.org/drawingml/2006/main">
            <a:off x="742036"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EB85C72B-71C2-42C5-960C-EBEE9EF5A4F3}"/>
              </a:ext>
            </a:extLst>
          </p:cNvPr>
          <p:cNvSpPr>
            <a:spLocks xmlns:a="http://schemas.openxmlformats.org/drawingml/2006/main" noGrp="1"/>
          </p:cNvSpPr>
          <p:nvPr/>
        </p:nvSpPr>
        <p:spPr>
          <a:xfrm xmlns:a="http://schemas.openxmlformats.org/drawingml/2006/main">
            <a:off x="742036"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824</a:t>
            </a:r>
          </a:p>
        </p:txBody>
      </p:sp>
      <p:sp>
        <p:nvSpPr>
          <p:cNvPr id="28" name="Text 24">
            <a:extLst xmlns:a="http://schemas.openxmlformats.org/drawingml/2006/main">
              <a:ext uri="{FF2B5EF4-FFF2-40B4-BE49-F238E27FC236}">
                <a16:creationId xmlns:a16="http://schemas.microsoft.com/office/drawing/2014/main" id="{8724B585-6F06-4DE0-ABA8-E8E00A5C9B3D}"/>
              </a:ext>
            </a:extLst>
          </p:cNvPr>
          <p:cNvSpPr>
            <a:spLocks xmlns:a="http://schemas.openxmlformats.org/drawingml/2006/main" noGrp="1"/>
          </p:cNvSpPr>
          <p:nvPr/>
        </p:nvSpPr>
        <p:spPr>
          <a:xfrm xmlns:a="http://schemas.openxmlformats.org/drawingml/2006/main">
            <a:off x="742036"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시민 제안</a:t>
            </a:r>
          </a:p>
        </p:txBody>
      </p:sp>
      <p:sp>
        <p:nvSpPr>
          <p:cNvPr id="29" name="Shape 25">
            <a:extLst xmlns:a="http://schemas.openxmlformats.org/drawingml/2006/main">
              <a:ext uri="{FF2B5EF4-FFF2-40B4-BE49-F238E27FC236}">
                <a16:creationId xmlns:a16="http://schemas.microsoft.com/office/drawing/2014/main" id="{676D58F5-FD96-4BC4-AA79-15F770EC0227}"/>
              </a:ext>
            </a:extLst>
          </p:cNvPr>
          <p:cNvSpPr>
            <a:spLocks xmlns:a="http://schemas.openxmlformats.org/drawingml/2006/main" noGrp="1"/>
          </p:cNvSpPr>
          <p:nvPr/>
        </p:nvSpPr>
        <p:spPr>
          <a:xfrm xmlns:a="http://schemas.openxmlformats.org/drawingml/2006/main">
            <a:off x="2927452"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EB3F4ABC-4D66-46DD-9375-B8DAE41205BC}"/>
              </a:ext>
            </a:extLst>
          </p:cNvPr>
          <p:cNvSpPr>
            <a:spLocks xmlns:a="http://schemas.openxmlformats.org/drawingml/2006/main" noGrp="1"/>
          </p:cNvSpPr>
          <p:nvPr/>
        </p:nvSpPr>
        <p:spPr>
          <a:xfrm xmlns:a="http://schemas.openxmlformats.org/drawingml/2006/main">
            <a:off x="2927452"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582</a:t>
            </a:r>
          </a:p>
        </p:txBody>
      </p:sp>
      <p:sp>
        <p:nvSpPr>
          <p:cNvPr id="31" name="Text 27">
            <a:extLst xmlns:a="http://schemas.openxmlformats.org/drawingml/2006/main">
              <a:ext uri="{FF2B5EF4-FFF2-40B4-BE49-F238E27FC236}">
                <a16:creationId xmlns:a16="http://schemas.microsoft.com/office/drawing/2014/main" id="{894B0898-7B4E-49F7-9EC8-6F2CDCB8EBD1}"/>
              </a:ext>
            </a:extLst>
          </p:cNvPr>
          <p:cNvSpPr>
            <a:spLocks xmlns:a="http://schemas.openxmlformats.org/drawingml/2006/main" noGrp="1"/>
          </p:cNvSpPr>
          <p:nvPr/>
        </p:nvSpPr>
        <p:spPr>
          <a:xfrm xmlns:a="http://schemas.openxmlformats.org/drawingml/2006/main">
            <a:off x="2927452"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현장 민원</a:t>
            </a:r>
          </a:p>
        </p:txBody>
      </p:sp>
      <p:sp>
        <p:nvSpPr>
          <p:cNvPr id="32" name="Shape 28">
            <a:extLst xmlns:a="http://schemas.openxmlformats.org/drawingml/2006/main">
              <a:ext uri="{FF2B5EF4-FFF2-40B4-BE49-F238E27FC236}">
                <a16:creationId xmlns:a16="http://schemas.microsoft.com/office/drawing/2014/main" id="{0583590E-61FE-4BE1-8EDA-49E375477CFE}"/>
              </a:ext>
            </a:extLst>
          </p:cNvPr>
          <p:cNvSpPr>
            <a:spLocks xmlns:a="http://schemas.openxmlformats.org/drawingml/2006/main" noGrp="1"/>
          </p:cNvSpPr>
          <p:nvPr/>
        </p:nvSpPr>
        <p:spPr>
          <a:xfrm xmlns:a="http://schemas.openxmlformats.org/drawingml/2006/main">
            <a:off x="5112868"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3" name="Text 29">
            <a:extLst xmlns:a="http://schemas.openxmlformats.org/drawingml/2006/main">
              <a:ext uri="{FF2B5EF4-FFF2-40B4-BE49-F238E27FC236}">
                <a16:creationId xmlns:a16="http://schemas.microsoft.com/office/drawing/2014/main" id="{AAA29FCF-D7B4-490A-B11D-0884EDE9CE81}"/>
              </a:ext>
            </a:extLst>
          </p:cNvPr>
          <p:cNvSpPr>
            <a:spLocks xmlns:a="http://schemas.openxmlformats.org/drawingml/2006/main" noGrp="1"/>
          </p:cNvSpPr>
          <p:nvPr/>
        </p:nvSpPr>
        <p:spPr>
          <a:xfrm xmlns:a="http://schemas.openxmlformats.org/drawingml/2006/main">
            <a:off x="5112868"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322</a:t>
            </a:r>
          </a:p>
        </p:txBody>
      </p:sp>
      <p:sp>
        <p:nvSpPr>
          <p:cNvPr id="34" name="Text 30">
            <a:extLst xmlns:a="http://schemas.openxmlformats.org/drawingml/2006/main">
              <a:ext uri="{FF2B5EF4-FFF2-40B4-BE49-F238E27FC236}">
                <a16:creationId xmlns:a16="http://schemas.microsoft.com/office/drawing/2014/main" id="{3724CE75-7314-4754-8D91-240E0B2DB2A8}"/>
              </a:ext>
            </a:extLst>
          </p:cNvPr>
          <p:cNvSpPr>
            <a:spLocks xmlns:a="http://schemas.openxmlformats.org/drawingml/2006/main" noGrp="1"/>
          </p:cNvSpPr>
          <p:nvPr/>
        </p:nvSpPr>
        <p:spPr>
          <a:xfrm xmlns:a="http://schemas.openxmlformats.org/drawingml/2006/main">
            <a:off x="5112868"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공식 정책</a:t>
            </a:r>
          </a:p>
        </p:txBody>
      </p:sp>
      <p:sp>
        <p:nvSpPr>
          <p:cNvPr id="35" name="Shape 31">
            <a:extLst xmlns:a="http://schemas.openxmlformats.org/drawingml/2006/main">
              <a:ext uri="{FF2B5EF4-FFF2-40B4-BE49-F238E27FC236}">
                <a16:creationId xmlns:a16="http://schemas.microsoft.com/office/drawing/2014/main" id="{4CA1D413-57B6-4FEB-95B6-52F348F278FA}"/>
              </a:ext>
            </a:extLst>
          </p:cNvPr>
          <p:cNvSpPr>
            <a:spLocks xmlns:a="http://schemas.openxmlformats.org/drawingml/2006/main" noGrp="1"/>
          </p:cNvSpPr>
          <p:nvPr/>
        </p:nvSpPr>
        <p:spPr>
          <a:xfrm xmlns:a="http://schemas.openxmlformats.org/drawingml/2006/main">
            <a:off x="7298284"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6" name="Text 32">
            <a:extLst xmlns:a="http://schemas.openxmlformats.org/drawingml/2006/main">
              <a:ext uri="{FF2B5EF4-FFF2-40B4-BE49-F238E27FC236}">
                <a16:creationId xmlns:a16="http://schemas.microsoft.com/office/drawing/2014/main" id="{37F8A5C2-50AA-4149-B1DD-AA30A5815E8A}"/>
              </a:ext>
            </a:extLst>
          </p:cNvPr>
          <p:cNvSpPr>
            <a:spLocks xmlns:a="http://schemas.openxmlformats.org/drawingml/2006/main" noGrp="1"/>
          </p:cNvSpPr>
          <p:nvPr/>
        </p:nvSpPr>
        <p:spPr>
          <a:xfrm xmlns:a="http://schemas.openxmlformats.org/drawingml/2006/main">
            <a:off x="7298284"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1,145</a:t>
            </a:r>
          </a:p>
        </p:txBody>
      </p:sp>
      <p:sp>
        <p:nvSpPr>
          <p:cNvPr id="37" name="Text 33">
            <a:extLst xmlns:a="http://schemas.openxmlformats.org/drawingml/2006/main">
              <a:ext uri="{FF2B5EF4-FFF2-40B4-BE49-F238E27FC236}">
                <a16:creationId xmlns:a16="http://schemas.microsoft.com/office/drawing/2014/main" id="{66BF1C55-4451-4953-A576-83400B6D8901}"/>
              </a:ext>
            </a:extLst>
          </p:cNvPr>
          <p:cNvSpPr>
            <a:spLocks xmlns:a="http://schemas.openxmlformats.org/drawingml/2006/main" noGrp="1"/>
          </p:cNvSpPr>
          <p:nvPr/>
        </p:nvSpPr>
        <p:spPr>
          <a:xfrm xmlns:a="http://schemas.openxmlformats.org/drawingml/2006/main">
            <a:off x="7298284"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뉴스</a:t>
            </a:r>
          </a:p>
        </p:txBody>
      </p:sp>
      <p:sp>
        <p:nvSpPr>
          <p:cNvPr id="38" name="Shape 34">
            <a:extLst xmlns:a="http://schemas.openxmlformats.org/drawingml/2006/main">
              <a:ext uri="{FF2B5EF4-FFF2-40B4-BE49-F238E27FC236}">
                <a16:creationId xmlns:a16="http://schemas.microsoft.com/office/drawing/2014/main" id="{40315454-B6D7-4596-9D1C-BEC10DC9D5D1}"/>
              </a:ext>
            </a:extLst>
          </p:cNvPr>
          <p:cNvSpPr>
            <a:spLocks xmlns:a="http://schemas.openxmlformats.org/drawingml/2006/main" noGrp="1"/>
          </p:cNvSpPr>
          <p:nvPr/>
        </p:nvSpPr>
        <p:spPr>
          <a:xfrm xmlns:a="http://schemas.openxmlformats.org/drawingml/2006/main">
            <a:off x="9483700" y="2834640"/>
            <a:ext cx="19659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9" name="Text 35">
            <a:extLst xmlns:a="http://schemas.openxmlformats.org/drawingml/2006/main">
              <a:ext uri="{FF2B5EF4-FFF2-40B4-BE49-F238E27FC236}">
                <a16:creationId xmlns:a16="http://schemas.microsoft.com/office/drawing/2014/main" id="{41B77351-96AB-42B7-A90F-5A5D880FD72F}"/>
              </a:ext>
            </a:extLst>
          </p:cNvPr>
          <p:cNvSpPr>
            <a:spLocks xmlns:a="http://schemas.openxmlformats.org/drawingml/2006/main" noGrp="1"/>
          </p:cNvSpPr>
          <p:nvPr/>
        </p:nvSpPr>
        <p:spPr>
          <a:xfrm xmlns:a="http://schemas.openxmlformats.org/drawingml/2006/main">
            <a:off x="9483700" y="2999232"/>
            <a:ext cx="1965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latin typeface="Calibri"/>
                <a:ea typeface="Calibri"/>
                <a:cs typeface="Calibri"/>
              </a:rPr>
              <a:t>25개</a:t>
            </a:r>
          </a:p>
        </p:txBody>
      </p:sp>
      <p:sp>
        <p:nvSpPr>
          <p:cNvPr id="40" name="Text 36">
            <a:extLst xmlns:a="http://schemas.openxmlformats.org/drawingml/2006/main">
              <a:ext uri="{FF2B5EF4-FFF2-40B4-BE49-F238E27FC236}">
                <a16:creationId xmlns:a16="http://schemas.microsoft.com/office/drawing/2014/main" id="{763EA079-0BAC-4EF2-9DFB-58D406F6B8C6}"/>
              </a:ext>
            </a:extLst>
          </p:cNvPr>
          <p:cNvSpPr>
            <a:spLocks xmlns:a="http://schemas.openxmlformats.org/drawingml/2006/main" noGrp="1"/>
          </p:cNvSpPr>
          <p:nvPr/>
        </p:nvSpPr>
        <p:spPr>
          <a:xfrm xmlns:a="http://schemas.openxmlformats.org/drawingml/2006/main">
            <a:off x="9483700" y="3730752"/>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5C6684"/>
                </a:solidFill>
                <a:latin typeface="Malgun Gothic"/>
                <a:ea typeface="Malgun Gothic"/>
                <a:cs typeface="Malgun Gothic"/>
              </a:rPr>
              <a:t>자치구 통계</a:t>
            </a:r>
          </a:p>
        </p:txBody>
      </p:sp>
      <p:sp>
        <p:nvSpPr>
          <p:cNvPr id="41" name="Text 37">
            <a:extLst xmlns:a="http://schemas.openxmlformats.org/drawingml/2006/main">
              <a:ext uri="{FF2B5EF4-FFF2-40B4-BE49-F238E27FC236}">
                <a16:creationId xmlns:a16="http://schemas.microsoft.com/office/drawing/2014/main" id="{3AB3F337-013C-4796-A832-4F02BDC0C1EE}"/>
              </a:ext>
            </a:extLst>
          </p:cNvPr>
          <p:cNvSpPr>
            <a:spLocks xmlns:a="http://schemas.openxmlformats.org/drawingml/2006/main" noGrp="1"/>
          </p:cNvSpPr>
          <p:nvPr/>
        </p:nvSpPr>
        <p:spPr>
          <a:xfrm xmlns:a="http://schemas.openxmlformats.org/drawingml/2006/main">
            <a:off x="0" y="4343400"/>
            <a:ext cx="121916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9AA3C7"/>
                </a:solidFill>
              </a:rPr>
              <a:t>▼</a:t>
            </a:r>
          </a:p>
        </p:txBody>
      </p:sp>
      <p:sp>
        <p:nvSpPr>
          <p:cNvPr id="42" name="Shape 38">
            <a:extLst xmlns:a="http://schemas.openxmlformats.org/drawingml/2006/main">
              <a:ext uri="{FF2B5EF4-FFF2-40B4-BE49-F238E27FC236}">
                <a16:creationId xmlns:a16="http://schemas.microsoft.com/office/drawing/2014/main" id="{B7E192A1-CAAF-41E5-9C98-2B9357EC7CE5}"/>
              </a:ext>
            </a:extLst>
          </p:cNvPr>
          <p:cNvSpPr>
            <a:spLocks xmlns:a="http://schemas.openxmlformats.org/drawingml/2006/main" noGrp="1"/>
          </p:cNvSpPr>
          <p:nvPr/>
        </p:nvSpPr>
        <p:spPr>
          <a:xfrm xmlns:a="http://schemas.openxmlformats.org/drawingml/2006/main">
            <a:off x="4267048" y="4709160"/>
            <a:ext cx="3657600" cy="640080"/>
          </a:xfrm>
          <a:prstGeom xmlns:a="http://schemas.openxmlformats.org/drawingml/2006/main" prst="rect">
            <a:avLst/>
          </a:prstGeom>
          <a:solidFill xmlns:a="http://schemas.openxmlformats.org/drawingml/2006/main">
            <a:srgbClr val="3558D6"/>
          </a:solidFill>
        </p:spPr>
      </p:sp>
      <p:sp>
        <p:nvSpPr>
          <p:cNvPr id="43" name="Text 39">
            <a:extLst xmlns:a="http://schemas.openxmlformats.org/drawingml/2006/main">
              <a:ext uri="{FF2B5EF4-FFF2-40B4-BE49-F238E27FC236}">
                <a16:creationId xmlns:a16="http://schemas.microsoft.com/office/drawing/2014/main" id="{1753D587-4BE4-4A0B-B642-24E0C2C26F27}"/>
              </a:ext>
            </a:extLst>
          </p:cNvPr>
          <p:cNvSpPr>
            <a:spLocks xmlns:a="http://schemas.openxmlformats.org/drawingml/2006/main" noGrp="1"/>
          </p:cNvSpPr>
          <p:nvPr/>
        </p:nvSpPr>
        <p:spPr>
          <a:xfrm xmlns:a="http://schemas.openxmlformats.org/drawingml/2006/main">
            <a:off x="4267048" y="470916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Malgun Gothic"/>
                <a:ea typeface="Malgun Gothic"/>
                <a:cs typeface="Malgun Gothic"/>
              </a:rPr>
              <a:t>공통 스키마 → 정규화 → 8대 분류 → 문제 군집 → R&amp;R 후보</a:t>
            </a:r>
          </a:p>
        </p:txBody>
      </p:sp>
    </p:spTree>
    <p:extLst>
      <p:ext uri="{BB962C8B-B14F-4D97-AF65-F5344CB8AC3E}">
        <p14:creationId xmlns:p14="http://schemas.microsoft.com/office/powerpoint/2010/main" val="1551959678"/>
      </p:ext>
    </p:extLst>
  </p:cSld>
</p:sld>
</file>

<file path=ppt/slides/slide5.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D1837D2-096D-44D7-A347-4F9BE2A19BD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6A68CE6-92BF-448B-8329-DB087C58429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1DE8673-5974-4D5A-8338-71D61EB8871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AFDFE10-91CA-4B52-B564-51803C4AD9EC}"/>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0b1cebfd5d445ac"/>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74B200C-2EAE-4CDB-9190-531D92253DAA}"/>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1CE6A54-24A2-4AB1-A0B1-7BBD1FCCC78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ABD07695-1627-474F-9E2E-FDD42E33145B}"/>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0972714-241D-4F89-9A95-0E8AFFAAD61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01541DF2-76D6-4F26-ACC4-F34249AFC464}"/>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F4A64BE2-313E-45B5-B2C5-29E255F3F04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c0b1cebfd5d445ac"/>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3C9DA202-B460-4A2A-8CCF-14F0F81D65A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4 · 두 단계 담당 범위</a:t>
            </a:r>
          </a:p>
        </p:txBody>
      </p:sp>
      <p:sp>
        <p:nvSpPr>
          <p:cNvPr id="15" name="Shape 11">
            <a:extLst xmlns:a="http://schemas.openxmlformats.org/drawingml/2006/main">
              <a:ext uri="{FF2B5EF4-FFF2-40B4-BE49-F238E27FC236}">
                <a16:creationId xmlns:a16="http://schemas.microsoft.com/office/drawing/2014/main" id="{D7E9E4A1-9BB3-43EC-94D2-346C50576E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9B184AE4-A449-4363-BD9B-655ED130C4EA}"/>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43646D7-E07C-4879-A958-CD66D1C40B9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C9825AC4-F38C-4868-B493-478078FFCE89}"/>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5E1EAB22-F419-4C1C-A0D6-E9424B10464B}"/>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1957FABC-D63E-4896-A6B6-1ABAFD6CBD1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E50084FB-1868-4CF8-B2C0-9249FDA103E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B1F1CAD-7D61-4932-93E4-3CFDB859C029}"/>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5387B3D9-98AC-42E7-B987-3A1A037A8B6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DFBA703A-F0BC-418A-881F-7838A0843931}"/>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정책 대분류 담당군 × 실제 R&amp;R 팀</a:t>
            </a:r>
          </a:p>
        </p:txBody>
      </p:sp>
      <p:sp>
        <p:nvSpPr>
          <p:cNvPr id="25" name="Text 21">
            <a:extLst xmlns:a="http://schemas.openxmlformats.org/drawingml/2006/main">
              <a:ext uri="{FF2B5EF4-FFF2-40B4-BE49-F238E27FC236}">
                <a16:creationId xmlns:a16="http://schemas.microsoft.com/office/drawing/2014/main" id="{383403BE-4622-4B28-97C6-955FB1572637}"/>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조직명과 정책 분류를 분리해 검색 의미를 명확히 합니다</a:t>
            </a:r>
          </a:p>
        </p:txBody>
      </p:sp>
      <p:sp>
        <p:nvSpPr>
          <p:cNvPr id="26" name="Shape 22">
            <a:extLst xmlns:a="http://schemas.openxmlformats.org/drawingml/2006/main">
              <a:ext uri="{FF2B5EF4-FFF2-40B4-BE49-F238E27FC236}">
                <a16:creationId xmlns:a16="http://schemas.microsoft.com/office/drawing/2014/main" id="{D247647F-72E9-4576-989F-4B6E1152BF99}"/>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7e7b5855fae949d4"/>
          <a:stretch xmlns:a="http://schemas.openxmlformats.org/drawingml/2006/main"/>
        </p:blipFill>
        <p:spPr>
          <a:xfrm xmlns:a="http://schemas.openxmlformats.org/drawingml/2006/main">
            <a:off x="3613575" y="2103120"/>
            <a:ext cx="4964547"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5CBBEFE7-1EB7-462A-A911-585734463F43}"/>
              </a:ext>
            </a:extLst>
          </p:cNvPr>
          <p:cNvSpPr>
            <a:spLocks xmlns:a="http://schemas.openxmlformats.org/drawingml/2006/main" noGrp="1"/>
          </p:cNvSpPr>
          <p:nvPr/>
        </p:nvSpPr>
        <p:spPr>
          <a:xfrm xmlns:a="http://schemas.openxmlformats.org/drawingml/2006/main">
            <a:off x="1527048"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791CDA64-0ABB-449C-878A-320868C15255}"/>
              </a:ext>
            </a:extLst>
          </p:cNvPr>
          <p:cNvSpPr>
            <a:spLocks xmlns:a="http://schemas.openxmlformats.org/drawingml/2006/main" noGrp="1"/>
          </p:cNvSpPr>
          <p:nvPr/>
        </p:nvSpPr>
        <p:spPr>
          <a:xfrm xmlns:a="http://schemas.openxmlformats.org/drawingml/2006/main">
            <a:off x="1618488"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전체+팀은 1·2·3순위, 대분류+팀은 1순위 주관만 봐요</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c0b1cebfd5d445ac"/>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715561581"/>
      </p:ext>
    </p:extLst>
  </p:cSld>
</p:sld>
</file>

<file path=ppt/slides/slide6.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3ED2B90-579A-402C-A047-B692D1C722B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4FBCDA75-2DDF-451D-BC02-1C55923522A4}"/>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8023DED7-9EB7-4487-B18F-C9DC2039EB44}"/>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56F17FE1-D3F1-4950-AC58-FF071E06722E}"/>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384121c47ec142ab"/>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898788D-CD2C-4EB5-9AF2-FE3E6EED4C7C}"/>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37852113-9056-4AA3-90EA-8D5573680D45}"/>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0B690A98-E276-4CE8-BC2E-E9DBC7C19163}"/>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C8A3424C-21D0-4215-ABBD-EB3E8F33B2D7}"/>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361FD417-B819-4B00-B255-7A9100E12A46}"/>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DE0E45A6-AB8E-41CA-8D9D-BF0D33249D7B}"/>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384121c47ec142ab"/>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C06AE9F-4B41-4A46-A241-60B2269A24A4}"/>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5 · 문제 군집과 Gap 진단</a:t>
            </a:r>
          </a:p>
        </p:txBody>
      </p:sp>
      <p:sp>
        <p:nvSpPr>
          <p:cNvPr id="15" name="Shape 11">
            <a:extLst xmlns:a="http://schemas.openxmlformats.org/drawingml/2006/main">
              <a:ext uri="{FF2B5EF4-FFF2-40B4-BE49-F238E27FC236}">
                <a16:creationId xmlns:a16="http://schemas.microsoft.com/office/drawing/2014/main" id="{8E0E3107-1D9E-4011-8D32-C0AFE55A0C3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675A4A5F-0956-40B9-87A8-85070F408054}"/>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CCA2444-D8A4-49E8-A521-78448F8AC97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49CFA0AA-2BDD-40FE-AF0D-7ADBCE753C88}"/>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10325667-D8BF-4217-8E4F-10C3604C65CF}"/>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56C1811E-5115-4CA8-813F-9EFFB0573EEE}"/>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8AFDBC2B-D267-4F26-B3A7-922926A61FB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E654008C-D825-41E1-A7C4-919B8A97AF2F}"/>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A034C66-2AAC-4909-B1F3-995308B15343}"/>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1FF0D47B-2471-467C-A9F4-A777FDB02BAA}"/>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전체 57개 문제 군집 · 선택 범위별 재구성</a:t>
            </a:r>
          </a:p>
        </p:txBody>
      </p:sp>
      <p:sp>
        <p:nvSpPr>
          <p:cNvPr id="25" name="Text 21">
            <a:extLst xmlns:a="http://schemas.openxmlformats.org/drawingml/2006/main">
              <a:ext uri="{FF2B5EF4-FFF2-40B4-BE49-F238E27FC236}">
                <a16:creationId xmlns:a16="http://schemas.microsoft.com/office/drawing/2014/main" id="{6738EAD1-E0FB-4BB0-8E44-317DB6E53861}"/>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개별 제안을 넘어 반복되는 문제 단위로 판단합니다</a:t>
            </a:r>
          </a:p>
        </p:txBody>
      </p:sp>
      <p:sp>
        <p:nvSpPr>
          <p:cNvPr id="26" name="Shape 22">
            <a:extLst xmlns:a="http://schemas.openxmlformats.org/drawingml/2006/main">
              <a:ext uri="{FF2B5EF4-FFF2-40B4-BE49-F238E27FC236}">
                <a16:creationId xmlns:a16="http://schemas.microsoft.com/office/drawing/2014/main" id="{4B0C74DD-0714-476B-9E0F-A9FE0891702C}"/>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955df6346a4241e8"/>
          <a:stretch xmlns:a="http://schemas.openxmlformats.org/drawingml/2006/main"/>
        </p:blipFill>
        <p:spPr>
          <a:xfrm xmlns:a="http://schemas.openxmlformats.org/drawingml/2006/main">
            <a:off x="2922757" y="2103120"/>
            <a:ext cx="6346182"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2484FD81-7B1E-47E1-9DB6-4E8DE5BA5B8F}"/>
              </a:ext>
            </a:extLst>
          </p:cNvPr>
          <p:cNvSpPr>
            <a:spLocks xmlns:a="http://schemas.openxmlformats.org/drawingml/2006/main" noGrp="1"/>
          </p:cNvSpPr>
          <p:nvPr/>
        </p:nvSpPr>
        <p:spPr>
          <a:xfrm xmlns:a="http://schemas.openxmlformats.org/drawingml/2006/main">
            <a:off x="1527048" y="5230368"/>
            <a:ext cx="3515868"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1CA8B1B4-2061-44BC-A940-15199801BC71}"/>
              </a:ext>
            </a:extLst>
          </p:cNvPr>
          <p:cNvSpPr>
            <a:spLocks xmlns:a="http://schemas.openxmlformats.org/drawingml/2006/main" noGrp="1"/>
          </p:cNvSpPr>
          <p:nvPr/>
        </p:nvSpPr>
        <p:spPr>
          <a:xfrm xmlns:a="http://schemas.openxmlformats.org/drawingml/2006/main">
            <a:off x="1618488" y="5230368"/>
            <a:ext cx="33329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점수는 검토 우선순위이며 정책 결정 자체가 아니에요</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384121c47ec142ab"/>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890504654"/>
      </p:ext>
    </p:extLst>
  </p:cSld>
</p:sld>
</file>

<file path=ppt/slides/slide7.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217F39-5267-4136-9D27-34C97B738888}"/>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9CED623-91D6-4CCE-9E2E-4055B4D4FA2E}"/>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55B1EDF9-8ECA-4C4F-A6DB-2CFAC0E09EE8}"/>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259C05BD-3D1F-46E6-94B0-D57B4B87790D}"/>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459ffe180d41465c"/>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5746E3B-291C-4E2A-9A48-43F91286793C}"/>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823104C-58B0-49BB-BEC1-7A21FE03CE6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13E564F-B9FC-4123-ADD9-4C5F0069DA2C}"/>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DA78D36E-09FF-4067-ABE8-0521A289514A}"/>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1CAC750B-B3ED-4FD2-85EA-3F825191716B}"/>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E12CF612-E0AD-4BE6-A7A9-CE8FC6240F31}"/>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6" name="Image 1"/>
          <p:cNvPicPr>
            <a:picLocks xmlns:a="http://schemas.openxmlformats.org/drawingml/2006/main" noChangeAspect="1"/>
          </p:cNvPicPr>
          <p:nvPr/>
        </p:nvPicPr>
        <p:blipFill>
          <a:blip xmlns:r="http://schemas.openxmlformats.org/officeDocument/2006/relationships" xmlns:a="http://schemas.openxmlformats.org/drawingml/2006/main" r:embed="R459ffe180d41465c"/>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12C995B-ED82-45DE-A13A-56095F354F07}"/>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6 · 8개 화면</a:t>
            </a:r>
          </a:p>
        </p:txBody>
      </p:sp>
      <p:sp>
        <p:nvSpPr>
          <p:cNvPr id="15" name="Shape 11">
            <a:extLst xmlns:a="http://schemas.openxmlformats.org/drawingml/2006/main">
              <a:ext uri="{FF2B5EF4-FFF2-40B4-BE49-F238E27FC236}">
                <a16:creationId xmlns:a16="http://schemas.microsoft.com/office/drawing/2014/main" id="{2C783D8E-5229-45EE-A3CF-FA559ABB711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9357DBE7-EF4E-46D3-BEA4-8609FC6E7291}"/>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808C328D-DA67-4B65-BDF2-3FFFFEE1E900}"/>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CADEE224-B4A8-4CAB-BB17-CB4622C0EFA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2E9BA3A-A7F8-42CE-8C5F-3067BD022110}"/>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04EF8FB4-5126-4BF5-B060-5B050D6B9F7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43A844A8-CA41-4746-B377-4C8613CCCB9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3FB8EF3-C10C-43C7-A960-F45458B8C090}"/>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2ED8D2C-7758-4F0B-B1B8-AF673DE39F4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E6F26D94-276C-4637-B5ED-23B24F7C39A4}"/>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8개 화면 · 공통 담당 범위 연동</a:t>
            </a:r>
          </a:p>
        </p:txBody>
      </p:sp>
      <p:sp>
        <p:nvSpPr>
          <p:cNvPr id="25" name="Text 21">
            <a:extLst xmlns:a="http://schemas.openxmlformats.org/drawingml/2006/main">
              <a:ext uri="{FF2B5EF4-FFF2-40B4-BE49-F238E27FC236}">
                <a16:creationId xmlns:a16="http://schemas.microsoft.com/office/drawing/2014/main" id="{FB2A3CB7-B156-4435-B8A6-0FAC6A152F2B}"/>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각 화면은 다른 질문에 답하지만 선택 범위는 하나로 이어집니다</a:t>
            </a:r>
          </a:p>
        </p:txBody>
      </p:sp>
      <p:sp>
        <p:nvSpPr>
          <p:cNvPr id="26" name="Shape 22">
            <a:extLst xmlns:a="http://schemas.openxmlformats.org/drawingml/2006/main">
              <a:ext uri="{FF2B5EF4-FFF2-40B4-BE49-F238E27FC236}">
                <a16:creationId xmlns:a16="http://schemas.microsoft.com/office/drawing/2014/main" id="{5C670F28-CB59-402B-989F-51B8CF75CBD0}"/>
              </a:ext>
            </a:extLst>
          </p:cNvPr>
          <p:cNvSpPr>
            <a:spLocks xmlns:a="http://schemas.openxmlformats.org/drawingml/2006/main" noGrp="1"/>
          </p:cNvSpPr>
          <p:nvPr/>
        </p:nvSpPr>
        <p:spPr>
          <a:xfrm xmlns:a="http://schemas.openxmlformats.org/drawingml/2006/main">
            <a:off x="792328"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2AA8D1A0-D262-4A25-8D81-C6E75119C1FB}"/>
              </a:ext>
            </a:extLst>
          </p:cNvPr>
          <p:cNvSpPr>
            <a:spLocks xmlns:a="http://schemas.openxmlformats.org/drawingml/2006/main" noGrp="1"/>
          </p:cNvSpPr>
          <p:nvPr/>
        </p:nvSpPr>
        <p:spPr>
          <a:xfrm xmlns:a="http://schemas.openxmlformats.org/drawingml/2006/main">
            <a:off x="920344"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1</a:t>
            </a:r>
          </a:p>
        </p:txBody>
      </p:sp>
      <p:sp>
        <p:nvSpPr>
          <p:cNvPr id="28" name="Text 24">
            <a:extLst xmlns:a="http://schemas.openxmlformats.org/drawingml/2006/main">
              <a:ext uri="{FF2B5EF4-FFF2-40B4-BE49-F238E27FC236}">
                <a16:creationId xmlns:a16="http://schemas.microsoft.com/office/drawing/2014/main" id="{F8A5E13E-F779-42C2-8151-3F27A308C938}"/>
              </a:ext>
            </a:extLst>
          </p:cNvPr>
          <p:cNvSpPr>
            <a:spLocks xmlns:a="http://schemas.openxmlformats.org/drawingml/2006/main" noGrp="1"/>
          </p:cNvSpPr>
          <p:nvPr/>
        </p:nvSpPr>
        <p:spPr>
          <a:xfrm xmlns:a="http://schemas.openxmlformats.org/drawingml/2006/main">
            <a:off x="1249528"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수요 현황</a:t>
            </a:r>
          </a:p>
        </p:txBody>
      </p:sp>
      <p:sp>
        <p:nvSpPr>
          <p:cNvPr id="29" name="Shape 25">
            <a:extLst xmlns:a="http://schemas.openxmlformats.org/drawingml/2006/main">
              <a:ext uri="{FF2B5EF4-FFF2-40B4-BE49-F238E27FC236}">
                <a16:creationId xmlns:a16="http://schemas.microsoft.com/office/drawing/2014/main" id="{ABF7C3D6-6CD0-432A-B6D1-7E193EB4980C}"/>
              </a:ext>
            </a:extLst>
          </p:cNvPr>
          <p:cNvSpPr>
            <a:spLocks xmlns:a="http://schemas.openxmlformats.org/drawingml/2006/main" noGrp="1"/>
          </p:cNvSpPr>
          <p:nvPr/>
        </p:nvSpPr>
        <p:spPr>
          <a:xfrm xmlns:a="http://schemas.openxmlformats.org/drawingml/2006/main">
            <a:off x="3498952"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D91856DB-B349-4B3E-BF84-D44A5E45C70C}"/>
              </a:ext>
            </a:extLst>
          </p:cNvPr>
          <p:cNvSpPr>
            <a:spLocks xmlns:a="http://schemas.openxmlformats.org/drawingml/2006/main" noGrp="1"/>
          </p:cNvSpPr>
          <p:nvPr/>
        </p:nvSpPr>
        <p:spPr>
          <a:xfrm xmlns:a="http://schemas.openxmlformats.org/drawingml/2006/main">
            <a:off x="3626968"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E2C5AD69-2A5C-41E4-AF75-3CF6DD8D43A4}"/>
              </a:ext>
            </a:extLst>
          </p:cNvPr>
          <p:cNvSpPr>
            <a:spLocks xmlns:a="http://schemas.openxmlformats.org/drawingml/2006/main" noGrp="1"/>
          </p:cNvSpPr>
          <p:nvPr/>
        </p:nvSpPr>
        <p:spPr>
          <a:xfrm xmlns:a="http://schemas.openxmlformats.org/drawingml/2006/main">
            <a:off x="3956152"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시민 목소리</a:t>
            </a:r>
          </a:p>
        </p:txBody>
      </p:sp>
      <p:sp>
        <p:nvSpPr>
          <p:cNvPr id="32" name="Shape 28">
            <a:extLst xmlns:a="http://schemas.openxmlformats.org/drawingml/2006/main">
              <a:ext uri="{FF2B5EF4-FFF2-40B4-BE49-F238E27FC236}">
                <a16:creationId xmlns:a16="http://schemas.microsoft.com/office/drawing/2014/main" id="{38DCF69B-E6CF-4279-9CBD-1094B8048B6A}"/>
              </a:ext>
            </a:extLst>
          </p:cNvPr>
          <p:cNvSpPr>
            <a:spLocks xmlns:a="http://schemas.openxmlformats.org/drawingml/2006/main" noGrp="1"/>
          </p:cNvSpPr>
          <p:nvPr/>
        </p:nvSpPr>
        <p:spPr>
          <a:xfrm xmlns:a="http://schemas.openxmlformats.org/drawingml/2006/main">
            <a:off x="6205576"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3" name="Text 29">
            <a:extLst xmlns:a="http://schemas.openxmlformats.org/drawingml/2006/main">
              <a:ext uri="{FF2B5EF4-FFF2-40B4-BE49-F238E27FC236}">
                <a16:creationId xmlns:a16="http://schemas.microsoft.com/office/drawing/2014/main" id="{39CD6C50-67DE-45EB-B611-85BDB762C1A2}"/>
              </a:ext>
            </a:extLst>
          </p:cNvPr>
          <p:cNvSpPr>
            <a:spLocks xmlns:a="http://schemas.openxmlformats.org/drawingml/2006/main" noGrp="1"/>
          </p:cNvSpPr>
          <p:nvPr/>
        </p:nvSpPr>
        <p:spPr>
          <a:xfrm xmlns:a="http://schemas.openxmlformats.org/drawingml/2006/main">
            <a:off x="6333592"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3</a:t>
            </a:r>
          </a:p>
        </p:txBody>
      </p:sp>
      <p:sp>
        <p:nvSpPr>
          <p:cNvPr id="34" name="Text 30">
            <a:extLst xmlns:a="http://schemas.openxmlformats.org/drawingml/2006/main">
              <a:ext uri="{FF2B5EF4-FFF2-40B4-BE49-F238E27FC236}">
                <a16:creationId xmlns:a16="http://schemas.microsoft.com/office/drawing/2014/main" id="{65FCD2B9-A722-401B-9575-53C7C37FD786}"/>
              </a:ext>
            </a:extLst>
          </p:cNvPr>
          <p:cNvSpPr>
            <a:spLocks xmlns:a="http://schemas.openxmlformats.org/drawingml/2006/main" noGrp="1"/>
          </p:cNvSpPr>
          <p:nvPr/>
        </p:nvSpPr>
        <p:spPr>
          <a:xfrm xmlns:a="http://schemas.openxmlformats.org/drawingml/2006/main">
            <a:off x="6662776"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긴급 민원</a:t>
            </a:r>
          </a:p>
        </p:txBody>
      </p:sp>
      <p:sp>
        <p:nvSpPr>
          <p:cNvPr id="35" name="Shape 31">
            <a:extLst xmlns:a="http://schemas.openxmlformats.org/drawingml/2006/main">
              <a:ext uri="{FF2B5EF4-FFF2-40B4-BE49-F238E27FC236}">
                <a16:creationId xmlns:a16="http://schemas.microsoft.com/office/drawing/2014/main" id="{DCC78CD7-CF40-407E-BBB4-F715B1469D5D}"/>
              </a:ext>
            </a:extLst>
          </p:cNvPr>
          <p:cNvSpPr>
            <a:spLocks xmlns:a="http://schemas.openxmlformats.org/drawingml/2006/main" noGrp="1"/>
          </p:cNvSpPr>
          <p:nvPr/>
        </p:nvSpPr>
        <p:spPr>
          <a:xfrm xmlns:a="http://schemas.openxmlformats.org/drawingml/2006/main">
            <a:off x="8912200"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6" name="Text 32">
            <a:extLst xmlns:a="http://schemas.openxmlformats.org/drawingml/2006/main">
              <a:ext uri="{FF2B5EF4-FFF2-40B4-BE49-F238E27FC236}">
                <a16:creationId xmlns:a16="http://schemas.microsoft.com/office/drawing/2014/main" id="{6B3A4304-A1A3-4AFF-9DCF-CE4967F71093}"/>
              </a:ext>
            </a:extLst>
          </p:cNvPr>
          <p:cNvSpPr>
            <a:spLocks xmlns:a="http://schemas.openxmlformats.org/drawingml/2006/main" noGrp="1"/>
          </p:cNvSpPr>
          <p:nvPr/>
        </p:nvSpPr>
        <p:spPr>
          <a:xfrm xmlns:a="http://schemas.openxmlformats.org/drawingml/2006/main">
            <a:off x="9040216"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4</a:t>
            </a:r>
          </a:p>
        </p:txBody>
      </p:sp>
      <p:sp>
        <p:nvSpPr>
          <p:cNvPr id="37" name="Text 33">
            <a:extLst xmlns:a="http://schemas.openxmlformats.org/drawingml/2006/main">
              <a:ext uri="{FF2B5EF4-FFF2-40B4-BE49-F238E27FC236}">
                <a16:creationId xmlns:a16="http://schemas.microsoft.com/office/drawing/2014/main" id="{8D1A8375-FEF4-400C-9FC1-A0D81DEE8CFA}"/>
              </a:ext>
            </a:extLst>
          </p:cNvPr>
          <p:cNvSpPr>
            <a:spLocks xmlns:a="http://schemas.openxmlformats.org/drawingml/2006/main" noGrp="1"/>
          </p:cNvSpPr>
          <p:nvPr/>
        </p:nvSpPr>
        <p:spPr>
          <a:xfrm xmlns:a="http://schemas.openxmlformats.org/drawingml/2006/main">
            <a:off x="9369400"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현행 정책</a:t>
            </a:r>
          </a:p>
        </p:txBody>
      </p:sp>
      <p:sp>
        <p:nvSpPr>
          <p:cNvPr id="38" name="Shape 34">
            <a:extLst xmlns:a="http://schemas.openxmlformats.org/drawingml/2006/main">
              <a:ext uri="{FF2B5EF4-FFF2-40B4-BE49-F238E27FC236}">
                <a16:creationId xmlns:a16="http://schemas.microsoft.com/office/drawing/2014/main" id="{7CD3271E-74A0-4FA5-96D8-B3145ED1E9F4}"/>
              </a:ext>
            </a:extLst>
          </p:cNvPr>
          <p:cNvSpPr>
            <a:spLocks xmlns:a="http://schemas.openxmlformats.org/drawingml/2006/main" noGrp="1"/>
          </p:cNvSpPr>
          <p:nvPr/>
        </p:nvSpPr>
        <p:spPr>
          <a:xfrm xmlns:a="http://schemas.openxmlformats.org/drawingml/2006/main">
            <a:off x="792328"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9" name="Text 35">
            <a:extLst xmlns:a="http://schemas.openxmlformats.org/drawingml/2006/main">
              <a:ext uri="{FF2B5EF4-FFF2-40B4-BE49-F238E27FC236}">
                <a16:creationId xmlns:a16="http://schemas.microsoft.com/office/drawing/2014/main" id="{48F15A27-0AD7-4935-B500-3FB39DFD31D3}"/>
              </a:ext>
            </a:extLst>
          </p:cNvPr>
          <p:cNvSpPr>
            <a:spLocks xmlns:a="http://schemas.openxmlformats.org/drawingml/2006/main" noGrp="1"/>
          </p:cNvSpPr>
          <p:nvPr/>
        </p:nvSpPr>
        <p:spPr>
          <a:xfrm xmlns:a="http://schemas.openxmlformats.org/drawingml/2006/main">
            <a:off x="920344"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5</a:t>
            </a:r>
          </a:p>
        </p:txBody>
      </p:sp>
      <p:sp>
        <p:nvSpPr>
          <p:cNvPr id="40" name="Text 36">
            <a:extLst xmlns:a="http://schemas.openxmlformats.org/drawingml/2006/main">
              <a:ext uri="{FF2B5EF4-FFF2-40B4-BE49-F238E27FC236}">
                <a16:creationId xmlns:a16="http://schemas.microsoft.com/office/drawing/2014/main" id="{4E6CA9D7-8F35-4B53-927D-F1106B3BB9E4}"/>
              </a:ext>
            </a:extLst>
          </p:cNvPr>
          <p:cNvSpPr>
            <a:spLocks xmlns:a="http://schemas.openxmlformats.org/drawingml/2006/main" noGrp="1"/>
          </p:cNvSpPr>
          <p:nvPr/>
        </p:nvSpPr>
        <p:spPr>
          <a:xfrm xmlns:a="http://schemas.openxmlformats.org/drawingml/2006/main">
            <a:off x="1249528"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정책 사각지대</a:t>
            </a:r>
          </a:p>
        </p:txBody>
      </p:sp>
      <p:sp>
        <p:nvSpPr>
          <p:cNvPr id="41" name="Shape 37">
            <a:extLst xmlns:a="http://schemas.openxmlformats.org/drawingml/2006/main">
              <a:ext uri="{FF2B5EF4-FFF2-40B4-BE49-F238E27FC236}">
                <a16:creationId xmlns:a16="http://schemas.microsoft.com/office/drawing/2014/main" id="{78CE1E20-4E81-436C-8DE3-31DF263FBA50}"/>
              </a:ext>
            </a:extLst>
          </p:cNvPr>
          <p:cNvSpPr>
            <a:spLocks xmlns:a="http://schemas.openxmlformats.org/drawingml/2006/main" noGrp="1"/>
          </p:cNvSpPr>
          <p:nvPr/>
        </p:nvSpPr>
        <p:spPr>
          <a:xfrm xmlns:a="http://schemas.openxmlformats.org/drawingml/2006/main">
            <a:off x="3498952"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2" name="Text 38">
            <a:extLst xmlns:a="http://schemas.openxmlformats.org/drawingml/2006/main">
              <a:ext uri="{FF2B5EF4-FFF2-40B4-BE49-F238E27FC236}">
                <a16:creationId xmlns:a16="http://schemas.microsoft.com/office/drawing/2014/main" id="{2C6FE0A7-52E1-416E-BAB3-64E0992D0039}"/>
              </a:ext>
            </a:extLst>
          </p:cNvPr>
          <p:cNvSpPr>
            <a:spLocks xmlns:a="http://schemas.openxmlformats.org/drawingml/2006/main" noGrp="1"/>
          </p:cNvSpPr>
          <p:nvPr/>
        </p:nvSpPr>
        <p:spPr>
          <a:xfrm xmlns:a="http://schemas.openxmlformats.org/drawingml/2006/main">
            <a:off x="3626968"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6</a:t>
            </a:r>
          </a:p>
        </p:txBody>
      </p:sp>
      <p:sp>
        <p:nvSpPr>
          <p:cNvPr id="43" name="Text 39">
            <a:extLst xmlns:a="http://schemas.openxmlformats.org/drawingml/2006/main">
              <a:ext uri="{FF2B5EF4-FFF2-40B4-BE49-F238E27FC236}">
                <a16:creationId xmlns:a16="http://schemas.microsoft.com/office/drawing/2014/main" id="{6B3C788E-84BD-4885-BB45-5F2B0B03D1A7}"/>
              </a:ext>
            </a:extLst>
          </p:cNvPr>
          <p:cNvSpPr>
            <a:spLocks xmlns:a="http://schemas.openxmlformats.org/drawingml/2006/main" noGrp="1"/>
          </p:cNvSpPr>
          <p:nvPr/>
        </p:nvSpPr>
        <p:spPr>
          <a:xfrm xmlns:a="http://schemas.openxmlformats.org/drawingml/2006/main">
            <a:off x="3956152"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자치구 통계</a:t>
            </a:r>
          </a:p>
        </p:txBody>
      </p:sp>
      <p:sp>
        <p:nvSpPr>
          <p:cNvPr id="44" name="Shape 40">
            <a:extLst xmlns:a="http://schemas.openxmlformats.org/drawingml/2006/main">
              <a:ext uri="{FF2B5EF4-FFF2-40B4-BE49-F238E27FC236}">
                <a16:creationId xmlns:a16="http://schemas.microsoft.com/office/drawing/2014/main" id="{6D0EE7DA-1CA0-411F-8F9F-331F9EBF66AF}"/>
              </a:ext>
            </a:extLst>
          </p:cNvPr>
          <p:cNvSpPr>
            <a:spLocks xmlns:a="http://schemas.openxmlformats.org/drawingml/2006/main" noGrp="1"/>
          </p:cNvSpPr>
          <p:nvPr/>
        </p:nvSpPr>
        <p:spPr>
          <a:xfrm xmlns:a="http://schemas.openxmlformats.org/drawingml/2006/main">
            <a:off x="6205576"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5" name="Text 41">
            <a:extLst xmlns:a="http://schemas.openxmlformats.org/drawingml/2006/main">
              <a:ext uri="{FF2B5EF4-FFF2-40B4-BE49-F238E27FC236}">
                <a16:creationId xmlns:a16="http://schemas.microsoft.com/office/drawing/2014/main" id="{1837E159-0B86-4A28-A576-B0D32FCEF76F}"/>
              </a:ext>
            </a:extLst>
          </p:cNvPr>
          <p:cNvSpPr>
            <a:spLocks xmlns:a="http://schemas.openxmlformats.org/drawingml/2006/main" noGrp="1"/>
          </p:cNvSpPr>
          <p:nvPr/>
        </p:nvSpPr>
        <p:spPr>
          <a:xfrm xmlns:a="http://schemas.openxmlformats.org/drawingml/2006/main">
            <a:off x="6333592"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7</a:t>
            </a:r>
          </a:p>
        </p:txBody>
      </p:sp>
      <p:sp>
        <p:nvSpPr>
          <p:cNvPr id="46" name="Text 42">
            <a:extLst xmlns:a="http://schemas.openxmlformats.org/drawingml/2006/main">
              <a:ext uri="{FF2B5EF4-FFF2-40B4-BE49-F238E27FC236}">
                <a16:creationId xmlns:a16="http://schemas.microsoft.com/office/drawing/2014/main" id="{E651A836-7ED7-4C0C-86B9-F80F9F24644F}"/>
              </a:ext>
            </a:extLst>
          </p:cNvPr>
          <p:cNvSpPr>
            <a:spLocks xmlns:a="http://schemas.openxmlformats.org/drawingml/2006/main" noGrp="1"/>
          </p:cNvSpPr>
          <p:nvPr/>
        </p:nvSpPr>
        <p:spPr>
          <a:xfrm xmlns:a="http://schemas.openxmlformats.org/drawingml/2006/main">
            <a:off x="6662776"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정책 Gap</a:t>
            </a:r>
          </a:p>
        </p:txBody>
      </p:sp>
      <p:sp>
        <p:nvSpPr>
          <p:cNvPr id="47" name="Shape 43">
            <a:extLst xmlns:a="http://schemas.openxmlformats.org/drawingml/2006/main">
              <a:ext uri="{FF2B5EF4-FFF2-40B4-BE49-F238E27FC236}">
                <a16:creationId xmlns:a16="http://schemas.microsoft.com/office/drawing/2014/main" id="{13B53493-DB94-499B-88E3-E49DD8B928BE}"/>
              </a:ext>
            </a:extLst>
          </p:cNvPr>
          <p:cNvSpPr>
            <a:spLocks xmlns:a="http://schemas.openxmlformats.org/drawingml/2006/main" noGrp="1"/>
          </p:cNvSpPr>
          <p:nvPr/>
        </p:nvSpPr>
        <p:spPr>
          <a:xfrm xmlns:a="http://schemas.openxmlformats.org/drawingml/2006/main">
            <a:off x="8912200"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8" name="Text 44">
            <a:extLst xmlns:a="http://schemas.openxmlformats.org/drawingml/2006/main">
              <a:ext uri="{FF2B5EF4-FFF2-40B4-BE49-F238E27FC236}">
                <a16:creationId xmlns:a16="http://schemas.microsoft.com/office/drawing/2014/main" id="{18CC40E8-4197-47F3-A65F-8C75801FEBA0}"/>
              </a:ext>
            </a:extLst>
          </p:cNvPr>
          <p:cNvSpPr>
            <a:spLocks xmlns:a="http://schemas.openxmlformats.org/drawingml/2006/main" noGrp="1"/>
          </p:cNvSpPr>
          <p:nvPr/>
        </p:nvSpPr>
        <p:spPr>
          <a:xfrm xmlns:a="http://schemas.openxmlformats.org/drawingml/2006/main">
            <a:off x="9040216"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8</a:t>
            </a:r>
          </a:p>
        </p:txBody>
      </p:sp>
      <p:sp>
        <p:nvSpPr>
          <p:cNvPr id="49" name="Text 45">
            <a:extLst xmlns:a="http://schemas.openxmlformats.org/drawingml/2006/main">
              <a:ext uri="{FF2B5EF4-FFF2-40B4-BE49-F238E27FC236}">
                <a16:creationId xmlns:a16="http://schemas.microsoft.com/office/drawing/2014/main" id="{79939A77-964A-4000-98BE-4D3E502A4C55}"/>
              </a:ext>
            </a:extLst>
          </p:cNvPr>
          <p:cNvSpPr>
            <a:spLocks xmlns:a="http://schemas.openxmlformats.org/drawingml/2006/main" noGrp="1"/>
          </p:cNvSpPr>
          <p:nvPr/>
        </p:nvSpPr>
        <p:spPr>
          <a:xfrm xmlns:a="http://schemas.openxmlformats.org/drawingml/2006/main">
            <a:off x="9369400"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결측·로그</a:t>
            </a:r>
          </a:p>
        </p:txBody>
      </p:sp>
      <p:sp>
        <p:nvSpPr>
          <p:cNvPr id="50" name="Shape 46">
            <a:extLst xmlns:a="http://schemas.openxmlformats.org/drawingml/2006/main">
              <a:ext uri="{FF2B5EF4-FFF2-40B4-BE49-F238E27FC236}">
                <a16:creationId xmlns:a16="http://schemas.microsoft.com/office/drawing/2014/main" id="{975E99B1-9D63-41EA-B8E7-C43D11AF9077}"/>
              </a:ext>
            </a:extLst>
          </p:cNvPr>
          <p:cNvSpPr>
            <a:spLocks xmlns:a="http://schemas.openxmlformats.org/drawingml/2006/main" noGrp="1"/>
          </p:cNvSpPr>
          <p:nvPr/>
        </p:nvSpPr>
        <p:spPr>
          <a:xfrm xmlns:a="http://schemas.openxmlformats.org/drawingml/2006/main">
            <a:off x="6510528" y="5230368"/>
            <a:ext cx="4023360"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51" name="Text 47">
            <a:extLst xmlns:a="http://schemas.openxmlformats.org/drawingml/2006/main">
              <a:ext uri="{FF2B5EF4-FFF2-40B4-BE49-F238E27FC236}">
                <a16:creationId xmlns:a16="http://schemas.microsoft.com/office/drawing/2014/main" id="{B635D161-6B63-4D9A-8485-3ED5EA448871}"/>
              </a:ext>
            </a:extLst>
          </p:cNvPr>
          <p:cNvSpPr>
            <a:spLocks xmlns:a="http://schemas.openxmlformats.org/drawingml/2006/main" noGrp="1"/>
          </p:cNvSpPr>
          <p:nvPr/>
        </p:nvSpPr>
        <p:spPr>
          <a:xfrm xmlns:a="http://schemas.openxmlformats.org/drawingml/2006/main">
            <a:off x="6601968" y="5230368"/>
            <a:ext cx="384048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페이지를 바꿔도 담당군·실제 팀 기준이 유지돼요</a:t>
            </a:r>
          </a:p>
        </p:txBody>
      </p:sp>
      <p:pic>
        <p:nvPicPr>
          <p:cNvPr id="105" name="Image 2"/>
          <p:cNvPicPr>
            <a:picLocks xmlns:a="http://schemas.openxmlformats.org/drawingml/2006/main" noChangeAspect="1"/>
          </p:cNvPicPr>
          <p:nvPr/>
        </p:nvPicPr>
        <p:blipFill>
          <a:blip xmlns:r="http://schemas.openxmlformats.org/officeDocument/2006/relationships" xmlns:a="http://schemas.openxmlformats.org/drawingml/2006/main" r:embed="R459ffe180d41465c"/>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264366187"/>
      </p:ext>
    </p:extLst>
  </p:cSld>
</p:sld>
</file>

<file path=ppt/slides/slide8.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217F39-5267-4136-9D27-34C97B738888}"/>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9CED623-91D6-4CCE-9E2E-4055B4D4FA2E}"/>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55B1EDF9-8ECA-4C4F-A6DB-2CFAC0E09EE8}"/>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259C05BD-3D1F-46E6-94B0-D57B4B87790D}"/>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e5e3e3c8f8f415e"/>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5746E3B-291C-4E2A-9A48-43F91286793C}"/>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823104C-58B0-49BB-BEC1-7A21FE03CE61}"/>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13E564F-B9FC-4123-ADD9-4C5F0069DA2C}"/>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DA78D36E-09FF-4067-ABE8-0521A289514A}"/>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1CAC750B-B3ED-4FD2-85EA-3F825191716B}"/>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E12CF612-E0AD-4BE6-A7A9-CE8FC6240F31}"/>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6" name="Image 1"/>
          <p:cNvPicPr>
            <a:picLocks xmlns:a="http://schemas.openxmlformats.org/drawingml/2006/main" noChangeAspect="1"/>
          </p:cNvPicPr>
          <p:nvPr/>
        </p:nvPicPr>
        <p:blipFill>
          <a:blip xmlns:r="http://schemas.openxmlformats.org/officeDocument/2006/relationships" xmlns:a="http://schemas.openxmlformats.org/drawingml/2006/main" r:embed="Rbe5e3e3c8f8f415e"/>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A12C995B-ED82-45DE-A13A-56095F354F07}"/>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7 · End-to-End</a:t>
            </a:r>
          </a:p>
        </p:txBody>
      </p:sp>
      <p:sp>
        <p:nvSpPr>
          <p:cNvPr id="15" name="Shape 11">
            <a:extLst xmlns:a="http://schemas.openxmlformats.org/drawingml/2006/main">
              <a:ext uri="{FF2B5EF4-FFF2-40B4-BE49-F238E27FC236}">
                <a16:creationId xmlns:a16="http://schemas.microsoft.com/office/drawing/2014/main" id="{2C783D8E-5229-45EE-A3CF-FA559ABB711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9357DBE7-EF4E-46D3-BEA4-8609FC6E7291}"/>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808C328D-DA67-4B65-BDF2-3FFFFEE1E900}"/>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CADEE224-B4A8-4CAB-BB17-CB4622C0EFA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2E9BA3A-A7F8-42CE-8C5F-3067BD022110}"/>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04EF8FB4-5126-4BF5-B060-5B050D6B9F7F}"/>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43A844A8-CA41-4746-B377-4C8613CCCB9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3FB8EF3-C10C-43C7-A960-F45458B8C090}"/>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2ED8D2C-7758-4F0B-B1B8-AF673DE39F4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E6F26D94-276C-4637-B5ED-23B24F7C39A4}"/>
              </a:ext>
            </a:extLst>
          </p:cNvPr>
          <p:cNvSpPr>
            <a:spLocks xmlns:a="http://schemas.openxmlformats.org/drawingml/2006/main" noGrp="1"/>
          </p:cNvSpPr>
          <p:nvPr/>
        </p:nvSpPr>
        <p:spPr>
          <a:xfrm xmlns:a="http://schemas.openxmlformats.org/drawingml/2006/main">
            <a:off x="0" y="12801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발견에서 보고서까지</a:t>
            </a:r>
          </a:p>
        </p:txBody>
      </p:sp>
      <p:sp>
        <p:nvSpPr>
          <p:cNvPr id="25" name="Text 21">
            <a:extLst xmlns:a="http://schemas.openxmlformats.org/drawingml/2006/main">
              <a:ext uri="{FF2B5EF4-FFF2-40B4-BE49-F238E27FC236}">
                <a16:creationId xmlns:a16="http://schemas.microsoft.com/office/drawing/2014/main" id="{FB2A3CB7-B156-4435-B8A6-0FAC6A152F2B}"/>
              </a:ext>
            </a:extLst>
          </p:cNvPr>
          <p:cNvSpPr>
            <a:spLocks xmlns:a="http://schemas.openxmlformats.org/drawingml/2006/main" noGrp="1"/>
          </p:cNvSpPr>
          <p:nvPr/>
        </p:nvSpPr>
        <p:spPr>
          <a:xfrm xmlns:a="http://schemas.openxmlformats.org/drawingml/2006/main">
            <a:off x="548640" y="1627632"/>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선택한 범위가 근거 검토와 후속 조치까지 이어집니다</a:t>
            </a:r>
          </a:p>
        </p:txBody>
      </p:sp>
      <p:sp>
        <p:nvSpPr>
          <p:cNvPr id="26" name="Shape 22">
            <a:extLst xmlns:a="http://schemas.openxmlformats.org/drawingml/2006/main">
              <a:ext uri="{FF2B5EF4-FFF2-40B4-BE49-F238E27FC236}">
                <a16:creationId xmlns:a16="http://schemas.microsoft.com/office/drawing/2014/main" id="{5C670F28-CB59-402B-989F-51B8CF75CBD0}"/>
              </a:ext>
            </a:extLst>
          </p:cNvPr>
          <p:cNvSpPr>
            <a:spLocks xmlns:a="http://schemas.openxmlformats.org/drawingml/2006/main" noGrp="1"/>
          </p:cNvSpPr>
          <p:nvPr/>
        </p:nvSpPr>
        <p:spPr>
          <a:xfrm xmlns:a="http://schemas.openxmlformats.org/drawingml/2006/main">
            <a:off x="792328"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2AA8D1A0-D262-4A25-8D81-C6E75119C1FB}"/>
              </a:ext>
            </a:extLst>
          </p:cNvPr>
          <p:cNvSpPr>
            <a:spLocks xmlns:a="http://schemas.openxmlformats.org/drawingml/2006/main" noGrp="1"/>
          </p:cNvSpPr>
          <p:nvPr/>
        </p:nvSpPr>
        <p:spPr>
          <a:xfrm xmlns:a="http://schemas.openxmlformats.org/drawingml/2006/main">
            <a:off x="920344"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1</a:t>
            </a:r>
          </a:p>
        </p:txBody>
      </p:sp>
      <p:sp>
        <p:nvSpPr>
          <p:cNvPr id="28" name="Text 24">
            <a:extLst xmlns:a="http://schemas.openxmlformats.org/drawingml/2006/main">
              <a:ext uri="{FF2B5EF4-FFF2-40B4-BE49-F238E27FC236}">
                <a16:creationId xmlns:a16="http://schemas.microsoft.com/office/drawing/2014/main" id="{F8A5E13E-F779-42C2-8151-3F27A308C938}"/>
              </a:ext>
            </a:extLst>
          </p:cNvPr>
          <p:cNvSpPr>
            <a:spLocks xmlns:a="http://schemas.openxmlformats.org/drawingml/2006/main" noGrp="1"/>
          </p:cNvSpPr>
          <p:nvPr/>
        </p:nvSpPr>
        <p:spPr>
          <a:xfrm xmlns:a="http://schemas.openxmlformats.org/drawingml/2006/main">
            <a:off x="1249528"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담당 범위 선택</a:t>
            </a:r>
          </a:p>
        </p:txBody>
      </p:sp>
      <p:sp>
        <p:nvSpPr>
          <p:cNvPr id="29" name="Shape 25">
            <a:extLst xmlns:a="http://schemas.openxmlformats.org/drawingml/2006/main">
              <a:ext uri="{FF2B5EF4-FFF2-40B4-BE49-F238E27FC236}">
                <a16:creationId xmlns:a16="http://schemas.microsoft.com/office/drawing/2014/main" id="{ABF7C3D6-6CD0-432A-B6D1-7E193EB4980C}"/>
              </a:ext>
            </a:extLst>
          </p:cNvPr>
          <p:cNvSpPr>
            <a:spLocks xmlns:a="http://schemas.openxmlformats.org/drawingml/2006/main" noGrp="1"/>
          </p:cNvSpPr>
          <p:nvPr/>
        </p:nvSpPr>
        <p:spPr>
          <a:xfrm xmlns:a="http://schemas.openxmlformats.org/drawingml/2006/main">
            <a:off x="3498952"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D91856DB-B349-4B3E-BF84-D44A5E45C70C}"/>
              </a:ext>
            </a:extLst>
          </p:cNvPr>
          <p:cNvSpPr>
            <a:spLocks xmlns:a="http://schemas.openxmlformats.org/drawingml/2006/main" noGrp="1"/>
          </p:cNvSpPr>
          <p:nvPr/>
        </p:nvSpPr>
        <p:spPr>
          <a:xfrm xmlns:a="http://schemas.openxmlformats.org/drawingml/2006/main">
            <a:off x="3626968"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E2C5AD69-2A5C-41E4-AF75-3CF6DD8D43A4}"/>
              </a:ext>
            </a:extLst>
          </p:cNvPr>
          <p:cNvSpPr>
            <a:spLocks xmlns:a="http://schemas.openxmlformats.org/drawingml/2006/main" noGrp="1"/>
          </p:cNvSpPr>
          <p:nvPr/>
        </p:nvSpPr>
        <p:spPr>
          <a:xfrm xmlns:a="http://schemas.openxmlformats.org/drawingml/2006/main">
            <a:off x="3956152"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KPI·키워드</a:t>
            </a:r>
          </a:p>
        </p:txBody>
      </p:sp>
      <p:sp>
        <p:nvSpPr>
          <p:cNvPr id="32" name="Shape 28">
            <a:extLst xmlns:a="http://schemas.openxmlformats.org/drawingml/2006/main">
              <a:ext uri="{FF2B5EF4-FFF2-40B4-BE49-F238E27FC236}">
                <a16:creationId xmlns:a16="http://schemas.microsoft.com/office/drawing/2014/main" id="{38DCF69B-E6CF-4279-9CBD-1094B8048B6A}"/>
              </a:ext>
            </a:extLst>
          </p:cNvPr>
          <p:cNvSpPr>
            <a:spLocks xmlns:a="http://schemas.openxmlformats.org/drawingml/2006/main" noGrp="1"/>
          </p:cNvSpPr>
          <p:nvPr/>
        </p:nvSpPr>
        <p:spPr>
          <a:xfrm xmlns:a="http://schemas.openxmlformats.org/drawingml/2006/main">
            <a:off x="6205576"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3" name="Text 29">
            <a:extLst xmlns:a="http://schemas.openxmlformats.org/drawingml/2006/main">
              <a:ext uri="{FF2B5EF4-FFF2-40B4-BE49-F238E27FC236}">
                <a16:creationId xmlns:a16="http://schemas.microsoft.com/office/drawing/2014/main" id="{39CD6C50-67DE-45EB-B611-85BDB762C1A2}"/>
              </a:ext>
            </a:extLst>
          </p:cNvPr>
          <p:cNvSpPr>
            <a:spLocks xmlns:a="http://schemas.openxmlformats.org/drawingml/2006/main" noGrp="1"/>
          </p:cNvSpPr>
          <p:nvPr/>
        </p:nvSpPr>
        <p:spPr>
          <a:xfrm xmlns:a="http://schemas.openxmlformats.org/drawingml/2006/main">
            <a:off x="6333592"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3</a:t>
            </a:r>
          </a:p>
        </p:txBody>
      </p:sp>
      <p:sp>
        <p:nvSpPr>
          <p:cNvPr id="34" name="Text 30">
            <a:extLst xmlns:a="http://schemas.openxmlformats.org/drawingml/2006/main">
              <a:ext uri="{FF2B5EF4-FFF2-40B4-BE49-F238E27FC236}">
                <a16:creationId xmlns:a16="http://schemas.microsoft.com/office/drawing/2014/main" id="{65FCD2B9-A722-401B-9575-53C7C37FD786}"/>
              </a:ext>
            </a:extLst>
          </p:cNvPr>
          <p:cNvSpPr>
            <a:spLocks xmlns:a="http://schemas.openxmlformats.org/drawingml/2006/main" noGrp="1"/>
          </p:cNvSpPr>
          <p:nvPr/>
        </p:nvSpPr>
        <p:spPr>
          <a:xfrm xmlns:a="http://schemas.openxmlformats.org/drawingml/2006/main">
            <a:off x="6662776"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원문 검증</a:t>
            </a:r>
          </a:p>
        </p:txBody>
      </p:sp>
      <p:sp>
        <p:nvSpPr>
          <p:cNvPr id="35" name="Shape 31">
            <a:extLst xmlns:a="http://schemas.openxmlformats.org/drawingml/2006/main">
              <a:ext uri="{FF2B5EF4-FFF2-40B4-BE49-F238E27FC236}">
                <a16:creationId xmlns:a16="http://schemas.microsoft.com/office/drawing/2014/main" id="{DCC78CD7-CF40-407E-BBB4-F715B1469D5D}"/>
              </a:ext>
            </a:extLst>
          </p:cNvPr>
          <p:cNvSpPr>
            <a:spLocks xmlns:a="http://schemas.openxmlformats.org/drawingml/2006/main" noGrp="1"/>
          </p:cNvSpPr>
          <p:nvPr/>
        </p:nvSpPr>
        <p:spPr>
          <a:xfrm xmlns:a="http://schemas.openxmlformats.org/drawingml/2006/main">
            <a:off x="8912200" y="2697480"/>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6" name="Text 32">
            <a:extLst xmlns:a="http://schemas.openxmlformats.org/drawingml/2006/main">
              <a:ext uri="{FF2B5EF4-FFF2-40B4-BE49-F238E27FC236}">
                <a16:creationId xmlns:a16="http://schemas.microsoft.com/office/drawing/2014/main" id="{6B3A4304-A1A3-4AFF-9DCF-CE4967F71093}"/>
              </a:ext>
            </a:extLst>
          </p:cNvPr>
          <p:cNvSpPr>
            <a:spLocks xmlns:a="http://schemas.openxmlformats.org/drawingml/2006/main" noGrp="1"/>
          </p:cNvSpPr>
          <p:nvPr/>
        </p:nvSpPr>
        <p:spPr>
          <a:xfrm xmlns:a="http://schemas.openxmlformats.org/drawingml/2006/main">
            <a:off x="9040216" y="2697480"/>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4</a:t>
            </a:r>
          </a:p>
        </p:txBody>
      </p:sp>
      <p:sp>
        <p:nvSpPr>
          <p:cNvPr id="37" name="Text 33">
            <a:extLst xmlns:a="http://schemas.openxmlformats.org/drawingml/2006/main">
              <a:ext uri="{FF2B5EF4-FFF2-40B4-BE49-F238E27FC236}">
                <a16:creationId xmlns:a16="http://schemas.microsoft.com/office/drawing/2014/main" id="{8D1A8375-FEF4-400C-9FC1-A0D81DEE8CFA}"/>
              </a:ext>
            </a:extLst>
          </p:cNvPr>
          <p:cNvSpPr>
            <a:spLocks xmlns:a="http://schemas.openxmlformats.org/drawingml/2006/main" noGrp="1"/>
          </p:cNvSpPr>
          <p:nvPr/>
        </p:nvSpPr>
        <p:spPr>
          <a:xfrm xmlns:a="http://schemas.openxmlformats.org/drawingml/2006/main">
            <a:off x="9369400" y="2697480"/>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정책 대조</a:t>
            </a:r>
          </a:p>
        </p:txBody>
      </p:sp>
      <p:sp>
        <p:nvSpPr>
          <p:cNvPr id="38" name="Shape 34">
            <a:extLst xmlns:a="http://schemas.openxmlformats.org/drawingml/2006/main">
              <a:ext uri="{FF2B5EF4-FFF2-40B4-BE49-F238E27FC236}">
                <a16:creationId xmlns:a16="http://schemas.microsoft.com/office/drawing/2014/main" id="{7CD3271E-74A0-4FA5-96D8-B3145ED1E9F4}"/>
              </a:ext>
            </a:extLst>
          </p:cNvPr>
          <p:cNvSpPr>
            <a:spLocks xmlns:a="http://schemas.openxmlformats.org/drawingml/2006/main" noGrp="1"/>
          </p:cNvSpPr>
          <p:nvPr/>
        </p:nvSpPr>
        <p:spPr>
          <a:xfrm xmlns:a="http://schemas.openxmlformats.org/drawingml/2006/main">
            <a:off x="792328"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9" name="Text 35">
            <a:extLst xmlns:a="http://schemas.openxmlformats.org/drawingml/2006/main">
              <a:ext uri="{FF2B5EF4-FFF2-40B4-BE49-F238E27FC236}">
                <a16:creationId xmlns:a16="http://schemas.microsoft.com/office/drawing/2014/main" id="{48F15A27-0AD7-4935-B500-3FB39DFD31D3}"/>
              </a:ext>
            </a:extLst>
          </p:cNvPr>
          <p:cNvSpPr>
            <a:spLocks xmlns:a="http://schemas.openxmlformats.org/drawingml/2006/main" noGrp="1"/>
          </p:cNvSpPr>
          <p:nvPr/>
        </p:nvSpPr>
        <p:spPr>
          <a:xfrm xmlns:a="http://schemas.openxmlformats.org/drawingml/2006/main">
            <a:off x="920344"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5</a:t>
            </a:r>
          </a:p>
        </p:txBody>
      </p:sp>
      <p:sp>
        <p:nvSpPr>
          <p:cNvPr id="40" name="Text 36">
            <a:extLst xmlns:a="http://schemas.openxmlformats.org/drawingml/2006/main">
              <a:ext uri="{FF2B5EF4-FFF2-40B4-BE49-F238E27FC236}">
                <a16:creationId xmlns:a16="http://schemas.microsoft.com/office/drawing/2014/main" id="{4E6CA9D7-8F35-4B53-927D-F1106B3BB9E4}"/>
              </a:ext>
            </a:extLst>
          </p:cNvPr>
          <p:cNvSpPr>
            <a:spLocks xmlns:a="http://schemas.openxmlformats.org/drawingml/2006/main" noGrp="1"/>
          </p:cNvSpPr>
          <p:nvPr/>
        </p:nvSpPr>
        <p:spPr>
          <a:xfrm xmlns:a="http://schemas.openxmlformats.org/drawingml/2006/main">
            <a:off x="1249528"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민원·뉴스</a:t>
            </a:r>
          </a:p>
        </p:txBody>
      </p:sp>
      <p:sp>
        <p:nvSpPr>
          <p:cNvPr id="41" name="Shape 37">
            <a:extLst xmlns:a="http://schemas.openxmlformats.org/drawingml/2006/main">
              <a:ext uri="{FF2B5EF4-FFF2-40B4-BE49-F238E27FC236}">
                <a16:creationId xmlns:a16="http://schemas.microsoft.com/office/drawing/2014/main" id="{78CE1E20-4E81-436C-8DE3-31DF263FBA50}"/>
              </a:ext>
            </a:extLst>
          </p:cNvPr>
          <p:cNvSpPr>
            <a:spLocks xmlns:a="http://schemas.openxmlformats.org/drawingml/2006/main" noGrp="1"/>
          </p:cNvSpPr>
          <p:nvPr/>
        </p:nvSpPr>
        <p:spPr>
          <a:xfrm xmlns:a="http://schemas.openxmlformats.org/drawingml/2006/main">
            <a:off x="3498952"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2" name="Text 38">
            <a:extLst xmlns:a="http://schemas.openxmlformats.org/drawingml/2006/main">
              <a:ext uri="{FF2B5EF4-FFF2-40B4-BE49-F238E27FC236}">
                <a16:creationId xmlns:a16="http://schemas.microsoft.com/office/drawing/2014/main" id="{2C6FE0A7-52E1-416E-BAB3-64E0992D0039}"/>
              </a:ext>
            </a:extLst>
          </p:cNvPr>
          <p:cNvSpPr>
            <a:spLocks xmlns:a="http://schemas.openxmlformats.org/drawingml/2006/main" noGrp="1"/>
          </p:cNvSpPr>
          <p:nvPr/>
        </p:nvSpPr>
        <p:spPr>
          <a:xfrm xmlns:a="http://schemas.openxmlformats.org/drawingml/2006/main">
            <a:off x="3626968"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6</a:t>
            </a:r>
          </a:p>
        </p:txBody>
      </p:sp>
      <p:sp>
        <p:nvSpPr>
          <p:cNvPr id="43" name="Text 39">
            <a:extLst xmlns:a="http://schemas.openxmlformats.org/drawingml/2006/main">
              <a:ext uri="{FF2B5EF4-FFF2-40B4-BE49-F238E27FC236}">
                <a16:creationId xmlns:a16="http://schemas.microsoft.com/office/drawing/2014/main" id="{6B3C788E-84BD-4885-BB45-5F2B0B03D1A7}"/>
              </a:ext>
            </a:extLst>
          </p:cNvPr>
          <p:cNvSpPr>
            <a:spLocks xmlns:a="http://schemas.openxmlformats.org/drawingml/2006/main" noGrp="1"/>
          </p:cNvSpPr>
          <p:nvPr/>
        </p:nvSpPr>
        <p:spPr>
          <a:xfrm xmlns:a="http://schemas.openxmlformats.org/drawingml/2006/main">
            <a:off x="3956152"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자치구 통계</a:t>
            </a:r>
          </a:p>
        </p:txBody>
      </p:sp>
      <p:sp>
        <p:nvSpPr>
          <p:cNvPr id="44" name="Shape 40">
            <a:extLst xmlns:a="http://schemas.openxmlformats.org/drawingml/2006/main">
              <a:ext uri="{FF2B5EF4-FFF2-40B4-BE49-F238E27FC236}">
                <a16:creationId xmlns:a16="http://schemas.microsoft.com/office/drawing/2014/main" id="{6D0EE7DA-1CA0-411F-8F9F-331F9EBF66AF}"/>
              </a:ext>
            </a:extLst>
          </p:cNvPr>
          <p:cNvSpPr>
            <a:spLocks xmlns:a="http://schemas.openxmlformats.org/drawingml/2006/main" noGrp="1"/>
          </p:cNvSpPr>
          <p:nvPr/>
        </p:nvSpPr>
        <p:spPr>
          <a:xfrm xmlns:a="http://schemas.openxmlformats.org/drawingml/2006/main">
            <a:off x="6205576"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5" name="Text 41">
            <a:extLst xmlns:a="http://schemas.openxmlformats.org/drawingml/2006/main">
              <a:ext uri="{FF2B5EF4-FFF2-40B4-BE49-F238E27FC236}">
                <a16:creationId xmlns:a16="http://schemas.microsoft.com/office/drawing/2014/main" id="{1837E159-0B86-4A28-A576-B0D32FCEF76F}"/>
              </a:ext>
            </a:extLst>
          </p:cNvPr>
          <p:cNvSpPr>
            <a:spLocks xmlns:a="http://schemas.openxmlformats.org/drawingml/2006/main" noGrp="1"/>
          </p:cNvSpPr>
          <p:nvPr/>
        </p:nvSpPr>
        <p:spPr>
          <a:xfrm xmlns:a="http://schemas.openxmlformats.org/drawingml/2006/main">
            <a:off x="6333592"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7</a:t>
            </a:r>
          </a:p>
        </p:txBody>
      </p:sp>
      <p:sp>
        <p:nvSpPr>
          <p:cNvPr id="46" name="Text 42">
            <a:extLst xmlns:a="http://schemas.openxmlformats.org/drawingml/2006/main">
              <a:ext uri="{FF2B5EF4-FFF2-40B4-BE49-F238E27FC236}">
                <a16:creationId xmlns:a16="http://schemas.microsoft.com/office/drawing/2014/main" id="{E651A836-7ED7-4C0C-86B9-F80F9F24644F}"/>
              </a:ext>
            </a:extLst>
          </p:cNvPr>
          <p:cNvSpPr>
            <a:spLocks xmlns:a="http://schemas.openxmlformats.org/drawingml/2006/main" noGrp="1"/>
          </p:cNvSpPr>
          <p:nvPr/>
        </p:nvSpPr>
        <p:spPr>
          <a:xfrm xmlns:a="http://schemas.openxmlformats.org/drawingml/2006/main">
            <a:off x="6662776"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Gap·R&amp;R</a:t>
            </a:r>
          </a:p>
        </p:txBody>
      </p:sp>
      <p:sp>
        <p:nvSpPr>
          <p:cNvPr id="47" name="Shape 43">
            <a:extLst xmlns:a="http://schemas.openxmlformats.org/drawingml/2006/main">
              <a:ext uri="{FF2B5EF4-FFF2-40B4-BE49-F238E27FC236}">
                <a16:creationId xmlns:a16="http://schemas.microsoft.com/office/drawing/2014/main" id="{13B53493-DB94-499B-88E3-E49DD8B928BE}"/>
              </a:ext>
            </a:extLst>
          </p:cNvPr>
          <p:cNvSpPr>
            <a:spLocks xmlns:a="http://schemas.openxmlformats.org/drawingml/2006/main" noGrp="1"/>
          </p:cNvSpPr>
          <p:nvPr/>
        </p:nvSpPr>
        <p:spPr>
          <a:xfrm xmlns:a="http://schemas.openxmlformats.org/drawingml/2006/main">
            <a:off x="8912200" y="3557016"/>
            <a:ext cx="2487168" cy="658368"/>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48" name="Text 44">
            <a:extLst xmlns:a="http://schemas.openxmlformats.org/drawingml/2006/main">
              <a:ext uri="{FF2B5EF4-FFF2-40B4-BE49-F238E27FC236}">
                <a16:creationId xmlns:a16="http://schemas.microsoft.com/office/drawing/2014/main" id="{18CC40E8-4197-47F3-A65F-8C75801FEBA0}"/>
              </a:ext>
            </a:extLst>
          </p:cNvPr>
          <p:cNvSpPr>
            <a:spLocks xmlns:a="http://schemas.openxmlformats.org/drawingml/2006/main" noGrp="1"/>
          </p:cNvSpPr>
          <p:nvPr/>
        </p:nvSpPr>
        <p:spPr>
          <a:xfrm xmlns:a="http://schemas.openxmlformats.org/drawingml/2006/main">
            <a:off x="9040216" y="3557016"/>
            <a:ext cx="365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7C5CE0"/>
                </a:solidFill>
                <a:latin typeface="Calibri"/>
                <a:ea typeface="Calibri"/>
                <a:cs typeface="Calibri"/>
              </a:rPr>
              <a:t>8</a:t>
            </a:r>
          </a:p>
        </p:txBody>
      </p:sp>
      <p:sp>
        <p:nvSpPr>
          <p:cNvPr id="49" name="Text 45">
            <a:extLst xmlns:a="http://schemas.openxmlformats.org/drawingml/2006/main">
              <a:ext uri="{FF2B5EF4-FFF2-40B4-BE49-F238E27FC236}">
                <a16:creationId xmlns:a16="http://schemas.microsoft.com/office/drawing/2014/main" id="{79939A77-964A-4000-98BE-4D3E502A4C55}"/>
              </a:ext>
            </a:extLst>
          </p:cNvPr>
          <p:cNvSpPr>
            <a:spLocks xmlns:a="http://schemas.openxmlformats.org/drawingml/2006/main" noGrp="1"/>
          </p:cNvSpPr>
          <p:nvPr/>
        </p:nvSpPr>
        <p:spPr>
          <a:xfrm xmlns:a="http://schemas.openxmlformats.org/drawingml/2006/main">
            <a:off x="9369400" y="3557016"/>
            <a:ext cx="193852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B2340"/>
                </a:solidFill>
                <a:latin typeface="Malgun Gothic"/>
                <a:ea typeface="Malgun Gothic"/>
                <a:cs typeface="Malgun Gothic"/>
              </a:rPr>
              <a:t>보고서·로그</a:t>
            </a:r>
          </a:p>
        </p:txBody>
      </p:sp>
      <p:sp>
        <p:nvSpPr>
          <p:cNvPr id="50" name="Shape 46">
            <a:extLst xmlns:a="http://schemas.openxmlformats.org/drawingml/2006/main">
              <a:ext uri="{FF2B5EF4-FFF2-40B4-BE49-F238E27FC236}">
                <a16:creationId xmlns:a16="http://schemas.microsoft.com/office/drawing/2014/main" id="{975E99B1-9D63-41EA-B8E7-C43D11AF9077}"/>
              </a:ext>
            </a:extLst>
          </p:cNvPr>
          <p:cNvSpPr>
            <a:spLocks xmlns:a="http://schemas.openxmlformats.org/drawingml/2006/main" noGrp="1"/>
          </p:cNvSpPr>
          <p:nvPr/>
        </p:nvSpPr>
        <p:spPr>
          <a:xfrm xmlns:a="http://schemas.openxmlformats.org/drawingml/2006/main">
            <a:off x="6510528" y="5230368"/>
            <a:ext cx="4023360"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51" name="Text 47">
            <a:extLst xmlns:a="http://schemas.openxmlformats.org/drawingml/2006/main">
              <a:ext uri="{FF2B5EF4-FFF2-40B4-BE49-F238E27FC236}">
                <a16:creationId xmlns:a16="http://schemas.microsoft.com/office/drawing/2014/main" id="{B635D161-6B63-4D9A-8485-3ED5EA448871}"/>
              </a:ext>
            </a:extLst>
          </p:cNvPr>
          <p:cNvSpPr>
            <a:spLocks xmlns:a="http://schemas.openxmlformats.org/drawingml/2006/main" noGrp="1"/>
          </p:cNvSpPr>
          <p:nvPr/>
        </p:nvSpPr>
        <p:spPr>
          <a:xfrm xmlns:a="http://schemas.openxmlformats.org/drawingml/2006/main">
            <a:off x="6601968" y="5230368"/>
            <a:ext cx="384048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수요 → 책임 → 근거 → 조치를 한 흐름으로 연결해요</a:t>
            </a:r>
          </a:p>
        </p:txBody>
      </p:sp>
      <p:pic>
        <p:nvPicPr>
          <p:cNvPr id="105" name="Image 2"/>
          <p:cNvPicPr>
            <a:picLocks xmlns:a="http://schemas.openxmlformats.org/drawingml/2006/main" noChangeAspect="1"/>
          </p:cNvPicPr>
          <p:nvPr/>
        </p:nvPicPr>
        <p:blipFill>
          <a:blip xmlns:r="http://schemas.openxmlformats.org/officeDocument/2006/relationships" xmlns:a="http://schemas.openxmlformats.org/drawingml/2006/main" r:embed="Rbe5e3e3c8f8f415e"/>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264366187"/>
      </p:ext>
    </p:extLst>
  </p:cSld>
</p:sld>
</file>

<file path=ppt/slides/slide9.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D1837D2-096D-44D7-A347-4F9BE2A19BD5}"/>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B6A68CE6-92BF-448B-8329-DB087C58429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1DE8673-5974-4D5A-8338-71D61EB88713}"/>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FAFDFE10-91CA-4B52-B564-51803C4AD9EC}"/>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4bb1174941d545ce"/>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74B200C-2EAE-4CDB-9190-531D92253DAA}"/>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21CE6A54-24A2-4AB1-A0B1-7BBD1FCCC782}"/>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ABD07695-1627-474F-9E2E-FDD42E33145B}"/>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0972714-241D-4F89-9A95-0E8AFFAAD61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01541DF2-76D6-4F26-ACC4-F34249AFC464}"/>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F4A64BE2-313E-45B5-B2C5-29E255F3F04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4bb1174941d545ce"/>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3C9DA202-B460-4A2A-8CCF-14F0F81D65A8}"/>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8 · 길잡이와 보고서</a:t>
            </a:r>
          </a:p>
        </p:txBody>
      </p:sp>
      <p:sp>
        <p:nvSpPr>
          <p:cNvPr id="15" name="Shape 11">
            <a:extLst xmlns:a="http://schemas.openxmlformats.org/drawingml/2006/main">
              <a:ext uri="{FF2B5EF4-FFF2-40B4-BE49-F238E27FC236}">
                <a16:creationId xmlns:a16="http://schemas.microsoft.com/office/drawing/2014/main" id="{D7E9E4A1-9BB3-43EC-94D2-346C50576E3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9B184AE4-A449-4363-BD9B-655ED130C4EA}"/>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43646D7-E07C-4879-A958-CD66D1C40B9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C9825AC4-F38C-4868-B493-478078FFCE89}"/>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5E1EAB22-F419-4C1C-A0D6-E9424B10464B}"/>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1957FABC-D63E-4896-A6B6-1ABAFD6CBD1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E50084FB-1868-4CF8-B2C0-9249FDA103E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B1F1CAD-7D61-4932-93E4-3CFDB859C029}"/>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5387B3D9-98AC-42E7-B987-3A1A037A8B6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DFBA703A-F0BC-418A-881F-7838A0843931}"/>
              </a:ext>
            </a:extLst>
          </p:cNvPr>
          <p:cNvSpPr>
            <a:spLocks xmlns:a="http://schemas.openxmlformats.org/drawingml/2006/main" noGrp="1"/>
          </p:cNvSpPr>
          <p:nvPr/>
        </p:nvSpPr>
        <p:spPr>
          <a:xfrm xmlns:a="http://schemas.openxmlformats.org/drawingml/2006/main">
            <a:off x="0" y="96012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현재 화면·담당 범위에 맞춘 업무 안내</a:t>
            </a:r>
          </a:p>
        </p:txBody>
      </p:sp>
      <p:sp>
        <p:nvSpPr>
          <p:cNvPr id="25" name="Text 21">
            <a:extLst xmlns:a="http://schemas.openxmlformats.org/drawingml/2006/main">
              <a:ext uri="{FF2B5EF4-FFF2-40B4-BE49-F238E27FC236}">
                <a16:creationId xmlns:a16="http://schemas.microsoft.com/office/drawing/2014/main" id="{383403BE-4622-4B28-97C6-955FB1572637}"/>
              </a:ext>
            </a:extLst>
          </p:cNvPr>
          <p:cNvSpPr>
            <a:spLocks xmlns:a="http://schemas.openxmlformats.org/drawingml/2006/main" noGrp="1"/>
          </p:cNvSpPr>
          <p:nvPr/>
        </p:nvSpPr>
        <p:spPr>
          <a:xfrm xmlns:a="http://schemas.openxmlformats.org/drawingml/2006/main">
            <a:off x="548640" y="1298448"/>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600" b="1">
                <a:solidFill>
                  <a:srgbClr val="1B2340"/>
                </a:solidFill>
                <a:latin typeface="Malgun Gothic"/>
                <a:ea typeface="Malgun Gothic"/>
                <a:cs typeface="Malgun Gothic"/>
              </a:rPr>
              <a:t>대분류·실제 팀 선택이 맞춤 보고서까지 그대로 이어집니다</a:t>
            </a:r>
          </a:p>
        </p:txBody>
      </p:sp>
      <p:sp>
        <p:nvSpPr>
          <p:cNvPr id="26" name="Shape 22">
            <a:extLst xmlns:a="http://schemas.openxmlformats.org/drawingml/2006/main">
              <a:ext uri="{FF2B5EF4-FFF2-40B4-BE49-F238E27FC236}">
                <a16:creationId xmlns:a16="http://schemas.microsoft.com/office/drawing/2014/main" id="{D247647F-72E9-4576-989F-4B6E1152BF99}"/>
              </a:ext>
            </a:extLst>
          </p:cNvPr>
          <p:cNvSpPr>
            <a:spLocks xmlns:a="http://schemas.openxmlformats.org/drawingml/2006/main" noGrp="1"/>
          </p:cNvSpPr>
          <p:nvPr/>
        </p:nvSpPr>
        <p:spPr>
          <a:xfrm xmlns:a="http://schemas.openxmlformats.org/drawingml/2006/main">
            <a:off x="2648560" y="1993392"/>
            <a:ext cx="6894576" cy="3602736"/>
          </a:xfrm>
          <a:prstGeom xmlns:a="http://schemas.openxmlformats.org/drawingml/2006/main" prst="rect">
            <a:avLst/>
          </a:prstGeom>
          <a:solidFill xmlns:a="http://schemas.openxmlformats.org/drawingml/2006/main">
            <a:srgbClr val="FFFFFF"/>
          </a:solidFill>
          <a:ln xmlns:a="http://schemas.openxmlformats.org/drawingml/2006/main" w="19050">
            <a:solidFill>
              <a:srgbClr val="1B2340"/>
            </a:solidFill>
            <a:prstDash val="solid"/>
          </a:ln>
          <a:effectLst xmlns:a="http://schemas.openxmlformats.org/drawingml/2006/main">
            <a:outerShdw blurRad="101600" dist="38100" dir="5400000" sx="100000" sy="100000" kx="0" ky="0" algn="bl" rotWithShape="0">
              <a:srgbClr val="05433D">
                <a:alpha val="40000"/>
              </a:srgbClr>
            </a:outerShdw>
          </a:effectLst>
        </p:spPr>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656ef377c4d64dd4"/>
          <a:stretch xmlns:a="http://schemas.openxmlformats.org/drawingml/2006/main"/>
        </p:blipFill>
        <p:spPr>
          <a:xfrm xmlns:a="http://schemas.openxmlformats.org/drawingml/2006/main">
            <a:off x="3613575" y="2103120"/>
            <a:ext cx="4964547" cy="3383280"/>
          </a:xfrm>
          <a:prstGeom xmlns:a="http://schemas.openxmlformats.org/drawingml/2006/main" prst="rect">
            <a:avLst/>
          </a:prstGeom>
        </p:spPr>
      </p:pic>
      <p:sp>
        <p:nvSpPr>
          <p:cNvPr id="28" name="Shape 23">
            <a:extLst xmlns:a="http://schemas.openxmlformats.org/drawingml/2006/main">
              <a:ext uri="{FF2B5EF4-FFF2-40B4-BE49-F238E27FC236}">
                <a16:creationId xmlns:a16="http://schemas.microsoft.com/office/drawing/2014/main" id="{5CBBEFE7-1EB7-462A-A911-585734463F43}"/>
              </a:ext>
            </a:extLst>
          </p:cNvPr>
          <p:cNvSpPr>
            <a:spLocks xmlns:a="http://schemas.openxmlformats.org/drawingml/2006/main" noGrp="1"/>
          </p:cNvSpPr>
          <p:nvPr/>
        </p:nvSpPr>
        <p:spPr>
          <a:xfrm xmlns:a="http://schemas.openxmlformats.org/drawingml/2006/main">
            <a:off x="1527048"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9" name="Text 24">
            <a:extLst xmlns:a="http://schemas.openxmlformats.org/drawingml/2006/main">
              <a:ext uri="{FF2B5EF4-FFF2-40B4-BE49-F238E27FC236}">
                <a16:creationId xmlns:a16="http://schemas.microsoft.com/office/drawing/2014/main" id="{791CDA64-0ABB-449C-878A-320868C15255}"/>
              </a:ext>
            </a:extLst>
          </p:cNvPr>
          <p:cNvSpPr>
            <a:spLocks xmlns:a="http://schemas.openxmlformats.org/drawingml/2006/main" noGrp="1"/>
          </p:cNvSpPr>
          <p:nvPr/>
        </p:nvSpPr>
        <p:spPr>
          <a:xfrm xmlns:a="http://schemas.openxmlformats.org/drawingml/2006/main">
            <a:off x="1618488"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전체·대분류·팀 기준으로 수치·본문·추천 섹션을 다시 구성해요</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4bb1174941d545ce"/>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715561581"/>
      </p:ext>
    </p:extLst>
  </p:cSld>
</p:sld>
</file>

<file path=ppt/slides/slide10.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F2A5AAA-E617-4AC7-B163-90D89AB806A4}"/>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39C09588-EEE4-4D89-B98E-3C73BD052324}"/>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98321F7-5EF7-406A-8E7B-F2C2C04CAF89}"/>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94E5BDC5-A530-4127-9E9B-4C87B7CD6C9E}"/>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05b69f06de3e4ec7"/>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B3BC8C1-37A7-4AE7-91C1-90C44AE10AE0}"/>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FAB38181-1CDF-439E-9C94-849936DB6656}"/>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6128A39F-AD26-447A-96BE-4D744A2140D8}"/>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4AB41013-46B2-4FC3-9AD0-02E6847508B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6C88E53E-179E-4483-A72C-E358987A54C4}"/>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D82C0E91-EE2A-40A3-A134-7CE7B64E3518}"/>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05b69f06de3e4ec7"/>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C558B4CC-C04A-488F-8DAA-5B1CA9B3B274}"/>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9 · 데이터 품질</a:t>
            </a:r>
          </a:p>
        </p:txBody>
      </p:sp>
      <p:sp>
        <p:nvSpPr>
          <p:cNvPr id="15" name="Shape 11">
            <a:extLst xmlns:a="http://schemas.openxmlformats.org/drawingml/2006/main">
              <a:ext uri="{FF2B5EF4-FFF2-40B4-BE49-F238E27FC236}">
                <a16:creationId xmlns:a16="http://schemas.microsoft.com/office/drawing/2014/main" id="{B36110EE-2D79-4FE1-B6AE-271C0475DDA5}"/>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49F09ECE-D8F8-44D2-99CC-79E575F81428}"/>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1EDEE148-4F48-4F49-9BBC-1616A178DFE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F8DE29E6-D3E6-43CC-9B73-BE4D97D6208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659A6ADD-2880-4D13-B86C-8189D95906DC}"/>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F2C33CD2-F9F9-4149-96D3-9450E1292460}"/>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343BB719-33F2-4307-91C4-D256AE8CB82E}"/>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E087773E-D40C-4BD8-9205-F6925947C92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32D58B27-CB6D-43F2-A09B-68094FBB93C8}"/>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34C6B9B2-980E-456F-BAB0-DFBC3BE44053}"/>
              </a:ext>
            </a:extLst>
          </p:cNvPr>
          <p:cNvSpPr>
            <a:spLocks xmlns:a="http://schemas.openxmlformats.org/drawingml/2006/main" noGrp="1"/>
          </p:cNvSpPr>
          <p:nvPr/>
        </p:nvSpPr>
        <p:spPr>
          <a:xfrm xmlns:a="http://schemas.openxmlformats.org/drawingml/2006/main">
            <a:off x="0" y="155448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모르는 값은 모른다고 표시합니다</a:t>
            </a:r>
          </a:p>
        </p:txBody>
      </p:sp>
      <p:sp>
        <p:nvSpPr>
          <p:cNvPr id="25" name="Text 21">
            <a:extLst xmlns:a="http://schemas.openxmlformats.org/drawingml/2006/main">
              <a:ext uri="{FF2B5EF4-FFF2-40B4-BE49-F238E27FC236}">
                <a16:creationId xmlns:a16="http://schemas.microsoft.com/office/drawing/2014/main" id="{E3A6B033-5257-4B39-8476-6B25BCDAC5CA}"/>
              </a:ext>
            </a:extLst>
          </p:cNvPr>
          <p:cNvSpPr>
            <a:spLocks xmlns:a="http://schemas.openxmlformats.org/drawingml/2006/main" noGrp="1"/>
          </p:cNvSpPr>
          <p:nvPr/>
        </p:nvSpPr>
        <p:spPr>
          <a:xfrm xmlns:a="http://schemas.openxmlformats.org/drawingml/2006/main">
            <a:off x="0" y="2103120"/>
            <a:ext cx="121916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400" b="1">
                <a:solidFill>
                  <a:srgbClr val="C77D00"/>
                </a:solidFill>
                <a:latin typeface="Calibri"/>
                <a:ea typeface="Calibri"/>
                <a:cs typeface="Calibri"/>
              </a:rPr>
              <a:t>804</a:t>
            </a:r>
          </a:p>
        </p:txBody>
      </p:sp>
      <p:sp>
        <p:nvSpPr>
          <p:cNvPr id="26" name="Text 22">
            <a:extLst xmlns:a="http://schemas.openxmlformats.org/drawingml/2006/main">
              <a:ext uri="{FF2B5EF4-FFF2-40B4-BE49-F238E27FC236}">
                <a16:creationId xmlns:a16="http://schemas.microsoft.com/office/drawing/2014/main" id="{AABA97B4-0557-4794-8CDD-426916FA96A8}"/>
              </a:ext>
            </a:extLst>
          </p:cNvPr>
          <p:cNvSpPr>
            <a:spLocks xmlns:a="http://schemas.openxmlformats.org/drawingml/2006/main" noGrp="1"/>
          </p:cNvSpPr>
          <p:nvPr/>
        </p:nvSpPr>
        <p:spPr>
          <a:xfrm xmlns:a="http://schemas.openxmlformats.org/drawingml/2006/main">
            <a:off x="0" y="3429000"/>
            <a:ext cx="1219169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20000"/>
              </a:lnSpc>
              <a:buNone/>
            </a:pPr>
            <a:r>
              <a:rPr sz="1500">
                <a:solidFill>
                  <a:srgbClr val="5C6684"/>
                </a:solidFill>
                <a:latin typeface="Malgun Gothic"/>
                <a:ea typeface="Malgun Gothic"/>
                <a:cs typeface="Malgun Gothic"/>
              </a:rPr>
              <a:t>건 · 자치구 미상 / 시민 제안 824건</a:t>
            </a:r>
          </a:p>
        </p:txBody>
      </p:sp>
      <p:sp>
        <p:nvSpPr>
          <p:cNvPr id="27" name="Shape 23">
            <a:extLst xmlns:a="http://schemas.openxmlformats.org/drawingml/2006/main">
              <a:ext uri="{FF2B5EF4-FFF2-40B4-BE49-F238E27FC236}">
                <a16:creationId xmlns:a16="http://schemas.microsoft.com/office/drawing/2014/main" id="{85454425-B9B7-4DFE-B45C-BBD0974126BB}"/>
              </a:ext>
            </a:extLst>
          </p:cNvPr>
          <p:cNvSpPr>
            <a:spLocks xmlns:a="http://schemas.openxmlformats.org/drawingml/2006/main" noGrp="1"/>
          </p:cNvSpPr>
          <p:nvPr/>
        </p:nvSpPr>
        <p:spPr>
          <a:xfrm xmlns:a="http://schemas.openxmlformats.org/drawingml/2006/main">
            <a:off x="2730856" y="4251960"/>
            <a:ext cx="2194560" cy="457200"/>
          </a:xfrm>
          <a:prstGeom xmlns:a="http://schemas.openxmlformats.org/drawingml/2006/main" prst="rect">
            <a:avLst/>
          </a:prstGeom>
          <a:solidFill xmlns:a="http://schemas.openxmlformats.org/drawingml/2006/main">
            <a:srgbClr val="E1F5EC"/>
          </a:solidFill>
          <a:ln xmlns:a="http://schemas.openxmlformats.org/drawingml/2006/main" w="12700">
            <a:solidFill>
              <a:srgbClr val="0FA968"/>
            </a:solidFill>
            <a:prstDash val="solid"/>
          </a:ln>
        </p:spPr>
      </p:sp>
      <p:sp>
        <p:nvSpPr>
          <p:cNvPr id="28" name="Text 24">
            <a:extLst xmlns:a="http://schemas.openxmlformats.org/drawingml/2006/main">
              <a:ext uri="{FF2B5EF4-FFF2-40B4-BE49-F238E27FC236}">
                <a16:creationId xmlns:a16="http://schemas.microsoft.com/office/drawing/2014/main" id="{0B39BF9E-CDC8-48E6-A1C5-EB276FB69C94}"/>
              </a:ext>
            </a:extLst>
          </p:cNvPr>
          <p:cNvSpPr>
            <a:spLocks xmlns:a="http://schemas.openxmlformats.org/drawingml/2006/main" noGrp="1"/>
          </p:cNvSpPr>
          <p:nvPr/>
        </p:nvSpPr>
        <p:spPr>
          <a:xfrm xmlns:a="http://schemas.openxmlformats.org/drawingml/2006/main">
            <a:off x="2730856" y="425196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A968"/>
                </a:solidFill>
                <a:latin typeface="Malgun Gothic"/>
                <a:ea typeface="Malgun Gothic"/>
                <a:cs typeface="Malgun Gothic"/>
              </a:rPr>
              <a:t>본문 확인 638</a:t>
            </a:r>
          </a:p>
        </p:txBody>
      </p:sp>
      <p:sp>
        <p:nvSpPr>
          <p:cNvPr id="29" name="Shape 25">
            <a:extLst xmlns:a="http://schemas.openxmlformats.org/drawingml/2006/main">
              <a:ext uri="{FF2B5EF4-FFF2-40B4-BE49-F238E27FC236}">
                <a16:creationId xmlns:a16="http://schemas.microsoft.com/office/drawing/2014/main" id="{6A2E7DA0-7F4D-415B-B0AF-3BB72D73177A}"/>
              </a:ext>
            </a:extLst>
          </p:cNvPr>
          <p:cNvSpPr>
            <a:spLocks xmlns:a="http://schemas.openxmlformats.org/drawingml/2006/main" noGrp="1"/>
          </p:cNvSpPr>
          <p:nvPr/>
        </p:nvSpPr>
        <p:spPr>
          <a:xfrm xmlns:a="http://schemas.openxmlformats.org/drawingml/2006/main">
            <a:off x="5090008" y="4251960"/>
            <a:ext cx="2011680" cy="457200"/>
          </a:xfrm>
          <a:prstGeom xmlns:a="http://schemas.openxmlformats.org/drawingml/2006/main" prst="rect">
            <a:avLst/>
          </a:prstGeom>
          <a:solidFill xmlns:a="http://schemas.openxmlformats.org/drawingml/2006/main">
            <a:srgbClr val="E7EDFF"/>
          </a:solidFill>
          <a:ln xmlns:a="http://schemas.openxmlformats.org/drawingml/2006/main" w="12700">
            <a:solidFill>
              <a:srgbClr val="3558D6"/>
            </a:solidFill>
            <a:prstDash val="solid"/>
          </a:ln>
        </p:spPr>
      </p:sp>
      <p:sp>
        <p:nvSpPr>
          <p:cNvPr id="30" name="Text 26">
            <a:extLst xmlns:a="http://schemas.openxmlformats.org/drawingml/2006/main">
              <a:ext uri="{FF2B5EF4-FFF2-40B4-BE49-F238E27FC236}">
                <a16:creationId xmlns:a16="http://schemas.microsoft.com/office/drawing/2014/main" id="{FFF781EC-904F-4768-99B0-E57304A8A79C}"/>
              </a:ext>
            </a:extLst>
          </p:cNvPr>
          <p:cNvSpPr>
            <a:spLocks xmlns:a="http://schemas.openxmlformats.org/drawingml/2006/main" noGrp="1"/>
          </p:cNvSpPr>
          <p:nvPr/>
        </p:nvSpPr>
        <p:spPr>
          <a:xfrm xmlns:a="http://schemas.openxmlformats.org/drawingml/2006/main">
            <a:off x="5090008" y="4251960"/>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3558D6"/>
                </a:solidFill>
                <a:latin typeface="Malgun Gothic"/>
                <a:ea typeface="Malgun Gothic"/>
                <a:cs typeface="Malgun Gothic"/>
              </a:rPr>
              <a:t>원문 확인 필요 186</a:t>
            </a:r>
          </a:p>
        </p:txBody>
      </p:sp>
      <p:sp>
        <p:nvSpPr>
          <p:cNvPr id="31" name="Shape 27">
            <a:extLst xmlns:a="http://schemas.openxmlformats.org/drawingml/2006/main">
              <a:ext uri="{FF2B5EF4-FFF2-40B4-BE49-F238E27FC236}">
                <a16:creationId xmlns:a16="http://schemas.microsoft.com/office/drawing/2014/main" id="{D58C3383-D68F-46FD-8FCB-3D8527CA2F7A}"/>
              </a:ext>
            </a:extLst>
          </p:cNvPr>
          <p:cNvSpPr>
            <a:spLocks xmlns:a="http://schemas.openxmlformats.org/drawingml/2006/main" noGrp="1"/>
          </p:cNvSpPr>
          <p:nvPr/>
        </p:nvSpPr>
        <p:spPr>
          <a:xfrm xmlns:a="http://schemas.openxmlformats.org/drawingml/2006/main">
            <a:off x="7266280" y="4251960"/>
            <a:ext cx="2194560" cy="457200"/>
          </a:xfrm>
          <a:prstGeom xmlns:a="http://schemas.openxmlformats.org/drawingml/2006/main" prst="rect">
            <a:avLst/>
          </a:prstGeom>
          <a:solidFill xmlns:a="http://schemas.openxmlformats.org/drawingml/2006/main">
            <a:srgbClr val="EFEBFB"/>
          </a:solidFill>
          <a:ln xmlns:a="http://schemas.openxmlformats.org/drawingml/2006/main" w="12700">
            <a:solidFill>
              <a:srgbClr val="7C5CE0"/>
            </a:solidFill>
            <a:prstDash val="solid"/>
          </a:ln>
        </p:spPr>
      </p:sp>
      <p:sp>
        <p:nvSpPr>
          <p:cNvPr id="32" name="Text 28">
            <a:extLst xmlns:a="http://schemas.openxmlformats.org/drawingml/2006/main">
              <a:ext uri="{FF2B5EF4-FFF2-40B4-BE49-F238E27FC236}">
                <a16:creationId xmlns:a16="http://schemas.microsoft.com/office/drawing/2014/main" id="{C1829172-6C35-4E05-BE87-CD87E81429ED}"/>
              </a:ext>
            </a:extLst>
          </p:cNvPr>
          <p:cNvSpPr>
            <a:spLocks xmlns:a="http://schemas.openxmlformats.org/drawingml/2006/main" noGrp="1"/>
          </p:cNvSpPr>
          <p:nvPr/>
        </p:nvSpPr>
        <p:spPr>
          <a:xfrm xmlns:a="http://schemas.openxmlformats.org/drawingml/2006/main">
            <a:off x="7266280" y="425196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7C5CE0"/>
                </a:solidFill>
                <a:latin typeface="Malgun Gothic"/>
                <a:ea typeface="Malgun Gothic"/>
                <a:cs typeface="Malgun Gothic"/>
              </a:rPr>
              <a:t>자치구 확인 20</a:t>
            </a:r>
          </a:p>
        </p:txBody>
      </p:sp>
      <p:sp>
        <p:nvSpPr>
          <p:cNvPr id="33" name="Text 29">
            <a:extLst xmlns:a="http://schemas.openxmlformats.org/drawingml/2006/main">
              <a:ext uri="{FF2B5EF4-FFF2-40B4-BE49-F238E27FC236}">
                <a16:creationId xmlns:a16="http://schemas.microsoft.com/office/drawing/2014/main" id="{06B2B52E-C739-4191-9E7C-371A249BB393}"/>
              </a:ext>
            </a:extLst>
          </p:cNvPr>
          <p:cNvSpPr>
            <a:spLocks xmlns:a="http://schemas.openxmlformats.org/drawingml/2006/main" noGrp="1"/>
          </p:cNvSpPr>
          <p:nvPr/>
        </p:nvSpPr>
        <p:spPr>
          <a:xfrm xmlns:a="http://schemas.openxmlformats.org/drawingml/2006/main">
            <a:off x="0" y="4892040"/>
            <a:ext cx="121916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9AA3C7"/>
                </a:solidFill>
                <a:latin typeface="Malgun Gothic"/>
                <a:ea typeface="Malgun Gothic"/>
                <a:cs typeface="Malgun Gothic"/>
              </a:rPr>
              <a:t>판정 기준 · 상세 본문 30자 이상 / 원 데이터 지역값</a:t>
            </a:r>
          </a:p>
        </p:txBody>
      </p:sp>
      <p:sp>
        <p:nvSpPr>
          <p:cNvPr id="34" name="Shape 30">
            <a:extLst xmlns:a="http://schemas.openxmlformats.org/drawingml/2006/main">
              <a:ext uri="{FF2B5EF4-FFF2-40B4-BE49-F238E27FC236}">
                <a16:creationId xmlns:a16="http://schemas.microsoft.com/office/drawing/2014/main" id="{A59A81B0-9512-4997-9331-667AB11F9DB1}"/>
              </a:ext>
            </a:extLst>
          </p:cNvPr>
          <p:cNvSpPr>
            <a:spLocks xmlns:a="http://schemas.openxmlformats.org/drawingml/2006/main" noGrp="1"/>
          </p:cNvSpPr>
          <p:nvPr/>
        </p:nvSpPr>
        <p:spPr>
          <a:xfrm xmlns:a="http://schemas.openxmlformats.org/drawingml/2006/main">
            <a:off x="1527048" y="5230368"/>
            <a:ext cx="4572000"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5" name="Text 31">
            <a:extLst xmlns:a="http://schemas.openxmlformats.org/drawingml/2006/main">
              <a:ext uri="{FF2B5EF4-FFF2-40B4-BE49-F238E27FC236}">
                <a16:creationId xmlns:a16="http://schemas.microsoft.com/office/drawing/2014/main" id="{5B1D604E-14EF-42F5-A47F-FB3837C6D4BB}"/>
              </a:ext>
            </a:extLst>
          </p:cNvPr>
          <p:cNvSpPr>
            <a:spLocks xmlns:a="http://schemas.openxmlformats.org/drawingml/2006/main" noGrp="1"/>
          </p:cNvSpPr>
          <p:nvPr/>
        </p:nvSpPr>
        <p:spPr>
          <a:xfrm xmlns:a="http://schemas.openxmlformats.org/drawingml/2006/main">
            <a:off x="1618488" y="5230368"/>
            <a:ext cx="43891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임의 복원하지 않고 원문과 추정 근거를 사람이 검토해요</a:t>
            </a:r>
          </a:p>
        </p:txBody>
      </p:sp>
      <p:pic>
        <p:nvPicPr>
          <p:cNvPr id="73" name="Image 2"/>
          <p:cNvPicPr>
            <a:picLocks xmlns:a="http://schemas.openxmlformats.org/drawingml/2006/main" noChangeAspect="1"/>
          </p:cNvPicPr>
          <p:nvPr/>
        </p:nvPicPr>
        <p:blipFill>
          <a:blip xmlns:r="http://schemas.openxmlformats.org/officeDocument/2006/relationships" xmlns:a="http://schemas.openxmlformats.org/drawingml/2006/main" r:embed="R05b69f06de3e4ec7"/>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615635556"/>
      </p:ext>
    </p:extLst>
  </p:cSld>
</p:sld>
</file>

<file path=ppt/slides/slide11.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E7C6B13-6E01-451C-9FB0-B463C2216EB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F9EA5F80-06E0-446A-B8D1-41BB17EBFBD9}"/>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D0A8F86F-06C5-4824-B31C-B8F0CE6FE19B}"/>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60474B3F-2D47-47DE-B83D-2485CE92B368}"/>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af244ee2bd2140a2"/>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B7C34D2-0273-4B78-AC56-F730F58FA69C}"/>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51F2F4C1-177C-497E-AC90-F903FB61C39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3F03B08A-CBCE-44F2-993C-56A4AE9D0B3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FFE1EF40-8BD1-4773-93C0-FD9DA000B615}"/>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514168D9-F29A-4493-A06B-3DEBB71BDCC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86E5D15E-931C-49B1-BF67-404560EB75B3}"/>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af244ee2bd2140a2"/>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96D034D4-D63F-4789-AD35-2A0673CE83CA}"/>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10 · 시연 과업</a:t>
            </a:r>
          </a:p>
        </p:txBody>
      </p:sp>
      <p:sp>
        <p:nvSpPr>
          <p:cNvPr id="15" name="Shape 11">
            <a:extLst xmlns:a="http://schemas.openxmlformats.org/drawingml/2006/main">
              <a:ext uri="{FF2B5EF4-FFF2-40B4-BE49-F238E27FC236}">
                <a16:creationId xmlns:a16="http://schemas.microsoft.com/office/drawing/2014/main" id="{EBCB5A54-14A2-49F4-8A48-CD6B0FCC7126}"/>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78BBB2C6-C71E-464F-9D59-8AAC0103A526}"/>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F084911E-F47A-4C69-A462-760ADFC75AEF}"/>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AC60E22-7AB2-44C1-99F7-0281CC98CA98}"/>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2254E4B5-341C-4D08-80AA-E34327BB4CEB}"/>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6A8F50D4-8E45-4BA3-89D8-9BA2303E4423}"/>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61046DF7-E275-4E21-B9D8-DEE76CF2E8FE}"/>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26110F93-74E8-4582-B8FD-1F80AC42C864}"/>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8B9049D3-D547-4F63-81E8-39031889FC3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9EE7A35-22B7-4C4A-A5DE-2D52C1C6DD7D}"/>
              </a:ext>
            </a:extLst>
          </p:cNvPr>
          <p:cNvSpPr>
            <a:spLocks xmlns:a="http://schemas.openxmlformats.org/drawingml/2006/main" noGrp="1"/>
          </p:cNvSpPr>
          <p:nvPr/>
        </p:nvSpPr>
        <p:spPr>
          <a:xfrm xmlns:a="http://schemas.openxmlformats.org/drawingml/2006/main">
            <a:off x="0" y="22860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가상 페르소나 · 월요일 오전 9:10</a:t>
            </a:r>
          </a:p>
        </p:txBody>
      </p:sp>
      <p:sp>
        <p:nvSpPr>
          <p:cNvPr id="25" name="Text 21">
            <a:extLst xmlns:a="http://schemas.openxmlformats.org/drawingml/2006/main">
              <a:ext uri="{FF2B5EF4-FFF2-40B4-BE49-F238E27FC236}">
                <a16:creationId xmlns:a16="http://schemas.microsoft.com/office/drawing/2014/main" id="{776E6EBB-27C1-42BD-B275-B40ABC3A362A}"/>
              </a:ext>
            </a:extLst>
          </p:cNvPr>
          <p:cNvSpPr>
            <a:spLocks xmlns:a="http://schemas.openxmlformats.org/drawingml/2006/main" noGrp="1"/>
          </p:cNvSpPr>
          <p:nvPr/>
        </p:nvSpPr>
        <p:spPr>
          <a:xfrm xmlns:a="http://schemas.openxmlformats.org/drawingml/2006/main">
            <a:off x="548640" y="269748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800" b="1">
                <a:solidFill>
                  <a:srgbClr val="1B2340"/>
                </a:solidFill>
                <a:latin typeface="Malgun Gothic"/>
                <a:ea typeface="Malgun Gothic"/>
                <a:cs typeface="Malgun Gothic"/>
              </a:rPr>
              <a:t>출산·산후 초기지원에서 건강팀이</a:t>
            </a:r>
          </a:p>
          <a:p xmlns:a="http://schemas.openxmlformats.org/drawingml/2006/main">
            <a:pPr marL="0" indent="0" algn="ctr">
              <a:lnSpc>
                <a:spcPct val="108000"/>
              </a:lnSpc>
              <a:buNone/>
            </a:pPr>
            <a:r>
              <a:rPr sz="3800" b="1">
                <a:solidFill>
                  <a:srgbClr val="1B2340"/>
                </a:solidFill>
                <a:latin typeface="Malgun Gothic"/>
                <a:ea typeface="Malgun Gothic"/>
                <a:cs typeface="Malgun Gothic"/>
              </a:rPr>
              <a:t>주관할 반복 수요를 찾아 보고자료로 넘깁니다</a:t>
            </a:r>
          </a:p>
        </p:txBody>
      </p:sp>
      <p:sp>
        <p:nvSpPr>
          <p:cNvPr id="26" name="Shape 22">
            <a:extLst xmlns:a="http://schemas.openxmlformats.org/drawingml/2006/main">
              <a:ext uri="{FF2B5EF4-FFF2-40B4-BE49-F238E27FC236}">
                <a16:creationId xmlns:a16="http://schemas.microsoft.com/office/drawing/2014/main" id="{46808EC9-DD3D-4774-A72B-518FED99E6D2}"/>
              </a:ext>
            </a:extLst>
          </p:cNvPr>
          <p:cNvSpPr>
            <a:spLocks xmlns:a="http://schemas.openxmlformats.org/drawingml/2006/main" noGrp="1"/>
          </p:cNvSpPr>
          <p:nvPr/>
        </p:nvSpPr>
        <p:spPr>
          <a:xfrm xmlns:a="http://schemas.openxmlformats.org/drawingml/2006/main">
            <a:off x="6003036" y="5230368"/>
            <a:ext cx="453085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30B720F3-E5B4-4159-95A7-39D8634E8684}"/>
              </a:ext>
            </a:extLst>
          </p:cNvPr>
          <p:cNvSpPr>
            <a:spLocks xmlns:a="http://schemas.openxmlformats.org/drawingml/2006/main" noGrp="1"/>
          </p:cNvSpPr>
          <p:nvPr/>
        </p:nvSpPr>
        <p:spPr>
          <a:xfrm xmlns:a="http://schemas.openxmlformats.org/drawingml/2006/main">
            <a:off x="6094476" y="5230368"/>
            <a:ext cx="43479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선택한 범위가 화면과 보고서까지 이어지는지 봐주세요</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af244ee2bd2140a2"/>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371132179"/>
      </p:ext>
    </p:extLst>
  </p:cSld>
</p:sld>
</file>

<file path=ppt/slides/slide12.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D5F9D5F-3DB3-42E5-AE74-CAE2F7D1EC81}"/>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AF02FC54-BD84-490B-A4C2-E11916586DD6}"/>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05F985E0-81CC-44A5-88F3-B8CF4EE2C66D}"/>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D8156300-1392-46AB-A3FF-28B186925768}"/>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f1032164606a4067"/>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0695CBF-EC95-4D74-A4F9-1CF177A848F6}"/>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01664347-9F4E-4A5B-9DDB-64D3F000309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E7017291-2C4D-475C-A90A-8D328A3ABC0E}"/>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339AE1DF-DF9E-4F09-B772-FB6D26F0C97E}"/>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BC2215C5-7C66-4525-BF5D-DAEC331C3932}"/>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09467CAB-2FA1-4720-927F-CF482B03C32C}"/>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58" name="Image 1"/>
          <p:cNvPicPr>
            <a:picLocks xmlns:a="http://schemas.openxmlformats.org/drawingml/2006/main" noChangeAspect="1"/>
          </p:cNvPicPr>
          <p:nvPr/>
        </p:nvPicPr>
        <p:blipFill>
          <a:blip xmlns:r="http://schemas.openxmlformats.org/officeDocument/2006/relationships" xmlns:a="http://schemas.openxmlformats.org/drawingml/2006/main" r:embed="Rf1032164606a4067"/>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3588E956-3FD4-4DCB-AF21-BDBAB9769345}"/>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11 · 라이브 데모</a:t>
            </a:r>
          </a:p>
        </p:txBody>
      </p:sp>
      <p:sp>
        <p:nvSpPr>
          <p:cNvPr id="15" name="Shape 11">
            <a:extLst xmlns:a="http://schemas.openxmlformats.org/drawingml/2006/main">
              <a:ext uri="{FF2B5EF4-FFF2-40B4-BE49-F238E27FC236}">
                <a16:creationId xmlns:a16="http://schemas.microsoft.com/office/drawing/2014/main" id="{7C093186-4A89-4FD0-989E-A06E9BFB42D3}"/>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DF662D7A-DD36-4667-B880-7930873F97E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368BC5D0-DF1B-4FC6-94CA-2B51EA826A61}"/>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D2B9D6FF-5354-493C-98E1-2AA9F8D729C4}"/>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14F70813-50CD-497B-B35D-20698BBAC282}"/>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E3DAFDC6-9CE4-4C14-9915-92E8E82E2356}"/>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BAABB428-C58E-4260-8EAC-A3E490ED22F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14ABB980-6F16-434A-9AD5-722C99607159}"/>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05A2AB9C-A9FF-4779-8D4F-1C428F61B9A1}"/>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75DC1003-41CB-4412-BF17-6C3230365D06}"/>
              </a:ext>
            </a:extLst>
          </p:cNvPr>
          <p:cNvSpPr>
            <a:spLocks xmlns:a="http://schemas.openxmlformats.org/drawingml/2006/main" noGrp="1"/>
          </p:cNvSpPr>
          <p:nvPr/>
        </p:nvSpPr>
        <p:spPr>
          <a:xfrm xmlns:a="http://schemas.openxmlformats.org/drawingml/2006/main">
            <a:off x="0" y="18288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90초 라이브 시연 · 담당 범위가 끝까지 이어지는가</a:t>
            </a:r>
          </a:p>
        </p:txBody>
      </p:sp>
      <p:sp>
        <p:nvSpPr>
          <p:cNvPr id="25" name="Shape 21">
            <a:extLst xmlns:a="http://schemas.openxmlformats.org/drawingml/2006/main">
              <a:ext uri="{FF2B5EF4-FFF2-40B4-BE49-F238E27FC236}">
                <a16:creationId xmlns:a16="http://schemas.microsoft.com/office/drawing/2014/main" id="{2D547F33-D0E8-4ABF-964A-003DF76EA6E0}"/>
              </a:ext>
            </a:extLst>
          </p:cNvPr>
          <p:cNvSpPr>
            <a:spLocks xmlns:a="http://schemas.openxmlformats.org/drawingml/2006/main" noGrp="1"/>
          </p:cNvSpPr>
          <p:nvPr/>
        </p:nvSpPr>
        <p:spPr>
          <a:xfrm xmlns:a="http://schemas.openxmlformats.org/drawingml/2006/main">
            <a:off x="81518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6" name="Text 22">
            <a:extLst xmlns:a="http://schemas.openxmlformats.org/drawingml/2006/main">
              <a:ext uri="{FF2B5EF4-FFF2-40B4-BE49-F238E27FC236}">
                <a16:creationId xmlns:a16="http://schemas.microsoft.com/office/drawing/2014/main" id="{62D13B52-FC05-48B1-9705-4B44AD99DB7F}"/>
              </a:ext>
            </a:extLst>
          </p:cNvPr>
          <p:cNvSpPr>
            <a:spLocks xmlns:a="http://schemas.openxmlformats.org/drawingml/2006/main" noGrp="1"/>
          </p:cNvSpPr>
          <p:nvPr/>
        </p:nvSpPr>
        <p:spPr>
          <a:xfrm xmlns:a="http://schemas.openxmlformats.org/drawingml/2006/main">
            <a:off x="81518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B5588D3D-8428-47B4-BA3A-409E61080DD2}"/>
              </a:ext>
            </a:extLst>
          </p:cNvPr>
          <p:cNvSpPr>
            <a:spLocks xmlns:a="http://schemas.openxmlformats.org/drawingml/2006/main" noGrp="1"/>
          </p:cNvSpPr>
          <p:nvPr/>
        </p:nvSpPr>
        <p:spPr>
          <a:xfrm xmlns:a="http://schemas.openxmlformats.org/drawingml/2006/main">
            <a:off x="81518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대분류 87건</a:t>
            </a:r>
          </a:p>
        </p:txBody>
      </p:sp>
      <p:sp>
        <p:nvSpPr>
          <p:cNvPr id="28" name="Text 24">
            <a:extLst xmlns:a="http://schemas.openxmlformats.org/drawingml/2006/main">
              <a:ext uri="{FF2B5EF4-FFF2-40B4-BE49-F238E27FC236}">
                <a16:creationId xmlns:a16="http://schemas.microsoft.com/office/drawing/2014/main" id="{95959E5C-220A-4C24-B8E4-C96F93DA0B93}"/>
              </a:ext>
            </a:extLst>
          </p:cNvPr>
          <p:cNvSpPr>
            <a:spLocks xmlns:a="http://schemas.openxmlformats.org/drawingml/2006/main" noGrp="1"/>
          </p:cNvSpPr>
          <p:nvPr/>
        </p:nvSpPr>
        <p:spPr>
          <a:xfrm xmlns:a="http://schemas.openxmlformats.org/drawingml/2006/main">
            <a:off x="300974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0FF1541B-D9F6-40F8-B48F-BB64EFB5372B}"/>
              </a:ext>
            </a:extLst>
          </p:cNvPr>
          <p:cNvSpPr>
            <a:spLocks xmlns:a="http://schemas.openxmlformats.org/drawingml/2006/main" noGrp="1"/>
          </p:cNvSpPr>
          <p:nvPr/>
        </p:nvSpPr>
        <p:spPr>
          <a:xfrm xmlns:a="http://schemas.openxmlformats.org/drawingml/2006/main">
            <a:off x="360410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0" name="Text 26">
            <a:extLst xmlns:a="http://schemas.openxmlformats.org/drawingml/2006/main">
              <a:ext uri="{FF2B5EF4-FFF2-40B4-BE49-F238E27FC236}">
                <a16:creationId xmlns:a16="http://schemas.microsoft.com/office/drawing/2014/main" id="{AA2D0990-AB42-4523-9C4E-53CB51D0B4C1}"/>
              </a:ext>
            </a:extLst>
          </p:cNvPr>
          <p:cNvSpPr>
            <a:spLocks xmlns:a="http://schemas.openxmlformats.org/drawingml/2006/main" noGrp="1"/>
          </p:cNvSpPr>
          <p:nvPr/>
        </p:nvSpPr>
        <p:spPr>
          <a:xfrm xmlns:a="http://schemas.openxmlformats.org/drawingml/2006/main">
            <a:off x="360410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B7667B81-9370-431F-A8FE-62F825359938}"/>
              </a:ext>
            </a:extLst>
          </p:cNvPr>
          <p:cNvSpPr>
            <a:spLocks xmlns:a="http://schemas.openxmlformats.org/drawingml/2006/main" noGrp="1"/>
          </p:cNvSpPr>
          <p:nvPr/>
        </p:nvSpPr>
        <p:spPr>
          <a:xfrm xmlns:a="http://schemas.openxmlformats.org/drawingml/2006/main">
            <a:off x="360410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건강팀 68건</a:t>
            </a:r>
          </a:p>
        </p:txBody>
      </p:sp>
      <p:sp>
        <p:nvSpPr>
          <p:cNvPr id="32" name="Text 28">
            <a:extLst xmlns:a="http://schemas.openxmlformats.org/drawingml/2006/main">
              <a:ext uri="{FF2B5EF4-FFF2-40B4-BE49-F238E27FC236}">
                <a16:creationId xmlns:a16="http://schemas.microsoft.com/office/drawing/2014/main" id="{04048753-0552-4D17-9FC8-8BA316D84B87}"/>
              </a:ext>
            </a:extLst>
          </p:cNvPr>
          <p:cNvSpPr>
            <a:spLocks xmlns:a="http://schemas.openxmlformats.org/drawingml/2006/main" noGrp="1"/>
          </p:cNvSpPr>
          <p:nvPr/>
        </p:nvSpPr>
        <p:spPr>
          <a:xfrm xmlns:a="http://schemas.openxmlformats.org/drawingml/2006/main">
            <a:off x="579866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33" name="Shape 29">
            <a:extLst xmlns:a="http://schemas.openxmlformats.org/drawingml/2006/main">
              <a:ext uri="{FF2B5EF4-FFF2-40B4-BE49-F238E27FC236}">
                <a16:creationId xmlns:a16="http://schemas.microsoft.com/office/drawing/2014/main" id="{28729927-094F-4FC5-AC33-A08BC3452E60}"/>
              </a:ext>
            </a:extLst>
          </p:cNvPr>
          <p:cNvSpPr>
            <a:spLocks xmlns:a="http://schemas.openxmlformats.org/drawingml/2006/main" noGrp="1"/>
          </p:cNvSpPr>
          <p:nvPr/>
        </p:nvSpPr>
        <p:spPr>
          <a:xfrm xmlns:a="http://schemas.openxmlformats.org/drawingml/2006/main">
            <a:off x="639302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4" name="Text 30">
            <a:extLst xmlns:a="http://schemas.openxmlformats.org/drawingml/2006/main">
              <a:ext uri="{FF2B5EF4-FFF2-40B4-BE49-F238E27FC236}">
                <a16:creationId xmlns:a16="http://schemas.microsoft.com/office/drawing/2014/main" id="{B6FB818C-9FED-42A9-9BCA-E6A53278AF33}"/>
              </a:ext>
            </a:extLst>
          </p:cNvPr>
          <p:cNvSpPr>
            <a:spLocks xmlns:a="http://schemas.openxmlformats.org/drawingml/2006/main" noGrp="1"/>
          </p:cNvSpPr>
          <p:nvPr/>
        </p:nvSpPr>
        <p:spPr>
          <a:xfrm xmlns:a="http://schemas.openxmlformats.org/drawingml/2006/main">
            <a:off x="639302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074DEFAD-A5FD-49B9-950D-9126967E8D45}"/>
              </a:ext>
            </a:extLst>
          </p:cNvPr>
          <p:cNvSpPr>
            <a:spLocks xmlns:a="http://schemas.openxmlformats.org/drawingml/2006/main" noGrp="1"/>
          </p:cNvSpPr>
          <p:nvPr/>
        </p:nvSpPr>
        <p:spPr>
          <a:xfrm xmlns:a="http://schemas.openxmlformats.org/drawingml/2006/main">
            <a:off x="639302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Gap·R&amp;R 검증</a:t>
            </a:r>
          </a:p>
        </p:txBody>
      </p:sp>
      <p:sp>
        <p:nvSpPr>
          <p:cNvPr id="36" name="Text 32">
            <a:extLst xmlns:a="http://schemas.openxmlformats.org/drawingml/2006/main">
              <a:ext uri="{FF2B5EF4-FFF2-40B4-BE49-F238E27FC236}">
                <a16:creationId xmlns:a16="http://schemas.microsoft.com/office/drawing/2014/main" id="{AFE8583D-915E-4ED3-AAE3-B34A6C0402B5}"/>
              </a:ext>
            </a:extLst>
          </p:cNvPr>
          <p:cNvSpPr>
            <a:spLocks xmlns:a="http://schemas.openxmlformats.org/drawingml/2006/main" noGrp="1"/>
          </p:cNvSpPr>
          <p:nvPr/>
        </p:nvSpPr>
        <p:spPr>
          <a:xfrm xmlns:a="http://schemas.openxmlformats.org/drawingml/2006/main">
            <a:off x="8587588" y="2743200"/>
            <a:ext cx="594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rPr>
              <a:t>➜</a:t>
            </a:r>
          </a:p>
        </p:txBody>
      </p:sp>
      <p:sp>
        <p:nvSpPr>
          <p:cNvPr id="37" name="Shape 33">
            <a:extLst xmlns:a="http://schemas.openxmlformats.org/drawingml/2006/main">
              <a:ext uri="{FF2B5EF4-FFF2-40B4-BE49-F238E27FC236}">
                <a16:creationId xmlns:a16="http://schemas.microsoft.com/office/drawing/2014/main" id="{5E272F9C-65B6-46D2-B2BC-635ACAE49266}"/>
              </a:ext>
            </a:extLst>
          </p:cNvPr>
          <p:cNvSpPr>
            <a:spLocks xmlns:a="http://schemas.openxmlformats.org/drawingml/2006/main" noGrp="1"/>
          </p:cNvSpPr>
          <p:nvPr/>
        </p:nvSpPr>
        <p:spPr>
          <a:xfrm xmlns:a="http://schemas.openxmlformats.org/drawingml/2006/main">
            <a:off x="9181948" y="2743200"/>
            <a:ext cx="2194560" cy="137160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38" name="Text 34">
            <a:extLst xmlns:a="http://schemas.openxmlformats.org/drawingml/2006/main">
              <a:ext uri="{FF2B5EF4-FFF2-40B4-BE49-F238E27FC236}">
                <a16:creationId xmlns:a16="http://schemas.microsoft.com/office/drawing/2014/main" id="{9B7BAC55-D20E-42C5-AC98-4FDDEFB4DB44}"/>
              </a:ext>
            </a:extLst>
          </p:cNvPr>
          <p:cNvSpPr>
            <a:spLocks xmlns:a="http://schemas.openxmlformats.org/drawingml/2006/main" noGrp="1"/>
          </p:cNvSpPr>
          <p:nvPr/>
        </p:nvSpPr>
        <p:spPr>
          <a:xfrm xmlns:a="http://schemas.openxmlformats.org/drawingml/2006/main">
            <a:off x="9181948" y="2926080"/>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3558D6"/>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B4D57B6F-5DD5-4B04-BC87-38A18FCAD4DB}"/>
              </a:ext>
            </a:extLst>
          </p:cNvPr>
          <p:cNvSpPr>
            <a:spLocks xmlns:a="http://schemas.openxmlformats.org/drawingml/2006/main" noGrp="1"/>
          </p:cNvSpPr>
          <p:nvPr/>
        </p:nvSpPr>
        <p:spPr>
          <a:xfrm xmlns:a="http://schemas.openxmlformats.org/drawingml/2006/main">
            <a:off x="9181948" y="349300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B2340"/>
                </a:solidFill>
                <a:latin typeface="Malgun Gothic"/>
                <a:ea typeface="Malgun Gothic"/>
                <a:cs typeface="Malgun Gothic"/>
              </a:rPr>
              <a:t>보고서·CSV</a:t>
            </a: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ca624bfa898640f7"/>
          <a:stretch xmlns:a="http://schemas.openxmlformats.org/drawingml/2006/main">
            <a:fillRect l="0" t="0" r="0" b="0"/>
          </a:stretch>
        </p:blipFill>
        <p:spPr>
          <a:xfrm xmlns:a="http://schemas.openxmlformats.org/drawingml/2006/main">
            <a:off x="1864523" y="2929116"/>
            <a:ext cx="934787" cy="1143000"/>
          </a:xfrm>
          <a:prstGeom xmlns:a="http://schemas.openxmlformats.org/drawingml/2006/main" prst="rect">
            <a:avLst/>
          </a:prstGeom>
        </p:spPr>
      </p:pic>
      <p:sp>
        <p:nvSpPr>
          <p:cNvPr id="41" name="Shape 36">
            <a:extLst xmlns:a="http://schemas.openxmlformats.org/drawingml/2006/main">
              <a:ext uri="{FF2B5EF4-FFF2-40B4-BE49-F238E27FC236}">
                <a16:creationId xmlns:a16="http://schemas.microsoft.com/office/drawing/2014/main" id="{CE78DEEB-B5E0-4BDA-9CCB-EF7E3775174E}"/>
              </a:ext>
            </a:extLst>
          </p:cNvPr>
          <p:cNvSpPr>
            <a:spLocks xmlns:a="http://schemas.openxmlformats.org/drawingml/2006/main" noGrp="1"/>
          </p:cNvSpPr>
          <p:nvPr/>
        </p:nvSpPr>
        <p:spPr>
          <a:xfrm xmlns:a="http://schemas.openxmlformats.org/drawingml/2006/main">
            <a:off x="6341364" y="5230368"/>
            <a:ext cx="4192524"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42" name="Text 37">
            <a:extLst xmlns:a="http://schemas.openxmlformats.org/drawingml/2006/main">
              <a:ext uri="{FF2B5EF4-FFF2-40B4-BE49-F238E27FC236}">
                <a16:creationId xmlns:a16="http://schemas.microsoft.com/office/drawing/2014/main" id="{3AC8572F-F10D-401A-9AF0-DE36E3C33D31}"/>
              </a:ext>
            </a:extLst>
          </p:cNvPr>
          <p:cNvSpPr>
            <a:spLocks xmlns:a="http://schemas.openxmlformats.org/drawingml/2006/main" noGrp="1"/>
          </p:cNvSpPr>
          <p:nvPr/>
        </p:nvSpPr>
        <p:spPr>
          <a:xfrm xmlns:a="http://schemas.openxmlformats.org/drawingml/2006/main">
            <a:off x="6432804" y="5230368"/>
            <a:ext cx="400964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시민 목소리·Gap·긴급 민원·새싹이·보고서가 같은 범위로 연동돼요</a:t>
            </a:r>
          </a:p>
        </p:txBody>
      </p:sp>
      <p:pic>
        <p:nvPicPr>
          <p:cNvPr id="88" name="Image 3"/>
          <p:cNvPicPr>
            <a:picLocks xmlns:a="http://schemas.openxmlformats.org/drawingml/2006/main" noChangeAspect="1"/>
          </p:cNvPicPr>
          <p:nvPr/>
        </p:nvPicPr>
        <p:blipFill>
          <a:blip xmlns:r="http://schemas.openxmlformats.org/officeDocument/2006/relationships" xmlns:a="http://schemas.openxmlformats.org/drawingml/2006/main" r:embed="Rf1032164606a4067"/>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476832636"/>
      </p:ext>
    </p:extLst>
  </p:cSld>
</p:sld>
</file>

<file path=ppt/slides/slide13.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FC6BA9E-1C4D-4E78-BCD2-86D92C999743}"/>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68297EFD-3D3E-4CB1-A134-72A7B65CECF5}"/>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E92BD81A-FE12-4524-AD8F-DB9A46A0689E}"/>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9FB2AC2B-928F-42B5-A6B2-B9066845A226}"/>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8cfe3079abb547d5"/>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17B0BCF-39EF-418E-ABBE-6C3A1A9225ED}"/>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AC05761F-FDDF-493B-A1DC-DF359256214C}"/>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4FA8801B-7DF1-4B0F-B89E-267E1B787F9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0BF142CF-759E-4F26-AADE-656405A25C16}"/>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D0CD0286-3CC4-4F69-A374-BC8FC5BC8B5C}"/>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EB3B0F85-147C-4095-BA5D-88C3EA3BCDA7}"/>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8cfe3079abb547d5"/>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E51880EB-CAB7-4453-815D-197487259FA0}"/>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12 · 검증 상태</a:t>
            </a:r>
          </a:p>
        </p:txBody>
      </p:sp>
      <p:sp>
        <p:nvSpPr>
          <p:cNvPr id="15" name="Shape 11">
            <a:extLst xmlns:a="http://schemas.openxmlformats.org/drawingml/2006/main">
              <a:ext uri="{FF2B5EF4-FFF2-40B4-BE49-F238E27FC236}">
                <a16:creationId xmlns:a16="http://schemas.microsoft.com/office/drawing/2014/main" id="{E81A6549-25CD-46C0-A763-055C4F119EDA}"/>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955CB4AF-93CE-489C-8BCB-BC5C82481037}"/>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FCD5D2F1-3F67-43C4-8D0F-FF93DCB3E86B}"/>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7EEA373A-075C-4C1A-BC28-E6399B56F0F9}"/>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ED8E32FA-402B-4BA6-8C33-9131D699148F}"/>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0D9152E4-7F63-458C-99D7-B623F8523764}"/>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CA8B9E7-C6C4-44C0-B3D8-5D9EC782C8E7}"/>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0CB0196F-8F1E-4D3B-96BD-78E03EF0D187}"/>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68833EFE-6C25-48C1-9FA0-DF4CB1FACB19}"/>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EC8F327-EF45-44EC-818D-358DC3082FAC}"/>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확인된 기능과 후속 검증을 분리합니다</a:t>
            </a:r>
          </a:p>
        </p:txBody>
      </p:sp>
      <p:sp>
        <p:nvSpPr>
          <p:cNvPr id="25" name="Text 21">
            <a:extLst xmlns:a="http://schemas.openxmlformats.org/drawingml/2006/main">
              <a:ext uri="{FF2B5EF4-FFF2-40B4-BE49-F238E27FC236}">
                <a16:creationId xmlns:a16="http://schemas.microsoft.com/office/drawing/2014/main" id="{248DEBAC-2ECE-4187-ABD2-4D73AEC927B4}"/>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동작 확인 ≠ 업무 효과 검증</a:t>
            </a:r>
          </a:p>
        </p:txBody>
      </p:sp>
      <p:sp>
        <p:nvSpPr>
          <p:cNvPr id="26" name="Shape 22">
            <a:extLst xmlns:a="http://schemas.openxmlformats.org/drawingml/2006/main">
              <a:ext uri="{FF2B5EF4-FFF2-40B4-BE49-F238E27FC236}">
                <a16:creationId xmlns:a16="http://schemas.microsoft.com/office/drawing/2014/main" id="{07999910-3812-4084-AE6C-24FD8C711F51}"/>
              </a:ext>
            </a:extLst>
          </p:cNvPr>
          <p:cNvSpPr>
            <a:spLocks xmlns:a="http://schemas.openxmlformats.org/drawingml/2006/main" noGrp="1"/>
          </p:cNvSpPr>
          <p:nvPr/>
        </p:nvSpPr>
        <p:spPr>
          <a:xfrm xmlns:a="http://schemas.openxmlformats.org/drawingml/2006/main">
            <a:off x="3535528" y="2651760"/>
            <a:ext cx="1463040" cy="2057400"/>
          </a:xfrm>
          <a:prstGeom xmlns:a="http://schemas.openxmlformats.org/drawingml/2006/main" prst="rect">
            <a:avLst/>
          </a:prstGeom>
          <a:solidFill xmlns:a="http://schemas.openxmlformats.org/drawingml/2006/main">
            <a:srgbClr val="3A4470"/>
          </a:solidFill>
        </p:spPr>
      </p:sp>
      <p:sp>
        <p:nvSpPr>
          <p:cNvPr id="27" name="Text 23">
            <a:extLst xmlns:a="http://schemas.openxmlformats.org/drawingml/2006/main">
              <a:ext uri="{FF2B5EF4-FFF2-40B4-BE49-F238E27FC236}">
                <a16:creationId xmlns:a16="http://schemas.microsoft.com/office/drawing/2014/main" id="{D5DDB890-F590-4F31-825F-F424D9413DFD}"/>
              </a:ext>
            </a:extLst>
          </p:cNvPr>
          <p:cNvSpPr>
            <a:spLocks xmlns:a="http://schemas.openxmlformats.org/drawingml/2006/main" noGrp="1"/>
          </p:cNvSpPr>
          <p:nvPr/>
        </p:nvSpPr>
        <p:spPr>
          <a:xfrm xmlns:a="http://schemas.openxmlformats.org/drawingml/2006/main">
            <a:off x="3535528" y="2651760"/>
            <a:ext cx="1463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확인</a:t>
            </a:r>
          </a:p>
        </p:txBody>
      </p:sp>
      <p:sp>
        <p:nvSpPr>
          <p:cNvPr id="28" name="Text 24">
            <a:extLst xmlns:a="http://schemas.openxmlformats.org/drawingml/2006/main">
              <a:ext uri="{FF2B5EF4-FFF2-40B4-BE49-F238E27FC236}">
                <a16:creationId xmlns:a16="http://schemas.microsoft.com/office/drawing/2014/main" id="{96966B59-7851-43CD-9E97-693B3336D253}"/>
              </a:ext>
            </a:extLst>
          </p:cNvPr>
          <p:cNvSpPr>
            <a:spLocks xmlns:a="http://schemas.openxmlformats.org/drawingml/2006/main" noGrp="1"/>
          </p:cNvSpPr>
          <p:nvPr/>
        </p:nvSpPr>
        <p:spPr>
          <a:xfrm xmlns:a="http://schemas.openxmlformats.org/drawingml/2006/main">
            <a:off x="3261208" y="4818888"/>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5C6684"/>
                </a:solidFill>
                <a:latin typeface="Malgun Gothic"/>
                <a:ea typeface="Malgun Gothic"/>
                <a:cs typeface="Malgun Gothic"/>
              </a:rPr>
              <a:t>정합성·필터·8개 화면·빌드</a:t>
            </a:r>
          </a:p>
        </p:txBody>
      </p:sp>
      <p:sp>
        <p:nvSpPr>
          <p:cNvPr id="29" name="Shape 25">
            <a:extLst xmlns:a="http://schemas.openxmlformats.org/drawingml/2006/main">
              <a:ext uri="{FF2B5EF4-FFF2-40B4-BE49-F238E27FC236}">
                <a16:creationId xmlns:a16="http://schemas.microsoft.com/office/drawing/2014/main" id="{2CAB4EDA-F25E-4E62-BC1A-C70EFB56580B}"/>
              </a:ext>
            </a:extLst>
          </p:cNvPr>
          <p:cNvSpPr>
            <a:spLocks xmlns:a="http://schemas.openxmlformats.org/drawingml/2006/main" noGrp="1"/>
          </p:cNvSpPr>
          <p:nvPr/>
        </p:nvSpPr>
        <p:spPr>
          <a:xfrm xmlns:a="http://schemas.openxmlformats.org/drawingml/2006/main">
            <a:off x="7193128" y="4379976"/>
            <a:ext cx="1463040" cy="329184"/>
          </a:xfrm>
          <a:prstGeom xmlns:a="http://schemas.openxmlformats.org/drawingml/2006/main" prst="rect">
            <a:avLst/>
          </a:prstGeom>
          <a:solidFill xmlns:a="http://schemas.openxmlformats.org/drawingml/2006/main">
            <a:srgbClr val="C77D00"/>
          </a:solidFill>
        </p:spPr>
      </p:sp>
      <p:sp>
        <p:nvSpPr>
          <p:cNvPr id="30" name="Text 26">
            <a:extLst xmlns:a="http://schemas.openxmlformats.org/drawingml/2006/main">
              <a:ext uri="{FF2B5EF4-FFF2-40B4-BE49-F238E27FC236}">
                <a16:creationId xmlns:a16="http://schemas.microsoft.com/office/drawing/2014/main" id="{76CADA17-2288-4FE1-8D00-4E8838ED0A59}"/>
              </a:ext>
            </a:extLst>
          </p:cNvPr>
          <p:cNvSpPr>
            <a:spLocks xmlns:a="http://schemas.openxmlformats.org/drawingml/2006/main" noGrp="1"/>
          </p:cNvSpPr>
          <p:nvPr/>
        </p:nvSpPr>
        <p:spPr>
          <a:xfrm xmlns:a="http://schemas.openxmlformats.org/drawingml/2006/main">
            <a:off x="6918808" y="3877056"/>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77D00"/>
                </a:solidFill>
                <a:latin typeface="Calibri"/>
                <a:ea typeface="Calibri"/>
                <a:cs typeface="Calibri"/>
              </a:rPr>
              <a:t>검증 예정</a:t>
            </a:r>
          </a:p>
        </p:txBody>
      </p:sp>
      <p:sp>
        <p:nvSpPr>
          <p:cNvPr id="31" name="Text 27">
            <a:extLst xmlns:a="http://schemas.openxmlformats.org/drawingml/2006/main">
              <a:ext uri="{FF2B5EF4-FFF2-40B4-BE49-F238E27FC236}">
                <a16:creationId xmlns:a16="http://schemas.microsoft.com/office/drawing/2014/main" id="{95581E76-7420-45D5-AFE6-B2653EC8482D}"/>
              </a:ext>
            </a:extLst>
          </p:cNvPr>
          <p:cNvSpPr>
            <a:spLocks xmlns:a="http://schemas.openxmlformats.org/drawingml/2006/main" noGrp="1"/>
          </p:cNvSpPr>
          <p:nvPr/>
        </p:nvSpPr>
        <p:spPr>
          <a:xfrm xmlns:a="http://schemas.openxmlformats.org/drawingml/2006/main">
            <a:off x="6918808" y="4818888"/>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5C6684"/>
                </a:solidFill>
                <a:latin typeface="Malgun Gothic"/>
                <a:ea typeface="Malgun Gothic"/>
                <a:cs typeface="Malgun Gothic"/>
              </a:rPr>
              <a:t>시간·오류·수정률·수용률·만족도</a:t>
            </a:r>
          </a:p>
        </p:txBody>
      </p:sp>
      <p:sp>
        <p:nvSpPr>
          <p:cNvPr id="32" name="Shape 28">
            <a:extLst xmlns:a="http://schemas.openxmlformats.org/drawingml/2006/main">
              <a:ext uri="{FF2B5EF4-FFF2-40B4-BE49-F238E27FC236}">
                <a16:creationId xmlns:a16="http://schemas.microsoft.com/office/drawing/2014/main" id="{6762C4B3-E2C5-440E-9C0D-33D4B34B977F}"/>
              </a:ext>
            </a:extLst>
          </p:cNvPr>
          <p:cNvSpPr>
            <a:spLocks xmlns:a="http://schemas.openxmlformats.org/drawingml/2006/main" noGrp="1"/>
          </p:cNvSpPr>
          <p:nvPr/>
        </p:nvSpPr>
        <p:spPr>
          <a:xfrm xmlns:a="http://schemas.openxmlformats.org/drawingml/2006/main">
            <a:off x="1527048" y="5230368"/>
            <a:ext cx="3515868"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3" name="Text 29">
            <a:extLst xmlns:a="http://schemas.openxmlformats.org/drawingml/2006/main">
              <a:ext uri="{FF2B5EF4-FFF2-40B4-BE49-F238E27FC236}">
                <a16:creationId xmlns:a16="http://schemas.microsoft.com/office/drawing/2014/main" id="{79FE1E67-DCD9-4103-B0C1-51BE22A84E3A}"/>
              </a:ext>
            </a:extLst>
          </p:cNvPr>
          <p:cNvSpPr>
            <a:spLocks xmlns:a="http://schemas.openxmlformats.org/drawingml/2006/main" noGrp="1"/>
          </p:cNvSpPr>
          <p:nvPr/>
        </p:nvSpPr>
        <p:spPr>
          <a:xfrm xmlns:a="http://schemas.openxmlformats.org/drawingml/2006/main">
            <a:off x="1618488" y="5230368"/>
            <a:ext cx="33329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같은 과업을 기존 방식과 UKKKK 방식으로 비교할게요</a:t>
            </a:r>
          </a:p>
        </p:txBody>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8cfe3079abb547d5"/>
          <a:stretch xmlns:a="http://schemas.openxmlformats.org/drawingml/2006/main">
            <a:fillRect l="0" t="0" r="0" b="0"/>
          </a:stretch>
        </p:blipFill>
        <p:spPr>
          <a:xfrm xmlns:a="http://schemas.openxmlformats.org/drawingml/2006/main">
            <a:off x="566928" y="5029200"/>
            <a:ext cx="1005840" cy="1005840"/>
          </a:xfrm>
          <a:prstGeom xmlns:a="http://schemas.openxmlformats.org/drawingml/2006/main" prst="rect">
            <a:avLst/>
          </a:prstGeom>
        </p:spPr>
      </p:pic>
    </p:spTree>
    <p:extLst>
      <p:ext uri="{BB962C8B-B14F-4D97-AF65-F5344CB8AC3E}">
        <p14:creationId xmlns:p14="http://schemas.microsoft.com/office/powerpoint/2010/main" val="1592830599"/>
      </p:ext>
    </p:extLst>
  </p:cSld>
</p:sld>
</file>

<file path=ppt/slides/slide14.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C51523-F894-4A76-B2B1-289E89736CDE}"/>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6F90FEE7-FE93-489F-8A2B-5D171DFC457F}"/>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A290D269-E1BC-47E0-8B6A-E94CF2E052D5}"/>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472D662E-055E-436B-8B1B-ABE7F9C70D2A}"/>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742b2f4c4b634eae"/>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609E17D-193C-48A7-9CDF-AA0F30CB0476}"/>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10FD67CD-1DF1-47B4-A746-D2B7894CAE00}"/>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E899CC21-3AAC-4F12-87F5-87A3406D9187}"/>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B54073DD-2FAD-4883-8275-FB63315BBE3C}"/>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B1639BDD-B6A1-4E56-AB71-780039E24EEF}"/>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BFED25E0-7927-4F22-98D5-D4F5FB8F86EF}"/>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742b2f4c4b634eae"/>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FF7D5AA1-96FE-4462-BD78-7C155D381933}"/>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13 · 운영화 로드맵</a:t>
            </a:r>
          </a:p>
        </p:txBody>
      </p:sp>
      <p:sp>
        <p:nvSpPr>
          <p:cNvPr id="15" name="Shape 11">
            <a:extLst xmlns:a="http://schemas.openxmlformats.org/drawingml/2006/main">
              <a:ext uri="{FF2B5EF4-FFF2-40B4-BE49-F238E27FC236}">
                <a16:creationId xmlns:a16="http://schemas.microsoft.com/office/drawing/2014/main" id="{77AF0670-A9B1-41A0-AF8D-3E1793D0DB75}"/>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4A6A0C6E-53D1-47D2-8F38-428015E1E1EA}"/>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406322E0-6287-4741-A2A1-E51A9F71EDB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8EE00278-9573-4A1F-8860-DAFE587AE537}"/>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4B603FCB-842A-446D-8C35-7F68E6779627}"/>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571EBB53-8818-4C33-8065-43A4F97561D1}"/>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05A6E06A-20D1-4C2D-91D6-A6D5457F9356}"/>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954273C4-10CA-42D9-98E0-6F1784F2A13F}"/>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94007BE9-76F4-482F-9E16-9466D749D30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24BEA73-EC06-4EC0-9979-04B0108A96B5}"/>
              </a:ext>
            </a:extLst>
          </p:cNvPr>
          <p:cNvSpPr>
            <a:spLocks xmlns:a="http://schemas.openxmlformats.org/drawingml/2006/main" noGrp="1"/>
          </p:cNvSpPr>
          <p:nvPr/>
        </p:nvSpPr>
        <p:spPr>
          <a:xfrm xmlns:a="http://schemas.openxmlformats.org/drawingml/2006/main">
            <a:off x="0" y="137160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데모에서 운영형 의사결정 도구로</a:t>
            </a:r>
          </a:p>
        </p:txBody>
      </p:sp>
      <p:sp>
        <p:nvSpPr>
          <p:cNvPr id="25" name="Text 21">
            <a:extLst xmlns:a="http://schemas.openxmlformats.org/drawingml/2006/main">
              <a:ext uri="{FF2B5EF4-FFF2-40B4-BE49-F238E27FC236}">
                <a16:creationId xmlns:a16="http://schemas.microsoft.com/office/drawing/2014/main" id="{E43FC1EE-98BC-4052-9170-40EABDD901B5}"/>
              </a:ext>
            </a:extLst>
          </p:cNvPr>
          <p:cNvSpPr>
            <a:spLocks xmlns:a="http://schemas.openxmlformats.org/drawingml/2006/main" noGrp="1"/>
          </p:cNvSpPr>
          <p:nvPr/>
        </p:nvSpPr>
        <p:spPr>
          <a:xfrm xmlns:a="http://schemas.openxmlformats.org/drawingml/2006/main">
            <a:off x="548640" y="173736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3200" b="1">
                <a:solidFill>
                  <a:srgbClr val="1B2340"/>
                </a:solidFill>
                <a:latin typeface="Malgun Gothic"/>
                <a:ea typeface="Malgun Gothic"/>
                <a:cs typeface="Malgun Gothic"/>
              </a:rPr>
              <a:t>데이터 운영화 → 행정 검증 → 서비스 안정화</a:t>
            </a:r>
          </a:p>
        </p:txBody>
      </p:sp>
      <p:sp>
        <p:nvSpPr>
          <p:cNvPr id="26" name="Shape 22">
            <a:extLst xmlns:a="http://schemas.openxmlformats.org/drawingml/2006/main">
              <a:ext uri="{FF2B5EF4-FFF2-40B4-BE49-F238E27FC236}">
                <a16:creationId xmlns:a16="http://schemas.microsoft.com/office/drawing/2014/main" id="{395E67AD-7AD4-4D3E-AFFE-45C157C396F7}"/>
              </a:ext>
            </a:extLst>
          </p:cNvPr>
          <p:cNvSpPr>
            <a:spLocks xmlns:a="http://schemas.openxmlformats.org/drawingml/2006/main" noGrp="1"/>
          </p:cNvSpPr>
          <p:nvPr/>
        </p:nvSpPr>
        <p:spPr>
          <a:xfrm xmlns:a="http://schemas.openxmlformats.org/drawingml/2006/main">
            <a:off x="929488" y="2788920"/>
            <a:ext cx="4343400" cy="2194560"/>
          </a:xfrm>
          <a:prstGeom xmlns:a="http://schemas.openxmlformats.org/drawingml/2006/main" prst="rect">
            <a:avLst/>
          </a:prstGeom>
          <a:solidFill xmlns:a="http://schemas.openxmlformats.org/drawingml/2006/main">
            <a:srgbClr val="F3F5FC"/>
          </a:solidFill>
          <a:ln xmlns:a="http://schemas.openxmlformats.org/drawingml/2006/main" w="12700">
            <a:solidFill>
              <a:srgbClr val="D4DAF0"/>
            </a:solidFill>
            <a:prstDash val="solid"/>
          </a:ln>
        </p:spPr>
      </p:sp>
      <p:sp>
        <p:nvSpPr>
          <p:cNvPr id="27" name="Text 23">
            <a:extLst xmlns:a="http://schemas.openxmlformats.org/drawingml/2006/main">
              <a:ext uri="{FF2B5EF4-FFF2-40B4-BE49-F238E27FC236}">
                <a16:creationId xmlns:a16="http://schemas.microsoft.com/office/drawing/2014/main" id="{C5CB8F04-E238-4F8E-B338-CC297C09B98B}"/>
              </a:ext>
            </a:extLst>
          </p:cNvPr>
          <p:cNvSpPr>
            <a:spLocks xmlns:a="http://schemas.openxmlformats.org/drawingml/2006/main" noGrp="1"/>
          </p:cNvSpPr>
          <p:nvPr/>
        </p:nvSpPr>
        <p:spPr>
          <a:xfrm xmlns:a="http://schemas.openxmlformats.org/drawingml/2006/main">
            <a:off x="1094080" y="2898648"/>
            <a:ext cx="4014216"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3558D6"/>
                </a:solidFill>
                <a:latin typeface="Malgun Gothic"/>
                <a:ea typeface="Malgun Gothic"/>
                <a:cs typeface="Malgun Gothic"/>
              </a:rPr>
              <a:t>STEP 1·2</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정기 수집·버전·출처 관리</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R&amp;R 정답셋·담당자 피드백</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원문 확보·복원 성능 측정</a:t>
            </a:r>
          </a:p>
        </p:txBody>
      </p:sp>
      <p:sp>
        <p:nvSpPr>
          <p:cNvPr id="28" name="Text 24">
            <a:extLst xmlns:a="http://schemas.openxmlformats.org/drawingml/2006/main">
              <a:ext uri="{FF2B5EF4-FFF2-40B4-BE49-F238E27FC236}">
                <a16:creationId xmlns:a16="http://schemas.microsoft.com/office/drawing/2014/main" id="{6FA3659C-A46D-488F-9FAB-0F7BE893EB93}"/>
              </a:ext>
            </a:extLst>
          </p:cNvPr>
          <p:cNvSpPr>
            <a:spLocks xmlns:a="http://schemas.openxmlformats.org/drawingml/2006/main" noGrp="1"/>
          </p:cNvSpPr>
          <p:nvPr/>
        </p:nvSpPr>
        <p:spPr>
          <a:xfrm xmlns:a="http://schemas.openxmlformats.org/drawingml/2006/main">
            <a:off x="5410048" y="2788920"/>
            <a:ext cx="13716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7D00"/>
                </a:solidFill>
              </a:rPr>
              <a:t>➜</a:t>
            </a:r>
          </a:p>
        </p:txBody>
      </p:sp>
      <p:sp>
        <p:nvSpPr>
          <p:cNvPr id="29" name="Shape 25">
            <a:extLst xmlns:a="http://schemas.openxmlformats.org/drawingml/2006/main">
              <a:ext uri="{FF2B5EF4-FFF2-40B4-BE49-F238E27FC236}">
                <a16:creationId xmlns:a16="http://schemas.microsoft.com/office/drawing/2014/main" id="{A8FF6F1D-1422-4EA3-970B-1C798B7B23B4}"/>
              </a:ext>
            </a:extLst>
          </p:cNvPr>
          <p:cNvSpPr>
            <a:spLocks xmlns:a="http://schemas.openxmlformats.org/drawingml/2006/main" noGrp="1"/>
          </p:cNvSpPr>
          <p:nvPr/>
        </p:nvSpPr>
        <p:spPr>
          <a:xfrm xmlns:a="http://schemas.openxmlformats.org/drawingml/2006/main">
            <a:off x="6918808" y="2788920"/>
            <a:ext cx="4343400" cy="2194560"/>
          </a:xfrm>
          <a:prstGeom xmlns:a="http://schemas.openxmlformats.org/drawingml/2006/main" prst="rect">
            <a:avLst/>
          </a:prstGeom>
          <a:solidFill xmlns:a="http://schemas.openxmlformats.org/drawingml/2006/main">
            <a:srgbClr val="EFEBFB"/>
          </a:solidFill>
          <a:ln xmlns:a="http://schemas.openxmlformats.org/drawingml/2006/main" w="12700">
            <a:solidFill>
              <a:srgbClr val="CECBF6"/>
            </a:solidFill>
            <a:prstDash val="solid"/>
          </a:ln>
        </p:spPr>
      </p:sp>
      <p:sp>
        <p:nvSpPr>
          <p:cNvPr id="30" name="Text 26">
            <a:extLst xmlns:a="http://schemas.openxmlformats.org/drawingml/2006/main">
              <a:ext uri="{FF2B5EF4-FFF2-40B4-BE49-F238E27FC236}">
                <a16:creationId xmlns:a16="http://schemas.microsoft.com/office/drawing/2014/main" id="{A8EC6D9D-9D05-4355-80A7-96EFCE349334}"/>
              </a:ext>
            </a:extLst>
          </p:cNvPr>
          <p:cNvSpPr>
            <a:spLocks xmlns:a="http://schemas.openxmlformats.org/drawingml/2006/main" noGrp="1"/>
          </p:cNvSpPr>
          <p:nvPr/>
        </p:nvSpPr>
        <p:spPr>
          <a:xfrm xmlns:a="http://schemas.openxmlformats.org/drawingml/2006/main">
            <a:off x="7083400" y="2898648"/>
            <a:ext cx="4014216"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30000"/>
              </a:lnSpc>
              <a:spcAft>
                <a:spcPts val="1000"/>
              </a:spcAft>
              <a:buNone/>
            </a:pPr>
            <a:r>
              <a:rPr sz="1900" b="1">
                <a:solidFill>
                  <a:srgbClr val="7C5CE0"/>
                </a:solidFill>
                <a:latin typeface="Malgun Gothic"/>
                <a:ea typeface="Malgun Gothic"/>
                <a:cs typeface="Malgun Gothic"/>
              </a:rPr>
              <a:t>STEP 3</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API·DB 분리</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권한·감사로그·개인정보 보호</a:t>
            </a:r>
          </a:p>
          <a:p xmlns:a="http://schemas.openxmlformats.org/drawingml/2006/main">
            <a:pPr marL="0" indent="0" algn="ctr">
              <a:lnSpc>
                <a:spcPct val="130000"/>
              </a:lnSpc>
              <a:buNone/>
            </a:pPr>
            <a:r>
              <a:rPr sz="1700">
                <a:solidFill>
                  <a:srgbClr val="5C6684"/>
                </a:solidFill>
                <a:latin typeface="Malgun Gothic"/>
                <a:ea typeface="Malgun Gothic"/>
                <a:cs typeface="Malgun Gothic"/>
              </a:rPr>
              <a:t>네이티브 PDF·HWP 생성</a:t>
            </a:r>
          </a:p>
        </p:txBody>
      </p:sp>
      <p:sp>
        <p:nvSpPr>
          <p:cNvPr id="31" name="Shape 27">
            <a:extLst xmlns:a="http://schemas.openxmlformats.org/drawingml/2006/main">
              <a:ext uri="{FF2B5EF4-FFF2-40B4-BE49-F238E27FC236}">
                <a16:creationId xmlns:a16="http://schemas.microsoft.com/office/drawing/2014/main" id="{23F0D4FA-C762-482F-B613-4FC465579AC0}"/>
              </a:ext>
            </a:extLst>
          </p:cNvPr>
          <p:cNvSpPr>
            <a:spLocks xmlns:a="http://schemas.openxmlformats.org/drawingml/2006/main" noGrp="1"/>
          </p:cNvSpPr>
          <p:nvPr/>
        </p:nvSpPr>
        <p:spPr>
          <a:xfrm xmlns:a="http://schemas.openxmlformats.org/drawingml/2006/main">
            <a:off x="6848856" y="5230368"/>
            <a:ext cx="3685032"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32" name="Text 28">
            <a:extLst xmlns:a="http://schemas.openxmlformats.org/drawingml/2006/main">
              <a:ext uri="{FF2B5EF4-FFF2-40B4-BE49-F238E27FC236}">
                <a16:creationId xmlns:a16="http://schemas.microsoft.com/office/drawing/2014/main" id="{AC12BC06-2045-4120-B948-C36B86D69E63}"/>
              </a:ext>
            </a:extLst>
          </p:cNvPr>
          <p:cNvSpPr>
            <a:spLocks xmlns:a="http://schemas.openxmlformats.org/drawingml/2006/main" noGrp="1"/>
          </p:cNvSpPr>
          <p:nvPr/>
        </p:nvSpPr>
        <p:spPr>
          <a:xfrm xmlns:a="http://schemas.openxmlformats.org/drawingml/2006/main">
            <a:off x="6940296" y="5230368"/>
            <a:ext cx="350215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정확도와 운영 책임을 먼저 검증한 뒤 확장할게요</a:t>
            </a: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742b2f4c4b634eae"/>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1128449213"/>
      </p:ext>
    </p:extLst>
  </p:cSld>
</p:sld>
</file>

<file path=ppt/slides/slide15.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6C5471-FBB0-4D55-A22D-DD57BDED52D6}"/>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D2605A46-A6C6-4D06-87AB-95E8D79A65A8}"/>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B4DC5FEE-2FA0-4205-AB58-B577FA38549E}"/>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E9F7FB65-829F-4CDE-B0D8-CC10B156BBAA}"/>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b45d0629d875419a"/>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7E157CF-06F6-4A8A-95EB-6FF9C518F330}"/>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494C1C9A-FA1B-42EC-9BB8-79F1A891DE0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363BC1A-52C3-4727-9931-6FD14D0F4923}"/>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F9F051D-A9D9-4C92-B848-71062E65F30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C96DBDC9-5091-4141-B682-786C11AAD1C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1370FA13-7955-484F-8149-21E6B3C787BC}"/>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b45d0629d875419a"/>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20CCE888-542C-4101-88FC-BF0A9B4B7243}"/>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14 · 결론</a:t>
            </a:r>
          </a:p>
        </p:txBody>
      </p:sp>
      <p:sp>
        <p:nvSpPr>
          <p:cNvPr id="15" name="Shape 11">
            <a:extLst xmlns:a="http://schemas.openxmlformats.org/drawingml/2006/main">
              <a:ext uri="{FF2B5EF4-FFF2-40B4-BE49-F238E27FC236}">
                <a16:creationId xmlns:a16="http://schemas.microsoft.com/office/drawing/2014/main" id="{42553DE7-379D-46F4-975B-C6BDD95FBDE0}"/>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E60B700D-97FC-4587-911F-4C30FC11683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467FD6FC-EFF2-419A-8555-26679419455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6A7507BD-B508-443B-AE1D-4A93219A914B}"/>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1F235910-65F8-4071-9C79-1E960143D000}"/>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0FF85E10-F368-4344-9510-5954CAE30906}"/>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E7E75BA6-B099-4883-8DC3-56903C1F751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C938564-1AA7-495D-9D7A-C5090318B4F3}"/>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51B81AA4-6258-4D8B-A5F6-AFEB2430BCA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619E653-8719-48FA-A87A-B0DA34C408DB}"/>
              </a:ext>
            </a:extLst>
          </p:cNvPr>
          <p:cNvSpPr>
            <a:spLocks xmlns:a="http://schemas.openxmlformats.org/drawingml/2006/main" noGrp="1"/>
          </p:cNvSpPr>
          <p:nvPr/>
        </p:nvSpPr>
        <p:spPr>
          <a:xfrm xmlns:a="http://schemas.openxmlformats.org/drawingml/2006/main">
            <a:off x="0" y="2286000"/>
            <a:ext cx="121916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0" b="1">
                <a:solidFill>
                  <a:srgbClr val="1B2340"/>
                </a:solidFill>
                <a:latin typeface="Calibri"/>
                <a:ea typeface="Calibri"/>
                <a:cs typeface="Calibri"/>
              </a:rPr>
              <a:t>수요 → 책임 → 근거 → 조치</a:t>
            </a:r>
          </a:p>
        </p:txBody>
      </p:sp>
      <p:sp>
        <p:nvSpPr>
          <p:cNvPr id="25" name="Text 21">
            <a:extLst xmlns:a="http://schemas.openxmlformats.org/drawingml/2006/main">
              <a:ext uri="{FF2B5EF4-FFF2-40B4-BE49-F238E27FC236}">
                <a16:creationId xmlns:a16="http://schemas.microsoft.com/office/drawing/2014/main" id="{1A4E7F6C-1F0B-4F04-A9DA-A81B29147997}"/>
              </a:ext>
            </a:extLst>
          </p:cNvPr>
          <p:cNvSpPr>
            <a:spLocks xmlns:a="http://schemas.openxmlformats.org/drawingml/2006/main" noGrp="1"/>
          </p:cNvSpPr>
          <p:nvPr/>
        </p:nvSpPr>
        <p:spPr>
          <a:xfrm xmlns:a="http://schemas.openxmlformats.org/drawingml/2006/main">
            <a:off x="0" y="3794760"/>
            <a:ext cx="121916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1B2340"/>
                </a:solidFill>
                <a:latin typeface="Malgun Gothic"/>
                <a:ea typeface="Malgun Gothic"/>
                <a:cs typeface="Malgun Gothic"/>
              </a:rPr>
              <a:t>더 많은 데이터를 보여주는 것이 아니라, 담당자가 다음 행동을 더 정확히 선택하게 합니다</a:t>
            </a:r>
          </a:p>
        </p:txBody>
      </p:sp>
      <p:sp>
        <p:nvSpPr>
          <p:cNvPr id="26" name="Shape 22">
            <a:extLst xmlns:a="http://schemas.openxmlformats.org/drawingml/2006/main">
              <a:ext uri="{FF2B5EF4-FFF2-40B4-BE49-F238E27FC236}">
                <a16:creationId xmlns:a16="http://schemas.microsoft.com/office/drawing/2014/main" id="{83EC3571-E4A6-430D-836E-099C887748A6}"/>
              </a:ext>
            </a:extLst>
          </p:cNvPr>
          <p:cNvSpPr>
            <a:spLocks xmlns:a="http://schemas.openxmlformats.org/drawingml/2006/main" noGrp="1"/>
          </p:cNvSpPr>
          <p:nvPr/>
        </p:nvSpPr>
        <p:spPr>
          <a:xfrm xmlns:a="http://schemas.openxmlformats.org/drawingml/2006/main">
            <a:off x="7525512" y="5230368"/>
            <a:ext cx="3008376"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F71ED60A-3BC2-4CA8-AA81-E0A77E1FE104}"/>
              </a:ext>
            </a:extLst>
          </p:cNvPr>
          <p:cNvSpPr>
            <a:spLocks xmlns:a="http://schemas.openxmlformats.org/drawingml/2006/main" noGrp="1"/>
          </p:cNvSpPr>
          <p:nvPr/>
        </p:nvSpPr>
        <p:spPr>
          <a:xfrm xmlns:a="http://schemas.openxmlformats.org/drawingml/2006/main">
            <a:off x="7616952" y="5230368"/>
            <a:ext cx="28254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모르는 것은 표시하고, 근거는 연결하며, 결정은 사람이 합니다</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b45d0629d875419a"/>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461835532"/>
      </p:ext>
    </p:extLst>
  </p:cSld>
</p:sld>
</file>

<file path=ppt/slides/slide16.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6C5471-FBB0-4D55-A22D-DD57BDED52D6}"/>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D2605A46-A6C6-4D06-87AB-95E8D79A65A8}"/>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B4DC5FEE-2FA0-4205-AB58-B577FA38549E}"/>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E9F7FB65-829F-4CDE-B0D8-CC10B156BBAA}"/>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d2f898180a53487e"/>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7E157CF-06F6-4A8A-95EB-6FF9C518F330}"/>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494C1C9A-FA1B-42EC-9BB8-79F1A891DE04}"/>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363BC1A-52C3-4727-9931-6FD14D0F4923}"/>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5F9F051D-A9D9-4C92-B848-71062E65F304}"/>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C96DBDC9-5091-4141-B682-786C11AAD1CD}"/>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1370FA13-7955-484F-8149-21E6B3C787BC}"/>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d2f898180a53487e"/>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20CCE888-542C-4101-88FC-BF0A9B4B7243}"/>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Q&amp;A</a:t>
            </a:r>
          </a:p>
        </p:txBody>
      </p:sp>
      <p:sp>
        <p:nvSpPr>
          <p:cNvPr id="15" name="Shape 11">
            <a:extLst xmlns:a="http://schemas.openxmlformats.org/drawingml/2006/main">
              <a:ext uri="{FF2B5EF4-FFF2-40B4-BE49-F238E27FC236}">
                <a16:creationId xmlns:a16="http://schemas.microsoft.com/office/drawing/2014/main" id="{42553DE7-379D-46F4-975B-C6BDD95FBDE0}"/>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E60B700D-97FC-4587-911F-4C30FC11683C}"/>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467FD6FC-EFF2-419A-8555-26679419455D}"/>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6A7507BD-B508-443B-AE1D-4A93219A914B}"/>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1F235910-65F8-4071-9C79-1E960143D000}"/>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0FF85E10-F368-4344-9510-5954CAE30906}"/>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E7E75BA6-B099-4883-8DC3-56903C1F7514}"/>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BC938564-1AA7-495D-9D7A-C5090318B4F3}"/>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51B81AA4-6258-4D8B-A5F6-AFEB2430BCA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B619E653-8719-48FA-A87A-B0DA34C408DB}"/>
              </a:ext>
            </a:extLst>
          </p:cNvPr>
          <p:cNvSpPr>
            <a:spLocks xmlns:a="http://schemas.openxmlformats.org/drawingml/2006/main" noGrp="1"/>
          </p:cNvSpPr>
          <p:nvPr/>
        </p:nvSpPr>
        <p:spPr>
          <a:xfrm xmlns:a="http://schemas.openxmlformats.org/drawingml/2006/main">
            <a:off x="0" y="2286000"/>
            <a:ext cx="121916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0" b="1">
                <a:solidFill>
                  <a:srgbClr val="1B2340"/>
                </a:solidFill>
                <a:latin typeface="Calibri"/>
                <a:ea typeface="Calibri"/>
                <a:cs typeface="Calibri"/>
              </a:rPr>
              <a:t>Q &amp; A</a:t>
            </a:r>
          </a:p>
        </p:txBody>
      </p:sp>
      <p:sp>
        <p:nvSpPr>
          <p:cNvPr id="25" name="Text 21">
            <a:extLst xmlns:a="http://schemas.openxmlformats.org/drawingml/2006/main">
              <a:ext uri="{FF2B5EF4-FFF2-40B4-BE49-F238E27FC236}">
                <a16:creationId xmlns:a16="http://schemas.microsoft.com/office/drawing/2014/main" id="{1A4E7F6C-1F0B-4F04-A9DA-A81B29147997}"/>
              </a:ext>
            </a:extLst>
          </p:cNvPr>
          <p:cNvSpPr>
            <a:spLocks xmlns:a="http://schemas.openxmlformats.org/drawingml/2006/main" noGrp="1"/>
          </p:cNvSpPr>
          <p:nvPr/>
        </p:nvSpPr>
        <p:spPr>
          <a:xfrm xmlns:a="http://schemas.openxmlformats.org/drawingml/2006/main">
            <a:off x="0" y="3794760"/>
            <a:ext cx="121916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1B2340"/>
                </a:solidFill>
                <a:latin typeface="Malgun Gothic"/>
                <a:ea typeface="Malgun Gothic"/>
                <a:cs typeface="Malgun Gothic"/>
              </a:rPr>
              <a:t>UKKKK 4조 · ukkkk-two.vercel.app</a:t>
            </a:r>
          </a:p>
        </p:txBody>
      </p:sp>
      <p:sp>
        <p:nvSpPr>
          <p:cNvPr id="26" name="Shape 22">
            <a:extLst xmlns:a="http://schemas.openxmlformats.org/drawingml/2006/main">
              <a:ext uri="{FF2B5EF4-FFF2-40B4-BE49-F238E27FC236}">
                <a16:creationId xmlns:a16="http://schemas.microsoft.com/office/drawing/2014/main" id="{83EC3571-E4A6-430D-836E-099C887748A6}"/>
              </a:ext>
            </a:extLst>
          </p:cNvPr>
          <p:cNvSpPr>
            <a:spLocks xmlns:a="http://schemas.openxmlformats.org/drawingml/2006/main" noGrp="1"/>
          </p:cNvSpPr>
          <p:nvPr/>
        </p:nvSpPr>
        <p:spPr>
          <a:xfrm xmlns:a="http://schemas.openxmlformats.org/drawingml/2006/main">
            <a:off x="7525512" y="5230368"/>
            <a:ext cx="3008376" cy="676656"/>
          </a:xfrm>
          <a:prstGeom xmlns:a="http://schemas.openxmlformats.org/drawingml/2006/main" prst="rect">
            <a:avLst/>
          </a:prstGeom>
          <a:solidFill xmlns:a="http://schemas.openxmlformats.org/drawingml/2006/main">
            <a:srgbClr val="FCFBE6"/>
          </a:solidFill>
          <a:ln xmlns:a="http://schemas.openxmlformats.org/drawingml/2006/main" w="22225">
            <a:solidFill>
              <a:srgbClr val="111111"/>
            </a:solidFill>
            <a:prstDash val="solid"/>
          </a:ln>
          <a:effectLst xmlns:a="http://schemas.openxmlformats.org/drawingml/2006/main">
            <a:outerShdw blurRad="25400" dist="25400" dir="5400000" sx="100000" sy="100000" kx="0" ky="0" algn="bl" rotWithShape="0">
              <a:srgbClr val="444444">
                <a:alpha val="35000"/>
              </a:srgbClr>
            </a:outerShdw>
          </a:effectLst>
        </p:spPr>
      </p:sp>
      <p:sp>
        <p:nvSpPr>
          <p:cNvPr id="27" name="Text 23">
            <a:extLst xmlns:a="http://schemas.openxmlformats.org/drawingml/2006/main">
              <a:ext uri="{FF2B5EF4-FFF2-40B4-BE49-F238E27FC236}">
                <a16:creationId xmlns:a16="http://schemas.microsoft.com/office/drawing/2014/main" id="{F71ED60A-3BC2-4CA8-AA81-E0A77E1FE104}"/>
              </a:ext>
            </a:extLst>
          </p:cNvPr>
          <p:cNvSpPr>
            <a:spLocks xmlns:a="http://schemas.openxmlformats.org/drawingml/2006/main" noGrp="1"/>
          </p:cNvSpPr>
          <p:nvPr/>
        </p:nvSpPr>
        <p:spPr>
          <a:xfrm xmlns:a="http://schemas.openxmlformats.org/drawingml/2006/main">
            <a:off x="7616952" y="5230368"/>
            <a:ext cx="282549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A2340"/>
                </a:solidFill>
                <a:latin typeface="Malgun Gothic"/>
                <a:ea typeface="Malgun Gothic"/>
                <a:cs typeface="Malgun Gothic"/>
              </a:rPr>
              <a:t>질문해 주시면 실제 데이터와 구현 근거로 답변드릴게요</a:t>
            </a:r>
          </a:p>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d2f898180a53487e"/>
          <a:stretch xmlns:a="http://schemas.openxmlformats.org/drawingml/2006/main">
            <a:fillRect l="0" t="0" r="0" b="0"/>
          </a:stretch>
        </p:blipFill>
        <p:spPr>
          <a:xfrm xmlns:a="http://schemas.openxmlformats.org/drawingml/2006/main">
            <a:off x="10488168" y="5029200"/>
            <a:ext cx="1005840" cy="1005840"/>
          </a:xfrm>
          <a:prstGeom xmlns:a="http://schemas.openxmlformats.org/drawingml/2006/main" prst="rect">
            <a:avLst/>
          </a:prstGeom>
        </p:spPr>
      </p:pic>
    </p:spTree>
    <p:extLst>
      <p:ext uri="{BB962C8B-B14F-4D97-AF65-F5344CB8AC3E}">
        <p14:creationId xmlns:p14="http://schemas.microsoft.com/office/powerpoint/2010/main" val="461835532"/>
      </p:ext>
    </p:extLst>
  </p:cSld>
</p:sld>
</file>

<file path=ppt/slides/slide17.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CC45A0E-C865-4B83-85A2-38BE5B493C69}"/>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6DF8FD75-5AE8-471C-9930-2CA437F25179}"/>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3C37DDAF-39BF-4B80-BFF2-53B0E58A4E8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E2B0C901-AECA-4B2A-87C6-92D31054721B}"/>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064584111b644117"/>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E49F2F3-3391-42FA-9F14-41FCC4E1AC73}"/>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C8AED7C9-BA69-443B-8708-4F5934F7A749}"/>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6688219-2F17-47FF-8260-A981A786C873}"/>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0825921E-D43F-407E-9142-8DFB667E839A}"/>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F88FC3AF-354F-486C-840E-1EB3192118DF}"/>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B2FEEFC7-9C04-4D5A-AACA-B3271A106D7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064584111b644117"/>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B5D5A435-215B-4957-8FB6-FD975C0CF3A9}"/>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A · 데이터·모델</a:t>
            </a:r>
          </a:p>
        </p:txBody>
      </p:sp>
      <p:sp>
        <p:nvSpPr>
          <p:cNvPr id="15" name="Shape 11">
            <a:extLst xmlns:a="http://schemas.openxmlformats.org/drawingml/2006/main">
              <a:ext uri="{FF2B5EF4-FFF2-40B4-BE49-F238E27FC236}">
                <a16:creationId xmlns:a16="http://schemas.microsoft.com/office/drawing/2014/main" id="{1FF07E64-A094-4408-BC05-C20B02C3D93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B5E00B08-78B6-4158-B782-AECF90FDB0D8}"/>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CA3E97D-6AFC-43EF-9763-210B57AA4A32}"/>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941D1CF-007B-4151-8404-9DCB7C7F138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5B3F44B2-F870-4A6C-8953-455EE252F702}"/>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598DA5DC-24D5-489B-A2B9-B16E1EF24663}"/>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FBCEAA4F-55E2-419C-84F3-0BDA89B1C88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9AAF623-9CEF-44A0-90E8-26DB0DE7A27C}"/>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CA146ADA-7F3B-4B04-B133-05099AF5A9F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973581A-F711-464D-B7B1-E7E48D06BF70}"/>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DATA &amp; MODEL · 재현성과 한계</a:t>
            </a:r>
          </a:p>
        </p:txBody>
      </p:sp>
      <p:sp>
        <p:nvSpPr>
          <p:cNvPr id="25" name="Text 21">
            <a:extLst xmlns:a="http://schemas.openxmlformats.org/drawingml/2006/main">
              <a:ext uri="{FF2B5EF4-FFF2-40B4-BE49-F238E27FC236}">
                <a16:creationId xmlns:a16="http://schemas.microsoft.com/office/drawing/2014/main" id="{DC22085B-355D-4253-8D53-B7279B412A33}"/>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통합 스키마와 분석 결과 정의</a:t>
            </a:r>
          </a:p>
        </p:txBody>
      </p:sp>
      <p:sp>
        <p:nvSpPr>
          <p:cNvPr id="26" name="Text 22">
            <a:extLst xmlns:a="http://schemas.openxmlformats.org/drawingml/2006/main">
              <a:ext uri="{FF2B5EF4-FFF2-40B4-BE49-F238E27FC236}">
                <a16:creationId xmlns:a16="http://schemas.microsoft.com/office/drawing/2014/main" id="{E1AE1BAD-190D-49EC-BAA6-C1968BA7CEA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FA31FA42-7DA2-48A4-9E8A-111FE7393DCC}"/>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입력 피처</a:t>
            </a:r>
          </a:p>
        </p:txBody>
      </p:sp>
      <p:sp>
        <p:nvSpPr>
          <p:cNvPr id="28" name="Text 24">
            <a:extLst xmlns:a="http://schemas.openxmlformats.org/drawingml/2006/main">
              <a:ext uri="{FF2B5EF4-FFF2-40B4-BE49-F238E27FC236}">
                <a16:creationId xmlns:a16="http://schemas.microsoft.com/office/drawing/2014/main" id="{6934D6C4-1ECE-4F98-A7E7-08F24D0B0521}"/>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건수·공감·댓글·답변·날짜·본문·지역·정책/뉴스/통계</a:t>
            </a:r>
          </a:p>
        </p:txBody>
      </p:sp>
      <p:sp>
        <p:nvSpPr>
          <p:cNvPr id="29" name="Shape 25">
            <a:extLst xmlns:a="http://schemas.openxmlformats.org/drawingml/2006/main">
              <a:ext uri="{FF2B5EF4-FFF2-40B4-BE49-F238E27FC236}">
                <a16:creationId xmlns:a16="http://schemas.microsoft.com/office/drawing/2014/main" id="{9D5FAF0A-492D-45B3-A29A-BC85EDE0BEEC}"/>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31CB641B-F49E-4E0B-8B7E-9919FFD29FDC}"/>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A6DE062-F219-4E14-AE6E-7E02521D0B50}"/>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분류·군집</a:t>
            </a:r>
          </a:p>
        </p:txBody>
      </p:sp>
      <p:sp>
        <p:nvSpPr>
          <p:cNvPr id="32" name="Text 28">
            <a:extLst xmlns:a="http://schemas.openxmlformats.org/drawingml/2006/main">
              <a:ext uri="{FF2B5EF4-FFF2-40B4-BE49-F238E27FC236}">
                <a16:creationId xmlns:a16="http://schemas.microsoft.com/office/drawing/2014/main" id="{0B249E7F-49E1-4FC2-B2C2-832237301A80}"/>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8대 대분류→중·소분류 / 전체 57개 문제 군집</a:t>
            </a:r>
          </a:p>
        </p:txBody>
      </p:sp>
      <p:sp>
        <p:nvSpPr>
          <p:cNvPr id="33" name="Shape 29">
            <a:extLst xmlns:a="http://schemas.openxmlformats.org/drawingml/2006/main">
              <a:ext uri="{FF2B5EF4-FFF2-40B4-BE49-F238E27FC236}">
                <a16:creationId xmlns:a16="http://schemas.microsoft.com/office/drawing/2014/main" id="{85EF81A5-2C29-4212-B027-C53367D28FC7}"/>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BB2741DD-AD33-4C7E-BBB8-AD92504182C1}"/>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AFEEEA28-65CE-46D1-AB00-A5B64EAB81A4}"/>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Gap 결과</a:t>
            </a:r>
          </a:p>
        </p:txBody>
      </p:sp>
      <p:sp>
        <p:nvSpPr>
          <p:cNvPr id="36" name="Text 32">
            <a:extLst xmlns:a="http://schemas.openxmlformats.org/drawingml/2006/main">
              <a:ext uri="{FF2B5EF4-FFF2-40B4-BE49-F238E27FC236}">
                <a16:creationId xmlns:a16="http://schemas.microsoft.com/office/drawing/2014/main" id="{59F3DC2B-4A6F-4187-9F14-5426EAC596C8}"/>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수요·공백·시급성·실행성·근거 신뢰도</a:t>
            </a:r>
          </a:p>
        </p:txBody>
      </p:sp>
      <p:sp>
        <p:nvSpPr>
          <p:cNvPr id="37" name="Shape 33">
            <a:extLst xmlns:a="http://schemas.openxmlformats.org/drawingml/2006/main">
              <a:ext uri="{FF2B5EF4-FFF2-40B4-BE49-F238E27FC236}">
                <a16:creationId xmlns:a16="http://schemas.microsoft.com/office/drawing/2014/main" id="{926789FE-BE1B-48BB-B060-D7AA017AACD3}"/>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DE92465F-BD0A-4DF5-92C1-B047CB926505}"/>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544FB6F-0AD0-4F3E-97CD-E702511289F5}"/>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R&amp;R 결과</a:t>
            </a:r>
          </a:p>
        </p:txBody>
      </p:sp>
      <p:sp>
        <p:nvSpPr>
          <p:cNvPr id="40" name="Text 36">
            <a:extLst xmlns:a="http://schemas.openxmlformats.org/drawingml/2006/main">
              <a:ext uri="{FF2B5EF4-FFF2-40B4-BE49-F238E27FC236}">
                <a16:creationId xmlns:a16="http://schemas.microsoft.com/office/drawing/2014/main" id="{F9E791F7-F0D4-40BB-83AD-C21EFFAA2D79}"/>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실제 업무분장 기반 주관 1순위·협조 2·3순위 후보</a:t>
            </a:r>
          </a:p>
        </p:txBody>
      </p:sp>
      <p:sp>
        <p:nvSpPr>
          <p:cNvPr id="41" name="Shape 37">
            <a:extLst xmlns:a="http://schemas.openxmlformats.org/drawingml/2006/main">
              <a:ext uri="{FF2B5EF4-FFF2-40B4-BE49-F238E27FC236}">
                <a16:creationId xmlns:a16="http://schemas.microsoft.com/office/drawing/2014/main" id="{50DA8A51-194B-4F58-B729-A997F4380D06}"/>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6BA95925-5CA0-4CAF-9942-B00E0366914E}"/>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B276AD48-7334-4D63-BFC6-3AF10C8656EF}"/>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최종 결정</a:t>
            </a:r>
          </a:p>
        </p:txBody>
      </p:sp>
      <p:sp>
        <p:nvSpPr>
          <p:cNvPr id="44" name="Text 40">
            <a:extLst xmlns:a="http://schemas.openxmlformats.org/drawingml/2006/main">
              <a:ext uri="{FF2B5EF4-FFF2-40B4-BE49-F238E27FC236}">
                <a16:creationId xmlns:a16="http://schemas.microsoft.com/office/drawing/2014/main" id="{E79CFC21-541F-416F-AAB8-33C28F52E4F7}"/>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담당자가 원문과 근거를 대조해 수정·승인·반려</a:t>
            </a:r>
          </a:p>
        </p:txBody>
      </p:sp>
      <p:sp>
        <p:nvSpPr>
          <p:cNvPr id="45" name="Shape 41">
            <a:extLst xmlns:a="http://schemas.openxmlformats.org/drawingml/2006/main">
              <a:ext uri="{FF2B5EF4-FFF2-40B4-BE49-F238E27FC236}">
                <a16:creationId xmlns:a16="http://schemas.microsoft.com/office/drawing/2014/main" id="{174092D8-A05C-427E-A521-E6EDD37F100B}"/>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6D0D1ED8-36BA-47E7-A318-0CEA73E6A8EA}"/>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45C4CCD7-A222-4CA9-B619-68C290D3A54E}"/>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후속 검증</a:t>
            </a:r>
          </a:p>
        </p:txBody>
      </p:sp>
      <p:sp>
        <p:nvSpPr>
          <p:cNvPr id="48" name="Text 44">
            <a:extLst xmlns:a="http://schemas.openxmlformats.org/drawingml/2006/main">
              <a:ext uri="{FF2B5EF4-FFF2-40B4-BE49-F238E27FC236}">
                <a16:creationId xmlns:a16="http://schemas.microsoft.com/office/drawing/2014/main" id="{2D07E94E-8570-4252-A2AA-CD59D0688106}"/>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군집 안정성·R&amp;R 수용률·임계값 민감도·보고서 수정률</a:t>
            </a:r>
          </a:p>
        </p:txBody>
      </p:sp>
      <p:sp>
        <p:nvSpPr>
          <p:cNvPr id="49" name="Shape 45">
            <a:extLst xmlns:a="http://schemas.openxmlformats.org/drawingml/2006/main">
              <a:ext uri="{FF2B5EF4-FFF2-40B4-BE49-F238E27FC236}">
                <a16:creationId xmlns:a16="http://schemas.microsoft.com/office/drawing/2014/main" id="{425014C6-C4D4-4B94-82D6-450560EB0186}"/>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1647117941"/>
      </p:ext>
    </p:extLst>
  </p:cSld>
</p:sld>
</file>

<file path=ppt/slides/slide18.xml><?xml version="1.0" encoding="utf-8"?>
<p:sld xmlns:p="http://schemas.openxmlformats.org/presentationml/2006/main">
  <p:cSld>
    <p:bg>
      <p:bgPr>
        <a:solidFill xmlns:a="http://schemas.openxmlformats.org/drawingml/2006/main">
          <a:srgbClr val="0E807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CC45A0E-C865-4B83-85A2-38BE5B493C69}"/>
              </a:ext>
            </a:extLst>
          </p:cNvPr>
          <p:cNvSpPr>
            <a:spLocks xmlns:a="http://schemas.openxmlformats.org/drawingml/2006/main" noGrp="1"/>
          </p:cNvSpPr>
          <p:nvPr/>
        </p:nvSpPr>
        <p:spPr>
          <a:xfrm xmlns:a="http://schemas.openxmlformats.org/drawingml/2006/main">
            <a:off x="0" y="6400800"/>
            <a:ext cx="12191695" cy="457200"/>
          </a:xfrm>
          <a:prstGeom xmlns:a="http://schemas.openxmlformats.org/drawingml/2006/main" prst="rect">
            <a:avLst/>
          </a:prstGeom>
          <a:solidFill xmlns:a="http://schemas.openxmlformats.org/drawingml/2006/main">
            <a:srgbClr val="C6C6BE"/>
          </a:solidFill>
        </p:spPr>
      </p:sp>
      <p:sp>
        <p:nvSpPr>
          <p:cNvPr id="3" name="Shape 1">
            <a:extLst xmlns:a="http://schemas.openxmlformats.org/drawingml/2006/main">
              <a:ext uri="{FF2B5EF4-FFF2-40B4-BE49-F238E27FC236}">
                <a16:creationId xmlns:a16="http://schemas.microsoft.com/office/drawing/2014/main" id="{6DF8FD75-5AE8-471C-9930-2CA437F25179}"/>
              </a:ext>
            </a:extLst>
          </p:cNvPr>
          <p:cNvSpPr>
            <a:spLocks xmlns:a="http://schemas.openxmlformats.org/drawingml/2006/main" noGrp="1"/>
          </p:cNvSpPr>
          <p:nvPr/>
        </p:nvSpPr>
        <p:spPr>
          <a:xfrm xmlns:a="http://schemas.openxmlformats.org/drawingml/2006/main">
            <a:off x="0" y="6400800"/>
            <a:ext cx="12191695" cy="32004"/>
          </a:xfrm>
          <a:prstGeom xmlns:a="http://schemas.openxmlformats.org/drawingml/2006/main" prst="rect">
            <a:avLst/>
          </a:prstGeom>
          <a:solidFill xmlns:a="http://schemas.openxmlformats.org/drawingml/2006/main">
            <a:srgbClr val="EFEFEA"/>
          </a:solidFill>
        </p:spPr>
      </p:sp>
      <p:sp>
        <p:nvSpPr>
          <p:cNvPr id="4" name="Shape 2">
            <a:extLst xmlns:a="http://schemas.openxmlformats.org/drawingml/2006/main">
              <a:ext uri="{FF2B5EF4-FFF2-40B4-BE49-F238E27FC236}">
                <a16:creationId xmlns:a16="http://schemas.microsoft.com/office/drawing/2014/main" id="{3C37DDAF-39BF-4B80-BFF2-53B0E58A4E80}"/>
              </a:ext>
            </a:extLst>
          </p:cNvPr>
          <p:cNvSpPr>
            <a:spLocks xmlns:a="http://schemas.openxmlformats.org/drawingml/2006/main" noGrp="1"/>
          </p:cNvSpPr>
          <p:nvPr/>
        </p:nvSpPr>
        <p:spPr>
          <a:xfrm xmlns:a="http://schemas.openxmlformats.org/drawingml/2006/main">
            <a:off x="128016" y="6483096"/>
            <a:ext cx="1051560" cy="292608"/>
          </a:xfrm>
          <a:prstGeom xmlns:a="http://schemas.openxmlformats.org/drawingml/2006/main" prst="rect">
            <a:avLst/>
          </a:prstGeom>
          <a:solidFill xmlns:a="http://schemas.openxmlformats.org/drawingml/2006/main">
            <a:srgbClr val="C6C6BE"/>
          </a:solidFill>
          <a:ln xmlns:a="http://schemas.openxmlformats.org/drawingml/2006/main" w="12700">
            <a:solidFill>
              <a:srgbClr val="6B6B66"/>
            </a:solidFill>
            <a:prstDash val="solid"/>
          </a:ln>
        </p:spPr>
      </p:sp>
      <p:sp>
        <p:nvSpPr>
          <p:cNvPr id="5" name="Shape 3">
            <a:extLst xmlns:a="http://schemas.openxmlformats.org/drawingml/2006/main">
              <a:ext uri="{FF2B5EF4-FFF2-40B4-BE49-F238E27FC236}">
                <a16:creationId xmlns:a16="http://schemas.microsoft.com/office/drawing/2014/main" id="{E2B0C901-AECA-4B2A-87C6-92D31054721B}"/>
              </a:ext>
            </a:extLst>
          </p:cNvPr>
          <p:cNvSpPr>
            <a:spLocks xmlns:a="http://schemas.openxmlformats.org/drawingml/2006/main" noGrp="1"/>
          </p:cNvSpPr>
          <p:nvPr/>
        </p:nvSpPr>
        <p:spPr>
          <a:xfrm xmlns:a="http://schemas.openxmlformats.org/drawingml/2006/main">
            <a:off x="128016" y="6483096"/>
            <a:ext cx="1051560" cy="27432"/>
          </a:xfrm>
          <a:prstGeom xmlns:a="http://schemas.openxmlformats.org/drawingml/2006/main" prst="rect">
            <a:avLst/>
          </a:prstGeom>
          <a:solidFill xmlns:a="http://schemas.openxmlformats.org/drawingml/2006/main">
            <a:srgbClr val="EFEFEA"/>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2f908e27ef194d1a"/>
          <a:stretch xmlns:a="http://schemas.openxmlformats.org/drawingml/2006/main">
            <a:fillRect l="0" t="0" r="0" b="0"/>
          </a:stretch>
        </p:blipFill>
        <p:spPr>
          <a:xfrm xmlns:a="http://schemas.openxmlformats.org/drawingml/2006/main">
            <a:off x="201168" y="6510528"/>
            <a:ext cx="237744" cy="2377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E49F2F3-3391-42FA-9F14-41FCC4E1AC73}"/>
              </a:ext>
            </a:extLst>
          </p:cNvPr>
          <p:cNvSpPr>
            <a:spLocks xmlns:a="http://schemas.openxmlformats.org/drawingml/2006/main" noGrp="1"/>
          </p:cNvSpPr>
          <p:nvPr/>
        </p:nvSpPr>
        <p:spPr>
          <a:xfrm xmlns:a="http://schemas.openxmlformats.org/drawingml/2006/main">
            <a:off x="457200" y="6483096"/>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B2340"/>
                </a:solidFill>
                <a:latin typeface="Malgun Gothic"/>
                <a:ea typeface="Malgun Gothic"/>
                <a:cs typeface="Malgun Gothic"/>
              </a:rPr>
              <a:t>시작</a:t>
            </a:r>
          </a:p>
        </p:txBody>
      </p:sp>
      <p:sp>
        <p:nvSpPr>
          <p:cNvPr id="8" name="Shape 5">
            <a:extLst xmlns:a="http://schemas.openxmlformats.org/drawingml/2006/main">
              <a:ext uri="{FF2B5EF4-FFF2-40B4-BE49-F238E27FC236}">
                <a16:creationId xmlns:a16="http://schemas.microsoft.com/office/drawing/2014/main" id="{C8AED7C9-BA69-443B-8708-4F5934F7A749}"/>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solidFill xmlns:a="http://schemas.openxmlformats.org/drawingml/2006/main">
            <a:srgbClr val="D6D6CE"/>
          </a:solidFill>
          <a:ln xmlns:a="http://schemas.openxmlformats.org/drawingml/2006/main" w="9525">
            <a:solidFill>
              <a:srgbClr val="6B6B66"/>
            </a:solidFill>
            <a:prstDash val="solid"/>
          </a:ln>
        </p:spPr>
      </p:sp>
      <p:sp>
        <p:nvSpPr>
          <p:cNvPr id="9" name="Text 6">
            <a:extLst xmlns:a="http://schemas.openxmlformats.org/drawingml/2006/main">
              <a:ext uri="{FF2B5EF4-FFF2-40B4-BE49-F238E27FC236}">
                <a16:creationId xmlns:a16="http://schemas.microsoft.com/office/drawing/2014/main" id="{96688219-2F17-47FF-8260-A981A786C873}"/>
              </a:ext>
            </a:extLst>
          </p:cNvPr>
          <p:cNvSpPr>
            <a:spLocks xmlns:a="http://schemas.openxmlformats.org/drawingml/2006/main" noGrp="1"/>
          </p:cNvSpPr>
          <p:nvPr/>
        </p:nvSpPr>
        <p:spPr>
          <a:xfrm xmlns:a="http://schemas.openxmlformats.org/drawingml/2006/main">
            <a:off x="10881360" y="6492240"/>
            <a:ext cx="11704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B2340"/>
                </a:solidFill>
                <a:latin typeface="Calibri"/>
                <a:ea typeface="Calibri"/>
                <a:cs typeface="Calibri"/>
              </a:rPr>
              <a:t>UKKKK.exe</a:t>
            </a:r>
          </a:p>
        </p:txBody>
      </p:sp>
      <p:sp>
        <p:nvSpPr>
          <p:cNvPr id="10" name="Shape 7">
            <a:extLst xmlns:a="http://schemas.openxmlformats.org/drawingml/2006/main">
              <a:ext uri="{FF2B5EF4-FFF2-40B4-BE49-F238E27FC236}">
                <a16:creationId xmlns:a16="http://schemas.microsoft.com/office/drawing/2014/main" id="{0825921E-D43F-407E-9142-8DFB667E839A}"/>
              </a:ext>
            </a:extLst>
          </p:cNvPr>
          <p:cNvSpPr>
            <a:spLocks xmlns:a="http://schemas.openxmlformats.org/drawingml/2006/main" noGrp="1"/>
          </p:cNvSpPr>
          <p:nvPr/>
        </p:nvSpPr>
        <p:spPr>
          <a:xfrm xmlns:a="http://schemas.openxmlformats.org/drawingml/2006/main">
            <a:off x="310896" y="219456"/>
            <a:ext cx="11567160" cy="5998464"/>
          </a:xfrm>
          <a:prstGeom xmlns:a="http://schemas.openxmlformats.org/drawingml/2006/main" prst="rect">
            <a:avLst/>
          </a:prstGeom>
          <a:solidFill xmlns:a="http://schemas.openxmlformats.org/drawingml/2006/main">
            <a:srgbClr val="FFFFFF"/>
          </a:solidFill>
          <a:ln xmlns:a="http://schemas.openxmlformats.org/drawingml/2006/main" w="22225">
            <a:solidFill>
              <a:srgbClr val="1B2340"/>
            </a:solidFill>
            <a:prstDash val="solid"/>
          </a:ln>
          <a:effectLst xmlns:a="http://schemas.openxmlformats.org/drawingml/2006/main">
            <a:outerShdw blurRad="88900" dist="50800" dir="5400000" sx="100000" sy="100000" kx="0" ky="0" algn="bl" rotWithShape="0">
              <a:srgbClr val="05433D">
                <a:alpha val="40000"/>
              </a:srgbClr>
            </a:outerShdw>
          </a:effectLst>
        </p:spPr>
      </p:sp>
      <p:sp>
        <p:nvSpPr>
          <p:cNvPr id="11" name="Shape 8">
            <a:extLst xmlns:a="http://schemas.openxmlformats.org/drawingml/2006/main">
              <a:ext uri="{FF2B5EF4-FFF2-40B4-BE49-F238E27FC236}">
                <a16:creationId xmlns:a16="http://schemas.microsoft.com/office/drawing/2014/main" id="{F88FC3AF-354F-486C-840E-1EB3192118DF}"/>
              </a:ext>
            </a:extLst>
          </p:cNvPr>
          <p:cNvSpPr>
            <a:spLocks xmlns:a="http://schemas.openxmlformats.org/drawingml/2006/main" noGrp="1"/>
          </p:cNvSpPr>
          <p:nvPr/>
        </p:nvSpPr>
        <p:spPr>
          <a:xfrm xmlns:a="http://schemas.openxmlformats.org/drawingml/2006/main">
            <a:off x="338328" y="246888"/>
            <a:ext cx="11512296" cy="22860"/>
          </a:xfrm>
          <a:prstGeom xmlns:a="http://schemas.openxmlformats.org/drawingml/2006/main" prst="rect">
            <a:avLst/>
          </a:prstGeom>
          <a:solidFill xmlns:a="http://schemas.openxmlformats.org/drawingml/2006/main">
            <a:srgbClr val="FFFFFF"/>
          </a:solidFill>
        </p:spPr>
      </p:sp>
      <p:sp>
        <p:nvSpPr>
          <p:cNvPr id="12" name="Shape 9">
            <a:extLst xmlns:a="http://schemas.openxmlformats.org/drawingml/2006/main">
              <a:ext uri="{FF2B5EF4-FFF2-40B4-BE49-F238E27FC236}">
                <a16:creationId xmlns:a16="http://schemas.microsoft.com/office/drawing/2014/main" id="{B2FEEFC7-9C04-4D5A-AACA-B3271A106D70}"/>
              </a:ext>
            </a:extLst>
          </p:cNvPr>
          <p:cNvSpPr>
            <a:spLocks xmlns:a="http://schemas.openxmlformats.org/drawingml/2006/main" noGrp="1"/>
          </p:cNvSpPr>
          <p:nvPr/>
        </p:nvSpPr>
        <p:spPr>
          <a:xfrm xmlns:a="http://schemas.openxmlformats.org/drawingml/2006/main">
            <a:off x="310896" y="219456"/>
            <a:ext cx="11567160" cy="457200"/>
          </a:xfrm>
          <a:prstGeom xmlns:a="http://schemas.openxmlformats.org/drawingml/2006/main" prst="rect">
            <a:avLst/>
          </a:prstGeom>
          <a:solidFill xmlns:a="http://schemas.openxmlformats.org/drawingml/2006/main">
            <a:srgbClr val="2E4ABF"/>
          </a:solidFill>
        </p:spPr>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2f908e27ef194d1a"/>
          <a:stretch xmlns:a="http://schemas.openxmlformats.org/drawingml/2006/main">
            <a:fillRect l="0" t="0" r="0" b="0"/>
          </a:stretch>
        </p:blipFill>
        <p:spPr>
          <a:xfrm xmlns:a="http://schemas.openxmlformats.org/drawingml/2006/main">
            <a:off x="438912" y="292608"/>
            <a:ext cx="310896" cy="310896"/>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B5D5A435-215B-4957-8FB6-FD975C0CF3A9}"/>
              </a:ext>
            </a:extLst>
          </p:cNvPr>
          <p:cNvSpPr>
            <a:spLocks xmlns:a="http://schemas.openxmlformats.org/drawingml/2006/main" noGrp="1"/>
          </p:cNvSpPr>
          <p:nvPr/>
        </p:nvSpPr>
        <p:spPr>
          <a:xfrm xmlns:a="http://schemas.openxmlformats.org/drawingml/2006/main">
            <a:off x="822960" y="219456"/>
            <a:ext cx="9326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Malgun Gothic"/>
                <a:ea typeface="Malgun Gothic"/>
                <a:cs typeface="Malgun Gothic"/>
              </a:rPr>
              <a:t>새싹이 오피스 길잡이   —   APPENDIX B · 산출물</a:t>
            </a:r>
          </a:p>
        </p:txBody>
      </p:sp>
      <p:sp>
        <p:nvSpPr>
          <p:cNvPr id="15" name="Shape 11">
            <a:extLst xmlns:a="http://schemas.openxmlformats.org/drawingml/2006/main">
              <a:ext uri="{FF2B5EF4-FFF2-40B4-BE49-F238E27FC236}">
                <a16:creationId xmlns:a16="http://schemas.microsoft.com/office/drawing/2014/main" id="{1FF07E64-A094-4408-BC05-C20B02C3D93C}"/>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6" name="Shape 12">
            <a:extLst xmlns:a="http://schemas.openxmlformats.org/drawingml/2006/main">
              <a:ext uri="{FF2B5EF4-FFF2-40B4-BE49-F238E27FC236}">
                <a16:creationId xmlns:a16="http://schemas.microsoft.com/office/drawing/2014/main" id="{B5E00B08-78B6-4158-B782-AECF90FDB0D8}"/>
              </a:ext>
            </a:extLst>
          </p:cNvPr>
          <p:cNvSpPr>
            <a:spLocks xmlns:a="http://schemas.openxmlformats.org/drawingml/2006/main" noGrp="1"/>
          </p:cNvSpPr>
          <p:nvPr/>
        </p:nvSpPr>
        <p:spPr>
          <a:xfrm xmlns:a="http://schemas.openxmlformats.org/drawingml/2006/main">
            <a:off x="10853928" y="320040"/>
            <a:ext cx="265176" cy="27432"/>
          </a:xfrm>
          <a:prstGeom xmlns:a="http://schemas.openxmlformats.org/drawingml/2006/main" prst="rect">
            <a:avLst/>
          </a:prstGeom>
          <a:solidFill xmlns:a="http://schemas.openxmlformats.org/drawingml/2006/main">
            <a:srgbClr val="EFEFEA"/>
          </a:solidFill>
        </p:spPr>
      </p:sp>
      <p:sp>
        <p:nvSpPr>
          <p:cNvPr id="17" name="Text 13">
            <a:extLst xmlns:a="http://schemas.openxmlformats.org/drawingml/2006/main">
              <a:ext uri="{FF2B5EF4-FFF2-40B4-BE49-F238E27FC236}">
                <a16:creationId xmlns:a16="http://schemas.microsoft.com/office/drawing/2014/main" id="{CCA3E97D-6AFC-43EF-9763-210B57AA4A32}"/>
              </a:ext>
            </a:extLst>
          </p:cNvPr>
          <p:cNvSpPr>
            <a:spLocks xmlns:a="http://schemas.openxmlformats.org/drawingml/2006/main" noGrp="1"/>
          </p:cNvSpPr>
          <p:nvPr/>
        </p:nvSpPr>
        <p:spPr>
          <a:xfrm xmlns:a="http://schemas.openxmlformats.org/drawingml/2006/main">
            <a:off x="10853928"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_</a:t>
            </a:r>
          </a:p>
        </p:txBody>
      </p:sp>
      <p:sp>
        <p:nvSpPr>
          <p:cNvPr id="18" name="Shape 14">
            <a:extLst xmlns:a="http://schemas.openxmlformats.org/drawingml/2006/main">
              <a:ext uri="{FF2B5EF4-FFF2-40B4-BE49-F238E27FC236}">
                <a16:creationId xmlns:a16="http://schemas.microsoft.com/office/drawing/2014/main" id="{0941D1CF-007B-4151-8404-9DCB7C7F138A}"/>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19" name="Shape 15">
            <a:extLst xmlns:a="http://schemas.openxmlformats.org/drawingml/2006/main">
              <a:ext uri="{FF2B5EF4-FFF2-40B4-BE49-F238E27FC236}">
                <a16:creationId xmlns:a16="http://schemas.microsoft.com/office/drawing/2014/main" id="{5B3F44B2-F870-4A6C-8953-455EE252F702}"/>
              </a:ext>
            </a:extLst>
          </p:cNvPr>
          <p:cNvSpPr>
            <a:spLocks xmlns:a="http://schemas.openxmlformats.org/drawingml/2006/main" noGrp="1"/>
          </p:cNvSpPr>
          <p:nvPr/>
        </p:nvSpPr>
        <p:spPr>
          <a:xfrm xmlns:a="http://schemas.openxmlformats.org/drawingml/2006/main">
            <a:off x="11164824" y="320040"/>
            <a:ext cx="265176" cy="27432"/>
          </a:xfrm>
          <a:prstGeom xmlns:a="http://schemas.openxmlformats.org/drawingml/2006/main" prst="rect">
            <a:avLst/>
          </a:prstGeom>
          <a:solidFill xmlns:a="http://schemas.openxmlformats.org/drawingml/2006/main">
            <a:srgbClr val="EFEFEA"/>
          </a:solidFill>
        </p:spPr>
      </p:sp>
      <p:sp>
        <p:nvSpPr>
          <p:cNvPr id="20" name="Text 16">
            <a:extLst xmlns:a="http://schemas.openxmlformats.org/drawingml/2006/main">
              <a:ext uri="{FF2B5EF4-FFF2-40B4-BE49-F238E27FC236}">
                <a16:creationId xmlns:a16="http://schemas.microsoft.com/office/drawing/2014/main" id="{598DA5DC-24D5-489B-A2B9-B16E1EF24663}"/>
              </a:ext>
            </a:extLst>
          </p:cNvPr>
          <p:cNvSpPr>
            <a:spLocks xmlns:a="http://schemas.openxmlformats.org/drawingml/2006/main" noGrp="1"/>
          </p:cNvSpPr>
          <p:nvPr/>
        </p:nvSpPr>
        <p:spPr>
          <a:xfrm xmlns:a="http://schemas.openxmlformats.org/drawingml/2006/main">
            <a:off x="11164824"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1" name="Shape 17">
            <a:extLst xmlns:a="http://schemas.openxmlformats.org/drawingml/2006/main">
              <a:ext uri="{FF2B5EF4-FFF2-40B4-BE49-F238E27FC236}">
                <a16:creationId xmlns:a16="http://schemas.microsoft.com/office/drawing/2014/main" id="{FBCEAA4F-55E2-419C-84F3-0BDA89B1C885}"/>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solidFill xmlns:a="http://schemas.openxmlformats.org/drawingml/2006/main">
            <a:srgbClr val="C6C6BE"/>
          </a:solidFill>
          <a:ln xmlns:a="http://schemas.openxmlformats.org/drawingml/2006/main" w="9525">
            <a:solidFill>
              <a:srgbClr val="6B6B66"/>
            </a:solidFill>
            <a:prstDash val="solid"/>
          </a:ln>
        </p:spPr>
      </p:sp>
      <p:sp>
        <p:nvSpPr>
          <p:cNvPr id="22" name="Shape 18">
            <a:extLst xmlns:a="http://schemas.openxmlformats.org/drawingml/2006/main">
              <a:ext uri="{FF2B5EF4-FFF2-40B4-BE49-F238E27FC236}">
                <a16:creationId xmlns:a16="http://schemas.microsoft.com/office/drawing/2014/main" id="{69AAF623-9CEF-44A0-90E8-26DB0DE7A27C}"/>
              </a:ext>
            </a:extLst>
          </p:cNvPr>
          <p:cNvSpPr>
            <a:spLocks xmlns:a="http://schemas.openxmlformats.org/drawingml/2006/main" noGrp="1"/>
          </p:cNvSpPr>
          <p:nvPr/>
        </p:nvSpPr>
        <p:spPr>
          <a:xfrm xmlns:a="http://schemas.openxmlformats.org/drawingml/2006/main">
            <a:off x="11475720" y="320040"/>
            <a:ext cx="265176" cy="27432"/>
          </a:xfrm>
          <a:prstGeom xmlns:a="http://schemas.openxmlformats.org/drawingml/2006/main" prst="rect">
            <a:avLst/>
          </a:prstGeom>
          <a:solidFill xmlns:a="http://schemas.openxmlformats.org/drawingml/2006/main">
            <a:srgbClr val="EFEFEA"/>
          </a:solidFill>
        </p:spPr>
      </p:sp>
      <p:sp>
        <p:nvSpPr>
          <p:cNvPr id="23" name="Text 19">
            <a:extLst xmlns:a="http://schemas.openxmlformats.org/drawingml/2006/main">
              <a:ext uri="{FF2B5EF4-FFF2-40B4-BE49-F238E27FC236}">
                <a16:creationId xmlns:a16="http://schemas.microsoft.com/office/drawing/2014/main" id="{CA146ADA-7F3B-4B04-B133-05099AF5A9F0}"/>
              </a:ext>
            </a:extLst>
          </p:cNvPr>
          <p:cNvSpPr>
            <a:spLocks xmlns:a="http://schemas.openxmlformats.org/drawingml/2006/main" noGrp="1"/>
          </p:cNvSpPr>
          <p:nvPr/>
        </p:nvSpPr>
        <p:spPr>
          <a:xfrm xmlns:a="http://schemas.openxmlformats.org/drawingml/2006/main">
            <a:off x="11475720" y="320040"/>
            <a:ext cx="2651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1B2340"/>
                </a:solidFill>
              </a:rPr>
              <a:t>✕</a:t>
            </a:r>
          </a:p>
        </p:txBody>
      </p:sp>
      <p:sp>
        <p:nvSpPr>
          <p:cNvPr id="24" name="Text 20">
            <a:extLst xmlns:a="http://schemas.openxmlformats.org/drawingml/2006/main">
              <a:ext uri="{FF2B5EF4-FFF2-40B4-BE49-F238E27FC236}">
                <a16:creationId xmlns:a16="http://schemas.microsoft.com/office/drawing/2014/main" id="{A973581A-F711-464D-B7B1-E7E48D06BF70}"/>
              </a:ext>
            </a:extLst>
          </p:cNvPr>
          <p:cNvSpPr>
            <a:spLocks xmlns:a="http://schemas.openxmlformats.org/drawingml/2006/main" noGrp="1"/>
          </p:cNvSpPr>
          <p:nvPr/>
        </p:nvSpPr>
        <p:spPr>
          <a:xfrm xmlns:a="http://schemas.openxmlformats.org/drawingml/2006/main">
            <a:off x="0" y="1051560"/>
            <a:ext cx="1219169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C5CE0"/>
                </a:solidFill>
                <a:latin typeface="Malgun Gothic"/>
                <a:ea typeface="Malgun Gothic"/>
                <a:cs typeface="Malgun Gothic"/>
              </a:rPr>
              <a:t>DELIVERABLES · 실제 파일 기준</a:t>
            </a:r>
          </a:p>
        </p:txBody>
      </p:sp>
      <p:sp>
        <p:nvSpPr>
          <p:cNvPr id="25" name="Text 21">
            <a:extLst xmlns:a="http://schemas.openxmlformats.org/drawingml/2006/main">
              <a:ext uri="{FF2B5EF4-FFF2-40B4-BE49-F238E27FC236}">
                <a16:creationId xmlns:a16="http://schemas.microsoft.com/office/drawing/2014/main" id="{DC22085B-355D-4253-8D53-B7279B412A33}"/>
              </a:ext>
            </a:extLst>
          </p:cNvPr>
          <p:cNvSpPr>
            <a:spLocks xmlns:a="http://schemas.openxmlformats.org/drawingml/2006/main" noGrp="1"/>
          </p:cNvSpPr>
          <p:nvPr/>
        </p:nvSpPr>
        <p:spPr>
          <a:xfrm xmlns:a="http://schemas.openxmlformats.org/drawingml/2006/main">
            <a:off x="548640" y="1371600"/>
            <a:ext cx="110916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8000"/>
              </a:lnSpc>
              <a:buNone/>
            </a:pPr>
            <a:r>
              <a:rPr sz="2800" b="1">
                <a:solidFill>
                  <a:srgbClr val="1B2340"/>
                </a:solidFill>
                <a:latin typeface="Malgun Gothic"/>
                <a:ea typeface="Malgun Gothic"/>
                <a:cs typeface="Malgun Gothic"/>
              </a:rPr>
              <a:t>로드맵 요구사항과 확인 가능한 산출물</a:t>
            </a:r>
          </a:p>
        </p:txBody>
      </p:sp>
      <p:sp>
        <p:nvSpPr>
          <p:cNvPr id="26" name="Text 22">
            <a:extLst xmlns:a="http://schemas.openxmlformats.org/drawingml/2006/main">
              <a:ext uri="{FF2B5EF4-FFF2-40B4-BE49-F238E27FC236}">
                <a16:creationId xmlns:a16="http://schemas.microsoft.com/office/drawing/2014/main" id="{E1AE1BAD-190D-49EC-BAA6-C1968BA7CEA1}"/>
              </a:ext>
            </a:extLst>
          </p:cNvPr>
          <p:cNvSpPr>
            <a:spLocks xmlns:a="http://schemas.openxmlformats.org/drawingml/2006/main" noGrp="1"/>
          </p:cNvSpPr>
          <p:nvPr/>
        </p:nvSpPr>
        <p:spPr>
          <a:xfrm xmlns:a="http://schemas.openxmlformats.org/drawingml/2006/main">
            <a:off x="1188720" y="251460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1</a:t>
            </a:r>
          </a:p>
        </p:txBody>
      </p:sp>
      <p:sp>
        <p:nvSpPr>
          <p:cNvPr id="27" name="Text 23">
            <a:extLst xmlns:a="http://schemas.openxmlformats.org/drawingml/2006/main">
              <a:ext uri="{FF2B5EF4-FFF2-40B4-BE49-F238E27FC236}">
                <a16:creationId xmlns:a16="http://schemas.microsoft.com/office/drawing/2014/main" id="{FA31FA42-7DA2-48A4-9E8A-111FE7393DCC}"/>
              </a:ext>
            </a:extLst>
          </p:cNvPr>
          <p:cNvSpPr>
            <a:spLocks xmlns:a="http://schemas.openxmlformats.org/drawingml/2006/main" noGrp="1"/>
          </p:cNvSpPr>
          <p:nvPr/>
        </p:nvSpPr>
        <p:spPr>
          <a:xfrm xmlns:a="http://schemas.openxmlformats.org/drawingml/2006/main">
            <a:off x="1691640" y="251460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시스템 기획·PRD</a:t>
            </a:r>
          </a:p>
        </p:txBody>
      </p:sp>
      <p:sp>
        <p:nvSpPr>
          <p:cNvPr id="28" name="Text 24">
            <a:extLst xmlns:a="http://schemas.openxmlformats.org/drawingml/2006/main">
              <a:ext uri="{FF2B5EF4-FFF2-40B4-BE49-F238E27FC236}">
                <a16:creationId xmlns:a16="http://schemas.microsoft.com/office/drawing/2014/main" id="{6934D6C4-1ECE-4F98-A7E7-08F24D0B0521}"/>
              </a:ext>
            </a:extLst>
          </p:cNvPr>
          <p:cNvSpPr>
            <a:spLocks xmlns:a="http://schemas.openxmlformats.org/drawingml/2006/main" noGrp="1"/>
          </p:cNvSpPr>
          <p:nvPr/>
        </p:nvSpPr>
        <p:spPr>
          <a:xfrm xmlns:a="http://schemas.openxmlformats.org/drawingml/2006/main">
            <a:off x="5943600" y="251460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docs/SYSTEM_DESIGN_PRD.md</a:t>
            </a:r>
          </a:p>
        </p:txBody>
      </p:sp>
      <p:sp>
        <p:nvSpPr>
          <p:cNvPr id="29" name="Shape 25">
            <a:extLst xmlns:a="http://schemas.openxmlformats.org/drawingml/2006/main">
              <a:ext uri="{FF2B5EF4-FFF2-40B4-BE49-F238E27FC236}">
                <a16:creationId xmlns:a16="http://schemas.microsoft.com/office/drawing/2014/main" id="{9D5FAF0A-492D-45B3-A29A-BC85EDE0BEEC}"/>
              </a:ext>
            </a:extLst>
          </p:cNvPr>
          <p:cNvSpPr>
            <a:spLocks xmlns:a="http://schemas.openxmlformats.org/drawingml/2006/main" noGrp="1"/>
          </p:cNvSpPr>
          <p:nvPr/>
        </p:nvSpPr>
        <p:spPr>
          <a:xfrm xmlns:a="http://schemas.openxmlformats.org/drawingml/2006/main">
            <a:off x="1188720" y="300837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0" name="Text 26">
            <a:extLst xmlns:a="http://schemas.openxmlformats.org/drawingml/2006/main">
              <a:ext uri="{FF2B5EF4-FFF2-40B4-BE49-F238E27FC236}">
                <a16:creationId xmlns:a16="http://schemas.microsoft.com/office/drawing/2014/main" id="{31CB641B-F49E-4E0B-8B7E-9919FFD29FDC}"/>
              </a:ext>
            </a:extLst>
          </p:cNvPr>
          <p:cNvSpPr>
            <a:spLocks xmlns:a="http://schemas.openxmlformats.org/drawingml/2006/main" noGrp="1"/>
          </p:cNvSpPr>
          <p:nvPr/>
        </p:nvSpPr>
        <p:spPr>
          <a:xfrm xmlns:a="http://schemas.openxmlformats.org/drawingml/2006/main">
            <a:off x="1188720" y="3081528"/>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2</a:t>
            </a:r>
          </a:p>
        </p:txBody>
      </p:sp>
      <p:sp>
        <p:nvSpPr>
          <p:cNvPr id="31" name="Text 27">
            <a:extLst xmlns:a="http://schemas.openxmlformats.org/drawingml/2006/main">
              <a:ext uri="{FF2B5EF4-FFF2-40B4-BE49-F238E27FC236}">
                <a16:creationId xmlns:a16="http://schemas.microsoft.com/office/drawing/2014/main" id="{7A6DE062-F219-4E14-AE6E-7E02521D0B50}"/>
              </a:ext>
            </a:extLst>
          </p:cNvPr>
          <p:cNvSpPr>
            <a:spLocks xmlns:a="http://schemas.openxmlformats.org/drawingml/2006/main" noGrp="1"/>
          </p:cNvSpPr>
          <p:nvPr/>
        </p:nvSpPr>
        <p:spPr>
          <a:xfrm xmlns:a="http://schemas.openxmlformats.org/drawingml/2006/main">
            <a:off x="1691640" y="3081528"/>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데이터분석 정의서</a:t>
            </a:r>
          </a:p>
        </p:txBody>
      </p:sp>
      <p:sp>
        <p:nvSpPr>
          <p:cNvPr id="32" name="Text 28">
            <a:extLst xmlns:a="http://schemas.openxmlformats.org/drawingml/2006/main">
              <a:ext uri="{FF2B5EF4-FFF2-40B4-BE49-F238E27FC236}">
                <a16:creationId xmlns:a16="http://schemas.microsoft.com/office/drawing/2014/main" id="{0B249E7F-49E1-4FC2-B2C2-832237301A80}"/>
              </a:ext>
            </a:extLst>
          </p:cNvPr>
          <p:cNvSpPr>
            <a:spLocks xmlns:a="http://schemas.openxmlformats.org/drawingml/2006/main" noGrp="1"/>
          </p:cNvSpPr>
          <p:nvPr/>
        </p:nvSpPr>
        <p:spPr>
          <a:xfrm xmlns:a="http://schemas.openxmlformats.org/drawingml/2006/main">
            <a:off x="5943600" y="3081528"/>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docs/데이터분석정의서.md</a:t>
            </a:r>
          </a:p>
        </p:txBody>
      </p:sp>
      <p:sp>
        <p:nvSpPr>
          <p:cNvPr id="33" name="Shape 29">
            <a:extLst xmlns:a="http://schemas.openxmlformats.org/drawingml/2006/main">
              <a:ext uri="{FF2B5EF4-FFF2-40B4-BE49-F238E27FC236}">
                <a16:creationId xmlns:a16="http://schemas.microsoft.com/office/drawing/2014/main" id="{85EF81A5-2C29-4212-B027-C53367D28FC7}"/>
              </a:ext>
            </a:extLst>
          </p:cNvPr>
          <p:cNvSpPr>
            <a:spLocks xmlns:a="http://schemas.openxmlformats.org/drawingml/2006/main" noGrp="1"/>
          </p:cNvSpPr>
          <p:nvPr/>
        </p:nvSpPr>
        <p:spPr>
          <a:xfrm xmlns:a="http://schemas.openxmlformats.org/drawingml/2006/main">
            <a:off x="1188720" y="3575304"/>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4" name="Text 30">
            <a:extLst xmlns:a="http://schemas.openxmlformats.org/drawingml/2006/main">
              <a:ext uri="{FF2B5EF4-FFF2-40B4-BE49-F238E27FC236}">
                <a16:creationId xmlns:a16="http://schemas.microsoft.com/office/drawing/2014/main" id="{BB2741DD-AD33-4C7E-BBB8-AD92504182C1}"/>
              </a:ext>
            </a:extLst>
          </p:cNvPr>
          <p:cNvSpPr>
            <a:spLocks xmlns:a="http://schemas.openxmlformats.org/drawingml/2006/main" noGrp="1"/>
          </p:cNvSpPr>
          <p:nvPr/>
        </p:nvSpPr>
        <p:spPr>
          <a:xfrm xmlns:a="http://schemas.openxmlformats.org/drawingml/2006/main">
            <a:off x="1188720" y="3648456"/>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3</a:t>
            </a:r>
          </a:p>
        </p:txBody>
      </p:sp>
      <p:sp>
        <p:nvSpPr>
          <p:cNvPr id="35" name="Text 31">
            <a:extLst xmlns:a="http://schemas.openxmlformats.org/drawingml/2006/main">
              <a:ext uri="{FF2B5EF4-FFF2-40B4-BE49-F238E27FC236}">
                <a16:creationId xmlns:a16="http://schemas.microsoft.com/office/drawing/2014/main" id="{AFEEEA28-65CE-46D1-AB00-A5B64EAB81A4}"/>
              </a:ext>
            </a:extLst>
          </p:cNvPr>
          <p:cNvSpPr>
            <a:spLocks xmlns:a="http://schemas.openxmlformats.org/drawingml/2006/main" noGrp="1"/>
          </p:cNvSpPr>
          <p:nvPr/>
        </p:nvSpPr>
        <p:spPr>
          <a:xfrm xmlns:a="http://schemas.openxmlformats.org/drawingml/2006/main">
            <a:off x="1691640" y="3648456"/>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발표 대본·시연</a:t>
            </a:r>
          </a:p>
        </p:txBody>
      </p:sp>
      <p:sp>
        <p:nvSpPr>
          <p:cNvPr id="36" name="Text 32">
            <a:extLst xmlns:a="http://schemas.openxmlformats.org/drawingml/2006/main">
              <a:ext uri="{FF2B5EF4-FFF2-40B4-BE49-F238E27FC236}">
                <a16:creationId xmlns:a16="http://schemas.microsoft.com/office/drawing/2014/main" id="{59F3DC2B-4A6F-4187-9F14-5426EAC596C8}"/>
              </a:ext>
            </a:extLst>
          </p:cNvPr>
          <p:cNvSpPr>
            <a:spLocks xmlns:a="http://schemas.openxmlformats.org/drawingml/2006/main" noGrp="1"/>
          </p:cNvSpPr>
          <p:nvPr/>
        </p:nvSpPr>
        <p:spPr>
          <a:xfrm xmlns:a="http://schemas.openxmlformats.org/drawingml/2006/main">
            <a:off x="5943600" y="3648456"/>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docs/발표자료/발표_대본_PPT구성_ver2.md</a:t>
            </a:r>
          </a:p>
        </p:txBody>
      </p:sp>
      <p:sp>
        <p:nvSpPr>
          <p:cNvPr id="37" name="Shape 33">
            <a:extLst xmlns:a="http://schemas.openxmlformats.org/drawingml/2006/main">
              <a:ext uri="{FF2B5EF4-FFF2-40B4-BE49-F238E27FC236}">
                <a16:creationId xmlns:a16="http://schemas.microsoft.com/office/drawing/2014/main" id="{926789FE-BE1B-48BB-B060-D7AA017AACD3}"/>
              </a:ext>
            </a:extLst>
          </p:cNvPr>
          <p:cNvSpPr>
            <a:spLocks xmlns:a="http://schemas.openxmlformats.org/drawingml/2006/main" noGrp="1"/>
          </p:cNvSpPr>
          <p:nvPr/>
        </p:nvSpPr>
        <p:spPr>
          <a:xfrm xmlns:a="http://schemas.openxmlformats.org/drawingml/2006/main">
            <a:off x="1188720" y="4142232"/>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38" name="Text 34">
            <a:extLst xmlns:a="http://schemas.openxmlformats.org/drawingml/2006/main">
              <a:ext uri="{FF2B5EF4-FFF2-40B4-BE49-F238E27FC236}">
                <a16:creationId xmlns:a16="http://schemas.microsoft.com/office/drawing/2014/main" id="{DE92465F-BD0A-4DF5-92C1-B047CB926505}"/>
              </a:ext>
            </a:extLst>
          </p:cNvPr>
          <p:cNvSpPr>
            <a:spLocks xmlns:a="http://schemas.openxmlformats.org/drawingml/2006/main" noGrp="1"/>
          </p:cNvSpPr>
          <p:nvPr/>
        </p:nvSpPr>
        <p:spPr>
          <a:xfrm xmlns:a="http://schemas.openxmlformats.org/drawingml/2006/main">
            <a:off x="1188720" y="4215384"/>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4</a:t>
            </a:r>
          </a:p>
        </p:txBody>
      </p:sp>
      <p:sp>
        <p:nvSpPr>
          <p:cNvPr id="39" name="Text 35">
            <a:extLst xmlns:a="http://schemas.openxmlformats.org/drawingml/2006/main">
              <a:ext uri="{FF2B5EF4-FFF2-40B4-BE49-F238E27FC236}">
                <a16:creationId xmlns:a16="http://schemas.microsoft.com/office/drawing/2014/main" id="{F544FB6F-0AD0-4F3E-97CD-E702511289F5}"/>
              </a:ext>
            </a:extLst>
          </p:cNvPr>
          <p:cNvSpPr>
            <a:spLocks xmlns:a="http://schemas.openxmlformats.org/drawingml/2006/main" noGrp="1"/>
          </p:cNvSpPr>
          <p:nvPr/>
        </p:nvSpPr>
        <p:spPr>
          <a:xfrm xmlns:a="http://schemas.openxmlformats.org/drawingml/2006/main">
            <a:off x="1691640" y="4215384"/>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프론트엔드</a:t>
            </a:r>
          </a:p>
        </p:txBody>
      </p:sp>
      <p:sp>
        <p:nvSpPr>
          <p:cNvPr id="40" name="Text 36">
            <a:extLst xmlns:a="http://schemas.openxmlformats.org/drawingml/2006/main">
              <a:ext uri="{FF2B5EF4-FFF2-40B4-BE49-F238E27FC236}">
                <a16:creationId xmlns:a16="http://schemas.microsoft.com/office/drawing/2014/main" id="{F9E791F7-F0D4-40BB-83AD-C21EFFAA2D79}"/>
              </a:ext>
            </a:extLst>
          </p:cNvPr>
          <p:cNvSpPr>
            <a:spLocks xmlns:a="http://schemas.openxmlformats.org/drawingml/2006/main" noGrp="1"/>
          </p:cNvSpPr>
          <p:nvPr/>
        </p:nvSpPr>
        <p:spPr>
          <a:xfrm xmlns:a="http://schemas.openxmlformats.org/drawingml/2006/main">
            <a:off x="5943600" y="4215384"/>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React·TypeScript·Vite / frontend/src/App.tsx</a:t>
            </a:r>
          </a:p>
        </p:txBody>
      </p:sp>
      <p:sp>
        <p:nvSpPr>
          <p:cNvPr id="41" name="Shape 37">
            <a:extLst xmlns:a="http://schemas.openxmlformats.org/drawingml/2006/main">
              <a:ext uri="{FF2B5EF4-FFF2-40B4-BE49-F238E27FC236}">
                <a16:creationId xmlns:a16="http://schemas.microsoft.com/office/drawing/2014/main" id="{50DA8A51-194B-4F58-B729-A997F4380D06}"/>
              </a:ext>
            </a:extLst>
          </p:cNvPr>
          <p:cNvSpPr>
            <a:spLocks xmlns:a="http://schemas.openxmlformats.org/drawingml/2006/main" noGrp="1"/>
          </p:cNvSpPr>
          <p:nvPr/>
        </p:nvSpPr>
        <p:spPr>
          <a:xfrm xmlns:a="http://schemas.openxmlformats.org/drawingml/2006/main">
            <a:off x="1188720" y="4709160"/>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2" name="Text 38">
            <a:extLst xmlns:a="http://schemas.openxmlformats.org/drawingml/2006/main">
              <a:ext uri="{FF2B5EF4-FFF2-40B4-BE49-F238E27FC236}">
                <a16:creationId xmlns:a16="http://schemas.microsoft.com/office/drawing/2014/main" id="{6BA95925-5CA0-4CAF-9942-B00E0366914E}"/>
              </a:ext>
            </a:extLst>
          </p:cNvPr>
          <p:cNvSpPr>
            <a:spLocks xmlns:a="http://schemas.openxmlformats.org/drawingml/2006/main" noGrp="1"/>
          </p:cNvSpPr>
          <p:nvPr/>
        </p:nvSpPr>
        <p:spPr>
          <a:xfrm xmlns:a="http://schemas.openxmlformats.org/drawingml/2006/main">
            <a:off x="1188720" y="4782312"/>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5</a:t>
            </a:r>
          </a:p>
        </p:txBody>
      </p:sp>
      <p:sp>
        <p:nvSpPr>
          <p:cNvPr id="43" name="Text 39">
            <a:extLst xmlns:a="http://schemas.openxmlformats.org/drawingml/2006/main">
              <a:ext uri="{FF2B5EF4-FFF2-40B4-BE49-F238E27FC236}">
                <a16:creationId xmlns:a16="http://schemas.microsoft.com/office/drawing/2014/main" id="{B276AD48-7334-4D63-BFC6-3AF10C8656EF}"/>
              </a:ext>
            </a:extLst>
          </p:cNvPr>
          <p:cNvSpPr>
            <a:spLocks xmlns:a="http://schemas.openxmlformats.org/drawingml/2006/main" noGrp="1"/>
          </p:cNvSpPr>
          <p:nvPr/>
        </p:nvSpPr>
        <p:spPr>
          <a:xfrm xmlns:a="http://schemas.openxmlformats.org/drawingml/2006/main">
            <a:off x="1691640" y="4782312"/>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데이터 검사</a:t>
            </a:r>
          </a:p>
        </p:txBody>
      </p:sp>
      <p:sp>
        <p:nvSpPr>
          <p:cNvPr id="44" name="Text 40">
            <a:extLst xmlns:a="http://schemas.openxmlformats.org/drawingml/2006/main">
              <a:ext uri="{FF2B5EF4-FFF2-40B4-BE49-F238E27FC236}">
                <a16:creationId xmlns:a16="http://schemas.microsoft.com/office/drawing/2014/main" id="{E79CFC21-541F-416F-AAB8-33C28F52E4F7}"/>
              </a:ext>
            </a:extLst>
          </p:cNvPr>
          <p:cNvSpPr>
            <a:spLocks xmlns:a="http://schemas.openxmlformats.org/drawingml/2006/main" noGrp="1"/>
          </p:cNvSpPr>
          <p:nvPr/>
        </p:nvSpPr>
        <p:spPr>
          <a:xfrm xmlns:a="http://schemas.openxmlformats.org/drawingml/2006/main">
            <a:off x="5943600" y="4782312"/>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Python 동기화·정합성 검사 스크립트</a:t>
            </a:r>
          </a:p>
        </p:txBody>
      </p:sp>
      <p:sp>
        <p:nvSpPr>
          <p:cNvPr id="45" name="Shape 41">
            <a:extLst xmlns:a="http://schemas.openxmlformats.org/drawingml/2006/main">
              <a:ext uri="{FF2B5EF4-FFF2-40B4-BE49-F238E27FC236}">
                <a16:creationId xmlns:a16="http://schemas.microsoft.com/office/drawing/2014/main" id="{174092D8-A05C-427E-A521-E6EDD37F100B}"/>
              </a:ext>
            </a:extLst>
          </p:cNvPr>
          <p:cNvSpPr>
            <a:spLocks xmlns:a="http://schemas.openxmlformats.org/drawingml/2006/main" noGrp="1"/>
          </p:cNvSpPr>
          <p:nvPr/>
        </p:nvSpPr>
        <p:spPr>
          <a:xfrm xmlns:a="http://schemas.openxmlformats.org/drawingml/2006/main">
            <a:off x="1188720" y="5276088"/>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
        <p:nvSpPr>
          <p:cNvPr id="46" name="Text 42">
            <a:extLst xmlns:a="http://schemas.openxmlformats.org/drawingml/2006/main">
              <a:ext uri="{FF2B5EF4-FFF2-40B4-BE49-F238E27FC236}">
                <a16:creationId xmlns:a16="http://schemas.microsoft.com/office/drawing/2014/main" id="{6D0D1ED8-36BA-47E7-A318-0CEA73E6A8EA}"/>
              </a:ext>
            </a:extLst>
          </p:cNvPr>
          <p:cNvSpPr>
            <a:spLocks xmlns:a="http://schemas.openxmlformats.org/drawingml/2006/main" noGrp="1"/>
          </p:cNvSpPr>
          <p:nvPr/>
        </p:nvSpPr>
        <p:spPr>
          <a:xfrm xmlns:a="http://schemas.openxmlformats.org/drawingml/2006/main">
            <a:off x="1188720" y="5349240"/>
            <a:ext cx="457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77D00"/>
                </a:solidFill>
                <a:latin typeface="Calibri"/>
                <a:ea typeface="Calibri"/>
                <a:cs typeface="Calibri"/>
              </a:rPr>
              <a:t>6</a:t>
            </a:r>
          </a:p>
        </p:txBody>
      </p:sp>
      <p:sp>
        <p:nvSpPr>
          <p:cNvPr id="47" name="Text 43">
            <a:extLst xmlns:a="http://schemas.openxmlformats.org/drawingml/2006/main">
              <a:ext uri="{FF2B5EF4-FFF2-40B4-BE49-F238E27FC236}">
                <a16:creationId xmlns:a16="http://schemas.microsoft.com/office/drawing/2014/main" id="{45C4CCD7-A222-4CA9-B619-68C290D3A54E}"/>
              </a:ext>
            </a:extLst>
          </p:cNvPr>
          <p:cNvSpPr>
            <a:spLocks xmlns:a="http://schemas.openxmlformats.org/drawingml/2006/main" noGrp="1"/>
          </p:cNvSpPr>
          <p:nvPr/>
        </p:nvSpPr>
        <p:spPr>
          <a:xfrm xmlns:a="http://schemas.openxmlformats.org/drawingml/2006/main">
            <a:off x="1691640" y="5349240"/>
            <a:ext cx="42062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B2340"/>
                </a:solidFill>
                <a:latin typeface="Malgun Gothic"/>
                <a:ea typeface="Malgun Gothic"/>
                <a:cs typeface="Malgun Gothic"/>
              </a:rPr>
              <a:t>배포·생성형 AI</a:t>
            </a:r>
          </a:p>
        </p:txBody>
      </p:sp>
      <p:sp>
        <p:nvSpPr>
          <p:cNvPr id="48" name="Text 44">
            <a:extLst xmlns:a="http://schemas.openxmlformats.org/drawingml/2006/main">
              <a:ext uri="{FF2B5EF4-FFF2-40B4-BE49-F238E27FC236}">
                <a16:creationId xmlns:a16="http://schemas.microsoft.com/office/drawing/2014/main" id="{2D07E94E-8570-4252-A2AA-CD59D0688106}"/>
              </a:ext>
            </a:extLst>
          </p:cNvPr>
          <p:cNvSpPr>
            <a:spLocks xmlns:a="http://schemas.openxmlformats.org/drawingml/2006/main" noGrp="1"/>
          </p:cNvSpPr>
          <p:nvPr/>
        </p:nvSpPr>
        <p:spPr>
          <a:xfrm xmlns:a="http://schemas.openxmlformats.org/drawingml/2006/main">
            <a:off x="5943600" y="5349240"/>
            <a:ext cx="5029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3558D6"/>
                </a:solidFill>
                <a:latin typeface="Calibri"/>
                <a:ea typeface="Calibri"/>
                <a:cs typeface="Calibri"/>
              </a:rPr>
              <a:t>Vercel / Gemini 초안 + 템플릿 Fallback</a:t>
            </a:r>
          </a:p>
        </p:txBody>
      </p:sp>
      <p:sp>
        <p:nvSpPr>
          <p:cNvPr id="49" name="Shape 45">
            <a:extLst xmlns:a="http://schemas.openxmlformats.org/drawingml/2006/main">
              <a:ext uri="{FF2B5EF4-FFF2-40B4-BE49-F238E27FC236}">
                <a16:creationId xmlns:a16="http://schemas.microsoft.com/office/drawing/2014/main" id="{425014C6-C4D4-4B94-82D6-450560EB0186}"/>
              </a:ext>
            </a:extLst>
          </p:cNvPr>
          <p:cNvSpPr>
            <a:spLocks xmlns:a="http://schemas.openxmlformats.org/drawingml/2006/main" noGrp="1"/>
          </p:cNvSpPr>
          <p:nvPr/>
        </p:nvSpPr>
        <p:spPr>
          <a:xfrm xmlns:a="http://schemas.openxmlformats.org/drawingml/2006/main">
            <a:off x="1188720" y="5843016"/>
            <a:ext cx="9784080" cy="0"/>
          </a:xfrm>
          <a:prstGeom xmlns:a="http://schemas.openxmlformats.org/drawingml/2006/main" prst="line">
            <a:avLst/>
          </a:prstGeom>
          <a:noFill xmlns:a="http://schemas.openxmlformats.org/drawingml/2006/main"/>
          <a:ln xmlns:a="http://schemas.openxmlformats.org/drawingml/2006/main" w="9525">
            <a:solidFill>
              <a:srgbClr val="EAF0FF"/>
            </a:solidFill>
            <a:prstDash val="solid"/>
          </a:ln>
        </p:spPr>
      </p:sp>
    </p:spTree>
    <p:extLst>
      <p:ext uri="{BB962C8B-B14F-4D97-AF65-F5344CB8AC3E}">
        <p14:creationId xmlns:p14="http://schemas.microsoft.com/office/powerpoint/2010/main" val="16471179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2026-07-25T12:18:26.0850000Z</dcterms:created>
  <dcterms:modified xsi:type="dcterms:W3CDTF">2026-07-25T12:18:26.0850000Z</dcterms:modified>
</coreProperties>
</file>