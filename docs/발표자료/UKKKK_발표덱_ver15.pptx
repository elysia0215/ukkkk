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4조 UKKKK, 편의상 '유케이'라고 부르겠습니다. 화면별 안내는 오피스 길잡이 새싹이가 함께합니다.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원래 과제는 출산·양육 민원과 데이터에서 정책 수요를 도출하는 것이었습니다.
그런데 실제 상상대로 서울 데이터를 확인하니 네 가지 단절이 보였습니다. 첫째, 답변 상태와 반복 수요가 분리되어 있었습니다. 둘째, 어떤 팀이 어떤 안건을 봐야 하는지 연결이 없었습니다. 셋째, 판단 근거가 되는 기존 정책·민원·뉴스·통계가 흩어져 있었습니다. 넷째, 검토 결과를 다음 조치로 넘기는 흐름이 없었습니다.
그래서 저희는 상상대로를 대체하지 않고, 이 네 가지 단절을 연결해 시민 제안을 담당 범위·판단 근거·후속 조치로 이어주는 행정 의사결정 지원 백오피스를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가상 페르소나 김서현 주무관은 시민 제안을 검토하고 담당 후보와 기존 정책을 대조한 뒤 보고서를 만드는 과업을 가정했습니다.
핵심 질문은 하나입니다. "이 안건은 누가, 왜, 얼마나 먼저 봐야 하는가?"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5개 출처 입력, 오른쪽은 반복 수요·Gap, R&amp;R 후보, 보고서라는 출력입니다. 최종 판단은 담당자에게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다섯 출처입니다. 시민 제안 824건, 국민신문고 582건, 몽땅정보통 322개 사업, 뉴스 1,145건, 25개 자치구 통계를 공통 스키마로 연결했습니다.
파이프라인 상세는 부록에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필터는 조직명이 아니라 8대 정책 대분류, 두 번째가 실제 R&amp;R 팀입니다.
제안 분류와 업무 키워드를 점수화해 주관 1순위·협조 2·3순위 후보를 만들지만, 최종 배정은 담당자가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개별 제안을 57개 문제 군집으로 묶고 다섯 축으로 비교합니다.
담당 범위를 선택하면 해당 군집과 점수만 재구성됩니다. 이 점수는 검토 순서를 설명하는 보조 지표입니다.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10개 화면은 세 그룹입니다. 수요 현황·시민 목소리·긴급 민원에서 수요를 발견하고, 현행 정책·사각지대·자치구 통계에서 공급과 지역을 대조하며, 통합 근거·갭 진단·결측치 로그·필터 검증에서 판단과 품질을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824건 중 원본 자치구 확인 20건. 나머지는 본문 근거가 있을 때만 후보로 표시하고 750건은 미확인으로 남깁니다. 데이터 품질을 숨기지 않는 것이 공공 시스템의 신뢰입니다.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상단 필터에서 정책 대분류 보육·돌봄 인프라를 선택하면 179건, 실제 R&amp;R 팀 가족건강팀까지 선택하면 20건으로 좁혀집니다.
수요 현황에서 20건의 KPI와 답변 현황을 확인하고, 시민 목소리에서 반복 키워드와 시계열 추이를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긴급 민원에서 고공감·미답변 안건을 펼치면 제안 본문, 원문 URL, 주관·협조 후보 3순위가 한 카드에 나옵니다.
현행 정책에서 몽땅정보통 322개 사업과 대조하고, 자치구 통계에서 지역별 출생·보육 지표와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갭 진단에서 군집을 선택하면 5축 점수와 담당부서 매칭 이유, 관련 정책·민원·뉴스 근거가 함께 나옵니다.
사각지대 버블 차트로 공백 지점을 시각화하고, 통합 근거에서 5개 출처를 교차 확인합니다.
필터 검증에서 같은 20건이 모든 집계에 동일하게 적용됐는지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범위가 반영된 상세형·간부 브리핑·외부 공유용 보고서를 유형별로 미리보고 CSV로 내보냅니다.
새싹이는 현재 화면과 선택 범위에 맞춰 다음 확인 순서를 안내하고, 결측치 로그에서 지역 범위의 복원 상태를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배포된 화면입니다. 앞서 보셨듯 두 단계로 20건을 좁힙니다. 모든 탭이 같은 20건 기준으로 반응합니다. 나머지는 지금 보신 캡처와 동일합니다.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시연에서는 824건에서 20건으로 후보를 줄이고, 10개 화면의 범위 연동과 원문·R&amp;R 확인, 보고서 생성을 확인했습니다. 이것은 업무시간 절감률이 아니라 확인할 후보 수가 줄었다는 값입니다.
운영형 도구로 가려면 정기 수집, R&amp;R 정답셋, DB 분리와 권한 체계가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유케이는 시민 제안을 수요에서 책임으로, 근거에서 조치로 연결하는 백오피스입니다. 새싹이와 함께한 유케이의 여정이었습니다.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figma.com/board/Y9M73dT7Sjz7aYCORMPBkJ/&#49436;&#50872;&#49884;-&#52636;&#49328;&#51221;&#52293;-AI-&#45824;&#49884;&#48372;&#46300;---UX-Flow--&#44032;&#51313;&#51648;&#50896;&#54016;?node-id=0-1&amp;t=4KgvzxGu5uB0ET1f-1" TargetMode="Externa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UKKKK 2차 발표</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76200" dist="25400" dir="8100000">
              <a:srgbClr val="888888">
                <a:alpha val="30000"/>
              </a:srgbClr>
            </a:outerShdw>
          </a:effectLst>
        </p:spPr>
      </p:sp>
      <p:sp>
        <p:nvSpPr>
          <p:cNvPr id="10" name="Text 8"/>
          <p:cNvSpPr/>
          <p:nvPr/>
        </p:nvSpPr>
        <p:spPr>
          <a:xfrm>
            <a:off x="1371600" y="1097280"/>
            <a:ext cx="6400800" cy="365760"/>
          </a:xfrm>
          <a:prstGeom prst="rect">
            <a:avLst/>
          </a:prstGeom>
          <a:noFill/>
          <a:ln/>
        </p:spPr>
        <p:txBody>
          <a:bodyPr wrap="square" lIns="0" tIns="0" rIns="0" bIns="0" rtlCol="0" anchor="ctr"/>
          <a:lstStyle/>
          <a:p>
            <a:pPr indent="0" marL="0">
              <a:buNone/>
            </a:pPr>
            <a:r>
              <a:rPr lang="en-US" sz="1000" dirty="0">
                <a:solidFill>
                  <a:srgbClr val="6B6B66"/>
                </a:solidFill>
                <a:latin typeface="Calibri" pitchFamily="34" charset="0"/>
                <a:ea typeface="Calibri" pitchFamily="34" charset="-122"/>
                <a:cs typeface="Calibri" pitchFamily="34" charset="-120"/>
              </a:rPr>
              <a:t>SEOUL · DATA-DRIVEN MATERNITY &amp; CHILDCARE POLICY</a:t>
            </a:r>
            <a:endParaRPr lang="en-US" sz="1000" dirty="0"/>
          </a:p>
        </p:txBody>
      </p:sp>
      <p:sp>
        <p:nvSpPr>
          <p:cNvPr id="11" name="Text 9"/>
          <p:cNvSpPr/>
          <p:nvPr/>
        </p:nvSpPr>
        <p:spPr>
          <a:xfrm>
            <a:off x="1371600" y="1554480"/>
            <a:ext cx="6400800" cy="1097280"/>
          </a:xfrm>
          <a:prstGeom prst="rect">
            <a:avLst/>
          </a:prstGeom>
          <a:noFill/>
          <a:ln/>
        </p:spPr>
        <p:txBody>
          <a:bodyPr wrap="square" lIns="0" tIns="0" rIns="0" bIns="0" rtlCol="0" anchor="ctr"/>
          <a:lstStyle/>
          <a:p>
            <a:pPr indent="0" marL="0">
              <a:buNone/>
            </a:pPr>
            <a:r>
              <a:rPr lang="en-US" sz="5400" b="1" dirty="0">
                <a:solidFill>
                  <a:srgbClr val="1B2340"/>
                </a:solidFill>
                <a:latin typeface="Calibri" pitchFamily="34" charset="0"/>
                <a:ea typeface="Calibri" pitchFamily="34" charset="-122"/>
                <a:cs typeface="Calibri" pitchFamily="34" charset="-120"/>
              </a:rPr>
              <a:t>UKKKK</a:t>
            </a:r>
            <a:endParaRPr lang="en-US" sz="5400" dirty="0"/>
          </a:p>
        </p:txBody>
      </p:sp>
      <p:sp>
        <p:nvSpPr>
          <p:cNvPr id="12" name="Text 10"/>
          <p:cNvSpPr/>
          <p:nvPr/>
        </p:nvSpPr>
        <p:spPr>
          <a:xfrm>
            <a:off x="1371600" y="2651760"/>
            <a:ext cx="6400800" cy="45720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상상대로 서울 시민 제안을 담당 범위·근거·후속 조치로 연결하는 정책 백오피스</a:t>
            </a:r>
            <a:endParaRPr lang="en-US" sz="1300" dirty="0"/>
          </a:p>
        </p:txBody>
      </p:sp>
      <p:sp>
        <p:nvSpPr>
          <p:cNvPr id="13" name="Text 11"/>
          <p:cNvSpPr/>
          <p:nvPr/>
        </p:nvSpPr>
        <p:spPr>
          <a:xfrm>
            <a:off x="1371600" y="3108960"/>
            <a:ext cx="6400800" cy="365760"/>
          </a:xfrm>
          <a:prstGeom prst="rect">
            <a:avLst/>
          </a:prstGeom>
          <a:noFill/>
          <a:ln/>
        </p:spPr>
        <p:txBody>
          <a:bodyPr wrap="square" lIns="0" tIns="0" rIns="0" bIns="0" rtlCol="0" anchor="ctr"/>
          <a:lstStyle/>
          <a:p>
            <a:pPr indent="0" marL="0">
              <a:buNone/>
            </a:pPr>
            <a:r>
              <a:rPr lang="en-US" sz="1100" dirty="0">
                <a:solidFill>
                  <a:srgbClr val="6B6B66"/>
                </a:solidFill>
                <a:latin typeface="Calibri" pitchFamily="34" charset="0"/>
                <a:ea typeface="Calibri" pitchFamily="34" charset="-122"/>
                <a:cs typeface="Calibri" pitchFamily="34" charset="-120"/>
              </a:rPr>
              <a:t>Unified Key-Knowledge Kit for Kid · Human-in-the-loop MVP</a:t>
            </a:r>
            <a:endParaRPr lang="en-US" sz="1100" dirty="0"/>
          </a:p>
        </p:txBody>
      </p:sp>
      <p:sp>
        <p:nvSpPr>
          <p:cNvPr id="14" name="Text 12"/>
          <p:cNvSpPr/>
          <p:nvPr/>
        </p:nvSpPr>
        <p:spPr>
          <a:xfrm>
            <a:off x="1371600" y="3840480"/>
            <a:ext cx="2743200" cy="457200"/>
          </a:xfrm>
          <a:prstGeom prst="rect">
            <a:avLst/>
          </a:prstGeom>
          <a:solidFill>
            <a:srgbClr val="2E4ABF"/>
          </a:solid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  2차 발표 시작</a:t>
            </a:r>
            <a:endParaRPr lang="en-US" sz="1400" dirty="0"/>
          </a:p>
        </p:txBody>
      </p:sp>
      <p:pic>
        <p:nvPicPr>
          <p:cNvPr id="15" name="Image 0" descr="/sessions/amazing-vigilant-gauss/mnt/outputs/Slide_0손흔드는.png">    </p:cNvPr>
          <p:cNvPicPr>
            <a:picLocks noChangeAspect="1"/>
          </p:cNvPicPr>
          <p:nvPr/>
        </p:nvPicPr>
        <p:blipFill>
          <a:blip r:embed="rId1"/>
          <a:stretch>
            <a:fillRect/>
          </a:stretch>
        </p:blipFill>
        <p:spPr>
          <a:xfrm>
            <a:off x="8686800" y="3200400"/>
            <a:ext cx="2286000" cy="2286000"/>
          </a:xfrm>
          <a:prstGeom prst="rect">
            <a:avLst/>
          </a:prstGeom>
        </p:spPr>
      </p:pic>
      <p:sp>
        <p:nvSpPr>
          <p:cNvPr id="16" name="Shape 13"/>
          <p:cNvSpPr/>
          <p:nvPr/>
        </p:nvSpPr>
        <p:spPr>
          <a:xfrm>
            <a:off x="5486400" y="3291840"/>
            <a:ext cx="3108960" cy="594360"/>
          </a:xfrm>
          <a:prstGeom prst="roundRect">
            <a:avLst>
              <a:gd name="adj" fmla="val 23077"/>
            </a:avLst>
          </a:prstGeom>
          <a:solidFill>
            <a:srgbClr val="FCFBE6"/>
          </a:solidFill>
          <a:ln w="12700">
            <a:solidFill>
              <a:srgbClr val="C6C6BE"/>
            </a:solidFill>
            <a:prstDash val="solid"/>
          </a:ln>
        </p:spPr>
      </p:sp>
      <p:sp>
        <p:nvSpPr>
          <p:cNvPr id="17" name="Text 14"/>
          <p:cNvSpPr/>
          <p:nvPr/>
        </p:nvSpPr>
        <p:spPr>
          <a:xfrm>
            <a:off x="5486400" y="3291840"/>
            <a:ext cx="3108960" cy="594360"/>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안녕하세요! 오늘은 제가 유케이의 기능을 안내할게요</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1 · 문제 정의 + 제품 방향</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5394960"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Shape 8"/>
          <p:cNvSpPr/>
          <p:nvPr/>
        </p:nvSpPr>
        <p:spPr>
          <a:xfrm>
            <a:off x="457200" y="731520"/>
            <a:ext cx="5394960" cy="411480"/>
          </a:xfrm>
          <a:prstGeom prst="rect">
            <a:avLst/>
          </a:prstGeom>
          <a:solidFill>
            <a:srgbClr val="0E8077"/>
          </a:solidFill>
          <a:ln/>
        </p:spPr>
      </p:sp>
      <p:sp>
        <p:nvSpPr>
          <p:cNvPr id="11" name="Text 9"/>
          <p:cNvSpPr/>
          <p:nvPr/>
        </p:nvSpPr>
        <p:spPr>
          <a:xfrm>
            <a:off x="640080" y="822960"/>
            <a:ext cx="502920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발견한 문제 (AS-IS)</a:t>
            </a:r>
            <a:endParaRPr lang="en-US" sz="1100" dirty="0"/>
          </a:p>
        </p:txBody>
      </p:sp>
      <p:sp>
        <p:nvSpPr>
          <p:cNvPr id="12" name="Text 10"/>
          <p:cNvSpPr/>
          <p:nvPr/>
        </p:nvSpPr>
        <p:spPr>
          <a:xfrm>
            <a:off x="731520" y="1371600"/>
            <a:ext cx="4846320" cy="731520"/>
          </a:xfrm>
          <a:prstGeom prst="rect">
            <a:avLst/>
          </a:prstGeom>
          <a:noFill/>
          <a:ln/>
        </p:spPr>
        <p:txBody>
          <a:bodyPr wrap="square" lIns="0" tIns="0" rIns="0" bIns="0" rtlCol="0" anchor="ctr"/>
          <a:lstStyle/>
          <a:p>
            <a:pPr indent="0" marL="0">
              <a:buNone/>
            </a:pPr>
            <a:r>
              <a:rPr lang="en-US" sz="1800" b="1" dirty="0">
                <a:solidFill>
                  <a:srgbClr val="1B2340"/>
                </a:solidFill>
                <a:latin typeface="Calibri" pitchFamily="34" charset="0"/>
                <a:ea typeface="Calibri" pitchFamily="34" charset="-122"/>
                <a:cs typeface="Calibri" pitchFamily="34" charset="-120"/>
              </a:rPr>
              <a:t>데이터는 있었지만,</a:t>
            </a:r>
            <a:endParaRPr lang="en-US" sz="1800" dirty="0"/>
          </a:p>
          <a:p>
            <a:pPr indent="0" marL="0">
              <a:buNone/>
            </a:pPr>
            <a:r>
              <a:rPr lang="en-US" sz="1800" b="1" dirty="0">
                <a:solidFill>
                  <a:srgbClr val="1B2340"/>
                </a:solidFill>
                <a:latin typeface="Calibri" pitchFamily="34" charset="0"/>
                <a:ea typeface="Calibri" pitchFamily="34" charset="-122"/>
                <a:cs typeface="Calibri" pitchFamily="34" charset="-120"/>
              </a:rPr>
              <a:t>흐름이 끊겨 있었습니다</a:t>
            </a:r>
            <a:endParaRPr lang="en-US" sz="1800" dirty="0"/>
          </a:p>
        </p:txBody>
      </p:sp>
      <p:sp>
        <p:nvSpPr>
          <p:cNvPr id="13" name="Text 11"/>
          <p:cNvSpPr/>
          <p:nvPr/>
        </p:nvSpPr>
        <p:spPr>
          <a:xfrm>
            <a:off x="731520" y="2286000"/>
            <a:ext cx="4846320" cy="45720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① 답변 상태와 반복 수요가 분리</a:t>
            </a:r>
            <a:endParaRPr lang="en-US" sz="1300" dirty="0"/>
          </a:p>
        </p:txBody>
      </p:sp>
      <p:sp>
        <p:nvSpPr>
          <p:cNvPr id="14" name="Text 12"/>
          <p:cNvSpPr/>
          <p:nvPr/>
        </p:nvSpPr>
        <p:spPr>
          <a:xfrm>
            <a:off x="731520" y="2788920"/>
            <a:ext cx="4846320" cy="45720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② 어떤 팀이 볼 안건인지 연결 없음</a:t>
            </a:r>
            <a:endParaRPr lang="en-US" sz="1300" dirty="0"/>
          </a:p>
        </p:txBody>
      </p:sp>
      <p:sp>
        <p:nvSpPr>
          <p:cNvPr id="15" name="Text 13"/>
          <p:cNvSpPr/>
          <p:nvPr/>
        </p:nvSpPr>
        <p:spPr>
          <a:xfrm>
            <a:off x="731520" y="3291840"/>
            <a:ext cx="4846320" cy="45720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③ 판단 근거(정책·민원·뉴스·통계)가 흩어짐</a:t>
            </a:r>
            <a:endParaRPr lang="en-US" sz="1300" dirty="0"/>
          </a:p>
        </p:txBody>
      </p:sp>
      <p:sp>
        <p:nvSpPr>
          <p:cNvPr id="16" name="Text 14"/>
          <p:cNvSpPr/>
          <p:nvPr/>
        </p:nvSpPr>
        <p:spPr>
          <a:xfrm>
            <a:off x="731520" y="3794760"/>
            <a:ext cx="4846320" cy="45720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④ 검토 결과를 다음 조치로 넘기는 흐름 없음</a:t>
            </a:r>
            <a:endParaRPr lang="en-US" sz="1300" dirty="0"/>
          </a:p>
        </p:txBody>
      </p:sp>
      <p:sp>
        <p:nvSpPr>
          <p:cNvPr id="17" name="Text 15"/>
          <p:cNvSpPr/>
          <p:nvPr/>
        </p:nvSpPr>
        <p:spPr>
          <a:xfrm>
            <a:off x="731520" y="4572000"/>
            <a:ext cx="4846320" cy="365760"/>
          </a:xfrm>
          <a:prstGeom prst="rect">
            <a:avLst/>
          </a:prstGeom>
          <a:noFill/>
          <a:ln/>
        </p:spPr>
        <p:txBody>
          <a:bodyPr wrap="square" lIns="0" tIns="0" rIns="0" bIns="0" rtlCol="0" anchor="ctr"/>
          <a:lstStyle/>
          <a:p>
            <a:pPr indent="0" marL="0">
              <a:buNone/>
            </a:pPr>
            <a:r>
              <a:rPr lang="en-US" sz="1000" i="1" dirty="0">
                <a:solidFill>
                  <a:srgbClr val="6B6B66"/>
                </a:solidFill>
                <a:latin typeface="Calibri" pitchFamily="34" charset="0"/>
                <a:ea typeface="Calibri" pitchFamily="34" charset="-122"/>
                <a:cs typeface="Calibri" pitchFamily="34" charset="-120"/>
              </a:rPr>
              <a:t>원래 과제: 출산·양육 민원과 데이터 수집 → 정책 수요 도출</a:t>
            </a:r>
            <a:endParaRPr lang="en-US" sz="1000" dirty="0"/>
          </a:p>
        </p:txBody>
      </p:sp>
      <p:sp>
        <p:nvSpPr>
          <p:cNvPr id="18" name="Shape 16"/>
          <p:cNvSpPr/>
          <p:nvPr/>
        </p:nvSpPr>
        <p:spPr>
          <a:xfrm>
            <a:off x="1097280" y="5029200"/>
            <a:ext cx="4206240" cy="731520"/>
          </a:xfrm>
          <a:prstGeom prst="rect">
            <a:avLst/>
          </a:prstGeom>
          <a:solidFill>
            <a:srgbClr val="EFEFEA"/>
          </a:solidFill>
          <a:ln w="12700">
            <a:solidFill>
              <a:srgbClr val="C6C6BE"/>
            </a:solidFill>
            <a:prstDash val="dash"/>
          </a:ln>
        </p:spPr>
      </p:sp>
      <p:sp>
        <p:nvSpPr>
          <p:cNvPr id="19" name="Text 17"/>
          <p:cNvSpPr/>
          <p:nvPr/>
        </p:nvSpPr>
        <p:spPr>
          <a:xfrm>
            <a:off x="1097280" y="5029200"/>
            <a:ext cx="4206240" cy="731520"/>
          </a:xfrm>
          <a:prstGeom prst="rect">
            <a:avLst/>
          </a:prstGeom>
          <a:noFill/>
          <a:ln/>
        </p:spPr>
        <p:txBody>
          <a:bodyPr wrap="square" lIns="0" tIns="0" rIns="0" bIns="0" rtlCol="0" anchor="ctr"/>
          <a:lstStyle/>
          <a:p>
            <a:pPr algn="ctr" indent="0" marL="0">
              <a:buNone/>
            </a:pPr>
            <a:r>
              <a:rPr lang="en-US" sz="900" dirty="0">
                <a:solidFill>
                  <a:srgbClr val="6B6B66"/>
                </a:solidFill>
                <a:latin typeface="Calibri" pitchFamily="34" charset="0"/>
                <a:ea typeface="Calibri" pitchFamily="34" charset="-122"/>
                <a:cs typeface="Calibri" pitchFamily="34" charset="-120"/>
              </a:rPr>
              <a:t>📷 캡처: 상상대로 서울 시민 제안 목록 화면</a:t>
            </a:r>
            <a:endParaRPr lang="en-US" sz="900" dirty="0"/>
          </a:p>
        </p:txBody>
      </p:sp>
      <p:sp>
        <p:nvSpPr>
          <p:cNvPr id="20" name="Shape 18"/>
          <p:cNvSpPr/>
          <p:nvPr/>
        </p:nvSpPr>
        <p:spPr>
          <a:xfrm>
            <a:off x="6217920" y="731520"/>
            <a:ext cx="5394960"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21" name="Shape 19"/>
          <p:cNvSpPr/>
          <p:nvPr/>
        </p:nvSpPr>
        <p:spPr>
          <a:xfrm>
            <a:off x="6217920" y="731520"/>
            <a:ext cx="5394960" cy="411480"/>
          </a:xfrm>
          <a:prstGeom prst="rect">
            <a:avLst/>
          </a:prstGeom>
          <a:solidFill>
            <a:srgbClr val="0E8077"/>
          </a:solidFill>
          <a:ln/>
        </p:spPr>
      </p:sp>
      <p:sp>
        <p:nvSpPr>
          <p:cNvPr id="22" name="Text 20"/>
          <p:cNvSpPr/>
          <p:nvPr/>
        </p:nvSpPr>
        <p:spPr>
          <a:xfrm>
            <a:off x="6400800" y="822960"/>
            <a:ext cx="502920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유케이의 역할 (TO-DO)</a:t>
            </a:r>
            <a:endParaRPr lang="en-US" sz="1100" dirty="0"/>
          </a:p>
        </p:txBody>
      </p:sp>
      <p:sp>
        <p:nvSpPr>
          <p:cNvPr id="23" name="Text 21"/>
          <p:cNvSpPr/>
          <p:nvPr/>
        </p:nvSpPr>
        <p:spPr>
          <a:xfrm>
            <a:off x="6492240" y="1371600"/>
            <a:ext cx="4846320" cy="731520"/>
          </a:xfrm>
          <a:prstGeom prst="rect">
            <a:avLst/>
          </a:prstGeom>
          <a:noFill/>
          <a:ln/>
        </p:spPr>
        <p:txBody>
          <a:bodyPr wrap="square" lIns="0" tIns="0" rIns="0" bIns="0" rtlCol="0" anchor="ctr"/>
          <a:lstStyle/>
          <a:p>
            <a:pPr indent="0" marL="0">
              <a:buNone/>
            </a:pPr>
            <a:r>
              <a:rPr lang="en-US" sz="1800" b="1" dirty="0">
                <a:solidFill>
                  <a:srgbClr val="1B2340"/>
                </a:solidFill>
                <a:latin typeface="Calibri" pitchFamily="34" charset="0"/>
                <a:ea typeface="Calibri" pitchFamily="34" charset="-122"/>
                <a:cs typeface="Calibri" pitchFamily="34" charset="-120"/>
              </a:rPr>
              <a:t>상상대로를 대체하지 않고</a:t>
            </a:r>
            <a:endParaRPr lang="en-US" sz="1800" dirty="0"/>
          </a:p>
          <a:p>
            <a:pPr indent="0" marL="0">
              <a:buNone/>
            </a:pPr>
            <a:r>
              <a:rPr lang="en-US" sz="1800" b="1" dirty="0">
                <a:solidFill>
                  <a:srgbClr val="1B2340"/>
                </a:solidFill>
                <a:latin typeface="Calibri" pitchFamily="34" charset="0"/>
                <a:ea typeface="Calibri" pitchFamily="34" charset="-122"/>
                <a:cs typeface="Calibri" pitchFamily="34" charset="-120"/>
              </a:rPr>
              <a:t>활용을 돕는 백오피스</a:t>
            </a:r>
            <a:endParaRPr lang="en-US" sz="1800" dirty="0"/>
          </a:p>
        </p:txBody>
      </p:sp>
      <p:sp>
        <p:nvSpPr>
          <p:cNvPr id="24" name="Text 22"/>
          <p:cNvSpPr/>
          <p:nvPr/>
        </p:nvSpPr>
        <p:spPr>
          <a:xfrm>
            <a:off x="6492240" y="2377440"/>
            <a:ext cx="4846320" cy="45720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 5개 출처를 통합하고</a:t>
            </a:r>
            <a:endParaRPr lang="en-US" sz="1400" dirty="0"/>
          </a:p>
        </p:txBody>
      </p:sp>
      <p:sp>
        <p:nvSpPr>
          <p:cNvPr id="25" name="Text 23"/>
          <p:cNvSpPr/>
          <p:nvPr/>
        </p:nvSpPr>
        <p:spPr>
          <a:xfrm>
            <a:off x="6492240" y="2880360"/>
            <a:ext cx="4846320" cy="45720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 담당 범위와 판단 근거를 연결하며</a:t>
            </a:r>
            <a:endParaRPr lang="en-US" sz="1400" dirty="0"/>
          </a:p>
        </p:txBody>
      </p:sp>
      <p:sp>
        <p:nvSpPr>
          <p:cNvPr id="26" name="Text 24"/>
          <p:cNvSpPr/>
          <p:nvPr/>
        </p:nvSpPr>
        <p:spPr>
          <a:xfrm>
            <a:off x="6492240" y="3383280"/>
            <a:ext cx="4846320" cy="45720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 다음 조치(보고서)까지 이어줍니다</a:t>
            </a:r>
            <a:endParaRPr lang="en-US" sz="1400" dirty="0"/>
          </a:p>
        </p:txBody>
      </p:sp>
      <p:sp>
        <p:nvSpPr>
          <p:cNvPr id="27" name="Shape 25"/>
          <p:cNvSpPr/>
          <p:nvPr/>
        </p:nvSpPr>
        <p:spPr>
          <a:xfrm>
            <a:off x="6675120" y="3931920"/>
            <a:ext cx="4206240" cy="731520"/>
          </a:xfrm>
          <a:prstGeom prst="rect">
            <a:avLst/>
          </a:prstGeom>
          <a:solidFill>
            <a:srgbClr val="EFEFEA"/>
          </a:solidFill>
          <a:ln w="12700">
            <a:solidFill>
              <a:srgbClr val="C6C6BE"/>
            </a:solidFill>
            <a:prstDash val="dash"/>
          </a:ln>
        </p:spPr>
      </p:sp>
      <p:sp>
        <p:nvSpPr>
          <p:cNvPr id="28" name="Text 26"/>
          <p:cNvSpPr/>
          <p:nvPr/>
        </p:nvSpPr>
        <p:spPr>
          <a:xfrm>
            <a:off x="6675120" y="3931920"/>
            <a:ext cx="4206240" cy="731520"/>
          </a:xfrm>
          <a:prstGeom prst="rect">
            <a:avLst/>
          </a:prstGeom>
          <a:noFill/>
          <a:ln/>
        </p:spPr>
        <p:txBody>
          <a:bodyPr wrap="square" lIns="0" tIns="0" rIns="0" bIns="0" rtlCol="0" anchor="ctr"/>
          <a:lstStyle/>
          <a:p>
            <a:pPr algn="ctr" indent="0" marL="0">
              <a:buNone/>
            </a:pPr>
            <a:r>
              <a:rPr lang="en-US" sz="900" dirty="0">
                <a:solidFill>
                  <a:srgbClr val="6B6B66"/>
                </a:solidFill>
                <a:latin typeface="Calibri" pitchFamily="34" charset="0"/>
                <a:ea typeface="Calibri" pitchFamily="34" charset="-122"/>
                <a:cs typeface="Calibri" pitchFamily="34" charset="-120"/>
              </a:rPr>
              <a:t>📷 캡처: UKKKK 수요현황 종합 상단 (2단계 필터 + KPI)</a:t>
            </a:r>
            <a:endParaRPr lang="en-US" sz="900" dirty="0"/>
          </a:p>
        </p:txBody>
      </p:sp>
      <p:pic>
        <p:nvPicPr>
          <p:cNvPr id="29" name="Image 0" descr="/sessions/amazing-vigilant-gauss/mnt/outputs/Slide_1-3돋보기보는.png">    </p:cNvPr>
          <p:cNvPicPr>
            <a:picLocks noChangeAspect="1"/>
          </p:cNvPicPr>
          <p:nvPr/>
        </p:nvPicPr>
        <p:blipFill>
          <a:blip r:embed="rId1"/>
          <a:stretch>
            <a:fillRect/>
          </a:stretch>
        </p:blipFill>
        <p:spPr>
          <a:xfrm>
            <a:off x="9601200" y="4754880"/>
            <a:ext cx="1371600" cy="1371600"/>
          </a:xfrm>
          <a:prstGeom prst="rect">
            <a:avLst/>
          </a:prstGeom>
        </p:spPr>
      </p:pic>
      <p:sp>
        <p:nvSpPr>
          <p:cNvPr id="30" name="Shape 27"/>
          <p:cNvSpPr/>
          <p:nvPr/>
        </p:nvSpPr>
        <p:spPr>
          <a:xfrm>
            <a:off x="6400800" y="4846320"/>
            <a:ext cx="3108960" cy="594360"/>
          </a:xfrm>
          <a:prstGeom prst="roundRect">
            <a:avLst>
              <a:gd name="adj" fmla="val 23077"/>
            </a:avLst>
          </a:prstGeom>
          <a:solidFill>
            <a:srgbClr val="FCFBE6"/>
          </a:solidFill>
          <a:ln w="12700">
            <a:solidFill>
              <a:srgbClr val="C6C6BE"/>
            </a:solidFill>
            <a:prstDash val="solid"/>
          </a:ln>
        </p:spPr>
      </p:sp>
      <p:sp>
        <p:nvSpPr>
          <p:cNvPr id="31" name="Text 28"/>
          <p:cNvSpPr/>
          <p:nvPr/>
        </p:nvSpPr>
        <p:spPr>
          <a:xfrm>
            <a:off x="6400800" y="4846320"/>
            <a:ext cx="3108960" cy="594360"/>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흩어진 수요와 근거를 다음 조치까지 이어드릴게요</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2 · 페르소나와 핵심 질문</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640080"/>
          </a:xfrm>
          <a:prstGeom prst="rect">
            <a:avLst/>
          </a:prstGeom>
          <a:noFill/>
          <a:ln/>
        </p:spPr>
        <p:txBody>
          <a:bodyPr wrap="square" lIns="0" tIns="0" rIns="0" bIns="0" rtlCol="0" anchor="ctr"/>
          <a:lstStyle/>
          <a:p>
            <a:pPr algn="ctr" indent="0" marL="0">
              <a:buNone/>
            </a:pPr>
            <a:r>
              <a:rPr lang="en-US" sz="2200" b="1" dirty="0">
                <a:solidFill>
                  <a:srgbClr val="1B2340"/>
                </a:solidFill>
                <a:latin typeface="Calibri" pitchFamily="34" charset="0"/>
                <a:ea typeface="Calibri" pitchFamily="34" charset="-122"/>
                <a:cs typeface="Calibri" pitchFamily="34" charset="-120"/>
              </a:rPr>
              <a:t>"이 안건은 누가, 왜, 얼마나 먼저 봐야 하는가?"</a:t>
            </a:r>
            <a:endParaRPr lang="en-US" sz="2200" dirty="0"/>
          </a:p>
        </p:txBody>
      </p:sp>
      <p:sp>
        <p:nvSpPr>
          <p:cNvPr id="11" name="Shape 9"/>
          <p:cNvSpPr/>
          <p:nvPr/>
        </p:nvSpPr>
        <p:spPr>
          <a:xfrm>
            <a:off x="914400" y="1828800"/>
            <a:ext cx="4572000" cy="2743200"/>
          </a:xfrm>
          <a:prstGeom prst="roundRect">
            <a:avLst>
              <a:gd name="adj" fmla="val 3333"/>
            </a:avLst>
          </a:prstGeom>
          <a:solidFill>
            <a:srgbClr val="EFEFEA"/>
          </a:solidFill>
          <a:ln w="12700">
            <a:solidFill>
              <a:srgbClr val="C6C6BE"/>
            </a:solidFill>
            <a:prstDash val="solid"/>
          </a:ln>
        </p:spPr>
      </p:sp>
      <p:sp>
        <p:nvSpPr>
          <p:cNvPr id="12" name="Text 10"/>
          <p:cNvSpPr/>
          <p:nvPr/>
        </p:nvSpPr>
        <p:spPr>
          <a:xfrm>
            <a:off x="1097280" y="1920240"/>
            <a:ext cx="4206240" cy="411480"/>
          </a:xfrm>
          <a:prstGeom prst="rect">
            <a:avLst/>
          </a:prstGeom>
          <a:noFill/>
          <a:ln/>
        </p:spPr>
        <p:txBody>
          <a:bodyPr wrap="square" lIns="0" tIns="0" rIns="0" bIns="0" rtlCol="0" anchor="ctr"/>
          <a:lstStyle/>
          <a:p>
            <a:pPr indent="0" marL="0">
              <a:buNone/>
            </a:pPr>
            <a:r>
              <a:rPr lang="en-US" sz="1300" b="1" dirty="0">
                <a:solidFill>
                  <a:srgbClr val="05433D"/>
                </a:solidFill>
                <a:latin typeface="Calibri" pitchFamily="34" charset="0"/>
                <a:ea typeface="Calibri" pitchFamily="34" charset="-122"/>
                <a:cs typeface="Calibri" pitchFamily="34" charset="-120"/>
              </a:rPr>
              <a:t>가상 페르소나 · 김서현 주무관</a:t>
            </a:r>
            <a:endParaRPr lang="en-US" sz="1300" dirty="0"/>
          </a:p>
        </p:txBody>
      </p:sp>
      <p:sp>
        <p:nvSpPr>
          <p:cNvPr id="13" name="Text 11"/>
          <p:cNvSpPr/>
          <p:nvPr/>
        </p:nvSpPr>
        <p:spPr>
          <a:xfrm>
            <a:off x="1097280" y="2468880"/>
            <a:ext cx="4206240" cy="1828800"/>
          </a:xfrm>
          <a:prstGeom prst="rect">
            <a:avLst/>
          </a:prstGeom>
          <a:noFill/>
          <a:ln/>
        </p:spPr>
        <p:txBody>
          <a:bodyPr wrap="square" lIns="0" tIns="0" rIns="0" bIns="0" rtlCol="0" anchor="ctr"/>
          <a:lstStyle/>
          <a:p>
            <a:pPr indent="0" marL="0">
              <a:lnSpc>
                <a:spcPts val="2200"/>
              </a:lnSpc>
              <a:buNone/>
            </a:pPr>
            <a:r>
              <a:rPr lang="en-US" sz="1200" dirty="0">
                <a:solidFill>
                  <a:srgbClr val="111111"/>
                </a:solidFill>
                <a:latin typeface="Calibri" pitchFamily="34" charset="0"/>
                <a:ea typeface="Calibri" pitchFamily="34" charset="-122"/>
                <a:cs typeface="Calibri" pitchFamily="34" charset="-120"/>
              </a:rPr>
              <a:t>상황</a:t>
            </a:r>
            <a:endParaRPr lang="en-US" sz="1200" dirty="0"/>
          </a:p>
          <a:p>
            <a:pPr indent="0" marL="0">
              <a:lnSpc>
                <a:spcPts val="2200"/>
              </a:lnSpc>
              <a:buNone/>
            </a:pPr>
            <a:r>
              <a:rPr lang="en-US" sz="1200" dirty="0">
                <a:solidFill>
                  <a:srgbClr val="111111"/>
                </a:solidFill>
                <a:latin typeface="Calibri" pitchFamily="34" charset="0"/>
                <a:ea typeface="Calibri" pitchFamily="34" charset="-122"/>
                <a:cs typeface="Calibri" pitchFamily="34" charset="-120"/>
              </a:rPr>
              <a:t>• 출산·양육 정책 담당</a:t>
            </a:r>
            <a:endParaRPr lang="en-US" sz="1200" dirty="0"/>
          </a:p>
          <a:p>
            <a:pPr indent="0" marL="0">
              <a:lnSpc>
                <a:spcPts val="2200"/>
              </a:lnSpc>
              <a:buNone/>
            </a:pPr>
            <a:r>
              <a:rPr lang="en-US" sz="1200" dirty="0">
                <a:solidFill>
                  <a:srgbClr val="111111"/>
                </a:solidFill>
                <a:latin typeface="Calibri" pitchFamily="34" charset="0"/>
                <a:ea typeface="Calibri" pitchFamily="34" charset="-122"/>
                <a:cs typeface="Calibri" pitchFamily="34" charset="-120"/>
              </a:rPr>
              <a:t>• 여러 출처와 화면</a:t>
            </a:r>
            <a:endParaRPr lang="en-US" sz="1200" dirty="0"/>
          </a:p>
          <a:p>
            <a:pPr indent="0" marL="0">
              <a:lnSpc>
                <a:spcPts val="2200"/>
              </a:lnSpc>
              <a:buNone/>
            </a:pPr>
            <a:r>
              <a:rPr lang="en-US" sz="1200" dirty="0">
                <a:solidFill>
                  <a:srgbClr val="111111"/>
                </a:solidFill>
                <a:latin typeface="Calibri" pitchFamily="34" charset="0"/>
                <a:ea typeface="Calibri" pitchFamily="34" charset="-122"/>
                <a:cs typeface="Calibri" pitchFamily="34" charset="-120"/>
              </a:rPr>
              <a:t>• 검토 우선순위 필요</a:t>
            </a:r>
            <a:endParaRPr lang="en-US" sz="1200" dirty="0"/>
          </a:p>
        </p:txBody>
      </p:sp>
      <p:sp>
        <p:nvSpPr>
          <p:cNvPr id="14" name="Shape 12"/>
          <p:cNvSpPr/>
          <p:nvPr/>
        </p:nvSpPr>
        <p:spPr>
          <a:xfrm>
            <a:off x="5943600" y="1828800"/>
            <a:ext cx="4572000" cy="2743200"/>
          </a:xfrm>
          <a:prstGeom prst="roundRect">
            <a:avLst>
              <a:gd name="adj" fmla="val 3333"/>
            </a:avLst>
          </a:prstGeom>
          <a:solidFill>
            <a:srgbClr val="EFEFEA"/>
          </a:solidFill>
          <a:ln w="12700">
            <a:solidFill>
              <a:srgbClr val="C6C6BE"/>
            </a:solidFill>
            <a:prstDash val="solid"/>
          </a:ln>
        </p:spPr>
      </p:sp>
      <p:sp>
        <p:nvSpPr>
          <p:cNvPr id="15" name="Text 13"/>
          <p:cNvSpPr/>
          <p:nvPr/>
        </p:nvSpPr>
        <p:spPr>
          <a:xfrm>
            <a:off x="6126480" y="1920240"/>
            <a:ext cx="4206240" cy="411480"/>
          </a:xfrm>
          <a:prstGeom prst="rect">
            <a:avLst/>
          </a:prstGeom>
          <a:noFill/>
          <a:ln/>
        </p:spPr>
        <p:txBody>
          <a:bodyPr wrap="square" lIns="0" tIns="0" rIns="0" bIns="0" rtlCol="0" anchor="ctr"/>
          <a:lstStyle/>
          <a:p>
            <a:pPr indent="0" marL="0">
              <a:buNone/>
            </a:pPr>
            <a:r>
              <a:rPr lang="en-US" sz="1300" b="1" dirty="0">
                <a:solidFill>
                  <a:srgbClr val="2E4ABF"/>
                </a:solidFill>
                <a:latin typeface="Calibri" pitchFamily="34" charset="0"/>
                <a:ea typeface="Calibri" pitchFamily="34" charset="-122"/>
                <a:cs typeface="Calibri" pitchFamily="34" charset="-120"/>
              </a:rPr>
              <a:t>필요한 지원</a:t>
            </a:r>
            <a:endParaRPr lang="en-US" sz="1300" dirty="0"/>
          </a:p>
        </p:txBody>
      </p:sp>
      <p:sp>
        <p:nvSpPr>
          <p:cNvPr id="16" name="Text 14"/>
          <p:cNvSpPr/>
          <p:nvPr/>
        </p:nvSpPr>
        <p:spPr>
          <a:xfrm>
            <a:off x="6126480" y="2468880"/>
            <a:ext cx="4206240" cy="1828800"/>
          </a:xfrm>
          <a:prstGeom prst="rect">
            <a:avLst/>
          </a:prstGeom>
          <a:noFill/>
          <a:ln/>
        </p:spPr>
        <p:txBody>
          <a:bodyPr wrap="square" lIns="0" tIns="0" rIns="0" bIns="0" rtlCol="0" anchor="ctr"/>
          <a:lstStyle/>
          <a:p>
            <a:pPr indent="0" marL="0">
              <a:lnSpc>
                <a:spcPts val="2200"/>
              </a:lnSpc>
              <a:buNone/>
            </a:pPr>
            <a:r>
              <a:rPr lang="en-US" sz="1200" dirty="0">
                <a:solidFill>
                  <a:srgbClr val="111111"/>
                </a:solidFill>
                <a:latin typeface="Calibri" pitchFamily="34" charset="0"/>
                <a:ea typeface="Calibri" pitchFamily="34" charset="-122"/>
                <a:cs typeface="Calibri" pitchFamily="34" charset="-120"/>
              </a:rPr>
              <a:t>• 내 담당 범위 설정</a:t>
            </a:r>
            <a:endParaRPr lang="en-US" sz="1200" dirty="0"/>
          </a:p>
          <a:p>
            <a:pPr indent="0" marL="0">
              <a:lnSpc>
                <a:spcPts val="2200"/>
              </a:lnSpc>
              <a:buNone/>
            </a:pPr>
            <a:r>
              <a:rPr lang="en-US" sz="1200" dirty="0">
                <a:solidFill>
                  <a:srgbClr val="111111"/>
                </a:solidFill>
                <a:latin typeface="Calibri" pitchFamily="34" charset="0"/>
                <a:ea typeface="Calibri" pitchFamily="34" charset="-122"/>
                <a:cs typeface="Calibri" pitchFamily="34" charset="-120"/>
              </a:rPr>
              <a:t>• 반복 수요·근거 확인</a:t>
            </a:r>
            <a:endParaRPr lang="en-US" sz="1200" dirty="0"/>
          </a:p>
          <a:p>
            <a:pPr indent="0" marL="0">
              <a:lnSpc>
                <a:spcPts val="2200"/>
              </a:lnSpc>
              <a:buNone/>
            </a:pPr>
            <a:r>
              <a:rPr lang="en-US" sz="1200" dirty="0">
                <a:solidFill>
                  <a:srgbClr val="111111"/>
                </a:solidFill>
                <a:latin typeface="Calibri" pitchFamily="34" charset="0"/>
                <a:ea typeface="Calibri" pitchFamily="34" charset="-122"/>
                <a:cs typeface="Calibri" pitchFamily="34" charset="-120"/>
              </a:rPr>
              <a:t>• 보고자료 작성</a:t>
            </a:r>
            <a:endParaRPr lang="en-US" sz="1200" dirty="0"/>
          </a:p>
        </p:txBody>
      </p:sp>
      <p:pic>
        <p:nvPicPr>
          <p:cNvPr id="17" name="Image 0" descr="/sessions/amazing-vigilant-gauss/mnt/outputs/Slide_1-4자들고있는.png">    </p:cNvPr>
          <p:cNvPicPr>
            <a:picLocks noChangeAspect="1"/>
          </p:cNvPicPr>
          <p:nvPr/>
        </p:nvPicPr>
        <p:blipFill>
          <a:blip r:embed="rId1"/>
          <a:stretch>
            <a:fillRect/>
          </a:stretch>
        </p:blipFill>
        <p:spPr>
          <a:xfrm>
            <a:off x="9601200" y="4754880"/>
            <a:ext cx="1371600" cy="1371600"/>
          </a:xfrm>
          <a:prstGeom prst="rect">
            <a:avLst/>
          </a:prstGeom>
        </p:spPr>
      </p:pic>
      <p:sp>
        <p:nvSpPr>
          <p:cNvPr id="18" name="Shape 15"/>
          <p:cNvSpPr/>
          <p:nvPr/>
        </p:nvSpPr>
        <p:spPr>
          <a:xfrm>
            <a:off x="6400800" y="4846320"/>
            <a:ext cx="3108960" cy="594360"/>
          </a:xfrm>
          <a:prstGeom prst="roundRect">
            <a:avLst>
              <a:gd name="adj" fmla="val 23077"/>
            </a:avLst>
          </a:prstGeom>
          <a:solidFill>
            <a:srgbClr val="FCFBE6"/>
          </a:solidFill>
          <a:ln w="12700">
            <a:solidFill>
              <a:srgbClr val="C6C6BE"/>
            </a:solidFill>
            <a:prstDash val="solid"/>
          </a:ln>
        </p:spPr>
      </p:sp>
      <p:sp>
        <p:nvSpPr>
          <p:cNvPr id="19" name="Text 16"/>
          <p:cNvSpPr/>
          <p:nvPr/>
        </p:nvSpPr>
        <p:spPr>
          <a:xfrm>
            <a:off x="6400800" y="4846320"/>
            <a:ext cx="3108960" cy="594360"/>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실제 인물이 아닌 기능 시연용 가상 페르소나예요</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3 · TO-BE</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822960"/>
          </a:xfrm>
          <a:prstGeom prst="rect">
            <a:avLst/>
          </a:prstGeom>
          <a:noFill/>
          <a:ln/>
        </p:spPr>
        <p:txBody>
          <a:bodyPr wrap="square" lIns="0" tIns="0" rIns="0" bIns="0" rtlCol="0" anchor="ctr"/>
          <a:lstStyle/>
          <a:p>
            <a:pPr algn="ctr" indent="0" marL="0">
              <a:buNone/>
            </a:pPr>
            <a:r>
              <a:rPr lang="en-US" sz="2000" b="1" dirty="0">
                <a:solidFill>
                  <a:srgbClr val="1B2340"/>
                </a:solidFill>
                <a:latin typeface="Calibri" pitchFamily="34" charset="0"/>
                <a:ea typeface="Calibri" pitchFamily="34" charset="-122"/>
                <a:cs typeface="Calibri" pitchFamily="34" charset="-120"/>
              </a:rPr>
              <a:t>수요 → 책임 → 근거 → 조치</a:t>
            </a:r>
            <a:endParaRPr lang="en-US" sz="2000" dirty="0"/>
          </a:p>
          <a:p>
            <a:pPr algn="ctr" indent="0" marL="0">
              <a:buNone/>
            </a:pPr>
            <a:r>
              <a:rPr lang="en-US" sz="2000" b="1" dirty="0">
                <a:solidFill>
                  <a:srgbClr val="1B2340"/>
                </a:solidFill>
                <a:latin typeface="Calibri" pitchFamily="34" charset="0"/>
                <a:ea typeface="Calibri" pitchFamily="34" charset="-122"/>
                <a:cs typeface="Calibri" pitchFamily="34" charset="-120"/>
              </a:rPr>
              <a:t>한 화면에서 근거와 R&amp;R까지 연결합니다</a:t>
            </a:r>
            <a:endParaRPr lang="en-US" sz="2000" dirty="0"/>
          </a:p>
        </p:txBody>
      </p:sp>
      <p:sp>
        <p:nvSpPr>
          <p:cNvPr id="11" name="Shape 9"/>
          <p:cNvSpPr/>
          <p:nvPr/>
        </p:nvSpPr>
        <p:spPr>
          <a:xfrm>
            <a:off x="1371600" y="2103120"/>
            <a:ext cx="3657600" cy="2286000"/>
          </a:xfrm>
          <a:prstGeom prst="roundRect">
            <a:avLst>
              <a:gd name="adj" fmla="val 4000"/>
            </a:avLst>
          </a:prstGeom>
          <a:solidFill>
            <a:srgbClr val="EFEFEA"/>
          </a:solidFill>
          <a:ln w="25400">
            <a:solidFill>
              <a:srgbClr val="05433D"/>
            </a:solidFill>
            <a:prstDash val="solid"/>
          </a:ln>
        </p:spPr>
      </p:sp>
      <p:sp>
        <p:nvSpPr>
          <p:cNvPr id="12" name="Text 10"/>
          <p:cNvSpPr/>
          <p:nvPr/>
        </p:nvSpPr>
        <p:spPr>
          <a:xfrm>
            <a:off x="1371600" y="2103120"/>
            <a:ext cx="3657600" cy="411480"/>
          </a:xfrm>
          <a:prstGeom prst="rect">
            <a:avLst/>
          </a:prstGeom>
          <a:solidFill>
            <a:srgbClr val="05433D"/>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입력</a:t>
            </a:r>
            <a:endParaRPr lang="en-US" sz="1300" dirty="0"/>
          </a:p>
        </p:txBody>
      </p:sp>
      <p:sp>
        <p:nvSpPr>
          <p:cNvPr id="13" name="Text 11"/>
          <p:cNvSpPr/>
          <p:nvPr/>
        </p:nvSpPr>
        <p:spPr>
          <a:xfrm>
            <a:off x="1554480" y="2651760"/>
            <a:ext cx="3291840" cy="1371600"/>
          </a:xfrm>
          <a:prstGeom prst="rect">
            <a:avLst/>
          </a:prstGeom>
          <a:noFill/>
          <a:ln/>
        </p:spPr>
        <p:txBody>
          <a:bodyPr wrap="square" lIns="0" tIns="0" rIns="0" bIns="0" rtlCol="0" anchor="ctr"/>
          <a:lstStyle/>
          <a:p>
            <a:pPr algn="ctr" indent="0" marL="0">
              <a:lnSpc>
                <a:spcPts val="2600"/>
              </a:lnSpc>
              <a:buNone/>
            </a:pPr>
            <a:r>
              <a:rPr lang="en-US" sz="1400" dirty="0">
                <a:solidFill>
                  <a:srgbClr val="111111"/>
                </a:solidFill>
                <a:latin typeface="Calibri" pitchFamily="34" charset="0"/>
                <a:ea typeface="Calibri" pitchFamily="34" charset="-122"/>
                <a:cs typeface="Calibri" pitchFamily="34" charset="-120"/>
              </a:rPr>
              <a:t>시민 제안·민원</a:t>
            </a:r>
            <a:endParaRPr lang="en-US" sz="1400" dirty="0"/>
          </a:p>
          <a:p>
            <a:pPr algn="ctr" indent="0" marL="0">
              <a:lnSpc>
                <a:spcPts val="2600"/>
              </a:lnSpc>
              <a:buNone/>
            </a:pPr>
            <a:r>
              <a:rPr lang="en-US" sz="1400" dirty="0">
                <a:solidFill>
                  <a:srgbClr val="111111"/>
                </a:solidFill>
                <a:latin typeface="Calibri" pitchFamily="34" charset="0"/>
                <a:ea typeface="Calibri" pitchFamily="34" charset="-122"/>
                <a:cs typeface="Calibri" pitchFamily="34" charset="-120"/>
              </a:rPr>
              <a:t>정책·뉴스</a:t>
            </a:r>
            <a:endParaRPr lang="en-US" sz="1400" dirty="0"/>
          </a:p>
          <a:p>
            <a:pPr algn="ctr" indent="0" marL="0">
              <a:lnSpc>
                <a:spcPts val="2600"/>
              </a:lnSpc>
              <a:buNone/>
            </a:pPr>
            <a:r>
              <a:rPr lang="en-US" sz="1400" dirty="0">
                <a:solidFill>
                  <a:srgbClr val="111111"/>
                </a:solidFill>
                <a:latin typeface="Calibri" pitchFamily="34" charset="0"/>
                <a:ea typeface="Calibri" pitchFamily="34" charset="-122"/>
                <a:cs typeface="Calibri" pitchFamily="34" charset="-120"/>
              </a:rPr>
              <a:t>자치구 통계</a:t>
            </a:r>
            <a:endParaRPr lang="en-US" sz="1400" dirty="0"/>
          </a:p>
        </p:txBody>
      </p:sp>
      <p:sp>
        <p:nvSpPr>
          <p:cNvPr id="14" name="Text 12"/>
          <p:cNvSpPr/>
          <p:nvPr/>
        </p:nvSpPr>
        <p:spPr>
          <a:xfrm>
            <a:off x="5303520" y="2743200"/>
            <a:ext cx="914400" cy="914400"/>
          </a:xfrm>
          <a:prstGeom prst="rect">
            <a:avLst/>
          </a:prstGeom>
          <a:noFill/>
          <a:ln/>
        </p:spPr>
        <p:txBody>
          <a:bodyPr wrap="square" lIns="0" tIns="0" rIns="0" bIns="0" rtlCol="0" anchor="ctr"/>
          <a:lstStyle/>
          <a:p>
            <a:pPr algn="ctr" indent="0" marL="0">
              <a:buNone/>
            </a:pPr>
            <a:r>
              <a:rPr lang="en-US" sz="3600" dirty="0">
                <a:solidFill>
                  <a:srgbClr val="0E8077"/>
                </a:solidFill>
                <a:latin typeface="Calibri" pitchFamily="34" charset="0"/>
                <a:ea typeface="Calibri" pitchFamily="34" charset="-122"/>
                <a:cs typeface="Calibri" pitchFamily="34" charset="-120"/>
              </a:rPr>
              <a:t>➜</a:t>
            </a:r>
            <a:endParaRPr lang="en-US" sz="3600" dirty="0"/>
          </a:p>
        </p:txBody>
      </p:sp>
      <p:sp>
        <p:nvSpPr>
          <p:cNvPr id="15" name="Shape 13"/>
          <p:cNvSpPr/>
          <p:nvPr/>
        </p:nvSpPr>
        <p:spPr>
          <a:xfrm>
            <a:off x="6583680" y="2103120"/>
            <a:ext cx="4114800" cy="2286000"/>
          </a:xfrm>
          <a:prstGeom prst="roundRect">
            <a:avLst>
              <a:gd name="adj" fmla="val 4000"/>
            </a:avLst>
          </a:prstGeom>
          <a:solidFill>
            <a:srgbClr val="EFEFEA"/>
          </a:solidFill>
          <a:ln w="25400">
            <a:solidFill>
              <a:srgbClr val="2E4ABF"/>
            </a:solidFill>
            <a:prstDash val="solid"/>
          </a:ln>
        </p:spPr>
      </p:sp>
      <p:sp>
        <p:nvSpPr>
          <p:cNvPr id="16" name="Text 14"/>
          <p:cNvSpPr/>
          <p:nvPr/>
        </p:nvSpPr>
        <p:spPr>
          <a:xfrm>
            <a:off x="6583680" y="2103120"/>
            <a:ext cx="4114800" cy="411480"/>
          </a:xfrm>
          <a:prstGeom prst="rect">
            <a:avLst/>
          </a:prstGeom>
          <a:solidFill>
            <a:srgbClr val="2E4AB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출력</a:t>
            </a:r>
            <a:endParaRPr lang="en-US" sz="1300" dirty="0"/>
          </a:p>
        </p:txBody>
      </p:sp>
      <p:sp>
        <p:nvSpPr>
          <p:cNvPr id="17" name="Text 15"/>
          <p:cNvSpPr/>
          <p:nvPr/>
        </p:nvSpPr>
        <p:spPr>
          <a:xfrm>
            <a:off x="6766560" y="2651760"/>
            <a:ext cx="3749040" cy="1371600"/>
          </a:xfrm>
          <a:prstGeom prst="rect">
            <a:avLst/>
          </a:prstGeom>
          <a:noFill/>
          <a:ln/>
        </p:spPr>
        <p:txBody>
          <a:bodyPr wrap="square" lIns="0" tIns="0" rIns="0" bIns="0" rtlCol="0" anchor="ctr"/>
          <a:lstStyle/>
          <a:p>
            <a:pPr algn="ctr" indent="0" marL="0">
              <a:lnSpc>
                <a:spcPts val="2600"/>
              </a:lnSpc>
              <a:buNone/>
            </a:pPr>
            <a:r>
              <a:rPr lang="en-US" sz="1400" dirty="0">
                <a:solidFill>
                  <a:srgbClr val="111111"/>
                </a:solidFill>
                <a:latin typeface="Calibri" pitchFamily="34" charset="0"/>
                <a:ea typeface="Calibri" pitchFamily="34" charset="-122"/>
                <a:cs typeface="Calibri" pitchFamily="34" charset="-120"/>
              </a:rPr>
              <a:t>반복 수요·Gap</a:t>
            </a:r>
            <a:endParaRPr lang="en-US" sz="1400" dirty="0"/>
          </a:p>
          <a:p>
            <a:pPr algn="ctr" indent="0" marL="0">
              <a:lnSpc>
                <a:spcPts val="2600"/>
              </a:lnSpc>
              <a:buNone/>
            </a:pPr>
            <a:r>
              <a:rPr lang="en-US" sz="1400" dirty="0">
                <a:solidFill>
                  <a:srgbClr val="111111"/>
                </a:solidFill>
                <a:latin typeface="Calibri" pitchFamily="34" charset="0"/>
                <a:ea typeface="Calibri" pitchFamily="34" charset="-122"/>
                <a:cs typeface="Calibri" pitchFamily="34" charset="-120"/>
              </a:rPr>
              <a:t>R&amp;R 후보·원문</a:t>
            </a:r>
            <a:endParaRPr lang="en-US" sz="1400" dirty="0"/>
          </a:p>
          <a:p>
            <a:pPr algn="ctr" indent="0" marL="0">
              <a:lnSpc>
                <a:spcPts val="2600"/>
              </a:lnSpc>
              <a:buNone/>
            </a:pPr>
            <a:r>
              <a:rPr lang="en-US" sz="1400" dirty="0">
                <a:solidFill>
                  <a:srgbClr val="111111"/>
                </a:solidFill>
                <a:latin typeface="Calibri" pitchFamily="34" charset="0"/>
                <a:ea typeface="Calibri" pitchFamily="34" charset="-122"/>
                <a:cs typeface="Calibri" pitchFamily="34" charset="-120"/>
              </a:rPr>
              <a:t>맞춤 보고서·로그</a:t>
            </a:r>
            <a:endParaRPr lang="en-US" sz="1400" dirty="0"/>
          </a:p>
        </p:txBody>
      </p:sp>
      <p:pic>
        <p:nvPicPr>
          <p:cNvPr id="18" name="Image 0" descr="/sessions/amazing-vigilant-gauss/mnt/outputs/Slide_2-2봉들고있는.png">    </p:cNvPr>
          <p:cNvPicPr>
            <a:picLocks noChangeAspect="1"/>
          </p:cNvPicPr>
          <p:nvPr/>
        </p:nvPicPr>
        <p:blipFill>
          <a:blip r:embed="rId1"/>
          <a:stretch>
            <a:fillRect/>
          </a:stretch>
        </p:blipFill>
        <p:spPr>
          <a:xfrm>
            <a:off x="9326880" y="4572000"/>
            <a:ext cx="1463040" cy="1463040"/>
          </a:xfrm>
          <a:prstGeom prst="rect">
            <a:avLst/>
          </a:prstGeom>
        </p:spPr>
      </p:pic>
      <p:sp>
        <p:nvSpPr>
          <p:cNvPr id="19" name="Shape 16"/>
          <p:cNvSpPr/>
          <p:nvPr/>
        </p:nvSpPr>
        <p:spPr>
          <a:xfrm>
            <a:off x="6126480" y="4663440"/>
            <a:ext cx="3108960" cy="594360"/>
          </a:xfrm>
          <a:prstGeom prst="roundRect">
            <a:avLst>
              <a:gd name="adj" fmla="val 23077"/>
            </a:avLst>
          </a:prstGeom>
          <a:solidFill>
            <a:srgbClr val="FCFBE6"/>
          </a:solidFill>
          <a:ln w="12700">
            <a:solidFill>
              <a:srgbClr val="C6C6BE"/>
            </a:solidFill>
            <a:prstDash val="solid"/>
          </a:ln>
        </p:spPr>
      </p:sp>
      <p:sp>
        <p:nvSpPr>
          <p:cNvPr id="20" name="Text 17"/>
          <p:cNvSpPr/>
          <p:nvPr/>
        </p:nvSpPr>
        <p:spPr>
          <a:xfrm>
            <a:off x="6126480" y="4663440"/>
            <a:ext cx="3108960" cy="594360"/>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후보와 근거를 연결하고 최종 결정은 사람이 해요</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4 · 5원 데이터 융합</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548640"/>
          </a:xfrm>
          <a:prstGeom prst="rect">
            <a:avLst/>
          </a:prstGeom>
          <a:noFill/>
          <a:ln/>
        </p:spPr>
        <p:txBody>
          <a:bodyPr wrap="square" lIns="0" tIns="0" rIns="0" bIns="0" rtlCol="0" anchor="ctr"/>
          <a:lstStyle/>
          <a:p>
            <a:pPr algn="ctr" indent="0" marL="0">
              <a:buNone/>
            </a:pPr>
            <a:r>
              <a:rPr lang="en-US" sz="2000" b="1" dirty="0">
                <a:solidFill>
                  <a:srgbClr val="1B2340"/>
                </a:solidFill>
                <a:latin typeface="Calibri" pitchFamily="34" charset="0"/>
                <a:ea typeface="Calibri" pitchFamily="34" charset="-122"/>
                <a:cs typeface="Calibri" pitchFamily="34" charset="-120"/>
              </a:rPr>
              <a:t>5개 출처를 공통 스키마로 연결했습니다</a:t>
            </a:r>
            <a:endParaRPr lang="en-US" sz="2000" dirty="0"/>
          </a:p>
        </p:txBody>
      </p:sp>
      <p:sp>
        <p:nvSpPr>
          <p:cNvPr id="11" name="Shape 9"/>
          <p:cNvSpPr/>
          <p:nvPr/>
        </p:nvSpPr>
        <p:spPr>
          <a:xfrm>
            <a:off x="914400" y="1828800"/>
            <a:ext cx="1828800" cy="1463040"/>
          </a:xfrm>
          <a:prstGeom prst="roundRect">
            <a:avLst>
              <a:gd name="adj" fmla="val 6250"/>
            </a:avLst>
          </a:prstGeom>
          <a:solidFill>
            <a:srgbClr val="EFEFEA"/>
          </a:solidFill>
          <a:ln w="12700">
            <a:solidFill>
              <a:srgbClr val="0E8077"/>
            </a:solidFill>
            <a:prstDash val="solid"/>
          </a:ln>
        </p:spPr>
      </p:sp>
      <p:sp>
        <p:nvSpPr>
          <p:cNvPr id="12" name="Text 10"/>
          <p:cNvSpPr/>
          <p:nvPr/>
        </p:nvSpPr>
        <p:spPr>
          <a:xfrm>
            <a:off x="914400" y="1920240"/>
            <a:ext cx="1828800" cy="731520"/>
          </a:xfrm>
          <a:prstGeom prst="rect">
            <a:avLst/>
          </a:prstGeom>
          <a:noFill/>
          <a:ln/>
        </p:spPr>
        <p:txBody>
          <a:bodyPr wrap="square" lIns="0" tIns="0" rIns="0" bIns="0" rtlCol="0" anchor="ctr"/>
          <a:lstStyle/>
          <a:p>
            <a:pPr algn="ctr" indent="0" marL="0">
              <a:buNone/>
            </a:pPr>
            <a:r>
              <a:rPr lang="en-US" sz="2800" b="1" dirty="0">
                <a:solidFill>
                  <a:srgbClr val="05433D"/>
                </a:solidFill>
                <a:latin typeface="Calibri" pitchFamily="34" charset="0"/>
                <a:ea typeface="Calibri" pitchFamily="34" charset="-122"/>
                <a:cs typeface="Calibri" pitchFamily="34" charset="-120"/>
              </a:rPr>
              <a:t>824</a:t>
            </a:r>
            <a:endParaRPr lang="en-US" sz="2800" dirty="0"/>
          </a:p>
        </p:txBody>
      </p:sp>
      <p:sp>
        <p:nvSpPr>
          <p:cNvPr id="13" name="Text 11"/>
          <p:cNvSpPr/>
          <p:nvPr/>
        </p:nvSpPr>
        <p:spPr>
          <a:xfrm>
            <a:off x="914400" y="2651760"/>
            <a:ext cx="182880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시민 제안</a:t>
            </a:r>
            <a:endParaRPr lang="en-US" sz="1200" dirty="0"/>
          </a:p>
        </p:txBody>
      </p:sp>
      <p:sp>
        <p:nvSpPr>
          <p:cNvPr id="14" name="Shape 12"/>
          <p:cNvSpPr/>
          <p:nvPr/>
        </p:nvSpPr>
        <p:spPr>
          <a:xfrm>
            <a:off x="3017520" y="1828800"/>
            <a:ext cx="1828800" cy="1463040"/>
          </a:xfrm>
          <a:prstGeom prst="roundRect">
            <a:avLst>
              <a:gd name="adj" fmla="val 6250"/>
            </a:avLst>
          </a:prstGeom>
          <a:solidFill>
            <a:srgbClr val="EFEFEA"/>
          </a:solidFill>
          <a:ln w="12700">
            <a:solidFill>
              <a:srgbClr val="0E8077"/>
            </a:solidFill>
            <a:prstDash val="solid"/>
          </a:ln>
        </p:spPr>
      </p:sp>
      <p:sp>
        <p:nvSpPr>
          <p:cNvPr id="15" name="Text 13"/>
          <p:cNvSpPr/>
          <p:nvPr/>
        </p:nvSpPr>
        <p:spPr>
          <a:xfrm>
            <a:off x="3017520" y="1920240"/>
            <a:ext cx="1828800" cy="731520"/>
          </a:xfrm>
          <a:prstGeom prst="rect">
            <a:avLst/>
          </a:prstGeom>
          <a:noFill/>
          <a:ln/>
        </p:spPr>
        <p:txBody>
          <a:bodyPr wrap="square" lIns="0" tIns="0" rIns="0" bIns="0" rtlCol="0" anchor="ctr"/>
          <a:lstStyle/>
          <a:p>
            <a:pPr algn="ctr" indent="0" marL="0">
              <a:buNone/>
            </a:pPr>
            <a:r>
              <a:rPr lang="en-US" sz="2800" b="1" dirty="0">
                <a:solidFill>
                  <a:srgbClr val="05433D"/>
                </a:solidFill>
                <a:latin typeface="Calibri" pitchFamily="34" charset="0"/>
                <a:ea typeface="Calibri" pitchFamily="34" charset="-122"/>
                <a:cs typeface="Calibri" pitchFamily="34" charset="-120"/>
              </a:rPr>
              <a:t>582</a:t>
            </a:r>
            <a:endParaRPr lang="en-US" sz="2800" dirty="0"/>
          </a:p>
        </p:txBody>
      </p:sp>
      <p:sp>
        <p:nvSpPr>
          <p:cNvPr id="16" name="Text 14"/>
          <p:cNvSpPr/>
          <p:nvPr/>
        </p:nvSpPr>
        <p:spPr>
          <a:xfrm>
            <a:off x="3017520" y="2651760"/>
            <a:ext cx="182880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현장 민원</a:t>
            </a:r>
            <a:endParaRPr lang="en-US" sz="1200" dirty="0"/>
          </a:p>
        </p:txBody>
      </p:sp>
      <p:sp>
        <p:nvSpPr>
          <p:cNvPr id="17" name="Shape 15"/>
          <p:cNvSpPr/>
          <p:nvPr/>
        </p:nvSpPr>
        <p:spPr>
          <a:xfrm>
            <a:off x="5120640" y="1828800"/>
            <a:ext cx="1828800" cy="1463040"/>
          </a:xfrm>
          <a:prstGeom prst="roundRect">
            <a:avLst>
              <a:gd name="adj" fmla="val 6250"/>
            </a:avLst>
          </a:prstGeom>
          <a:solidFill>
            <a:srgbClr val="EFEFEA"/>
          </a:solidFill>
          <a:ln w="12700">
            <a:solidFill>
              <a:srgbClr val="0E8077"/>
            </a:solidFill>
            <a:prstDash val="solid"/>
          </a:ln>
        </p:spPr>
      </p:sp>
      <p:sp>
        <p:nvSpPr>
          <p:cNvPr id="18" name="Text 16"/>
          <p:cNvSpPr/>
          <p:nvPr/>
        </p:nvSpPr>
        <p:spPr>
          <a:xfrm>
            <a:off x="5120640" y="1920240"/>
            <a:ext cx="1828800" cy="731520"/>
          </a:xfrm>
          <a:prstGeom prst="rect">
            <a:avLst/>
          </a:prstGeom>
          <a:noFill/>
          <a:ln/>
        </p:spPr>
        <p:txBody>
          <a:bodyPr wrap="square" lIns="0" tIns="0" rIns="0" bIns="0" rtlCol="0" anchor="ctr"/>
          <a:lstStyle/>
          <a:p>
            <a:pPr algn="ctr" indent="0" marL="0">
              <a:buNone/>
            </a:pPr>
            <a:r>
              <a:rPr lang="en-US" sz="2800" b="1" dirty="0">
                <a:solidFill>
                  <a:srgbClr val="05433D"/>
                </a:solidFill>
                <a:latin typeface="Calibri" pitchFamily="34" charset="0"/>
                <a:ea typeface="Calibri" pitchFamily="34" charset="-122"/>
                <a:cs typeface="Calibri" pitchFamily="34" charset="-120"/>
              </a:rPr>
              <a:t>322</a:t>
            </a:r>
            <a:endParaRPr lang="en-US" sz="2800" dirty="0"/>
          </a:p>
        </p:txBody>
      </p:sp>
      <p:sp>
        <p:nvSpPr>
          <p:cNvPr id="19" name="Text 17"/>
          <p:cNvSpPr/>
          <p:nvPr/>
        </p:nvSpPr>
        <p:spPr>
          <a:xfrm>
            <a:off x="5120640" y="2651760"/>
            <a:ext cx="182880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공식 정책</a:t>
            </a:r>
            <a:endParaRPr lang="en-US" sz="1200" dirty="0"/>
          </a:p>
        </p:txBody>
      </p:sp>
      <p:sp>
        <p:nvSpPr>
          <p:cNvPr id="20" name="Shape 18"/>
          <p:cNvSpPr/>
          <p:nvPr/>
        </p:nvSpPr>
        <p:spPr>
          <a:xfrm>
            <a:off x="7223760" y="1828800"/>
            <a:ext cx="1828800" cy="1463040"/>
          </a:xfrm>
          <a:prstGeom prst="roundRect">
            <a:avLst>
              <a:gd name="adj" fmla="val 6250"/>
            </a:avLst>
          </a:prstGeom>
          <a:solidFill>
            <a:srgbClr val="EFEFEA"/>
          </a:solidFill>
          <a:ln w="12700">
            <a:solidFill>
              <a:srgbClr val="0E8077"/>
            </a:solidFill>
            <a:prstDash val="solid"/>
          </a:ln>
        </p:spPr>
      </p:sp>
      <p:sp>
        <p:nvSpPr>
          <p:cNvPr id="21" name="Text 19"/>
          <p:cNvSpPr/>
          <p:nvPr/>
        </p:nvSpPr>
        <p:spPr>
          <a:xfrm>
            <a:off x="7223760" y="1920240"/>
            <a:ext cx="1828800" cy="731520"/>
          </a:xfrm>
          <a:prstGeom prst="rect">
            <a:avLst/>
          </a:prstGeom>
          <a:noFill/>
          <a:ln/>
        </p:spPr>
        <p:txBody>
          <a:bodyPr wrap="square" lIns="0" tIns="0" rIns="0" bIns="0" rtlCol="0" anchor="ctr"/>
          <a:lstStyle/>
          <a:p>
            <a:pPr algn="ctr" indent="0" marL="0">
              <a:buNone/>
            </a:pPr>
            <a:r>
              <a:rPr lang="en-US" sz="2800" b="1" dirty="0">
                <a:solidFill>
                  <a:srgbClr val="05433D"/>
                </a:solidFill>
                <a:latin typeface="Calibri" pitchFamily="34" charset="0"/>
                <a:ea typeface="Calibri" pitchFamily="34" charset="-122"/>
                <a:cs typeface="Calibri" pitchFamily="34" charset="-120"/>
              </a:rPr>
              <a:t>1,145</a:t>
            </a:r>
            <a:endParaRPr lang="en-US" sz="2800" dirty="0"/>
          </a:p>
        </p:txBody>
      </p:sp>
      <p:sp>
        <p:nvSpPr>
          <p:cNvPr id="22" name="Text 20"/>
          <p:cNvSpPr/>
          <p:nvPr/>
        </p:nvSpPr>
        <p:spPr>
          <a:xfrm>
            <a:off x="7223760" y="2651760"/>
            <a:ext cx="182880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뉴스</a:t>
            </a:r>
            <a:endParaRPr lang="en-US" sz="1200" dirty="0"/>
          </a:p>
        </p:txBody>
      </p:sp>
      <p:sp>
        <p:nvSpPr>
          <p:cNvPr id="23" name="Shape 21"/>
          <p:cNvSpPr/>
          <p:nvPr/>
        </p:nvSpPr>
        <p:spPr>
          <a:xfrm>
            <a:off x="9326880" y="1828800"/>
            <a:ext cx="1828800" cy="1463040"/>
          </a:xfrm>
          <a:prstGeom prst="roundRect">
            <a:avLst>
              <a:gd name="adj" fmla="val 6250"/>
            </a:avLst>
          </a:prstGeom>
          <a:solidFill>
            <a:srgbClr val="EFEFEA"/>
          </a:solidFill>
          <a:ln w="12700">
            <a:solidFill>
              <a:srgbClr val="0E8077"/>
            </a:solidFill>
            <a:prstDash val="solid"/>
          </a:ln>
        </p:spPr>
      </p:sp>
      <p:sp>
        <p:nvSpPr>
          <p:cNvPr id="24" name="Text 22"/>
          <p:cNvSpPr/>
          <p:nvPr/>
        </p:nvSpPr>
        <p:spPr>
          <a:xfrm>
            <a:off x="9326880" y="1920240"/>
            <a:ext cx="1828800" cy="731520"/>
          </a:xfrm>
          <a:prstGeom prst="rect">
            <a:avLst/>
          </a:prstGeom>
          <a:noFill/>
          <a:ln/>
        </p:spPr>
        <p:txBody>
          <a:bodyPr wrap="square" lIns="0" tIns="0" rIns="0" bIns="0" rtlCol="0" anchor="ctr"/>
          <a:lstStyle/>
          <a:p>
            <a:pPr algn="ctr" indent="0" marL="0">
              <a:buNone/>
            </a:pPr>
            <a:r>
              <a:rPr lang="en-US" sz="2800" b="1" dirty="0">
                <a:solidFill>
                  <a:srgbClr val="05433D"/>
                </a:solidFill>
                <a:latin typeface="Calibri" pitchFamily="34" charset="0"/>
                <a:ea typeface="Calibri" pitchFamily="34" charset="-122"/>
                <a:cs typeface="Calibri" pitchFamily="34" charset="-120"/>
              </a:rPr>
              <a:t>25개</a:t>
            </a:r>
            <a:endParaRPr lang="en-US" sz="2800" dirty="0"/>
          </a:p>
        </p:txBody>
      </p:sp>
      <p:sp>
        <p:nvSpPr>
          <p:cNvPr id="25" name="Text 23"/>
          <p:cNvSpPr/>
          <p:nvPr/>
        </p:nvSpPr>
        <p:spPr>
          <a:xfrm>
            <a:off x="9326880" y="2651760"/>
            <a:ext cx="182880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자치구 통계</a:t>
            </a:r>
            <a:endParaRPr lang="en-US" sz="1200" dirty="0"/>
          </a:p>
        </p:txBody>
      </p:sp>
      <p:sp>
        <p:nvSpPr>
          <p:cNvPr id="26" name="Text 24"/>
          <p:cNvSpPr/>
          <p:nvPr/>
        </p:nvSpPr>
        <p:spPr>
          <a:xfrm>
            <a:off x="914400" y="3657600"/>
            <a:ext cx="10360152" cy="411480"/>
          </a:xfrm>
          <a:prstGeom prst="rect">
            <a:avLst/>
          </a:prstGeom>
          <a:noFill/>
          <a:ln/>
        </p:spPr>
        <p:txBody>
          <a:bodyPr wrap="square" lIns="0" tIns="0" rIns="0" bIns="0" rtlCol="0" anchor="ctr"/>
          <a:lstStyle/>
          <a:p>
            <a:pPr algn="ctr" indent="0" marL="0">
              <a:buNone/>
            </a:pPr>
            <a:r>
              <a:rPr lang="en-US" sz="1200" dirty="0">
                <a:solidFill>
                  <a:srgbClr val="0E8077"/>
                </a:solidFill>
                <a:latin typeface="Calibri" pitchFamily="34" charset="0"/>
                <a:ea typeface="Calibri" pitchFamily="34" charset="-122"/>
                <a:cs typeface="Calibri" pitchFamily="34" charset="-120"/>
              </a:rPr>
              <a:t>텍스트 정규화 → 계층 분류 → 의미 군집 → 뉴스 토픽 → 지역·R&amp;R</a:t>
            </a:r>
            <a:endParaRPr lang="en-US" sz="1200" dirty="0"/>
          </a:p>
        </p:txBody>
      </p:sp>
      <p:sp>
        <p:nvSpPr>
          <p:cNvPr id="27" name="Text 25"/>
          <p:cNvSpPr/>
          <p:nvPr/>
        </p:nvSpPr>
        <p:spPr>
          <a:xfrm>
            <a:off x="914400" y="4206240"/>
            <a:ext cx="10360152" cy="365760"/>
          </a:xfrm>
          <a:prstGeom prst="rect">
            <a:avLst/>
          </a:prstGeom>
          <a:noFill/>
          <a:ln/>
        </p:spPr>
        <p:txBody>
          <a:bodyPr wrap="square" lIns="0" tIns="0" rIns="0" bIns="0" rtlCol="0" anchor="ctr"/>
          <a:lstStyle/>
          <a:p>
            <a:pPr algn="ctr" indent="0" marL="0">
              <a:buNone/>
            </a:pPr>
            <a:r>
              <a:rPr lang="en-US" sz="1100" i="1" dirty="0">
                <a:solidFill>
                  <a:srgbClr val="444444"/>
                </a:solidFill>
                <a:latin typeface="Calibri" pitchFamily="34" charset="0"/>
                <a:ea typeface="Calibri" pitchFamily="34" charset="-122"/>
                <a:cs typeface="Calibri" pitchFamily="34" charset="-120"/>
              </a:rPr>
              <a:t>수요만 보지 않고, 현장·공급·사회·지역을 함께 본다</a:t>
            </a:r>
            <a:endParaRPr lang="en-US" sz="1100" dirty="0"/>
          </a:p>
        </p:txBody>
      </p:sp>
      <p:pic>
        <p:nvPicPr>
          <p:cNvPr id="28" name="Image 0" descr="/sessions/amazing-vigilant-gauss/mnt/outputs/Slide 2-1데이터서치중인.png">    </p:cNvPr>
          <p:cNvPicPr>
            <a:picLocks noChangeAspect="1"/>
          </p:cNvPicPr>
          <p:nvPr/>
        </p:nvPicPr>
        <p:blipFill>
          <a:blip r:embed="rId1"/>
          <a:stretch>
            <a:fillRect/>
          </a:stretch>
        </p:blipFill>
        <p:spPr>
          <a:xfrm>
            <a:off x="9326880" y="4114800"/>
            <a:ext cx="1828800" cy="182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5 · 두 단계 담당 범위 선택</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548640"/>
          </a:xfrm>
          <a:prstGeom prst="rect">
            <a:avLst/>
          </a:prstGeom>
          <a:noFill/>
          <a:ln/>
        </p:spPr>
        <p:txBody>
          <a:bodyPr wrap="square" lIns="0" tIns="0" rIns="0" bIns="0" rtlCol="0" anchor="ctr"/>
          <a:lstStyle/>
          <a:p>
            <a:pPr algn="ctr" indent="0" marL="0">
              <a:buNone/>
            </a:pPr>
            <a:r>
              <a:rPr lang="en-US" sz="2000" b="1" dirty="0">
                <a:solidFill>
                  <a:srgbClr val="1B2340"/>
                </a:solidFill>
                <a:latin typeface="Calibri" pitchFamily="34" charset="0"/>
                <a:ea typeface="Calibri" pitchFamily="34" charset="-122"/>
                <a:cs typeface="Calibri" pitchFamily="34" charset="-120"/>
              </a:rPr>
              <a:t>정책 대분류 담당군 × 실제 R&amp;R 팀</a:t>
            </a:r>
            <a:endParaRPr lang="en-US" sz="2000" dirty="0"/>
          </a:p>
        </p:txBody>
      </p:sp>
      <p:sp>
        <p:nvSpPr>
          <p:cNvPr id="11" name="Shape 9"/>
          <p:cNvSpPr/>
          <p:nvPr/>
        </p:nvSpPr>
        <p:spPr>
          <a:xfrm>
            <a:off x="914400" y="1737360"/>
            <a:ext cx="4572000" cy="1097280"/>
          </a:xfrm>
          <a:prstGeom prst="roundRect">
            <a:avLst>
              <a:gd name="adj" fmla="val 8333"/>
            </a:avLst>
          </a:prstGeom>
          <a:solidFill>
            <a:srgbClr val="05433D"/>
          </a:solidFill>
          <a:ln/>
        </p:spPr>
      </p:sp>
      <p:sp>
        <p:nvSpPr>
          <p:cNvPr id="12" name="Text 10"/>
          <p:cNvSpPr/>
          <p:nvPr/>
        </p:nvSpPr>
        <p:spPr>
          <a:xfrm>
            <a:off x="1097280" y="1828800"/>
            <a:ext cx="4206240" cy="9144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1단계: 8대 정책 대분류 담당군</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주거·교통 | 보육·돌봄 | 임신·난임 | 다자녀 | ...</a:t>
            </a:r>
            <a:endParaRPr lang="en-US" sz="1200" dirty="0"/>
          </a:p>
        </p:txBody>
      </p:sp>
      <p:sp>
        <p:nvSpPr>
          <p:cNvPr id="13" name="Text 11"/>
          <p:cNvSpPr/>
          <p:nvPr/>
        </p:nvSpPr>
        <p:spPr>
          <a:xfrm>
            <a:off x="5669280" y="1828800"/>
            <a:ext cx="914400" cy="914400"/>
          </a:xfrm>
          <a:prstGeom prst="rect">
            <a:avLst/>
          </a:prstGeom>
          <a:noFill/>
          <a:ln/>
        </p:spPr>
        <p:txBody>
          <a:bodyPr wrap="square" lIns="0" tIns="0" rIns="0" bIns="0" rtlCol="0" anchor="ctr"/>
          <a:lstStyle/>
          <a:p>
            <a:pPr algn="ctr" indent="0" marL="0">
              <a:buNone/>
            </a:pPr>
            <a:r>
              <a:rPr lang="en-US" sz="3000" dirty="0">
                <a:solidFill>
                  <a:srgbClr val="0E8077"/>
                </a:solidFill>
                <a:latin typeface="Calibri" pitchFamily="34" charset="0"/>
                <a:ea typeface="Calibri" pitchFamily="34" charset="-122"/>
                <a:cs typeface="Calibri" pitchFamily="34" charset="-120"/>
              </a:rPr>
              <a:t>➜</a:t>
            </a:r>
            <a:endParaRPr lang="en-US" sz="3000" dirty="0"/>
          </a:p>
        </p:txBody>
      </p:sp>
      <p:sp>
        <p:nvSpPr>
          <p:cNvPr id="14" name="Shape 12"/>
          <p:cNvSpPr/>
          <p:nvPr/>
        </p:nvSpPr>
        <p:spPr>
          <a:xfrm>
            <a:off x="6675120" y="1737360"/>
            <a:ext cx="4572000" cy="1097280"/>
          </a:xfrm>
          <a:prstGeom prst="roundRect">
            <a:avLst>
              <a:gd name="adj" fmla="val 8333"/>
            </a:avLst>
          </a:prstGeom>
          <a:solidFill>
            <a:srgbClr val="2E4ABF"/>
          </a:solidFill>
          <a:ln/>
        </p:spPr>
      </p:sp>
      <p:sp>
        <p:nvSpPr>
          <p:cNvPr id="15" name="Text 13"/>
          <p:cNvSpPr/>
          <p:nvPr/>
        </p:nvSpPr>
        <p:spPr>
          <a:xfrm>
            <a:off x="6858000" y="1828800"/>
            <a:ext cx="4206240" cy="9144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2단계: 원본 업무분장 기반 실제 R&amp;R 팀</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주관 1순위(파란) + 협조 2·3순위(회색)</a:t>
            </a:r>
            <a:endParaRPr lang="en-US" sz="1200" dirty="0"/>
          </a:p>
        </p:txBody>
      </p:sp>
      <p:sp>
        <p:nvSpPr>
          <p:cNvPr id="16" name="Shape 14"/>
          <p:cNvSpPr/>
          <p:nvPr/>
        </p:nvSpPr>
        <p:spPr>
          <a:xfrm>
            <a:off x="914400" y="3200400"/>
            <a:ext cx="4572000" cy="1371600"/>
          </a:xfrm>
          <a:prstGeom prst="rect">
            <a:avLst/>
          </a:prstGeom>
          <a:solidFill>
            <a:srgbClr val="EFEFEA"/>
          </a:solidFill>
          <a:ln w="12700">
            <a:solidFill>
              <a:srgbClr val="C6C6BE"/>
            </a:solidFill>
            <a:prstDash val="dash"/>
          </a:ln>
        </p:spPr>
      </p:sp>
      <p:sp>
        <p:nvSpPr>
          <p:cNvPr id="17" name="Text 15"/>
          <p:cNvSpPr/>
          <p:nvPr/>
        </p:nvSpPr>
        <p:spPr>
          <a:xfrm>
            <a:off x="914400" y="3200400"/>
            <a:ext cx="4572000" cy="137160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전체 대분류 + 전체 R&amp;R 팀</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(필터 선택 전 상태)</a:t>
            </a:r>
            <a:endParaRPr lang="en-US" sz="1000" dirty="0"/>
          </a:p>
        </p:txBody>
      </p:sp>
      <p:sp>
        <p:nvSpPr>
          <p:cNvPr id="18" name="Shape 16"/>
          <p:cNvSpPr/>
          <p:nvPr/>
        </p:nvSpPr>
        <p:spPr>
          <a:xfrm>
            <a:off x="6675120" y="3200400"/>
            <a:ext cx="4572000" cy="1371600"/>
          </a:xfrm>
          <a:prstGeom prst="rect">
            <a:avLst/>
          </a:prstGeom>
          <a:solidFill>
            <a:srgbClr val="EFEFEA"/>
          </a:solidFill>
          <a:ln w="12700">
            <a:solidFill>
              <a:srgbClr val="C6C6BE"/>
            </a:solidFill>
            <a:prstDash val="dash"/>
          </a:ln>
        </p:spPr>
      </p:sp>
      <p:sp>
        <p:nvSpPr>
          <p:cNvPr id="19" name="Text 17"/>
          <p:cNvSpPr/>
          <p:nvPr/>
        </p:nvSpPr>
        <p:spPr>
          <a:xfrm>
            <a:off x="6675120" y="3200400"/>
            <a:ext cx="4572000" cy="137160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보육·돌봄 인프라 → 가족건강팀</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(20건 표시 상태)</a:t>
            </a:r>
            <a:endParaRPr lang="en-US" sz="1000" dirty="0"/>
          </a:p>
        </p:txBody>
      </p:sp>
      <p:sp>
        <p:nvSpPr>
          <p:cNvPr id="20" name="Text 18"/>
          <p:cNvSpPr/>
          <p:nvPr/>
        </p:nvSpPr>
        <p:spPr>
          <a:xfrm>
            <a:off x="914400" y="4846320"/>
            <a:ext cx="10360152" cy="365760"/>
          </a:xfrm>
          <a:prstGeom prst="rect">
            <a:avLst/>
          </a:prstGeom>
          <a:noFill/>
          <a:ln/>
        </p:spPr>
        <p:txBody>
          <a:bodyPr wrap="square" lIns="0" tIns="0" rIns="0" bIns="0" rtlCol="0" anchor="ctr"/>
          <a:lstStyle/>
          <a:p>
            <a:pPr algn="ctr" indent="0" marL="0">
              <a:buNone/>
            </a:pPr>
            <a:r>
              <a:rPr lang="en-US" sz="1100" i="1" dirty="0">
                <a:solidFill>
                  <a:srgbClr val="444444"/>
                </a:solidFill>
                <a:latin typeface="Calibri" pitchFamily="34" charset="0"/>
                <a:ea typeface="Calibri" pitchFamily="34" charset="-122"/>
                <a:cs typeface="Calibri" pitchFamily="34" charset="-120"/>
              </a:rPr>
              <a:t>규칙·가중치 기반 R&amp;R 후보 (자동 배정 아님)</a:t>
            </a:r>
            <a:endParaRPr lang="en-US" sz="1100" dirty="0"/>
          </a:p>
        </p:txBody>
      </p:sp>
      <p:pic>
        <p:nvPicPr>
          <p:cNvPr id="21" name="Image 0" descr="/sessions/amazing-vigilant-gauss/mnt/outputs/Slide_2-2봉들고있는.png">    </p:cNvPr>
          <p:cNvPicPr>
            <a:picLocks noChangeAspect="1"/>
          </p:cNvPicPr>
          <p:nvPr/>
        </p:nvPicPr>
        <p:blipFill>
          <a:blip r:embed="rId1"/>
          <a:stretch>
            <a:fillRect/>
          </a:stretch>
        </p:blipFill>
        <p:spPr>
          <a:xfrm>
            <a:off x="9601200" y="4572000"/>
            <a:ext cx="1371600" cy="1371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6 · 57개 문제 군집과 우선순위</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548640"/>
          </a:xfrm>
          <a:prstGeom prst="rect">
            <a:avLst/>
          </a:prstGeom>
          <a:noFill/>
          <a:ln/>
        </p:spPr>
        <p:txBody>
          <a:bodyPr wrap="square" lIns="0" tIns="0" rIns="0" bIns="0" rtlCol="0" anchor="ctr"/>
          <a:lstStyle/>
          <a:p>
            <a:pPr algn="ctr" indent="0" marL="0">
              <a:buNone/>
            </a:pPr>
            <a:r>
              <a:rPr lang="en-US" sz="2000" b="1" dirty="0">
                <a:solidFill>
                  <a:srgbClr val="1B2340"/>
                </a:solidFill>
                <a:latin typeface="Calibri" pitchFamily="34" charset="0"/>
                <a:ea typeface="Calibri" pitchFamily="34" charset="-122"/>
                <a:cs typeface="Calibri" pitchFamily="34" charset="-120"/>
              </a:rPr>
              <a:t>개별 제안을 넘어 반복되는 문제 단위로 판단합니다</a:t>
            </a:r>
            <a:endParaRPr lang="en-US" sz="2000" dirty="0"/>
          </a:p>
        </p:txBody>
      </p:sp>
      <p:sp>
        <p:nvSpPr>
          <p:cNvPr id="11" name="Text 9"/>
          <p:cNvSpPr/>
          <p:nvPr/>
        </p:nvSpPr>
        <p:spPr>
          <a:xfrm>
            <a:off x="914400" y="1554480"/>
            <a:ext cx="10360152" cy="457200"/>
          </a:xfrm>
          <a:prstGeom prst="rect">
            <a:avLst/>
          </a:prstGeom>
          <a:noFill/>
          <a:ln/>
        </p:spPr>
        <p:txBody>
          <a:bodyPr wrap="square" lIns="0" tIns="0" rIns="0" bIns="0" rtlCol="0" anchor="ctr"/>
          <a:lstStyle/>
          <a:p>
            <a:pPr algn="ctr" indent="0" marL="0">
              <a:buNone/>
            </a:pPr>
            <a:r>
              <a:rPr lang="en-US" sz="1400" dirty="0">
                <a:solidFill>
                  <a:srgbClr val="0E8077"/>
                </a:solidFill>
                <a:latin typeface="Calibri" pitchFamily="34" charset="0"/>
                <a:ea typeface="Calibri" pitchFamily="34" charset="-122"/>
                <a:cs typeface="Calibri" pitchFamily="34" charset="-120"/>
              </a:rPr>
              <a:t>우선순위 = 수요(30) + 공백(25) + 시급성(25) + 실행성(10) + 신뢰도(10)</a:t>
            </a:r>
            <a:endParaRPr lang="en-US" sz="1400" dirty="0"/>
          </a:p>
        </p:txBody>
      </p:sp>
      <p:sp>
        <p:nvSpPr>
          <p:cNvPr id="12" name="Shape 10"/>
          <p:cNvSpPr/>
          <p:nvPr/>
        </p:nvSpPr>
        <p:spPr>
          <a:xfrm>
            <a:off x="914400" y="2286000"/>
            <a:ext cx="5943600" cy="3200400"/>
          </a:xfrm>
          <a:prstGeom prst="rect">
            <a:avLst/>
          </a:prstGeom>
          <a:solidFill>
            <a:srgbClr val="EFEFEA"/>
          </a:solidFill>
          <a:ln w="12700">
            <a:solidFill>
              <a:srgbClr val="C6C6BE"/>
            </a:solidFill>
            <a:prstDash val="dash"/>
          </a:ln>
        </p:spPr>
      </p:sp>
      <p:sp>
        <p:nvSpPr>
          <p:cNvPr id="13" name="Text 11"/>
          <p:cNvSpPr/>
          <p:nvPr/>
        </p:nvSpPr>
        <p:spPr>
          <a:xfrm>
            <a:off x="914400" y="2286000"/>
            <a:ext cx="5943600" cy="3200400"/>
          </a:xfrm>
          <a:prstGeom prst="rect">
            <a:avLst/>
          </a:prstGeom>
          <a:noFill/>
          <a:ln/>
        </p:spPr>
        <p:txBody>
          <a:bodyPr wrap="square" lIns="0" tIns="0" rIns="0" bIns="0" rtlCol="0" anchor="ctr"/>
          <a:lstStyle/>
          <a:p>
            <a:pPr algn="ctr" indent="0" marL="0">
              <a:buNone/>
            </a:pPr>
            <a:r>
              <a:rPr lang="en-US" sz="1100" dirty="0">
                <a:solidFill>
                  <a:srgbClr val="6B6B66"/>
                </a:solidFill>
                <a:latin typeface="Calibri" pitchFamily="34" charset="0"/>
                <a:ea typeface="Calibri" pitchFamily="34" charset="-122"/>
                <a:cs typeface="Calibri" pitchFamily="34" charset="-120"/>
              </a:rPr>
              <a:t>📷 캡처 (55%): 정책 갭 진단</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군집 표 + 우선점수 열이 보이는 매트릭스 화면</a:t>
            </a:r>
            <a:endParaRPr lang="en-US" sz="1100" dirty="0"/>
          </a:p>
        </p:txBody>
      </p:sp>
      <p:sp>
        <p:nvSpPr>
          <p:cNvPr id="14" name="Shape 12"/>
          <p:cNvSpPr/>
          <p:nvPr/>
        </p:nvSpPr>
        <p:spPr>
          <a:xfrm>
            <a:off x="7132320" y="2286000"/>
            <a:ext cx="4114800" cy="3200400"/>
          </a:xfrm>
          <a:prstGeom prst="rect">
            <a:avLst/>
          </a:prstGeom>
          <a:solidFill>
            <a:srgbClr val="EFEFEA"/>
          </a:solidFill>
          <a:ln w="12700">
            <a:solidFill>
              <a:srgbClr val="C6C6BE"/>
            </a:solidFill>
            <a:prstDash val="dash"/>
          </a:ln>
        </p:spPr>
      </p:sp>
      <p:sp>
        <p:nvSpPr>
          <p:cNvPr id="15" name="Text 13"/>
          <p:cNvSpPr/>
          <p:nvPr/>
        </p:nvSpPr>
        <p:spPr>
          <a:xfrm>
            <a:off x="7132320" y="2286000"/>
            <a:ext cx="4114800" cy="3200400"/>
          </a:xfrm>
          <a:prstGeom prst="rect">
            <a:avLst/>
          </a:prstGeom>
          <a:noFill/>
          <a:ln/>
        </p:spPr>
        <p:txBody>
          <a:bodyPr wrap="square" lIns="0" tIns="0" rIns="0" bIns="0" rtlCol="0" anchor="ctr"/>
          <a:lstStyle/>
          <a:p>
            <a:pPr algn="ctr" indent="0" marL="0">
              <a:buNone/>
            </a:pPr>
            <a:r>
              <a:rPr lang="en-US" sz="1100" dirty="0">
                <a:solidFill>
                  <a:srgbClr val="6B6B66"/>
                </a:solidFill>
                <a:latin typeface="Calibri" pitchFamily="34" charset="0"/>
                <a:ea typeface="Calibri" pitchFamily="34" charset="-122"/>
                <a:cs typeface="Calibri" pitchFamily="34" charset="-120"/>
              </a:rPr>
              <a:t>📷 캡처 (45%): 군집 클릭 후</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5축 점수 + R&amp;R 후보 상세 패널</a:t>
            </a:r>
            <a:endParaRPr lang="en-US" sz="1100" dirty="0"/>
          </a:p>
        </p:txBody>
      </p:sp>
      <p:pic>
        <p:nvPicPr>
          <p:cNvPr id="16" name="Image 0" descr="/sessions/amazing-vigilant-gauss/mnt/outputs/Slide_3-3차트가리키는.png">    </p:cNvPr>
          <p:cNvPicPr>
            <a:picLocks noChangeAspect="1"/>
          </p:cNvPicPr>
          <p:nvPr/>
        </p:nvPicPr>
        <p:blipFill>
          <a:blip r:embed="rId1"/>
          <a:stretch>
            <a:fillRect/>
          </a:stretch>
        </p:blipFill>
        <p:spPr>
          <a:xfrm>
            <a:off x="9601200" y="4572000"/>
            <a:ext cx="1371600" cy="1371600"/>
          </a:xfrm>
          <a:prstGeom prst="rect">
            <a:avLst/>
          </a:prstGeom>
        </p:spPr>
      </p:pic>
      <p:sp>
        <p:nvSpPr>
          <p:cNvPr id="17" name="Shape 14"/>
          <p:cNvSpPr/>
          <p:nvPr/>
        </p:nvSpPr>
        <p:spPr>
          <a:xfrm>
            <a:off x="6400800" y="4663440"/>
            <a:ext cx="3108960" cy="594360"/>
          </a:xfrm>
          <a:prstGeom prst="roundRect">
            <a:avLst>
              <a:gd name="adj" fmla="val 23077"/>
            </a:avLst>
          </a:prstGeom>
          <a:solidFill>
            <a:srgbClr val="FCFBE6"/>
          </a:solidFill>
          <a:ln w="12700">
            <a:solidFill>
              <a:srgbClr val="C6C6BE"/>
            </a:solidFill>
            <a:prstDash val="solid"/>
          </a:ln>
        </p:spPr>
      </p:sp>
      <p:sp>
        <p:nvSpPr>
          <p:cNvPr id="18" name="Text 15"/>
          <p:cNvSpPr/>
          <p:nvPr/>
        </p:nvSpPr>
        <p:spPr>
          <a:xfrm>
            <a:off x="6400800" y="4663440"/>
            <a:ext cx="3108960" cy="594360"/>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점수는 검토 우선순위이며 정책 결정 자체가 아니에요</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7 · 10개 화면 한눈에</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Shape 8"/>
          <p:cNvSpPr/>
          <p:nvPr/>
        </p:nvSpPr>
        <p:spPr>
          <a:xfrm>
            <a:off x="640080" y="914400"/>
            <a:ext cx="1828800" cy="411480"/>
          </a:xfrm>
          <a:prstGeom prst="roundRect">
            <a:avLst>
              <a:gd name="adj" fmla="val 17778"/>
            </a:avLst>
          </a:prstGeom>
          <a:solidFill>
            <a:srgbClr val="05433D"/>
          </a:solidFill>
          <a:ln/>
        </p:spPr>
      </p:sp>
      <p:sp>
        <p:nvSpPr>
          <p:cNvPr id="11" name="Text 9"/>
          <p:cNvSpPr/>
          <p:nvPr/>
        </p:nvSpPr>
        <p:spPr>
          <a:xfrm>
            <a:off x="640080" y="914400"/>
            <a:ext cx="18288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수요 발견</a:t>
            </a:r>
            <a:endParaRPr lang="en-US" sz="1100" dirty="0"/>
          </a:p>
        </p:txBody>
      </p:sp>
      <p:sp>
        <p:nvSpPr>
          <p:cNvPr id="12" name="Shape 10"/>
          <p:cNvSpPr/>
          <p:nvPr/>
        </p:nvSpPr>
        <p:spPr>
          <a:xfrm>
            <a:off x="2743200" y="914400"/>
            <a:ext cx="2194560" cy="1280160"/>
          </a:xfrm>
          <a:prstGeom prst="rect">
            <a:avLst/>
          </a:prstGeom>
          <a:solidFill>
            <a:srgbClr val="EFEFEA"/>
          </a:solidFill>
          <a:ln w="12700">
            <a:solidFill>
              <a:srgbClr val="C6C6BE"/>
            </a:solidFill>
            <a:prstDash val="dash"/>
          </a:ln>
        </p:spPr>
      </p:sp>
      <p:sp>
        <p:nvSpPr>
          <p:cNvPr id="13" name="Text 11"/>
          <p:cNvSpPr/>
          <p:nvPr/>
        </p:nvSpPr>
        <p:spPr>
          <a:xfrm>
            <a:off x="2743200" y="9144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① 수요 현황 종합</a:t>
            </a:r>
            <a:endParaRPr lang="en-US" sz="900" dirty="0"/>
          </a:p>
        </p:txBody>
      </p:sp>
      <p:sp>
        <p:nvSpPr>
          <p:cNvPr id="14" name="Shape 12"/>
          <p:cNvSpPr/>
          <p:nvPr/>
        </p:nvSpPr>
        <p:spPr>
          <a:xfrm>
            <a:off x="5120640" y="914400"/>
            <a:ext cx="2194560" cy="1280160"/>
          </a:xfrm>
          <a:prstGeom prst="rect">
            <a:avLst/>
          </a:prstGeom>
          <a:solidFill>
            <a:srgbClr val="EFEFEA"/>
          </a:solidFill>
          <a:ln w="12700">
            <a:solidFill>
              <a:srgbClr val="C6C6BE"/>
            </a:solidFill>
            <a:prstDash val="dash"/>
          </a:ln>
        </p:spPr>
      </p:sp>
      <p:sp>
        <p:nvSpPr>
          <p:cNvPr id="15" name="Text 13"/>
          <p:cNvSpPr/>
          <p:nvPr/>
        </p:nvSpPr>
        <p:spPr>
          <a:xfrm>
            <a:off x="5120640" y="9144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② 시민 목소리 분석</a:t>
            </a:r>
            <a:endParaRPr lang="en-US" sz="900" dirty="0"/>
          </a:p>
        </p:txBody>
      </p:sp>
      <p:sp>
        <p:nvSpPr>
          <p:cNvPr id="16" name="Shape 14"/>
          <p:cNvSpPr/>
          <p:nvPr/>
        </p:nvSpPr>
        <p:spPr>
          <a:xfrm>
            <a:off x="7498080" y="914400"/>
            <a:ext cx="2194560" cy="1280160"/>
          </a:xfrm>
          <a:prstGeom prst="rect">
            <a:avLst/>
          </a:prstGeom>
          <a:solidFill>
            <a:srgbClr val="EFEFEA"/>
          </a:solidFill>
          <a:ln w="12700">
            <a:solidFill>
              <a:srgbClr val="C6C6BE"/>
            </a:solidFill>
            <a:prstDash val="dash"/>
          </a:ln>
        </p:spPr>
      </p:sp>
      <p:sp>
        <p:nvSpPr>
          <p:cNvPr id="17" name="Text 15"/>
          <p:cNvSpPr/>
          <p:nvPr/>
        </p:nvSpPr>
        <p:spPr>
          <a:xfrm>
            <a:off x="7498080" y="9144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③ 긴급 민원 처리</a:t>
            </a:r>
            <a:endParaRPr lang="en-US" sz="900" dirty="0"/>
          </a:p>
        </p:txBody>
      </p:sp>
      <p:sp>
        <p:nvSpPr>
          <p:cNvPr id="18" name="Shape 16"/>
          <p:cNvSpPr/>
          <p:nvPr/>
        </p:nvSpPr>
        <p:spPr>
          <a:xfrm>
            <a:off x="640080" y="2514600"/>
            <a:ext cx="1828800" cy="411480"/>
          </a:xfrm>
          <a:prstGeom prst="roundRect">
            <a:avLst>
              <a:gd name="adj" fmla="val 17778"/>
            </a:avLst>
          </a:prstGeom>
          <a:solidFill>
            <a:srgbClr val="2E4ABF"/>
          </a:solidFill>
          <a:ln/>
        </p:spPr>
      </p:sp>
      <p:sp>
        <p:nvSpPr>
          <p:cNvPr id="19" name="Text 17"/>
          <p:cNvSpPr/>
          <p:nvPr/>
        </p:nvSpPr>
        <p:spPr>
          <a:xfrm>
            <a:off x="640080" y="2514600"/>
            <a:ext cx="18288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공급·지역 대조</a:t>
            </a:r>
            <a:endParaRPr lang="en-US" sz="1100" dirty="0"/>
          </a:p>
        </p:txBody>
      </p:sp>
      <p:sp>
        <p:nvSpPr>
          <p:cNvPr id="20" name="Shape 18"/>
          <p:cNvSpPr/>
          <p:nvPr/>
        </p:nvSpPr>
        <p:spPr>
          <a:xfrm>
            <a:off x="2743200" y="2514600"/>
            <a:ext cx="2194560" cy="1280160"/>
          </a:xfrm>
          <a:prstGeom prst="rect">
            <a:avLst/>
          </a:prstGeom>
          <a:solidFill>
            <a:srgbClr val="EFEFEA"/>
          </a:solidFill>
          <a:ln w="12700">
            <a:solidFill>
              <a:srgbClr val="C6C6BE"/>
            </a:solidFill>
            <a:prstDash val="dash"/>
          </a:ln>
        </p:spPr>
      </p:sp>
      <p:sp>
        <p:nvSpPr>
          <p:cNvPr id="21" name="Text 19"/>
          <p:cNvSpPr/>
          <p:nvPr/>
        </p:nvSpPr>
        <p:spPr>
          <a:xfrm>
            <a:off x="2743200" y="25146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④ 현행 정책 검색</a:t>
            </a:r>
            <a:endParaRPr lang="en-US" sz="900" dirty="0"/>
          </a:p>
        </p:txBody>
      </p:sp>
      <p:sp>
        <p:nvSpPr>
          <p:cNvPr id="22" name="Shape 20"/>
          <p:cNvSpPr/>
          <p:nvPr/>
        </p:nvSpPr>
        <p:spPr>
          <a:xfrm>
            <a:off x="5120640" y="2514600"/>
            <a:ext cx="2194560" cy="1280160"/>
          </a:xfrm>
          <a:prstGeom prst="rect">
            <a:avLst/>
          </a:prstGeom>
          <a:solidFill>
            <a:srgbClr val="EFEFEA"/>
          </a:solidFill>
          <a:ln w="12700">
            <a:solidFill>
              <a:srgbClr val="C6C6BE"/>
            </a:solidFill>
            <a:prstDash val="dash"/>
          </a:ln>
        </p:spPr>
      </p:sp>
      <p:sp>
        <p:nvSpPr>
          <p:cNvPr id="23" name="Text 21"/>
          <p:cNvSpPr/>
          <p:nvPr/>
        </p:nvSpPr>
        <p:spPr>
          <a:xfrm>
            <a:off x="5120640" y="25146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⑤ 정책 사각지대 탐색</a:t>
            </a:r>
            <a:endParaRPr lang="en-US" sz="900" dirty="0"/>
          </a:p>
        </p:txBody>
      </p:sp>
      <p:sp>
        <p:nvSpPr>
          <p:cNvPr id="24" name="Shape 22"/>
          <p:cNvSpPr/>
          <p:nvPr/>
        </p:nvSpPr>
        <p:spPr>
          <a:xfrm>
            <a:off x="7498080" y="2514600"/>
            <a:ext cx="2194560" cy="1280160"/>
          </a:xfrm>
          <a:prstGeom prst="rect">
            <a:avLst/>
          </a:prstGeom>
          <a:solidFill>
            <a:srgbClr val="EFEFEA"/>
          </a:solidFill>
          <a:ln w="12700">
            <a:solidFill>
              <a:srgbClr val="C6C6BE"/>
            </a:solidFill>
            <a:prstDash val="dash"/>
          </a:ln>
        </p:spPr>
      </p:sp>
      <p:sp>
        <p:nvSpPr>
          <p:cNvPr id="25" name="Text 23"/>
          <p:cNvSpPr/>
          <p:nvPr/>
        </p:nvSpPr>
        <p:spPr>
          <a:xfrm>
            <a:off x="7498080" y="25146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⑥ 자치구 통계 비교</a:t>
            </a:r>
            <a:endParaRPr lang="en-US" sz="900" dirty="0"/>
          </a:p>
        </p:txBody>
      </p:sp>
      <p:sp>
        <p:nvSpPr>
          <p:cNvPr id="26" name="Shape 24"/>
          <p:cNvSpPr/>
          <p:nvPr/>
        </p:nvSpPr>
        <p:spPr>
          <a:xfrm>
            <a:off x="640080" y="4114800"/>
            <a:ext cx="1828800" cy="411480"/>
          </a:xfrm>
          <a:prstGeom prst="roundRect">
            <a:avLst>
              <a:gd name="adj" fmla="val 17778"/>
            </a:avLst>
          </a:prstGeom>
          <a:solidFill>
            <a:srgbClr val="7C5CE0"/>
          </a:solidFill>
          <a:ln/>
        </p:spPr>
      </p:sp>
      <p:sp>
        <p:nvSpPr>
          <p:cNvPr id="27" name="Text 25"/>
          <p:cNvSpPr/>
          <p:nvPr/>
        </p:nvSpPr>
        <p:spPr>
          <a:xfrm>
            <a:off x="640080" y="4114800"/>
            <a:ext cx="18288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근거·판단·품질</a:t>
            </a:r>
            <a:endParaRPr lang="en-US" sz="1100" dirty="0"/>
          </a:p>
        </p:txBody>
      </p:sp>
      <p:sp>
        <p:nvSpPr>
          <p:cNvPr id="28" name="Shape 26"/>
          <p:cNvSpPr/>
          <p:nvPr/>
        </p:nvSpPr>
        <p:spPr>
          <a:xfrm>
            <a:off x="2743200" y="4114800"/>
            <a:ext cx="2194560" cy="1280160"/>
          </a:xfrm>
          <a:prstGeom prst="rect">
            <a:avLst/>
          </a:prstGeom>
          <a:solidFill>
            <a:srgbClr val="EFEFEA"/>
          </a:solidFill>
          <a:ln w="12700">
            <a:solidFill>
              <a:srgbClr val="C6C6BE"/>
            </a:solidFill>
            <a:prstDash val="dash"/>
          </a:ln>
        </p:spPr>
      </p:sp>
      <p:sp>
        <p:nvSpPr>
          <p:cNvPr id="29" name="Text 27"/>
          <p:cNvSpPr/>
          <p:nvPr/>
        </p:nvSpPr>
        <p:spPr>
          <a:xfrm>
            <a:off x="2743200" y="41148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⑦ 정책 갭 진단</a:t>
            </a:r>
            <a:endParaRPr lang="en-US" sz="900" dirty="0"/>
          </a:p>
        </p:txBody>
      </p:sp>
      <p:sp>
        <p:nvSpPr>
          <p:cNvPr id="30" name="Shape 28"/>
          <p:cNvSpPr/>
          <p:nvPr/>
        </p:nvSpPr>
        <p:spPr>
          <a:xfrm>
            <a:off x="5120640" y="4114800"/>
            <a:ext cx="2194560" cy="1280160"/>
          </a:xfrm>
          <a:prstGeom prst="rect">
            <a:avLst/>
          </a:prstGeom>
          <a:solidFill>
            <a:srgbClr val="EFEFEA"/>
          </a:solidFill>
          <a:ln w="12700">
            <a:solidFill>
              <a:srgbClr val="C6C6BE"/>
            </a:solidFill>
            <a:prstDash val="dash"/>
          </a:ln>
        </p:spPr>
      </p:sp>
      <p:sp>
        <p:nvSpPr>
          <p:cNvPr id="31" name="Text 29"/>
          <p:cNvSpPr/>
          <p:nvPr/>
        </p:nvSpPr>
        <p:spPr>
          <a:xfrm>
            <a:off x="5120640" y="41148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⑧ 결측치 복원 &amp; 로그</a:t>
            </a:r>
            <a:endParaRPr lang="en-US" sz="900" dirty="0"/>
          </a:p>
        </p:txBody>
      </p:sp>
      <p:sp>
        <p:nvSpPr>
          <p:cNvPr id="32" name="Shape 30"/>
          <p:cNvSpPr/>
          <p:nvPr/>
        </p:nvSpPr>
        <p:spPr>
          <a:xfrm>
            <a:off x="7498080" y="4114800"/>
            <a:ext cx="2194560" cy="1280160"/>
          </a:xfrm>
          <a:prstGeom prst="rect">
            <a:avLst/>
          </a:prstGeom>
          <a:solidFill>
            <a:srgbClr val="EFEFEA"/>
          </a:solidFill>
          <a:ln w="12700">
            <a:solidFill>
              <a:srgbClr val="C6C6BE"/>
            </a:solidFill>
            <a:prstDash val="dash"/>
          </a:ln>
        </p:spPr>
      </p:sp>
      <p:sp>
        <p:nvSpPr>
          <p:cNvPr id="33" name="Text 31"/>
          <p:cNvSpPr/>
          <p:nvPr/>
        </p:nvSpPr>
        <p:spPr>
          <a:xfrm>
            <a:off x="7498080" y="41148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⑨ 통합 정책 근거</a:t>
            </a:r>
            <a:endParaRPr lang="en-US" sz="900" dirty="0"/>
          </a:p>
        </p:txBody>
      </p:sp>
      <p:sp>
        <p:nvSpPr>
          <p:cNvPr id="34" name="Shape 32"/>
          <p:cNvSpPr/>
          <p:nvPr/>
        </p:nvSpPr>
        <p:spPr>
          <a:xfrm>
            <a:off x="9875520" y="4114800"/>
            <a:ext cx="2194560" cy="1280160"/>
          </a:xfrm>
          <a:prstGeom prst="rect">
            <a:avLst/>
          </a:prstGeom>
          <a:solidFill>
            <a:srgbClr val="EFEFEA"/>
          </a:solidFill>
          <a:ln w="12700">
            <a:solidFill>
              <a:srgbClr val="C6C6BE"/>
            </a:solidFill>
            <a:prstDash val="dash"/>
          </a:ln>
        </p:spPr>
      </p:sp>
      <p:sp>
        <p:nvSpPr>
          <p:cNvPr id="35" name="Text 33"/>
          <p:cNvSpPr/>
          <p:nvPr/>
        </p:nvSpPr>
        <p:spPr>
          <a:xfrm>
            <a:off x="9875520" y="4114800"/>
            <a:ext cx="2194560" cy="128016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a:t>
            </a:r>
            <a:endParaRPr lang="en-US" sz="900" dirty="0"/>
          </a:p>
          <a:p>
            <a:pPr algn="ctr" indent="0" marL="0">
              <a:buNone/>
            </a:pPr>
            <a:r>
              <a:rPr lang="en-US" sz="900" dirty="0">
                <a:solidFill>
                  <a:srgbClr val="444444"/>
                </a:solidFill>
                <a:latin typeface="Calibri" pitchFamily="34" charset="0"/>
                <a:ea typeface="Calibri" pitchFamily="34" charset="-122"/>
                <a:cs typeface="Calibri" pitchFamily="34" charset="-120"/>
              </a:rPr>
              <a:t>⑩ 필터 검증 통계</a:t>
            </a:r>
            <a:endParaRPr lang="en-US" sz="900" dirty="0"/>
          </a:p>
        </p:txBody>
      </p:sp>
      <p:sp>
        <p:nvSpPr>
          <p:cNvPr id="36" name="Text 34"/>
          <p:cNvSpPr/>
          <p:nvPr/>
        </p:nvSpPr>
        <p:spPr>
          <a:xfrm>
            <a:off x="914400" y="5486400"/>
            <a:ext cx="5943600" cy="320040"/>
          </a:xfrm>
          <a:prstGeom prst="rect">
            <a:avLst/>
          </a:prstGeom>
          <a:noFill/>
          <a:ln/>
        </p:spPr>
        <p:txBody>
          <a:bodyPr wrap="square" lIns="0" tIns="0" rIns="0" bIns="0" rtlCol="0" anchor="ctr"/>
          <a:lstStyle/>
          <a:p>
            <a:pPr algn="ctr" indent="0" marL="0">
              <a:buNone/>
            </a:pPr>
            <a:r>
              <a:rPr lang="en-US" sz="1100" i="1" dirty="0">
                <a:solidFill>
                  <a:srgbClr val="444444"/>
                </a:solidFill>
                <a:latin typeface="Calibri" pitchFamily="34" charset="0"/>
                <a:ea typeface="Calibri" pitchFamily="34" charset="-122"/>
                <a:cs typeface="Calibri" pitchFamily="34" charset="-120"/>
              </a:rPr>
              <a:t>상단 필터가 모든 화면에 동일하게 적용됩니다</a:t>
            </a:r>
            <a:endParaRPr lang="en-US" sz="1100" dirty="0"/>
          </a:p>
        </p:txBody>
      </p:sp>
      <p:sp>
        <p:nvSpPr>
          <p:cNvPr id="37" name="Text 35"/>
          <p:cNvSpPr/>
          <p:nvPr/>
        </p:nvSpPr>
        <p:spPr>
          <a:xfrm>
            <a:off x="6858000" y="5303520"/>
            <a:ext cx="4114800" cy="320040"/>
          </a:xfrm>
          <a:prstGeom prst="rect">
            <a:avLst/>
          </a:prstGeom>
          <a:noFill/>
          <a:ln/>
        </p:spPr>
        <p:txBody>
          <a:bodyPr wrap="square" lIns="0" tIns="0" rIns="0" bIns="0" rtlCol="0" anchor="ctr"/>
          <a:lstStyle/>
          <a:p>
            <a:pPr algn="ctr" indent="0" marL="0">
              <a:buNone/>
            </a:pPr>
            <a:r>
              <a:rPr lang="en-US" sz="1000" b="1" dirty="0">
                <a:solidFill>
                  <a:srgbClr val="2E4ABF"/>
                </a:solidFill>
                <a:latin typeface="Calibri" pitchFamily="34" charset="0"/>
                <a:ea typeface="Calibri" pitchFamily="34" charset="-122"/>
                <a:cs typeface="Calibri" pitchFamily="34" charset="-120"/>
              </a:rPr>
              <a:t>📋 10개 화면 와이어프레임 (FigJam)</a:t>
            </a:r>
            <a:endParaRPr lang="en-US" sz="1000" dirty="0"/>
          </a:p>
        </p:txBody>
      </p:sp>
      <p:sp>
        <p:nvSpPr>
          <p:cNvPr id="38" name="Text 36">
            <a:hlinkClick r:id="rId1" tooltip=""/>
          </p:cNvPr>
          <p:cNvSpPr/>
          <p:nvPr/>
        </p:nvSpPr>
        <p:spPr>
          <a:xfrm>
            <a:off x="6858000" y="5623560"/>
            <a:ext cx="4114800" cy="274320"/>
          </a:xfrm>
          <a:prstGeom prst="rect">
            <a:avLst/>
          </a:prstGeom>
          <a:noFill/>
          <a:ln/>
        </p:spPr>
        <p:txBody>
          <a:bodyPr wrap="square" lIns="0" tIns="0" rIns="0" bIns="0" rtlCol="0" anchor="ctr"/>
          <a:lstStyle/>
          <a:p>
            <a:pPr algn="ctr" indent="0" marL="0">
              <a:buNone/>
            </a:pPr>
            <a:r>
              <a:rPr lang="en-US" sz="800" u="sng" dirty="0">
                <a:solidFill>
                  <a:srgbClr val="0E8077"/>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https://www.figma.com/board/Y9M73dT7Sjz7aYCORMPBkJ</a:t>
            </a:r>
            <a:endParaRPr lang="en-US" sz="800" dirty="0"/>
          </a:p>
        </p:txBody>
      </p:sp>
      <p:pic>
        <p:nvPicPr>
          <p:cNvPr id="39" name="Image 0" descr="/sessions/amazing-vigilant-gauss/mnt/outputs/Slide_4-1대시보드들고있는.png">    </p:cNvPr>
          <p:cNvPicPr>
            <a:picLocks noChangeAspect="1"/>
          </p:cNvPicPr>
          <p:nvPr/>
        </p:nvPicPr>
        <p:blipFill>
          <a:blip r:embed="rId2"/>
          <a:stretch>
            <a:fillRect/>
          </a:stretch>
        </p:blipFill>
        <p:spPr>
          <a:xfrm>
            <a:off x="10058400" y="4572000"/>
            <a:ext cx="1371600" cy="137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8 · 데이터 품질 원칙</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640080"/>
          </a:xfrm>
          <a:prstGeom prst="rect">
            <a:avLst/>
          </a:prstGeom>
          <a:noFill/>
          <a:ln/>
        </p:spPr>
        <p:txBody>
          <a:bodyPr wrap="square" lIns="0" tIns="0" rIns="0" bIns="0" rtlCol="0" anchor="ctr"/>
          <a:lstStyle/>
          <a:p>
            <a:pPr algn="ctr" indent="0" marL="0">
              <a:buNone/>
            </a:pPr>
            <a:r>
              <a:rPr lang="en-US" sz="2200" b="1" dirty="0">
                <a:solidFill>
                  <a:srgbClr val="1B2340"/>
                </a:solidFill>
                <a:latin typeface="Calibri" pitchFamily="34" charset="0"/>
                <a:ea typeface="Calibri" pitchFamily="34" charset="-122"/>
                <a:cs typeface="Calibri" pitchFamily="34" charset="-120"/>
              </a:rPr>
              <a:t>"모르는 값은 모른다고 표시한다"</a:t>
            </a:r>
            <a:endParaRPr lang="en-US" sz="2200" dirty="0"/>
          </a:p>
        </p:txBody>
      </p:sp>
      <p:sp>
        <p:nvSpPr>
          <p:cNvPr id="11" name="Text 9"/>
          <p:cNvSpPr/>
          <p:nvPr/>
        </p:nvSpPr>
        <p:spPr>
          <a:xfrm>
            <a:off x="1371600" y="2011680"/>
            <a:ext cx="2103120" cy="914400"/>
          </a:xfrm>
          <a:prstGeom prst="rect">
            <a:avLst/>
          </a:prstGeom>
          <a:noFill/>
          <a:ln/>
        </p:spPr>
        <p:txBody>
          <a:bodyPr wrap="square" lIns="0" tIns="0" rIns="0" bIns="0" rtlCol="0" anchor="ctr"/>
          <a:lstStyle/>
          <a:p>
            <a:pPr algn="ctr" indent="0" marL="0">
              <a:buNone/>
            </a:pPr>
            <a:r>
              <a:rPr lang="en-US" sz="3600" b="1" dirty="0">
                <a:solidFill>
                  <a:srgbClr val="05433D"/>
                </a:solidFill>
                <a:latin typeface="Calibri" pitchFamily="34" charset="0"/>
                <a:ea typeface="Calibri" pitchFamily="34" charset="-122"/>
                <a:cs typeface="Calibri" pitchFamily="34" charset="-120"/>
              </a:rPr>
              <a:t>20</a:t>
            </a:r>
            <a:endParaRPr lang="en-US" sz="3600" dirty="0"/>
          </a:p>
        </p:txBody>
      </p:sp>
      <p:sp>
        <p:nvSpPr>
          <p:cNvPr id="12" name="Text 10"/>
          <p:cNvSpPr/>
          <p:nvPr/>
        </p:nvSpPr>
        <p:spPr>
          <a:xfrm>
            <a:off x="1371600" y="2926080"/>
            <a:ext cx="210312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원본 특정 자치구</a:t>
            </a:r>
            <a:endParaRPr lang="en-US" sz="1200" dirty="0"/>
          </a:p>
        </p:txBody>
      </p:sp>
      <p:sp>
        <p:nvSpPr>
          <p:cNvPr id="13" name="Text 11"/>
          <p:cNvSpPr/>
          <p:nvPr/>
        </p:nvSpPr>
        <p:spPr>
          <a:xfrm>
            <a:off x="3931920" y="2011680"/>
            <a:ext cx="2103120" cy="914400"/>
          </a:xfrm>
          <a:prstGeom prst="rect">
            <a:avLst/>
          </a:prstGeom>
          <a:noFill/>
          <a:ln/>
        </p:spPr>
        <p:txBody>
          <a:bodyPr wrap="square" lIns="0" tIns="0" rIns="0" bIns="0" rtlCol="0" anchor="ctr"/>
          <a:lstStyle/>
          <a:p>
            <a:pPr algn="ctr" indent="0" marL="0">
              <a:buNone/>
            </a:pPr>
            <a:r>
              <a:rPr lang="en-US" sz="3600" b="1" dirty="0">
                <a:solidFill>
                  <a:srgbClr val="2E4ABF"/>
                </a:solidFill>
                <a:latin typeface="Calibri" pitchFamily="34" charset="0"/>
                <a:ea typeface="Calibri" pitchFamily="34" charset="-122"/>
                <a:cs typeface="Calibri" pitchFamily="34" charset="-120"/>
              </a:rPr>
              <a:t>49</a:t>
            </a:r>
            <a:endParaRPr lang="en-US" sz="3600" dirty="0"/>
          </a:p>
        </p:txBody>
      </p:sp>
      <p:sp>
        <p:nvSpPr>
          <p:cNvPr id="14" name="Text 12"/>
          <p:cNvSpPr/>
          <p:nvPr/>
        </p:nvSpPr>
        <p:spPr>
          <a:xfrm>
            <a:off x="3931920" y="2926080"/>
            <a:ext cx="210312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본문 자치구 후보</a:t>
            </a:r>
            <a:endParaRPr lang="en-US" sz="1200" dirty="0"/>
          </a:p>
        </p:txBody>
      </p:sp>
      <p:sp>
        <p:nvSpPr>
          <p:cNvPr id="15" name="Text 13"/>
          <p:cNvSpPr/>
          <p:nvPr/>
        </p:nvSpPr>
        <p:spPr>
          <a:xfrm>
            <a:off x="6492240" y="2011680"/>
            <a:ext cx="2103120" cy="914400"/>
          </a:xfrm>
          <a:prstGeom prst="rect">
            <a:avLst/>
          </a:prstGeom>
          <a:noFill/>
          <a:ln/>
        </p:spPr>
        <p:txBody>
          <a:bodyPr wrap="square" lIns="0" tIns="0" rIns="0" bIns="0" rtlCol="0" anchor="ctr"/>
          <a:lstStyle/>
          <a:p>
            <a:pPr algn="ctr" indent="0" marL="0">
              <a:buNone/>
            </a:pPr>
            <a:r>
              <a:rPr lang="en-US" sz="3600" b="1" dirty="0">
                <a:solidFill>
                  <a:srgbClr val="7C5CE0"/>
                </a:solidFill>
                <a:latin typeface="Calibri" pitchFamily="34" charset="0"/>
                <a:ea typeface="Calibri" pitchFamily="34" charset="-122"/>
                <a:cs typeface="Calibri" pitchFamily="34" charset="-120"/>
              </a:rPr>
              <a:t>5</a:t>
            </a:r>
            <a:endParaRPr lang="en-US" sz="3600" dirty="0"/>
          </a:p>
        </p:txBody>
      </p:sp>
      <p:sp>
        <p:nvSpPr>
          <p:cNvPr id="16" name="Text 14"/>
          <p:cNvSpPr/>
          <p:nvPr/>
        </p:nvSpPr>
        <p:spPr>
          <a:xfrm>
            <a:off x="6492240" y="2926080"/>
            <a:ext cx="210312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서울시 전체 명시</a:t>
            </a:r>
            <a:endParaRPr lang="en-US" sz="1200" dirty="0"/>
          </a:p>
        </p:txBody>
      </p:sp>
      <p:sp>
        <p:nvSpPr>
          <p:cNvPr id="17" name="Text 15"/>
          <p:cNvSpPr/>
          <p:nvPr/>
        </p:nvSpPr>
        <p:spPr>
          <a:xfrm>
            <a:off x="9052560" y="2011680"/>
            <a:ext cx="2103120" cy="914400"/>
          </a:xfrm>
          <a:prstGeom prst="rect">
            <a:avLst/>
          </a:prstGeom>
          <a:noFill/>
          <a:ln/>
        </p:spPr>
        <p:txBody>
          <a:bodyPr wrap="square" lIns="0" tIns="0" rIns="0" bIns="0" rtlCol="0" anchor="ctr"/>
          <a:lstStyle/>
          <a:p>
            <a:pPr algn="ctr" indent="0" marL="0">
              <a:buNone/>
            </a:pPr>
            <a:r>
              <a:rPr lang="en-US" sz="3600" b="1" dirty="0">
                <a:solidFill>
                  <a:srgbClr val="6B6B66"/>
                </a:solidFill>
                <a:latin typeface="Calibri" pitchFamily="34" charset="0"/>
                <a:ea typeface="Calibri" pitchFamily="34" charset="-122"/>
                <a:cs typeface="Calibri" pitchFamily="34" charset="-120"/>
              </a:rPr>
              <a:t>750</a:t>
            </a:r>
            <a:endParaRPr lang="en-US" sz="3600" dirty="0"/>
          </a:p>
        </p:txBody>
      </p:sp>
      <p:sp>
        <p:nvSpPr>
          <p:cNvPr id="18" name="Text 16"/>
          <p:cNvSpPr/>
          <p:nvPr/>
        </p:nvSpPr>
        <p:spPr>
          <a:xfrm>
            <a:off x="9052560" y="2926080"/>
            <a:ext cx="2103120" cy="457200"/>
          </a:xfrm>
          <a:prstGeom prst="rect">
            <a:avLst/>
          </a:prstGeom>
          <a:noFill/>
          <a:ln/>
        </p:spPr>
        <p:txBody>
          <a:bodyPr wrap="square" lIns="0" tIns="0" rIns="0" bIns="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지역 범위 미확인</a:t>
            </a:r>
            <a:endParaRPr lang="en-US" sz="1200" dirty="0"/>
          </a:p>
        </p:txBody>
      </p:sp>
      <p:sp>
        <p:nvSpPr>
          <p:cNvPr id="19" name="Text 17"/>
          <p:cNvSpPr/>
          <p:nvPr/>
        </p:nvSpPr>
        <p:spPr>
          <a:xfrm>
            <a:off x="914400" y="3840480"/>
            <a:ext cx="10360152" cy="36576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원문 연결 확인 필요: 16 / 824</a:t>
            </a:r>
            <a:endParaRPr lang="en-US" sz="1200" dirty="0"/>
          </a:p>
        </p:txBody>
      </p:sp>
      <p:sp>
        <p:nvSpPr>
          <p:cNvPr id="20" name="Shape 18"/>
          <p:cNvSpPr/>
          <p:nvPr/>
        </p:nvSpPr>
        <p:spPr>
          <a:xfrm>
            <a:off x="3200400" y="4389120"/>
            <a:ext cx="5486400" cy="1097280"/>
          </a:xfrm>
          <a:prstGeom prst="rect">
            <a:avLst/>
          </a:prstGeom>
          <a:solidFill>
            <a:srgbClr val="EFEFEA"/>
          </a:solidFill>
          <a:ln w="12700">
            <a:solidFill>
              <a:srgbClr val="C6C6BE"/>
            </a:solidFill>
            <a:prstDash val="dash"/>
          </a:ln>
        </p:spPr>
      </p:sp>
      <p:sp>
        <p:nvSpPr>
          <p:cNvPr id="21" name="Text 19"/>
          <p:cNvSpPr/>
          <p:nvPr/>
        </p:nvSpPr>
        <p:spPr>
          <a:xfrm>
            <a:off x="3200400" y="4389120"/>
            <a:ext cx="5486400" cy="109728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결측치 복원 &amp; 로그 탭</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지역 범위 4단계 집계 카드 화면</a:t>
            </a:r>
            <a:endParaRPr lang="en-US" sz="1000" dirty="0"/>
          </a:p>
        </p:txBody>
      </p:sp>
      <p:pic>
        <p:nvPicPr>
          <p:cNvPr id="22" name="Image 0" descr="/sessions/amazing-vigilant-gauss/mnt/outputs/Slide_3-4학사모를쓴.png">    </p:cNvPr>
          <p:cNvPicPr>
            <a:picLocks noChangeAspect="1"/>
          </p:cNvPicPr>
          <p:nvPr/>
        </p:nvPicPr>
        <p:blipFill>
          <a:blip r:embed="rId1"/>
          <a:stretch>
            <a:fillRect/>
          </a:stretch>
        </p:blipFill>
        <p:spPr>
          <a:xfrm>
            <a:off x="457200" y="4114800"/>
            <a:ext cx="1645920" cy="1645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캡처 시연 ① · 범위 설정 + 수요 발견</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Shape 8"/>
          <p:cNvSpPr/>
          <p:nvPr/>
        </p:nvSpPr>
        <p:spPr>
          <a:xfrm>
            <a:off x="640080" y="822960"/>
            <a:ext cx="5303520" cy="2377440"/>
          </a:xfrm>
          <a:prstGeom prst="rect">
            <a:avLst/>
          </a:prstGeom>
          <a:solidFill>
            <a:srgbClr val="EFEFEA"/>
          </a:solidFill>
          <a:ln w="12700">
            <a:solidFill>
              <a:srgbClr val="0E8077"/>
            </a:solidFill>
            <a:prstDash val="dash"/>
          </a:ln>
        </p:spPr>
      </p:sp>
      <p:sp>
        <p:nvSpPr>
          <p:cNvPr id="11" name="Text 9"/>
          <p:cNvSpPr/>
          <p:nvPr/>
        </p:nvSpPr>
        <p:spPr>
          <a:xfrm>
            <a:off x="640080" y="822960"/>
            <a:ext cx="5303520" cy="320040"/>
          </a:xfrm>
          <a:prstGeom prst="rect">
            <a:avLst/>
          </a:prstGeom>
          <a:solidFill>
            <a:srgbClr val="05433D"/>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필터 전 (전체 상태)</a:t>
            </a:r>
            <a:endParaRPr lang="en-US" sz="1000" dirty="0"/>
          </a:p>
        </p:txBody>
      </p:sp>
      <p:sp>
        <p:nvSpPr>
          <p:cNvPr id="12" name="Text 10"/>
          <p:cNvSpPr/>
          <p:nvPr/>
        </p:nvSpPr>
        <p:spPr>
          <a:xfrm>
            <a:off x="731520" y="1280160"/>
            <a:ext cx="5120640" cy="173736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필터 전 상태</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상단 헤더 — 전체 대분류 + 전체 R&amp;R 팀 드롭다운</a:t>
            </a:r>
            <a:endParaRPr lang="en-US" sz="1000" dirty="0"/>
          </a:p>
        </p:txBody>
      </p:sp>
      <p:sp>
        <p:nvSpPr>
          <p:cNvPr id="13" name="Shape 11"/>
          <p:cNvSpPr/>
          <p:nvPr/>
        </p:nvSpPr>
        <p:spPr>
          <a:xfrm>
            <a:off x="6217920" y="822960"/>
            <a:ext cx="5303520" cy="2377440"/>
          </a:xfrm>
          <a:prstGeom prst="rect">
            <a:avLst/>
          </a:prstGeom>
          <a:solidFill>
            <a:srgbClr val="EFEFEA"/>
          </a:solidFill>
          <a:ln w="12700">
            <a:solidFill>
              <a:srgbClr val="0E8077"/>
            </a:solidFill>
            <a:prstDash val="dash"/>
          </a:ln>
        </p:spPr>
      </p:sp>
      <p:sp>
        <p:nvSpPr>
          <p:cNvPr id="14" name="Text 12"/>
          <p:cNvSpPr/>
          <p:nvPr/>
        </p:nvSpPr>
        <p:spPr>
          <a:xfrm>
            <a:off x="6217920" y="822960"/>
            <a:ext cx="5303520" cy="320040"/>
          </a:xfrm>
          <a:prstGeom prst="rect">
            <a:avLst/>
          </a:prstGeom>
          <a:solidFill>
            <a:srgbClr val="05433D"/>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필터 후 (20건)</a:t>
            </a:r>
            <a:endParaRPr lang="en-US" sz="1000" dirty="0"/>
          </a:p>
        </p:txBody>
      </p:sp>
      <p:sp>
        <p:nvSpPr>
          <p:cNvPr id="15" name="Text 13"/>
          <p:cNvSpPr/>
          <p:nvPr/>
        </p:nvSpPr>
        <p:spPr>
          <a:xfrm>
            <a:off x="6309360" y="1280160"/>
            <a:ext cx="5120640" cy="173736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필터 후 상태</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보육·돌봄 인프라 + 가족건강팀 → 20건</a:t>
            </a:r>
            <a:endParaRPr lang="en-US" sz="1000" dirty="0"/>
          </a:p>
        </p:txBody>
      </p:sp>
      <p:sp>
        <p:nvSpPr>
          <p:cNvPr id="16" name="Shape 14"/>
          <p:cNvSpPr/>
          <p:nvPr/>
        </p:nvSpPr>
        <p:spPr>
          <a:xfrm>
            <a:off x="640080" y="3383280"/>
            <a:ext cx="5303520" cy="2560320"/>
          </a:xfrm>
          <a:prstGeom prst="rect">
            <a:avLst/>
          </a:prstGeom>
          <a:solidFill>
            <a:srgbClr val="EFEFEA"/>
          </a:solidFill>
          <a:ln w="12700">
            <a:solidFill>
              <a:srgbClr val="0E8077"/>
            </a:solidFill>
            <a:prstDash val="dash"/>
          </a:ln>
        </p:spPr>
      </p:sp>
      <p:sp>
        <p:nvSpPr>
          <p:cNvPr id="17" name="Text 15"/>
          <p:cNvSpPr/>
          <p:nvPr/>
        </p:nvSpPr>
        <p:spPr>
          <a:xfrm>
            <a:off x="640080" y="3383280"/>
            <a:ext cx="5303520" cy="320040"/>
          </a:xfrm>
          <a:prstGeom prst="rect">
            <a:avLst/>
          </a:prstGeom>
          <a:solidFill>
            <a:srgbClr val="05433D"/>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수요 현황 종합</a:t>
            </a:r>
            <a:endParaRPr lang="en-US" sz="1000" dirty="0"/>
          </a:p>
        </p:txBody>
      </p:sp>
      <p:sp>
        <p:nvSpPr>
          <p:cNvPr id="18" name="Text 16"/>
          <p:cNvSpPr/>
          <p:nvPr/>
        </p:nvSpPr>
        <p:spPr>
          <a:xfrm>
            <a:off x="731520" y="3840480"/>
            <a:ext cx="5120640" cy="192024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① 수요 현황 종합</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KPI 카드 4개 + 연도별 추이 + 부서별 답변 현황</a:t>
            </a:r>
            <a:endParaRPr lang="en-US" sz="1000" dirty="0"/>
          </a:p>
        </p:txBody>
      </p:sp>
      <p:sp>
        <p:nvSpPr>
          <p:cNvPr id="19" name="Shape 17"/>
          <p:cNvSpPr/>
          <p:nvPr/>
        </p:nvSpPr>
        <p:spPr>
          <a:xfrm>
            <a:off x="6217920" y="3383280"/>
            <a:ext cx="5303520" cy="2560320"/>
          </a:xfrm>
          <a:prstGeom prst="rect">
            <a:avLst/>
          </a:prstGeom>
          <a:solidFill>
            <a:srgbClr val="EFEFEA"/>
          </a:solidFill>
          <a:ln w="12700">
            <a:solidFill>
              <a:srgbClr val="0E8077"/>
            </a:solidFill>
            <a:prstDash val="dash"/>
          </a:ln>
        </p:spPr>
      </p:sp>
      <p:sp>
        <p:nvSpPr>
          <p:cNvPr id="20" name="Text 18"/>
          <p:cNvSpPr/>
          <p:nvPr/>
        </p:nvSpPr>
        <p:spPr>
          <a:xfrm>
            <a:off x="6217920" y="3383280"/>
            <a:ext cx="5303520" cy="320040"/>
          </a:xfrm>
          <a:prstGeom prst="rect">
            <a:avLst/>
          </a:prstGeom>
          <a:solidFill>
            <a:srgbClr val="05433D"/>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시민 목소리 분석</a:t>
            </a:r>
            <a:endParaRPr lang="en-US" sz="1000" dirty="0"/>
          </a:p>
        </p:txBody>
      </p:sp>
      <p:sp>
        <p:nvSpPr>
          <p:cNvPr id="21" name="Text 19"/>
          <p:cNvSpPr/>
          <p:nvPr/>
        </p:nvSpPr>
        <p:spPr>
          <a:xfrm>
            <a:off x="6309360" y="3840480"/>
            <a:ext cx="5120640" cy="192024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② 시민 목소리 분석</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키워드 칩(TOP 30) + TF-IDF 시계열 차트</a:t>
            </a:r>
            <a:endParaRPr lang="en-US" sz="1000" dirty="0"/>
          </a:p>
        </p:txBody>
      </p:sp>
      <p:sp>
        <p:nvSpPr>
          <p:cNvPr id="22" name="Text 20"/>
          <p:cNvSpPr/>
          <p:nvPr/>
        </p:nvSpPr>
        <p:spPr>
          <a:xfrm>
            <a:off x="5486400" y="1371600"/>
            <a:ext cx="914400" cy="548640"/>
          </a:xfrm>
          <a:prstGeom prst="rect">
            <a:avLst/>
          </a:prstGeom>
          <a:noFill/>
          <a:ln/>
        </p:spPr>
        <p:txBody>
          <a:bodyPr wrap="square" lIns="0" tIns="0" rIns="0" bIns="0" rtlCol="0" anchor="ctr"/>
          <a:lstStyle/>
          <a:p>
            <a:pPr algn="ctr" indent="0" marL="0">
              <a:buNone/>
            </a:pPr>
            <a:r>
              <a:rPr lang="en-US" sz="2400" dirty="0">
                <a:solidFill>
                  <a:srgbClr val="0E8077"/>
                </a:solidFill>
                <a:latin typeface="Calibri" pitchFamily="34" charset="0"/>
                <a:ea typeface="Calibri" pitchFamily="34" charset="-122"/>
                <a:cs typeface="Calibri" pitchFamily="34" charset="-120"/>
              </a:rPr>
              <a:t>→</a:t>
            </a:r>
            <a:endParaRPr lang="en-US" sz="2400" dirty="0"/>
          </a:p>
        </p:txBody>
      </p:sp>
      <p:pic>
        <p:nvPicPr>
          <p:cNvPr id="23" name="Image 0" descr="/sessions/amazing-vigilant-gauss/mnt/outputs/Slide_3-1플래시키는.png">    </p:cNvPr>
          <p:cNvPicPr>
            <a:picLocks noChangeAspect="1"/>
          </p:cNvPicPr>
          <p:nvPr/>
        </p:nvPicPr>
        <p:blipFill>
          <a:blip r:embed="rId1"/>
          <a:stretch>
            <a:fillRect/>
          </a:stretch>
        </p:blipFill>
        <p:spPr>
          <a:xfrm>
            <a:off x="10058400" y="4846320"/>
            <a:ext cx="1097280" cy="1097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캡처 시연 ② · 긴급 민원 + 공급·지역 대조</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Shape 8"/>
          <p:cNvSpPr/>
          <p:nvPr/>
        </p:nvSpPr>
        <p:spPr>
          <a:xfrm>
            <a:off x="640080" y="822960"/>
            <a:ext cx="10789920" cy="2743200"/>
          </a:xfrm>
          <a:prstGeom prst="rect">
            <a:avLst/>
          </a:prstGeom>
          <a:solidFill>
            <a:srgbClr val="EFEFEA"/>
          </a:solidFill>
          <a:ln w="12700">
            <a:solidFill>
              <a:srgbClr val="0E8077"/>
            </a:solidFill>
            <a:prstDash val="dash"/>
          </a:ln>
        </p:spPr>
      </p:sp>
      <p:sp>
        <p:nvSpPr>
          <p:cNvPr id="11" name="Text 9"/>
          <p:cNvSpPr/>
          <p:nvPr/>
        </p:nvSpPr>
        <p:spPr>
          <a:xfrm>
            <a:off x="640080" y="822960"/>
            <a:ext cx="10789920" cy="320040"/>
          </a:xfrm>
          <a:prstGeom prst="rect">
            <a:avLst/>
          </a:prstGeom>
          <a:solidFill>
            <a:srgbClr val="05433D"/>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③ 긴급 민원 처리 — 카드 상세 펼침</a:t>
            </a:r>
            <a:endParaRPr lang="en-US" sz="1000" dirty="0"/>
          </a:p>
        </p:txBody>
      </p:sp>
      <p:sp>
        <p:nvSpPr>
          <p:cNvPr id="12" name="Text 10"/>
          <p:cNvSpPr/>
          <p:nvPr/>
        </p:nvSpPr>
        <p:spPr>
          <a:xfrm>
            <a:off x="822960" y="1371600"/>
            <a:ext cx="10424160" cy="1828800"/>
          </a:xfrm>
          <a:prstGeom prst="rect">
            <a:avLst/>
          </a:prstGeom>
          <a:noFill/>
          <a:ln/>
        </p:spPr>
        <p:txBody>
          <a:bodyPr wrap="square" lIns="0" tIns="0" rIns="0" bIns="0" rtlCol="0" anchor="ctr"/>
          <a:lstStyle/>
          <a:p>
            <a:pPr algn="ctr" indent="0" marL="0">
              <a:buNone/>
            </a:pPr>
            <a:r>
              <a:rPr lang="en-US" sz="1100" dirty="0">
                <a:solidFill>
                  <a:srgbClr val="6B6B66"/>
                </a:solidFill>
                <a:latin typeface="Calibri" pitchFamily="34" charset="0"/>
                <a:ea typeface="Calibri" pitchFamily="34" charset="-122"/>
                <a:cs typeface="Calibri" pitchFamily="34" charset="-120"/>
              </a:rPr>
              <a:t>📷 캡처: 제안 카드 1개 펼친 상태</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반드시 보여야 할 것: 제안 본문 + 공식 원문 보기 링크(ExternalLink 아이콘)</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 R&amp;R 카드 3줄 ([주관] 1순위 가족건강팀 파란색 + [협조] 2순위 + [협조] 3순위 회색)</a:t>
            </a:r>
            <a:endParaRPr lang="en-US" sz="1100" dirty="0"/>
          </a:p>
        </p:txBody>
      </p:sp>
      <p:sp>
        <p:nvSpPr>
          <p:cNvPr id="13" name="Shape 11"/>
          <p:cNvSpPr/>
          <p:nvPr/>
        </p:nvSpPr>
        <p:spPr>
          <a:xfrm>
            <a:off x="640080" y="3840480"/>
            <a:ext cx="5303520" cy="2103120"/>
          </a:xfrm>
          <a:prstGeom prst="rect">
            <a:avLst/>
          </a:prstGeom>
          <a:solidFill>
            <a:srgbClr val="EFEFEA"/>
          </a:solidFill>
          <a:ln w="12700">
            <a:solidFill>
              <a:srgbClr val="2E4ABF"/>
            </a:solidFill>
            <a:prstDash val="dash"/>
          </a:ln>
        </p:spPr>
      </p:sp>
      <p:sp>
        <p:nvSpPr>
          <p:cNvPr id="14" name="Text 12"/>
          <p:cNvSpPr/>
          <p:nvPr/>
        </p:nvSpPr>
        <p:spPr>
          <a:xfrm>
            <a:off x="640080" y="3840480"/>
            <a:ext cx="5303520" cy="320040"/>
          </a:xfrm>
          <a:prstGeom prst="rect">
            <a:avLst/>
          </a:prstGeom>
          <a:solidFill>
            <a:srgbClr val="2E4ABF"/>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④ 현행 정책 검색</a:t>
            </a:r>
            <a:endParaRPr lang="en-US" sz="1000" dirty="0"/>
          </a:p>
        </p:txBody>
      </p:sp>
      <p:sp>
        <p:nvSpPr>
          <p:cNvPr id="15" name="Text 13"/>
          <p:cNvSpPr/>
          <p:nvPr/>
        </p:nvSpPr>
        <p:spPr>
          <a:xfrm>
            <a:off x="822960" y="4297680"/>
            <a:ext cx="4937760" cy="137160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몽땅정보통 정책 목록 2~3개</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정책명·부서·지원 대상 열</a:t>
            </a:r>
            <a:endParaRPr lang="en-US" sz="1000" dirty="0"/>
          </a:p>
        </p:txBody>
      </p:sp>
      <p:sp>
        <p:nvSpPr>
          <p:cNvPr id="16" name="Shape 14"/>
          <p:cNvSpPr/>
          <p:nvPr/>
        </p:nvSpPr>
        <p:spPr>
          <a:xfrm>
            <a:off x="6217920" y="3840480"/>
            <a:ext cx="5303520" cy="2103120"/>
          </a:xfrm>
          <a:prstGeom prst="rect">
            <a:avLst/>
          </a:prstGeom>
          <a:solidFill>
            <a:srgbClr val="EFEFEA"/>
          </a:solidFill>
          <a:ln w="12700">
            <a:solidFill>
              <a:srgbClr val="2E4ABF"/>
            </a:solidFill>
            <a:prstDash val="dash"/>
          </a:ln>
        </p:spPr>
      </p:sp>
      <p:sp>
        <p:nvSpPr>
          <p:cNvPr id="17" name="Text 15"/>
          <p:cNvSpPr/>
          <p:nvPr/>
        </p:nvSpPr>
        <p:spPr>
          <a:xfrm>
            <a:off x="6217920" y="3840480"/>
            <a:ext cx="5303520" cy="320040"/>
          </a:xfrm>
          <a:prstGeom prst="rect">
            <a:avLst/>
          </a:prstGeom>
          <a:solidFill>
            <a:srgbClr val="2E4ABF"/>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⑥ 자치구 통계 비교</a:t>
            </a:r>
            <a:endParaRPr lang="en-US" sz="1000" dirty="0"/>
          </a:p>
        </p:txBody>
      </p:sp>
      <p:sp>
        <p:nvSpPr>
          <p:cNvPr id="18" name="Text 16"/>
          <p:cNvSpPr/>
          <p:nvPr/>
        </p:nvSpPr>
        <p:spPr>
          <a:xfrm>
            <a:off x="6400800" y="4297680"/>
            <a:ext cx="4937760" cy="137160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서울 GeoJSON 지도</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 출생아수/보육시설 이중축 차트</a:t>
            </a:r>
            <a:endParaRPr lang="en-US" sz="1000" dirty="0"/>
          </a:p>
        </p:txBody>
      </p:sp>
      <p:pic>
        <p:nvPicPr>
          <p:cNvPr id="19" name="Image 0" descr="/sessions/amazing-vigilant-gauss/mnt/outputs/Slide_3-4-1퍼즐맞추는.png">    </p:cNvPr>
          <p:cNvPicPr>
            <a:picLocks noChangeAspect="1"/>
          </p:cNvPicPr>
          <p:nvPr/>
        </p:nvPicPr>
        <p:blipFill>
          <a:blip r:embed="rId1"/>
          <a:stretch>
            <a:fillRect/>
          </a:stretch>
        </p:blipFill>
        <p:spPr>
          <a:xfrm>
            <a:off x="10058400" y="5029200"/>
            <a:ext cx="1097280" cy="1097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캡처 시연 ③ · 갭 진단 + 근거·품질</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Shape 8"/>
          <p:cNvSpPr/>
          <p:nvPr/>
        </p:nvSpPr>
        <p:spPr>
          <a:xfrm>
            <a:off x="640080" y="822960"/>
            <a:ext cx="5486400" cy="2743200"/>
          </a:xfrm>
          <a:prstGeom prst="rect">
            <a:avLst/>
          </a:prstGeom>
          <a:solidFill>
            <a:srgbClr val="EFEFEA"/>
          </a:solidFill>
          <a:ln w="12700">
            <a:solidFill>
              <a:srgbClr val="7C5CE0"/>
            </a:solidFill>
            <a:prstDash val="dash"/>
          </a:ln>
        </p:spPr>
      </p:sp>
      <p:sp>
        <p:nvSpPr>
          <p:cNvPr id="11" name="Text 9"/>
          <p:cNvSpPr/>
          <p:nvPr/>
        </p:nvSpPr>
        <p:spPr>
          <a:xfrm>
            <a:off x="640080" y="822960"/>
            <a:ext cx="5486400" cy="320040"/>
          </a:xfrm>
          <a:prstGeom prst="rect">
            <a:avLst/>
          </a:prstGeom>
          <a:solidFill>
            <a:srgbClr val="7C5CE0"/>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⑦ 정책 갭 진단 (상세)</a:t>
            </a:r>
            <a:endParaRPr lang="en-US" sz="1000" dirty="0"/>
          </a:p>
        </p:txBody>
      </p:sp>
      <p:sp>
        <p:nvSpPr>
          <p:cNvPr id="12" name="Text 10"/>
          <p:cNvSpPr/>
          <p:nvPr/>
        </p:nvSpPr>
        <p:spPr>
          <a:xfrm>
            <a:off x="731520" y="1280160"/>
            <a:ext cx="5303520" cy="210312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⑦ 정책 갭 진단 — 군집 상세</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군집 1개 클릭 후 5축 점수(수요·공백·시급성·실행성·신뢰도)</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 R&amp;R 주관 1순위 + 협조 2·3순위 + 추천 액션</a:t>
            </a:r>
            <a:endParaRPr lang="en-US" sz="1000" dirty="0"/>
          </a:p>
        </p:txBody>
      </p:sp>
      <p:sp>
        <p:nvSpPr>
          <p:cNvPr id="13" name="Shape 11"/>
          <p:cNvSpPr/>
          <p:nvPr/>
        </p:nvSpPr>
        <p:spPr>
          <a:xfrm>
            <a:off x="6309360" y="822960"/>
            <a:ext cx="5120640" cy="2743200"/>
          </a:xfrm>
          <a:prstGeom prst="rect">
            <a:avLst/>
          </a:prstGeom>
          <a:solidFill>
            <a:srgbClr val="EFEFEA"/>
          </a:solidFill>
          <a:ln w="12700">
            <a:solidFill>
              <a:srgbClr val="2E4ABF"/>
            </a:solidFill>
            <a:prstDash val="dash"/>
          </a:ln>
        </p:spPr>
      </p:sp>
      <p:sp>
        <p:nvSpPr>
          <p:cNvPr id="14" name="Text 12"/>
          <p:cNvSpPr/>
          <p:nvPr/>
        </p:nvSpPr>
        <p:spPr>
          <a:xfrm>
            <a:off x="6309360" y="822960"/>
            <a:ext cx="5120640" cy="320040"/>
          </a:xfrm>
          <a:prstGeom prst="rect">
            <a:avLst/>
          </a:prstGeom>
          <a:solidFill>
            <a:srgbClr val="2E4ABF"/>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⑤ 정책 사각지대 탐색</a:t>
            </a:r>
            <a:endParaRPr lang="en-US" sz="1000" dirty="0"/>
          </a:p>
        </p:txBody>
      </p:sp>
      <p:sp>
        <p:nvSpPr>
          <p:cNvPr id="15" name="Text 13"/>
          <p:cNvSpPr/>
          <p:nvPr/>
        </p:nvSpPr>
        <p:spPr>
          <a:xfrm>
            <a:off x="6400800" y="1280160"/>
            <a:ext cx="4937760" cy="210312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⑤ 정책 사각지대 탐색</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버블 차트 (X축·Y축 라벨 + 크기=건수, 색=공감)</a:t>
            </a:r>
            <a:endParaRPr lang="en-US" sz="1000" dirty="0"/>
          </a:p>
        </p:txBody>
      </p:sp>
      <p:sp>
        <p:nvSpPr>
          <p:cNvPr id="16" name="Shape 14"/>
          <p:cNvSpPr/>
          <p:nvPr/>
        </p:nvSpPr>
        <p:spPr>
          <a:xfrm>
            <a:off x="640080" y="3749040"/>
            <a:ext cx="5486400" cy="2194560"/>
          </a:xfrm>
          <a:prstGeom prst="rect">
            <a:avLst/>
          </a:prstGeom>
          <a:solidFill>
            <a:srgbClr val="EFEFEA"/>
          </a:solidFill>
          <a:ln w="12700">
            <a:solidFill>
              <a:srgbClr val="05433D"/>
            </a:solidFill>
            <a:prstDash val="dash"/>
          </a:ln>
        </p:spPr>
      </p:sp>
      <p:sp>
        <p:nvSpPr>
          <p:cNvPr id="17" name="Text 15"/>
          <p:cNvSpPr/>
          <p:nvPr/>
        </p:nvSpPr>
        <p:spPr>
          <a:xfrm>
            <a:off x="640080" y="3749040"/>
            <a:ext cx="5486400" cy="320040"/>
          </a:xfrm>
          <a:prstGeom prst="rect">
            <a:avLst/>
          </a:prstGeom>
          <a:solidFill>
            <a:srgbClr val="05433D"/>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⑨ 통합 정책 근거</a:t>
            </a:r>
            <a:endParaRPr lang="en-US" sz="1000" dirty="0"/>
          </a:p>
        </p:txBody>
      </p:sp>
      <p:sp>
        <p:nvSpPr>
          <p:cNvPr id="18" name="Text 16"/>
          <p:cNvSpPr/>
          <p:nvPr/>
        </p:nvSpPr>
        <p:spPr>
          <a:xfrm>
            <a:off x="731520" y="4206240"/>
            <a:ext cx="5303520" cy="155448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⑨ 통합 정책 근거 분석</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5개 관점 카드(시민제안·민원·뉴스·정책·통계) 상단부</a:t>
            </a:r>
            <a:endParaRPr lang="en-US" sz="1000" dirty="0"/>
          </a:p>
        </p:txBody>
      </p:sp>
      <p:sp>
        <p:nvSpPr>
          <p:cNvPr id="19" name="Shape 17"/>
          <p:cNvSpPr/>
          <p:nvPr/>
        </p:nvSpPr>
        <p:spPr>
          <a:xfrm>
            <a:off x="6309360" y="3749040"/>
            <a:ext cx="5120640" cy="2194560"/>
          </a:xfrm>
          <a:prstGeom prst="rect">
            <a:avLst/>
          </a:prstGeom>
          <a:solidFill>
            <a:srgbClr val="EFEFEA"/>
          </a:solidFill>
          <a:ln w="12700">
            <a:solidFill>
              <a:srgbClr val="444444"/>
            </a:solidFill>
            <a:prstDash val="dash"/>
          </a:ln>
        </p:spPr>
      </p:sp>
      <p:sp>
        <p:nvSpPr>
          <p:cNvPr id="20" name="Text 18"/>
          <p:cNvSpPr/>
          <p:nvPr/>
        </p:nvSpPr>
        <p:spPr>
          <a:xfrm>
            <a:off x="6309360" y="3749040"/>
            <a:ext cx="5120640" cy="320040"/>
          </a:xfrm>
          <a:prstGeom prst="rect">
            <a:avLst/>
          </a:prstGeom>
          <a:solidFill>
            <a:srgbClr val="444444"/>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⑩ 필터 검증 통계</a:t>
            </a:r>
            <a:endParaRPr lang="en-US" sz="1000" dirty="0"/>
          </a:p>
        </p:txBody>
      </p:sp>
      <p:sp>
        <p:nvSpPr>
          <p:cNvPr id="21" name="Text 19"/>
          <p:cNvSpPr/>
          <p:nvPr/>
        </p:nvSpPr>
        <p:spPr>
          <a:xfrm>
            <a:off x="6400800" y="4206240"/>
            <a:ext cx="4937760" cy="155448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⑩ 필터 검증 통계</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현재 표시 20건 + 분류 분포 차트</a:t>
            </a:r>
            <a:endParaRPr lang="en-US" sz="1000" dirty="0"/>
          </a:p>
        </p:txBody>
      </p:sp>
      <p:pic>
        <p:nvPicPr>
          <p:cNvPr id="22" name="Image 0" descr="/sessions/amazing-vigilant-gauss/mnt/outputs/Slide_3-3차트가리키는.png">    </p:cNvPr>
          <p:cNvPicPr>
            <a:picLocks noChangeAspect="1"/>
          </p:cNvPicPr>
          <p:nvPr/>
        </p:nvPicPr>
        <p:blipFill>
          <a:blip r:embed="rId1"/>
          <a:stretch>
            <a:fillRect/>
          </a:stretch>
        </p:blipFill>
        <p:spPr>
          <a:xfrm>
            <a:off x="10241280" y="4846320"/>
            <a:ext cx="1097280" cy="1097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캡처 시연 ④ · 새싹이 + 보고서 + 결측치</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Shape 8"/>
          <p:cNvSpPr/>
          <p:nvPr/>
        </p:nvSpPr>
        <p:spPr>
          <a:xfrm>
            <a:off x="640080" y="822960"/>
            <a:ext cx="10789920" cy="2560320"/>
          </a:xfrm>
          <a:prstGeom prst="rect">
            <a:avLst/>
          </a:prstGeom>
          <a:solidFill>
            <a:srgbClr val="EFEFEA"/>
          </a:solidFill>
          <a:ln w="12700">
            <a:solidFill>
              <a:srgbClr val="05433D"/>
            </a:solidFill>
            <a:prstDash val="dash"/>
          </a:ln>
        </p:spPr>
      </p:sp>
      <p:sp>
        <p:nvSpPr>
          <p:cNvPr id="11" name="Text 9"/>
          <p:cNvSpPr/>
          <p:nvPr/>
        </p:nvSpPr>
        <p:spPr>
          <a:xfrm>
            <a:off x="640080" y="822960"/>
            <a:ext cx="10789920" cy="320040"/>
          </a:xfrm>
          <a:prstGeom prst="rect">
            <a:avLst/>
          </a:prstGeom>
          <a:solidFill>
            <a:srgbClr val="05433D"/>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보고서 다운로드 모달</a:t>
            </a:r>
            <a:endParaRPr lang="en-US" sz="1000" dirty="0"/>
          </a:p>
        </p:txBody>
      </p:sp>
      <p:sp>
        <p:nvSpPr>
          <p:cNvPr id="12" name="Text 10"/>
          <p:cNvSpPr/>
          <p:nvPr/>
        </p:nvSpPr>
        <p:spPr>
          <a:xfrm>
            <a:off x="822960" y="1371600"/>
            <a:ext cx="10424160" cy="1645920"/>
          </a:xfrm>
          <a:prstGeom prst="rect">
            <a:avLst/>
          </a:prstGeom>
          <a:noFill/>
          <a:ln/>
        </p:spPr>
        <p:txBody>
          <a:bodyPr wrap="square" lIns="0" tIns="0" rIns="0" bIns="0" rtlCol="0" anchor="ctr"/>
          <a:lstStyle/>
          <a:p>
            <a:pPr algn="ctr" indent="0" marL="0">
              <a:buNone/>
            </a:pPr>
            <a:r>
              <a:rPr lang="en-US" sz="1100" dirty="0">
                <a:solidFill>
                  <a:srgbClr val="6B6B66"/>
                </a:solidFill>
                <a:latin typeface="Calibri" pitchFamily="34" charset="0"/>
                <a:ea typeface="Calibri" pitchFamily="34" charset="-122"/>
                <a:cs typeface="Calibri" pitchFamily="34" charset="-120"/>
              </a:rPr>
              <a:t>📷 캡처: 상단 헤더 보고서 다운로드 버튼 클릭 → 모달</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보고서 유형 3개(상세형/간부 브리핑/외부 공유) + 파일 형식(HWP/PDF/CSV)</a:t>
            </a:r>
            <a:endParaRPr lang="en-US" sz="1100" dirty="0"/>
          </a:p>
          <a:p>
            <a:pPr algn="ctr" indent="0" marL="0">
              <a:buNone/>
            </a:pPr>
            <a:r>
              <a:rPr lang="en-US" sz="1100" dirty="0">
                <a:solidFill>
                  <a:srgbClr val="6B6B66"/>
                </a:solidFill>
                <a:latin typeface="Calibri" pitchFamily="34" charset="0"/>
                <a:ea typeface="Calibri" pitchFamily="34" charset="-122"/>
                <a:cs typeface="Calibri" pitchFamily="34" charset="-120"/>
              </a:rPr>
              <a:t>+ 미리보기 영역 + 제목에 '보육·돌봄 인프라 / 가족건강팀' 반영</a:t>
            </a:r>
            <a:endParaRPr lang="en-US" sz="1100" dirty="0"/>
          </a:p>
        </p:txBody>
      </p:sp>
      <p:sp>
        <p:nvSpPr>
          <p:cNvPr id="13" name="Shape 11"/>
          <p:cNvSpPr/>
          <p:nvPr/>
        </p:nvSpPr>
        <p:spPr>
          <a:xfrm>
            <a:off x="640080" y="3657600"/>
            <a:ext cx="5303520" cy="2286000"/>
          </a:xfrm>
          <a:prstGeom prst="rect">
            <a:avLst/>
          </a:prstGeom>
          <a:solidFill>
            <a:srgbClr val="EFEFEA"/>
          </a:solidFill>
          <a:ln w="12700">
            <a:solidFill>
              <a:srgbClr val="2E4ABF"/>
            </a:solidFill>
            <a:prstDash val="dash"/>
          </a:ln>
        </p:spPr>
      </p:sp>
      <p:sp>
        <p:nvSpPr>
          <p:cNvPr id="14" name="Text 12"/>
          <p:cNvSpPr/>
          <p:nvPr/>
        </p:nvSpPr>
        <p:spPr>
          <a:xfrm>
            <a:off x="640080" y="3657600"/>
            <a:ext cx="5303520" cy="320040"/>
          </a:xfrm>
          <a:prstGeom prst="rect">
            <a:avLst/>
          </a:prstGeom>
          <a:solidFill>
            <a:srgbClr val="2E4ABF"/>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 새싹이 팝업</a:t>
            </a:r>
            <a:endParaRPr lang="en-US" sz="1000" dirty="0"/>
          </a:p>
        </p:txBody>
      </p:sp>
      <p:sp>
        <p:nvSpPr>
          <p:cNvPr id="15" name="Text 13"/>
          <p:cNvSpPr/>
          <p:nvPr/>
        </p:nvSpPr>
        <p:spPr>
          <a:xfrm>
            <a:off x="822960" y="4114800"/>
            <a:ext cx="4937760" cy="146304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우측 하단 새싹이 아이콘 클릭 후 팝업</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현재 페이지명 + 선택 범위 + 다음 추천 행동</a:t>
            </a:r>
            <a:endParaRPr lang="en-US" sz="1000" dirty="0"/>
          </a:p>
        </p:txBody>
      </p:sp>
      <p:sp>
        <p:nvSpPr>
          <p:cNvPr id="16" name="Shape 14"/>
          <p:cNvSpPr/>
          <p:nvPr/>
        </p:nvSpPr>
        <p:spPr>
          <a:xfrm>
            <a:off x="6217920" y="3657600"/>
            <a:ext cx="5303520" cy="2286000"/>
          </a:xfrm>
          <a:prstGeom prst="rect">
            <a:avLst/>
          </a:prstGeom>
          <a:solidFill>
            <a:srgbClr val="EFEFEA"/>
          </a:solidFill>
          <a:ln w="12700">
            <a:solidFill>
              <a:srgbClr val="7C5CE0"/>
            </a:solidFill>
            <a:prstDash val="dash"/>
          </a:ln>
        </p:spPr>
      </p:sp>
      <p:sp>
        <p:nvSpPr>
          <p:cNvPr id="17" name="Text 15"/>
          <p:cNvSpPr/>
          <p:nvPr/>
        </p:nvSpPr>
        <p:spPr>
          <a:xfrm>
            <a:off x="6217920" y="3657600"/>
            <a:ext cx="5303520" cy="320040"/>
          </a:xfrm>
          <a:prstGeom prst="rect">
            <a:avLst/>
          </a:prstGeom>
          <a:solidFill>
            <a:srgbClr val="7C5CE0"/>
          </a:solidFill>
          <a:ln/>
        </p:spPr>
        <p:txBody>
          <a:bodyPr wrap="square" lIns="0" tIns="0" rIns="0" bIns="0" rtlCol="0" anchor="ctr"/>
          <a:lstStyle/>
          <a:p>
            <a:pPr algn="ctr" indent="0" marL="0">
              <a:buNone/>
            </a:pPr>
            <a:r>
              <a:rPr lang="en-US" sz="1000" b="1" dirty="0">
                <a:solidFill>
                  <a:srgbClr val="FFFFFF">
                    <a:alpha val="85000"/>
                  </a:srgbClr>
                </a:solidFill>
                <a:latin typeface="Calibri" pitchFamily="34" charset="0"/>
                <a:ea typeface="Calibri" pitchFamily="34" charset="-122"/>
                <a:cs typeface="Calibri" pitchFamily="34" charset="-120"/>
              </a:rPr>
              <a:t>⑧ 결측치 복원 &amp; 로그</a:t>
            </a:r>
            <a:endParaRPr lang="en-US" sz="1000" dirty="0"/>
          </a:p>
        </p:txBody>
      </p:sp>
      <p:sp>
        <p:nvSpPr>
          <p:cNvPr id="18" name="Text 16"/>
          <p:cNvSpPr/>
          <p:nvPr/>
        </p:nvSpPr>
        <p:spPr>
          <a:xfrm>
            <a:off x="6400800" y="4114800"/>
            <a:ext cx="4937760" cy="1463040"/>
          </a:xfrm>
          <a:prstGeom prst="rect">
            <a:avLst/>
          </a:prstGeom>
          <a:noFill/>
          <a:ln/>
        </p:spPr>
        <p:txBody>
          <a:bodyPr wrap="square" lIns="0" tIns="0" rIns="0" bIns="0" rtlCol="0" anchor="ctr"/>
          <a:lstStyle/>
          <a:p>
            <a:pPr algn="ctr" indent="0" marL="0">
              <a:buNone/>
            </a:pPr>
            <a:r>
              <a:rPr lang="en-US" sz="1000" dirty="0">
                <a:solidFill>
                  <a:srgbClr val="6B6B66"/>
                </a:solidFill>
                <a:latin typeface="Calibri" pitchFamily="34" charset="0"/>
                <a:ea typeface="Calibri" pitchFamily="34" charset="-122"/>
                <a:cs typeface="Calibri" pitchFamily="34" charset="-120"/>
              </a:rPr>
              <a:t>📷 캡처: 지역 범위 4단계 집계 카드</a:t>
            </a:r>
            <a:endParaRPr lang="en-US" sz="1000" dirty="0"/>
          </a:p>
          <a:p>
            <a:pPr algn="ctr" indent="0" marL="0">
              <a:buNone/>
            </a:pPr>
            <a:r>
              <a:rPr lang="en-US" sz="1000" dirty="0">
                <a:solidFill>
                  <a:srgbClr val="6B6B66"/>
                </a:solidFill>
                <a:latin typeface="Calibri" pitchFamily="34" charset="0"/>
                <a:ea typeface="Calibri" pitchFamily="34" charset="-122"/>
                <a:cs typeface="Calibri" pitchFamily="34" charset="-120"/>
              </a:rPr>
              <a:t>(원본 특정 20 / 본문 후보 49 / 서울시 전체 5 / 미확인 750)</a:t>
            </a:r>
            <a:endParaRPr lang="en-US" sz="1000" dirty="0"/>
          </a:p>
        </p:txBody>
      </p:sp>
      <p:pic>
        <p:nvPicPr>
          <p:cNvPr id="19" name="Image 0" descr="/sessions/amazing-vigilant-gauss/mnt/outputs/Slide_4-1대시보드들고있는.png">    </p:cNvPr>
          <p:cNvPicPr>
            <a:picLocks noChangeAspect="1"/>
          </p:cNvPicPr>
          <p:nvPr/>
        </p:nvPicPr>
        <p:blipFill>
          <a:blip r:embed="rId1"/>
          <a:stretch>
            <a:fillRect/>
          </a:stretch>
        </p:blipFill>
        <p:spPr>
          <a:xfrm>
            <a:off x="4114800" y="4754880"/>
            <a:ext cx="1188720" cy="1188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간단 라이브 시연</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1371600"/>
            <a:ext cx="10360152" cy="640080"/>
          </a:xfrm>
          <a:prstGeom prst="rect">
            <a:avLst/>
          </a:prstGeom>
          <a:noFill/>
          <a:ln/>
        </p:spPr>
        <p:txBody>
          <a:bodyPr wrap="square" lIns="0" tIns="0" rIns="0" bIns="0" rtlCol="0" anchor="ctr"/>
          <a:lstStyle/>
          <a:p>
            <a:pPr algn="ctr" indent="0" marL="0">
              <a:buNone/>
            </a:pPr>
            <a:r>
              <a:rPr lang="en-US" sz="2200" b="1" dirty="0">
                <a:solidFill>
                  <a:srgbClr val="1B2340"/>
                </a:solidFill>
                <a:latin typeface="Calibri" pitchFamily="34" charset="0"/>
                <a:ea typeface="Calibri" pitchFamily="34" charset="-122"/>
                <a:cs typeface="Calibri" pitchFamily="34" charset="-120"/>
              </a:rPr>
              <a:t>실제 배포된 화면에서 필터 전환을 확인합니다</a:t>
            </a:r>
            <a:endParaRPr lang="en-US" sz="2200" dirty="0"/>
          </a:p>
        </p:txBody>
      </p:sp>
      <p:sp>
        <p:nvSpPr>
          <p:cNvPr id="11" name="Text 9"/>
          <p:cNvSpPr/>
          <p:nvPr/>
        </p:nvSpPr>
        <p:spPr>
          <a:xfrm>
            <a:off x="2743200" y="2560320"/>
            <a:ext cx="6702552" cy="548640"/>
          </a:xfrm>
          <a:prstGeom prst="rect">
            <a:avLst/>
          </a:prstGeom>
          <a:solidFill>
            <a:srgbClr val="2E4ABF"/>
          </a:solid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https://ukkkk-two.vercel.app</a:t>
            </a:r>
            <a:endParaRPr lang="en-US" sz="1600" dirty="0"/>
          </a:p>
        </p:txBody>
      </p:sp>
      <p:sp>
        <p:nvSpPr>
          <p:cNvPr id="12" name="Text 10"/>
          <p:cNvSpPr/>
          <p:nvPr/>
        </p:nvSpPr>
        <p:spPr>
          <a:xfrm>
            <a:off x="2743200" y="3474720"/>
            <a:ext cx="6702552" cy="36576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① 브라우저 전환 → 전체 상태 확인</a:t>
            </a:r>
            <a:endParaRPr lang="en-US" sz="1300" dirty="0"/>
          </a:p>
        </p:txBody>
      </p:sp>
      <p:sp>
        <p:nvSpPr>
          <p:cNvPr id="13" name="Text 11"/>
          <p:cNvSpPr/>
          <p:nvPr/>
        </p:nvSpPr>
        <p:spPr>
          <a:xfrm>
            <a:off x="2743200" y="3886200"/>
            <a:ext cx="6702552" cy="36576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② 대분류 '보육·돌봄 인프라' → R&amp;R '가족건강팀' 선택</a:t>
            </a:r>
            <a:endParaRPr lang="en-US" sz="1300" dirty="0"/>
          </a:p>
        </p:txBody>
      </p:sp>
      <p:sp>
        <p:nvSpPr>
          <p:cNvPr id="14" name="Text 12"/>
          <p:cNvSpPr/>
          <p:nvPr/>
        </p:nvSpPr>
        <p:spPr>
          <a:xfrm>
            <a:off x="2743200" y="4297680"/>
            <a:ext cx="6702552" cy="36576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③ 사이드바에서 탭 1~2개 빠르게 전환</a:t>
            </a:r>
            <a:endParaRPr lang="en-US" sz="1300" dirty="0"/>
          </a:p>
        </p:txBody>
      </p:sp>
      <p:sp>
        <p:nvSpPr>
          <p:cNvPr id="15" name="Text 13"/>
          <p:cNvSpPr/>
          <p:nvPr/>
        </p:nvSpPr>
        <p:spPr>
          <a:xfrm>
            <a:off x="2743200" y="4709160"/>
            <a:ext cx="6702552" cy="36576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④ PPT로 복귀</a:t>
            </a:r>
            <a:endParaRPr lang="en-US" sz="1300" dirty="0"/>
          </a:p>
        </p:txBody>
      </p:sp>
      <p:sp>
        <p:nvSpPr>
          <p:cNvPr id="16" name="Text 14"/>
          <p:cNvSpPr/>
          <p:nvPr/>
        </p:nvSpPr>
        <p:spPr>
          <a:xfrm>
            <a:off x="914400" y="5303520"/>
            <a:ext cx="10360152" cy="365760"/>
          </a:xfrm>
          <a:prstGeom prst="rect">
            <a:avLst/>
          </a:prstGeom>
          <a:noFill/>
          <a:ln/>
        </p:spPr>
        <p:txBody>
          <a:bodyPr wrap="square" lIns="0" tIns="0" rIns="0" bIns="0" rtlCol="0" anchor="ctr"/>
          <a:lstStyle/>
          <a:p>
            <a:pPr algn="ctr" indent="0" marL="0">
              <a:buNone/>
            </a:pPr>
            <a:r>
              <a:rPr lang="en-US" sz="1000" i="1" dirty="0">
                <a:solidFill>
                  <a:srgbClr val="6B6B66"/>
                </a:solidFill>
                <a:latin typeface="Calibri" pitchFamily="34" charset="0"/>
                <a:ea typeface="Calibri" pitchFamily="34" charset="-122"/>
                <a:cs typeface="Calibri" pitchFamily="34" charset="-120"/>
              </a:rPr>
              <a:t>네트워크 불안정 시 이 슬라이드 건너뛰기 — 캡처로 이미 설명 완료</a:t>
            </a:r>
            <a:endParaRPr lang="en-US" sz="1000" dirty="0"/>
          </a:p>
        </p:txBody>
      </p:sp>
      <p:pic>
        <p:nvPicPr>
          <p:cNvPr id="17" name="Image 0" descr="/sessions/amazing-vigilant-gauss/mnt/outputs/Slide_3-1플래시키는.png">    </p:cNvPr>
          <p:cNvPicPr>
            <a:picLocks noChangeAspect="1"/>
          </p:cNvPicPr>
          <p:nvPr/>
        </p:nvPicPr>
        <p:blipFill>
          <a:blip r:embed="rId1"/>
          <a:stretch>
            <a:fillRect/>
          </a:stretch>
        </p:blipFill>
        <p:spPr>
          <a:xfrm>
            <a:off x="457200" y="3200400"/>
            <a:ext cx="1645920" cy="1645920"/>
          </a:xfrm>
          <a:prstGeom prst="rect">
            <a:avLst/>
          </a:prstGeom>
        </p:spPr>
      </p:pic>
      <p:sp>
        <p:nvSpPr>
          <p:cNvPr id="18" name="Shape 15"/>
          <p:cNvSpPr/>
          <p:nvPr/>
        </p:nvSpPr>
        <p:spPr>
          <a:xfrm>
            <a:off x="-2743200" y="3291840"/>
            <a:ext cx="3108960" cy="594360"/>
          </a:xfrm>
          <a:prstGeom prst="roundRect">
            <a:avLst>
              <a:gd name="adj" fmla="val 23077"/>
            </a:avLst>
          </a:prstGeom>
          <a:solidFill>
            <a:srgbClr val="FCFBE6"/>
          </a:solidFill>
          <a:ln w="12700">
            <a:solidFill>
              <a:srgbClr val="C6C6BE"/>
            </a:solidFill>
            <a:prstDash val="solid"/>
          </a:ln>
        </p:spPr>
      </p:sp>
      <p:sp>
        <p:nvSpPr>
          <p:cNvPr id="19" name="Text 16"/>
          <p:cNvSpPr/>
          <p:nvPr/>
        </p:nvSpPr>
        <p:spPr>
          <a:xfrm>
            <a:off x="-2743200" y="3291840"/>
            <a:ext cx="3108960" cy="594360"/>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앞서 보신 캡처와 동일합니다</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확인한 것과 다음 과제</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Shape 8"/>
          <p:cNvSpPr/>
          <p:nvPr/>
        </p:nvSpPr>
        <p:spPr>
          <a:xfrm>
            <a:off x="640080" y="822960"/>
            <a:ext cx="5303520" cy="5120640"/>
          </a:xfrm>
          <a:prstGeom prst="roundRect">
            <a:avLst>
              <a:gd name="adj" fmla="val 1786"/>
            </a:avLst>
          </a:prstGeom>
          <a:solidFill>
            <a:srgbClr val="EFEFEA"/>
          </a:solidFill>
          <a:ln w="12700">
            <a:solidFill>
              <a:srgbClr val="05433D"/>
            </a:solidFill>
            <a:prstDash val="solid"/>
          </a:ln>
        </p:spPr>
      </p:sp>
      <p:sp>
        <p:nvSpPr>
          <p:cNvPr id="11" name="Text 9"/>
          <p:cNvSpPr/>
          <p:nvPr/>
        </p:nvSpPr>
        <p:spPr>
          <a:xfrm>
            <a:off x="640080" y="822960"/>
            <a:ext cx="5303520" cy="457200"/>
          </a:xfrm>
          <a:prstGeom prst="rect">
            <a:avLst/>
          </a:prstGeom>
          <a:solidFill>
            <a:srgbClr val="05433D"/>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확인한 것</a:t>
            </a:r>
            <a:endParaRPr lang="en-US" sz="1500" dirty="0"/>
          </a:p>
        </p:txBody>
      </p:sp>
      <p:sp>
        <p:nvSpPr>
          <p:cNvPr id="12" name="Text 10"/>
          <p:cNvSpPr/>
          <p:nvPr/>
        </p:nvSpPr>
        <p:spPr>
          <a:xfrm>
            <a:off x="914400" y="1463040"/>
            <a:ext cx="475488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  824건 → 179건 → 20건 후보 축소</a:t>
            </a:r>
            <a:endParaRPr lang="en-US" sz="1300" dirty="0"/>
          </a:p>
        </p:txBody>
      </p:sp>
      <p:sp>
        <p:nvSpPr>
          <p:cNvPr id="13" name="Text 11"/>
          <p:cNvSpPr/>
          <p:nvPr/>
        </p:nvSpPr>
        <p:spPr>
          <a:xfrm>
            <a:off x="914400" y="2103120"/>
            <a:ext cx="475488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  10개 화면 범위 연동</a:t>
            </a:r>
            <a:endParaRPr lang="en-US" sz="1300" dirty="0"/>
          </a:p>
        </p:txBody>
      </p:sp>
      <p:sp>
        <p:nvSpPr>
          <p:cNvPr id="14" name="Text 12"/>
          <p:cNvSpPr/>
          <p:nvPr/>
        </p:nvSpPr>
        <p:spPr>
          <a:xfrm>
            <a:off x="914400" y="2743200"/>
            <a:ext cx="475488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  원문·R&amp;R 1·2·3순위·공식 URL 한 카드 확인</a:t>
            </a:r>
            <a:endParaRPr lang="en-US" sz="1300" dirty="0"/>
          </a:p>
        </p:txBody>
      </p:sp>
      <p:sp>
        <p:nvSpPr>
          <p:cNvPr id="15" name="Text 13"/>
          <p:cNvSpPr/>
          <p:nvPr/>
        </p:nvSpPr>
        <p:spPr>
          <a:xfrm>
            <a:off x="914400" y="3383280"/>
            <a:ext cx="475488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  동일 범위 3종 보고서 생성</a:t>
            </a:r>
            <a:endParaRPr lang="en-US" sz="1300" dirty="0"/>
          </a:p>
        </p:txBody>
      </p:sp>
      <p:sp>
        <p:nvSpPr>
          <p:cNvPr id="16" name="Shape 14"/>
          <p:cNvSpPr/>
          <p:nvPr/>
        </p:nvSpPr>
        <p:spPr>
          <a:xfrm>
            <a:off x="6217920" y="822960"/>
            <a:ext cx="5303520" cy="5120640"/>
          </a:xfrm>
          <a:prstGeom prst="roundRect">
            <a:avLst>
              <a:gd name="adj" fmla="val 1786"/>
            </a:avLst>
          </a:prstGeom>
          <a:solidFill>
            <a:srgbClr val="EFEFEA"/>
          </a:solidFill>
          <a:ln w="12700">
            <a:solidFill>
              <a:srgbClr val="2E4ABF"/>
            </a:solidFill>
            <a:prstDash val="solid"/>
          </a:ln>
        </p:spPr>
      </p:sp>
      <p:sp>
        <p:nvSpPr>
          <p:cNvPr id="17" name="Text 15"/>
          <p:cNvSpPr/>
          <p:nvPr/>
        </p:nvSpPr>
        <p:spPr>
          <a:xfrm>
            <a:off x="6217920" y="822960"/>
            <a:ext cx="5303520" cy="457200"/>
          </a:xfrm>
          <a:prstGeom prst="rect">
            <a:avLst/>
          </a:prstGeom>
          <a:solidFill>
            <a:srgbClr val="2E4AB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다음 과제</a:t>
            </a:r>
            <a:endParaRPr lang="en-US" sz="1500" dirty="0"/>
          </a:p>
        </p:txBody>
      </p:sp>
      <p:sp>
        <p:nvSpPr>
          <p:cNvPr id="18" name="Text 16"/>
          <p:cNvSpPr/>
          <p:nvPr/>
        </p:nvSpPr>
        <p:spPr>
          <a:xfrm>
            <a:off x="6492240" y="1463040"/>
            <a:ext cx="4754880" cy="365760"/>
          </a:xfrm>
          <a:prstGeom prst="rect">
            <a:avLst/>
          </a:prstGeom>
          <a:noFill/>
          <a:ln/>
        </p:spPr>
        <p:txBody>
          <a:bodyPr wrap="square" lIns="0" tIns="0" rIns="0" bIns="0" rtlCol="0" anchor="ctr"/>
          <a:lstStyle/>
          <a:p>
            <a:pPr indent="0" marL="0">
              <a:buNone/>
            </a:pPr>
            <a:r>
              <a:rPr lang="en-US" sz="1300" b="1" dirty="0">
                <a:solidFill>
                  <a:srgbClr val="2E4ABF"/>
                </a:solidFill>
                <a:latin typeface="Calibri" pitchFamily="34" charset="0"/>
                <a:ea typeface="Calibri" pitchFamily="34" charset="-122"/>
                <a:cs typeface="Calibri" pitchFamily="34" charset="-120"/>
              </a:rPr>
              <a:t>STEP 1 · 데이터 운영화</a:t>
            </a:r>
            <a:endParaRPr lang="en-US" sz="1300" dirty="0"/>
          </a:p>
        </p:txBody>
      </p:sp>
      <p:sp>
        <p:nvSpPr>
          <p:cNvPr id="19" name="Text 17"/>
          <p:cNvSpPr/>
          <p:nvPr/>
        </p:nvSpPr>
        <p:spPr>
          <a:xfrm>
            <a:off x="6492240" y="1828800"/>
            <a:ext cx="4754880" cy="36576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정기 수집, 원문 확보율</a:t>
            </a:r>
            <a:endParaRPr lang="en-US" sz="1200" dirty="0"/>
          </a:p>
        </p:txBody>
      </p:sp>
      <p:sp>
        <p:nvSpPr>
          <p:cNvPr id="20" name="Text 18"/>
          <p:cNvSpPr/>
          <p:nvPr/>
        </p:nvSpPr>
        <p:spPr>
          <a:xfrm>
            <a:off x="6492240" y="2560320"/>
            <a:ext cx="4754880" cy="365760"/>
          </a:xfrm>
          <a:prstGeom prst="rect">
            <a:avLst/>
          </a:prstGeom>
          <a:noFill/>
          <a:ln/>
        </p:spPr>
        <p:txBody>
          <a:bodyPr wrap="square" lIns="0" tIns="0" rIns="0" bIns="0" rtlCol="0" anchor="ctr"/>
          <a:lstStyle/>
          <a:p>
            <a:pPr indent="0" marL="0">
              <a:buNone/>
            </a:pPr>
            <a:r>
              <a:rPr lang="en-US" sz="1300" b="1" dirty="0">
                <a:solidFill>
                  <a:srgbClr val="2E4ABF"/>
                </a:solidFill>
                <a:latin typeface="Calibri" pitchFamily="34" charset="0"/>
                <a:ea typeface="Calibri" pitchFamily="34" charset="-122"/>
                <a:cs typeface="Calibri" pitchFamily="34" charset="-120"/>
              </a:rPr>
              <a:t>STEP 2 · 행정 검증</a:t>
            </a:r>
            <a:endParaRPr lang="en-US" sz="1300" dirty="0"/>
          </a:p>
        </p:txBody>
      </p:sp>
      <p:sp>
        <p:nvSpPr>
          <p:cNvPr id="21" name="Text 19"/>
          <p:cNvSpPr/>
          <p:nvPr/>
        </p:nvSpPr>
        <p:spPr>
          <a:xfrm>
            <a:off x="6492240" y="2926080"/>
            <a:ext cx="4754880" cy="36576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R&amp;R 정답셋, 결측 복원 성능</a:t>
            </a:r>
            <a:endParaRPr lang="en-US" sz="1200" dirty="0"/>
          </a:p>
        </p:txBody>
      </p:sp>
      <p:sp>
        <p:nvSpPr>
          <p:cNvPr id="22" name="Text 20"/>
          <p:cNvSpPr/>
          <p:nvPr/>
        </p:nvSpPr>
        <p:spPr>
          <a:xfrm>
            <a:off x="6492240" y="3657600"/>
            <a:ext cx="4754880" cy="365760"/>
          </a:xfrm>
          <a:prstGeom prst="rect">
            <a:avLst/>
          </a:prstGeom>
          <a:noFill/>
          <a:ln/>
        </p:spPr>
        <p:txBody>
          <a:bodyPr wrap="square" lIns="0" tIns="0" rIns="0" bIns="0" rtlCol="0" anchor="ctr"/>
          <a:lstStyle/>
          <a:p>
            <a:pPr indent="0" marL="0">
              <a:buNone/>
            </a:pPr>
            <a:r>
              <a:rPr lang="en-US" sz="1300" b="1" dirty="0">
                <a:solidFill>
                  <a:srgbClr val="2E4ABF"/>
                </a:solidFill>
                <a:latin typeface="Calibri" pitchFamily="34" charset="0"/>
                <a:ea typeface="Calibri" pitchFamily="34" charset="-122"/>
                <a:cs typeface="Calibri" pitchFamily="34" charset="-120"/>
              </a:rPr>
              <a:t>STEP 3 · 서비스 안정화</a:t>
            </a:r>
            <a:endParaRPr lang="en-US" sz="1300" dirty="0"/>
          </a:p>
        </p:txBody>
      </p:sp>
      <p:sp>
        <p:nvSpPr>
          <p:cNvPr id="23" name="Text 21"/>
          <p:cNvSpPr/>
          <p:nvPr/>
        </p:nvSpPr>
        <p:spPr>
          <a:xfrm>
            <a:off x="6492240" y="4023360"/>
            <a:ext cx="4754880" cy="36576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DB 분리, 권한, 실제 PDF/HWP</a:t>
            </a:r>
            <a:endParaRPr lang="en-US" sz="1200" dirty="0"/>
          </a:p>
        </p:txBody>
      </p:sp>
      <p:pic>
        <p:nvPicPr>
          <p:cNvPr id="24" name="Image 0" descr="/sessions/amazing-vigilant-gauss/mnt/outputs/Slide_5-3경례하는.png">    </p:cNvPr>
          <p:cNvPicPr>
            <a:picLocks noChangeAspect="1"/>
          </p:cNvPicPr>
          <p:nvPr/>
        </p:nvPicPr>
        <p:blipFill>
          <a:blip r:embed="rId1"/>
          <a:stretch>
            <a:fillRect/>
          </a:stretch>
        </p:blipFill>
        <p:spPr>
          <a:xfrm>
            <a:off x="6858000" y="4572000"/>
            <a:ext cx="1371600" cy="1371600"/>
          </a:xfrm>
          <a:prstGeom prst="rect">
            <a:avLst/>
          </a:prstGeom>
        </p:spPr>
      </p:pic>
      <p:sp>
        <p:nvSpPr>
          <p:cNvPr id="25" name="Shape 22"/>
          <p:cNvSpPr/>
          <p:nvPr/>
        </p:nvSpPr>
        <p:spPr>
          <a:xfrm>
            <a:off x="3657600" y="4663440"/>
            <a:ext cx="3108960" cy="594360"/>
          </a:xfrm>
          <a:prstGeom prst="roundRect">
            <a:avLst>
              <a:gd name="adj" fmla="val 23077"/>
            </a:avLst>
          </a:prstGeom>
          <a:solidFill>
            <a:srgbClr val="FCFBE6"/>
          </a:solidFill>
          <a:ln w="12700">
            <a:solidFill>
              <a:srgbClr val="C6C6BE"/>
            </a:solidFill>
            <a:prstDash val="solid"/>
          </a:ln>
        </p:spPr>
      </p:sp>
      <p:sp>
        <p:nvSpPr>
          <p:cNvPr id="26" name="Text 23"/>
          <p:cNvSpPr/>
          <p:nvPr/>
        </p:nvSpPr>
        <p:spPr>
          <a:xfrm>
            <a:off x="3657600" y="4663440"/>
            <a:ext cx="3108960" cy="594360"/>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정확도와 운영 책임을 먼저 검증한 뒤 확장할게요</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하나의 검토 결과</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1645920"/>
            <a:ext cx="10360152" cy="1097280"/>
          </a:xfrm>
          <a:prstGeom prst="rect">
            <a:avLst/>
          </a:prstGeom>
          <a:noFill/>
          <a:ln/>
        </p:spPr>
        <p:txBody>
          <a:bodyPr wrap="square" lIns="0" tIns="0" rIns="0" bIns="0" rtlCol="0" anchor="ctr"/>
          <a:lstStyle/>
          <a:p>
            <a:pPr algn="ctr" indent="0" marL="0">
              <a:buNone/>
            </a:pPr>
            <a:r>
              <a:rPr lang="en-US" sz="4000" b="1" dirty="0">
                <a:solidFill>
                  <a:srgbClr val="1B2340"/>
                </a:solidFill>
                <a:latin typeface="Calibri" pitchFamily="34" charset="0"/>
                <a:ea typeface="Calibri" pitchFamily="34" charset="-122"/>
                <a:cs typeface="Calibri" pitchFamily="34" charset="-120"/>
              </a:rPr>
              <a:t>수요 → 근거 → 조치</a:t>
            </a:r>
            <a:endParaRPr lang="en-US" sz="4000" dirty="0"/>
          </a:p>
        </p:txBody>
      </p:sp>
      <p:sp>
        <p:nvSpPr>
          <p:cNvPr id="11" name="Text 9"/>
          <p:cNvSpPr/>
          <p:nvPr/>
        </p:nvSpPr>
        <p:spPr>
          <a:xfrm>
            <a:off x="914400" y="2926080"/>
            <a:ext cx="10360152" cy="548640"/>
          </a:xfrm>
          <a:prstGeom prst="rect">
            <a:avLst/>
          </a:prstGeom>
          <a:noFill/>
          <a:ln/>
        </p:spPr>
        <p:txBody>
          <a:bodyPr wrap="square" lIns="0" tIns="0" rIns="0" bIns="0" rtlCol="0" anchor="ctr"/>
          <a:lstStyle/>
          <a:p>
            <a:pPr algn="ctr" indent="0" marL="0">
              <a:buNone/>
            </a:pPr>
            <a:r>
              <a:rPr lang="en-US" sz="1600" dirty="0">
                <a:solidFill>
                  <a:srgbClr val="444444"/>
                </a:solidFill>
                <a:latin typeface="Calibri" pitchFamily="34" charset="0"/>
                <a:ea typeface="Calibri" pitchFamily="34" charset="-122"/>
                <a:cs typeface="Calibri" pitchFamily="34" charset="-120"/>
              </a:rPr>
              <a:t>8개 화면을 하나의 검토 흐름으로 연결합니다</a:t>
            </a:r>
            <a:endParaRPr lang="en-US" sz="1600" dirty="0"/>
          </a:p>
        </p:txBody>
      </p:sp>
      <p:pic>
        <p:nvPicPr>
          <p:cNvPr id="12" name="Image 0" descr="/sessions/amazing-vigilant-gauss/mnt/outputs/Slide_0손흔드는.png">    </p:cNvPr>
          <p:cNvPicPr>
            <a:picLocks noChangeAspect="1"/>
          </p:cNvPicPr>
          <p:nvPr/>
        </p:nvPicPr>
        <p:blipFill>
          <a:blip r:embed="rId1"/>
          <a:stretch>
            <a:fillRect/>
          </a:stretch>
        </p:blipFill>
        <p:spPr>
          <a:xfrm>
            <a:off x="7315200" y="3840480"/>
            <a:ext cx="2011680" cy="2011680"/>
          </a:xfrm>
          <a:prstGeom prst="rect">
            <a:avLst/>
          </a:prstGeom>
        </p:spPr>
      </p:pic>
      <p:sp>
        <p:nvSpPr>
          <p:cNvPr id="13" name="Shape 10"/>
          <p:cNvSpPr/>
          <p:nvPr/>
        </p:nvSpPr>
        <p:spPr>
          <a:xfrm>
            <a:off x="4114800" y="3931920"/>
            <a:ext cx="3108960" cy="594360"/>
          </a:xfrm>
          <a:prstGeom prst="roundRect">
            <a:avLst>
              <a:gd name="adj" fmla="val 23077"/>
            </a:avLst>
          </a:prstGeom>
          <a:solidFill>
            <a:srgbClr val="FCFBE6"/>
          </a:solidFill>
          <a:ln w="12700">
            <a:solidFill>
              <a:srgbClr val="C6C6BE"/>
            </a:solidFill>
            <a:prstDash val="solid"/>
          </a:ln>
        </p:spPr>
      </p:sp>
      <p:sp>
        <p:nvSpPr>
          <p:cNvPr id="14" name="Text 11"/>
          <p:cNvSpPr/>
          <p:nvPr/>
        </p:nvSpPr>
        <p:spPr>
          <a:xfrm>
            <a:off x="4114800" y="3931920"/>
            <a:ext cx="3108960" cy="594360"/>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모르는 것은 표시하고, 근거는 연결하고, 결정은 사람이 합니다</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APPENDIX A · 데이터·모델</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4754880"/>
          </a:xfrm>
          <a:prstGeom prst="rect">
            <a:avLst/>
          </a:prstGeom>
          <a:noFill/>
          <a:ln/>
        </p:spPr>
        <p:txBody>
          <a:bodyPr wrap="square" lIns="0" tIns="0" rIns="0" bIns="0" rtlCol="0" anchor="ctr"/>
          <a:lstStyle/>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DATA &amp; MODEL · 재현성과 한계</a:t>
            </a:r>
            <a:endParaRPr lang="en-US" sz="1200" dirty="0"/>
          </a:p>
          <a:p>
            <a:pPr indent="0" marL="0">
              <a:lnSpc>
                <a:spcPts val="2000"/>
              </a:lnSpc>
              <a:buNone/>
            </a:pP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1. 입력 피처: 건수·공감·댓글·답변·날짜·본문·지역·정책/뉴스/통계</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2. 분류·군집: 8대 대분류→중·소분류 / 전체 57개 문제 군집</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3. Gap 결과: 수요·공백·시급성·실행성·근거 신뢰도</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4. R&amp;R 결과: 실제 업무분장 기반 주관 1순위·협조 2·3순위 후보</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5. 최종 결정: 담당자가 원문과 근거를 대조해 수정·승인·반려</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6. 후속 검증: 군집 안정성·R&amp;R 수용률·임계값 민감도·보고서 수정률</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APPENDIX B · 텍스트 파싱</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4754880"/>
          </a:xfrm>
          <a:prstGeom prst="rect">
            <a:avLst/>
          </a:prstGeom>
          <a:noFill/>
          <a:ln/>
        </p:spPr>
        <p:txBody>
          <a:bodyPr wrap="square" lIns="0" tIns="0" rIns="0" bIns="0" rtlCol="0" anchor="ctr"/>
          <a:lstStyle/>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TEXT PIPELINE · 모델별 입력과 출력</a:t>
            </a:r>
            <a:endParaRPr lang="en-US" sz="1200" dirty="0"/>
          </a:p>
          <a:p>
            <a:pPr indent="0" marL="0">
              <a:lnSpc>
                <a:spcPts val="2000"/>
              </a:lnSpc>
              <a:buNone/>
            </a:pP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1. 공통 전처리: 조사·접미사 제거 → 유사어 통합 → 불용어 제거</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2. 계층 분류: 규칙 키워드+원 분류 부스트 → 8대·중·소분류·신뢰도</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3. 의미 분류·군집: KR-SBERT 코사인 유사도 → 의미 분류·cluster_id</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4. 뉴스 파싱: 규칙 → 기존 분류 → 수집 분류 → NMF 토픽 맵</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5. 지역 파싱: 자치구 키워드+모호어 감점 → 후보·점수·근거어</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6. R&amp;R 파싱: 업무분장+본문 가중치 → 주관 1순위·협조 2·3순위</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APPENDIX C · 필터·R&amp;R 모델</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4754880"/>
          </a:xfrm>
          <a:prstGeom prst="rect">
            <a:avLst/>
          </a:prstGeom>
          <a:noFill/>
          <a:ln/>
        </p:spPr>
        <p:txBody>
          <a:bodyPr wrap="square" lIns="0" tIns="0" rIns="0" bIns="0" rtlCol="0" anchor="ctr"/>
          <a:lstStyle/>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MODEL DEFINITION · 규칙·가중치 기반</a:t>
            </a:r>
            <a:endParaRPr lang="en-US" sz="1200" dirty="0"/>
          </a:p>
          <a:p>
            <a:pPr indent="0" marL="0">
              <a:lnSpc>
                <a:spcPts val="2000"/>
              </a:lnSpc>
              <a:buNone/>
            </a:pP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1. 목적: 정책 분류와 실제 조직을 분리해 검색 의미를 명확히 함</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2. 입력: 카테고리·제목·본문·기존 담당 후보 + 업무분장 18행</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3. 전처리: 8대 담당군 정규화 · 본문 토큰과 업무분장 키워드 대조</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4. 랭킹: 카테고리·업무 +30 · 키워드 +10 · 기존 담당 후보 +50</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5. 출력: 주관 1순위 · 협조 2·3순위 · 연락처 · 업무·매칭 근거</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6. 검색 규칙: 전체+팀은 1·2·3순위 / 대분류+팀은 분류 범위와 교차</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5433D"/>
          </a:solidFill>
          <a:ln/>
        </p:spPr>
      </p:sp>
      <p:sp>
        <p:nvSpPr>
          <p:cNvPr id="3" name="Text 1"/>
          <p:cNvSpPr/>
          <p:nvPr/>
        </p:nvSpPr>
        <p:spPr>
          <a:xfrm>
            <a:off x="274320" y="45720"/>
            <a:ext cx="914400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새싹이 오피스 길잡이   —   APPENDIX D · 산출물</a:t>
            </a:r>
            <a:endParaRPr lang="en-US" sz="1300" dirty="0"/>
          </a:p>
        </p:txBody>
      </p:sp>
      <p:sp>
        <p:nvSpPr>
          <p:cNvPr id="4" name="Text 2"/>
          <p:cNvSpPr/>
          <p:nvPr/>
        </p:nvSpPr>
        <p:spPr>
          <a:xfrm>
            <a:off x="10515600" y="45720"/>
            <a:ext cx="1554480" cy="41148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_    ❑    ✕</a:t>
            </a:r>
            <a:endParaRPr lang="en-US" sz="1300" dirty="0"/>
          </a:p>
        </p:txBody>
      </p:sp>
      <p:sp>
        <p:nvSpPr>
          <p:cNvPr id="5" name="Shape 3"/>
          <p:cNvSpPr/>
          <p:nvPr/>
        </p:nvSpPr>
        <p:spPr>
          <a:xfrm>
            <a:off x="0" y="6400800"/>
            <a:ext cx="12188952" cy="457200"/>
          </a:xfrm>
          <a:prstGeom prst="rect">
            <a:avLst/>
          </a:prstGeom>
          <a:solidFill>
            <a:srgbClr val="D6D6CE"/>
          </a:solidFill>
          <a:ln/>
        </p:spPr>
      </p:sp>
      <p:sp>
        <p:nvSpPr>
          <p:cNvPr id="6" name="Text 4"/>
          <p:cNvSpPr/>
          <p:nvPr/>
        </p:nvSpPr>
        <p:spPr>
          <a:xfrm>
            <a:off x="137160" y="6446520"/>
            <a:ext cx="640080" cy="320040"/>
          </a:xfrm>
          <a:prstGeom prst="rect">
            <a:avLst/>
          </a:prstGeom>
          <a:solidFill>
            <a:srgbClr val="05433D"/>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시작</a:t>
            </a:r>
            <a:endParaRPr lang="en-US" sz="1000" dirty="0"/>
          </a:p>
        </p:txBody>
      </p:sp>
      <p:sp>
        <p:nvSpPr>
          <p:cNvPr id="7" name="Text 5"/>
          <p:cNvSpPr/>
          <p:nvPr/>
        </p:nvSpPr>
        <p:spPr>
          <a:xfrm>
            <a:off x="914400" y="6446520"/>
            <a:ext cx="1097280" cy="320040"/>
          </a:xfrm>
          <a:prstGeom prst="rect">
            <a:avLst/>
          </a:prstGeom>
          <a:noFill/>
          <a:ln/>
        </p:spPr>
        <p:txBody>
          <a:bodyPr wrap="square" lIns="0" tIns="0" rIns="0" bIns="0" rtlCol="0" anchor="ctr"/>
          <a:lstStyle/>
          <a:p>
            <a:pPr indent="0" marL="0">
              <a:buNone/>
            </a:pPr>
            <a:r>
              <a:rPr lang="en-US" sz="1000" dirty="0">
                <a:solidFill>
                  <a:srgbClr val="444444"/>
                </a:solidFill>
                <a:latin typeface="Calibri" pitchFamily="34" charset="0"/>
                <a:ea typeface="Calibri" pitchFamily="34" charset="-122"/>
                <a:cs typeface="Calibri" pitchFamily="34" charset="-120"/>
              </a:rPr>
              <a:t>UKKKK.exe</a:t>
            </a:r>
            <a:endParaRPr lang="en-US" sz="1000" dirty="0"/>
          </a:p>
        </p:txBody>
      </p:sp>
      <p:sp>
        <p:nvSpPr>
          <p:cNvPr id="8" name="Shape 6"/>
          <p:cNvSpPr/>
          <p:nvPr/>
        </p:nvSpPr>
        <p:spPr>
          <a:xfrm>
            <a:off x="0" y="502920"/>
            <a:ext cx="12188952" cy="5897880"/>
          </a:xfrm>
          <a:prstGeom prst="rect">
            <a:avLst/>
          </a:prstGeom>
          <a:solidFill>
            <a:srgbClr val="EFEFEA"/>
          </a:solidFill>
          <a:ln/>
        </p:spPr>
      </p:sp>
      <p:sp>
        <p:nvSpPr>
          <p:cNvPr id="9" name="Shape 7"/>
          <p:cNvSpPr/>
          <p:nvPr/>
        </p:nvSpPr>
        <p:spPr>
          <a:xfrm>
            <a:off x="457200" y="731520"/>
            <a:ext cx="11274552" cy="5394960"/>
          </a:xfrm>
          <a:prstGeom prst="rect">
            <a:avLst/>
          </a:prstGeom>
          <a:solidFill>
            <a:srgbClr val="FFFFFF"/>
          </a:solidFill>
          <a:ln/>
          <a:effectLst>
            <a:outerShdw sx="100000" sy="100000" kx="0" ky="0" algn="bl" rotWithShape="0" blurRad="50800" dist="25400" dir="8100000">
              <a:srgbClr val="888888">
                <a:alpha val="20000"/>
              </a:srgbClr>
            </a:outerShdw>
          </a:effectLst>
        </p:spPr>
      </p:sp>
      <p:sp>
        <p:nvSpPr>
          <p:cNvPr id="10" name="Text 8"/>
          <p:cNvSpPr/>
          <p:nvPr/>
        </p:nvSpPr>
        <p:spPr>
          <a:xfrm>
            <a:off x="914400" y="914400"/>
            <a:ext cx="10360152" cy="4754880"/>
          </a:xfrm>
          <a:prstGeom prst="rect">
            <a:avLst/>
          </a:prstGeom>
          <a:noFill/>
          <a:ln/>
        </p:spPr>
        <p:txBody>
          <a:bodyPr wrap="square" lIns="0" tIns="0" rIns="0" bIns="0" rtlCol="0" anchor="ctr"/>
          <a:lstStyle/>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DELIVERABLES · 실제 파일 기준</a:t>
            </a:r>
            <a:endParaRPr lang="en-US" sz="1200" dirty="0"/>
          </a:p>
          <a:p>
            <a:pPr indent="0" marL="0">
              <a:lnSpc>
                <a:spcPts val="2000"/>
              </a:lnSpc>
              <a:buNone/>
            </a:pP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1. 시스템 기획·PRD: docs/SYSTEM_DESIGN_PRD_ver3.md</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2. 데이터분석 정의서: docs/데이터분석정의서_ver3.md</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3. 발표 대본·시연: docs/발표자료/발표_대본_PPT구성_ver15.md</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4. 프론트엔드: React·TypeScript·Vite / frontend/src/App.tsx</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5. 데이터 검사: Python 동기화·정합성 검사 스크립트</a:t>
            </a:r>
            <a:endParaRPr lang="en-US" sz="1200" dirty="0"/>
          </a:p>
          <a:p>
            <a:pPr indent="0" marL="0">
              <a:lnSpc>
                <a:spcPts val="2000"/>
              </a:lnSpc>
              <a:buNone/>
            </a:pPr>
            <a:r>
              <a:rPr lang="en-US" sz="1200" dirty="0">
                <a:solidFill>
                  <a:srgbClr val="111111"/>
                </a:solidFill>
                <a:latin typeface="Calibri" pitchFamily="34" charset="0"/>
                <a:ea typeface="Calibri" pitchFamily="34" charset="-122"/>
                <a:cs typeface="Calibri" pitchFamily="34" charset="-120"/>
              </a:rPr>
              <a:t>6. 배포·생성형 AI: Vercel / Gemini 초안 + 템플릿 Fallback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2026-07-26T11:09:46Z</dcterms:created>
  <dcterms:modified xsi:type="dcterms:W3CDTF">2026-07-26T11:09:46Z</dcterms:modified>
</cp:coreProperties>
</file>