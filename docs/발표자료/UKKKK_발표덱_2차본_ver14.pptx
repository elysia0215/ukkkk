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9e99f656834ab6" /><Relationship Type="http://schemas.openxmlformats.org/officeDocument/2006/relationships/extended-properties" Target="/docProps/app.xml" Id="Reb18759673014021" /><Relationship Type="http://schemas.openxmlformats.org/officeDocument/2006/relationships/officeDocument" Target="/ppt/presentation.xml" Id="R034fa7ec12134c7d" /></Relationships>
</file>

<file path=ppt/presentation.xml><?xml version="1.0" encoding="utf-8"?>
<p:presentation xmlns:p="http://schemas.openxmlformats.org/presentationml/2006/main">
  <p:sldMasterIdLst>
    <p:sldMasterId xmlns:r="http://schemas.openxmlformats.org/officeDocument/2006/relationships" id="2147483648" r:id="R826c8c3a60454143"/>
  </p:sldMasterIdLst>
  <p:notesMasterIdLst>
    <p:notesMasterId xmlns:r="http://schemas.openxmlformats.org/officeDocument/2006/relationships" r:id="Rf10780e2e0b3438c"/>
  </p:notesMasterIdLst>
  <p:sldIdLst>
    <p:sldId xmlns:r="http://schemas.openxmlformats.org/officeDocument/2006/relationships" id="256" r:id="R7715616b91c5461b"/>
    <p:sldId xmlns:r="http://schemas.openxmlformats.org/officeDocument/2006/relationships" id="257" r:id="Rc2da26daa22e4631"/>
    <p:sldId xmlns:r="http://schemas.openxmlformats.org/officeDocument/2006/relationships" id="258" r:id="R5083b009046b4a75"/>
    <p:sldId xmlns:r="http://schemas.openxmlformats.org/officeDocument/2006/relationships" id="259" r:id="Reaba0bd4dcb347e9"/>
    <p:sldId xmlns:r="http://schemas.openxmlformats.org/officeDocument/2006/relationships" id="260" r:id="Rbb9327dfd3e04e9b"/>
    <p:sldId xmlns:r="http://schemas.openxmlformats.org/officeDocument/2006/relationships" id="261" r:id="Rff49c5537cd14e28"/>
    <p:sldId xmlns:r="http://schemas.openxmlformats.org/officeDocument/2006/relationships" id="262" r:id="Rea78f26c34ea4bd0"/>
    <p:sldId xmlns:r="http://schemas.openxmlformats.org/officeDocument/2006/relationships" id="263" r:id="R8ab987b0455e479b"/>
    <p:sldId xmlns:r="http://schemas.openxmlformats.org/officeDocument/2006/relationships" id="264" r:id="R0b01ce081a124acf"/>
    <p:sldId xmlns:r="http://schemas.openxmlformats.org/officeDocument/2006/relationships" id="265" r:id="Rfd10b204b9964fda"/>
    <p:sldId xmlns:r="http://schemas.openxmlformats.org/officeDocument/2006/relationships" id="266" r:id="R48568543166b4108"/>
    <p:sldId xmlns:r="http://schemas.openxmlformats.org/officeDocument/2006/relationships" id="267" r:id="R4932c5682f5a4fa3"/>
    <p:sldId xmlns:r="http://schemas.openxmlformats.org/officeDocument/2006/relationships" id="268" r:id="Rf5b64540e7e94909"/>
    <p:sldId xmlns:r="http://schemas.openxmlformats.org/officeDocument/2006/relationships" id="269" r:id="Rb49d828b7711457a"/>
    <p:sldId xmlns:r="http://schemas.openxmlformats.org/officeDocument/2006/relationships" id="270" r:id="Ra52a9e8102b94115"/>
    <p:sldId xmlns:r="http://schemas.openxmlformats.org/officeDocument/2006/relationships" id="271" r:id="Ra9ac4c607f4a444c"/>
    <p:sldId xmlns:r="http://schemas.openxmlformats.org/officeDocument/2006/relationships" id="272" r:id="R45674b601af8468d"/>
    <p:sldId xmlns:r="http://schemas.openxmlformats.org/officeDocument/2006/relationships" id="273" r:id="Reb2edb6211a84b83"/>
    <p:sldId xmlns:r="http://schemas.openxmlformats.org/officeDocument/2006/relationships" id="274" r:id="Rf39d4875ceb44c27"/>
    <p:sldId xmlns:r="http://schemas.openxmlformats.org/officeDocument/2006/relationships" id="275" r:id="R3cb4680b70174ae8"/>
    <p:sldId xmlns:r="http://schemas.openxmlformats.org/officeDocument/2006/relationships" id="276" r:id="Re0998f5f17174880"/>
    <p:sldId xmlns:r="http://schemas.openxmlformats.org/officeDocument/2006/relationships" id="277" r:id="R0392e2a71284493d"/>
    <p:sldId xmlns:r="http://schemas.openxmlformats.org/officeDocument/2006/relationships" id="278" r:id="Re77d2f495e794423"/>
    <p:sldId xmlns:r="http://schemas.openxmlformats.org/officeDocument/2006/relationships" id="279" r:id="Raed4e0870ae3451a"/>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cc1ac1fdc14484e" /><Relationship Type="http://schemas.openxmlformats.org/officeDocument/2006/relationships/slideMaster" Target="/ppt/slideMasters/slideMaster1.xml" Id="R826c8c3a60454143" /><Relationship Type="http://schemas.openxmlformats.org/officeDocument/2006/relationships/notesMaster" Target="/ppt/notesMasters/notesMaster1.xml" Id="Rf10780e2e0b3438c" /><Relationship Type="http://schemas.openxmlformats.org/officeDocument/2006/relationships/presProps" Target="/ppt/presProps.xml" Id="Rae0b830d0eeb4a73" /><Relationship Type="http://schemas.openxmlformats.org/officeDocument/2006/relationships/viewProps" Target="/ppt/viewProps.xml" Id="Re039ed5583974469" /><Relationship Type="http://schemas.openxmlformats.org/officeDocument/2006/relationships/tableStyles" Target="/ppt/tableStyles.xml" Id="Rcfcc082a992a4b43" /><Relationship Type="http://schemas.openxmlformats.org/officeDocument/2006/relationships/slide" Target="/ppt/slides/slide1.xml" Id="R7715616b91c5461b" /><Relationship Type="http://schemas.openxmlformats.org/officeDocument/2006/relationships/slide" Target="/ppt/slides/slide2.xml" Id="Rc2da26daa22e4631" /><Relationship Type="http://schemas.openxmlformats.org/officeDocument/2006/relationships/slide" Target="/ppt/slides/slide3.xml" Id="R5083b009046b4a75" /><Relationship Type="http://schemas.openxmlformats.org/officeDocument/2006/relationships/slide" Target="/ppt/slides/slide4.xml" Id="Reaba0bd4dcb347e9" /><Relationship Type="http://schemas.openxmlformats.org/officeDocument/2006/relationships/slide" Target="/ppt/slides/slide5.xml" Id="Rbb9327dfd3e04e9b" /><Relationship Type="http://schemas.openxmlformats.org/officeDocument/2006/relationships/slide" Target="/ppt/slides/slide6.xml" Id="Rff49c5537cd14e28" /><Relationship Type="http://schemas.openxmlformats.org/officeDocument/2006/relationships/slide" Target="/ppt/slides/slide7.xml" Id="Rea78f26c34ea4bd0" /><Relationship Type="http://schemas.openxmlformats.org/officeDocument/2006/relationships/slide" Target="/ppt/slides/slide8.xml" Id="R8ab987b0455e479b" /><Relationship Type="http://schemas.openxmlformats.org/officeDocument/2006/relationships/slide" Target="/ppt/slides/slide9.xml" Id="R0b01ce081a124acf" /><Relationship Type="http://schemas.openxmlformats.org/officeDocument/2006/relationships/slide" Target="/ppt/slides/slide10.xml" Id="Rfd10b204b9964fda" /><Relationship Type="http://schemas.openxmlformats.org/officeDocument/2006/relationships/slide" Target="/ppt/slides/slide11.xml" Id="R48568543166b4108" /><Relationship Type="http://schemas.openxmlformats.org/officeDocument/2006/relationships/slide" Target="/ppt/slides/slide12.xml" Id="R4932c5682f5a4fa3" /><Relationship Type="http://schemas.openxmlformats.org/officeDocument/2006/relationships/slide" Target="/ppt/slides/slide13.xml" Id="Rf5b64540e7e94909" /><Relationship Type="http://schemas.openxmlformats.org/officeDocument/2006/relationships/slide" Target="/ppt/slides/slide14.xml" Id="Rb49d828b7711457a" /><Relationship Type="http://schemas.openxmlformats.org/officeDocument/2006/relationships/slide" Target="/ppt/slides/slide15.xml" Id="Ra52a9e8102b94115" /><Relationship Type="http://schemas.openxmlformats.org/officeDocument/2006/relationships/slide" Target="/ppt/slides/slide16.xml" Id="Ra9ac4c607f4a444c" /><Relationship Type="http://schemas.openxmlformats.org/officeDocument/2006/relationships/slide" Target="/ppt/slides/slide17.xml" Id="R45674b601af8468d" /><Relationship Type="http://schemas.openxmlformats.org/officeDocument/2006/relationships/slide" Target="/ppt/slides/slide18.xml" Id="Reb2edb6211a84b83" /><Relationship Type="http://schemas.openxmlformats.org/officeDocument/2006/relationships/slide" Target="/ppt/slides/slide19.xml" Id="Rf39d4875ceb44c27" /><Relationship Type="http://schemas.openxmlformats.org/officeDocument/2006/relationships/slide" Target="/ppt/slides/slide20.xml" Id="R3cb4680b70174ae8" /><Relationship Type="http://schemas.openxmlformats.org/officeDocument/2006/relationships/slide" Target="/ppt/slides/slide21.xml" Id="Re0998f5f17174880" /><Relationship Type="http://schemas.openxmlformats.org/officeDocument/2006/relationships/slide" Target="/ppt/slides/slide22.xml" Id="R0392e2a71284493d" /><Relationship Type="http://schemas.openxmlformats.org/officeDocument/2006/relationships/slide" Target="/ppt/slides/slide23.xml" Id="Re77d2f495e794423" /><Relationship Type="http://schemas.openxmlformats.org/officeDocument/2006/relationships/slide" Target="/ppt/slides/slide24.xml" Id="Raed4e0870ae345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6f1156d00b45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b5392c007c469f" /><Relationship Type="http://schemas.openxmlformats.org/officeDocument/2006/relationships/notesMaster" Target="/ppt/notesMasters/notesMaster1.xml" Id="Ra0a3a28b333441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68c301dce94915" /><Relationship Type="http://schemas.openxmlformats.org/officeDocument/2006/relationships/notesMaster" Target="/ppt/notesMasters/notesMaster1.xml" Id="Ra88a7a974acb46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bd5dede51a4f38" /><Relationship Type="http://schemas.openxmlformats.org/officeDocument/2006/relationships/notesMaster" Target="/ppt/notesMasters/notesMaster1.xml" Id="R66be1172eee340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69542209794b73" /><Relationship Type="http://schemas.openxmlformats.org/officeDocument/2006/relationships/notesMaster" Target="/ppt/notesMasters/notesMaster1.xml" Id="Rea0f009f3ef642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cdc82d8ad64d0d" /><Relationship Type="http://schemas.openxmlformats.org/officeDocument/2006/relationships/notesMaster" Target="/ppt/notesMasters/notesMaster1.xml" Id="R1b4322100e6d43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239d702bfb4f91" /><Relationship Type="http://schemas.openxmlformats.org/officeDocument/2006/relationships/notesMaster" Target="/ppt/notesMasters/notesMaster1.xml" Id="R1a68dc0db1b54d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c0632bbf5f4edf" /><Relationship Type="http://schemas.openxmlformats.org/officeDocument/2006/relationships/notesMaster" Target="/ppt/notesMasters/notesMaster1.xml" Id="R85f035f52f4445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3a8abf58bd4e4a" /><Relationship Type="http://schemas.openxmlformats.org/officeDocument/2006/relationships/notesMaster" Target="/ppt/notesMasters/notesMaster1.xml" Id="R34630f75c30341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c52b81d5a642d2" /><Relationship Type="http://schemas.openxmlformats.org/officeDocument/2006/relationships/notesMaster" Target="/ppt/notesMasters/notesMaster1.xml" Id="R790db2c5705d42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3c5834234d46a0" /><Relationship Type="http://schemas.openxmlformats.org/officeDocument/2006/relationships/notesMaster" Target="/ppt/notesMasters/notesMaster1.xml" Id="Rb88d1bc7ef504b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8644ae1bba43a4" /><Relationship Type="http://schemas.openxmlformats.org/officeDocument/2006/relationships/notesMaster" Target="/ppt/notesMasters/notesMaster1.xml" Id="R666baadcab034b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9490395cfa4cec" /><Relationship Type="http://schemas.openxmlformats.org/officeDocument/2006/relationships/notesMaster" Target="/ppt/notesMasters/notesMaster1.xml" Id="R91c4472de9074a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2fd8e5102c401c" /><Relationship Type="http://schemas.openxmlformats.org/officeDocument/2006/relationships/notesMaster" Target="/ppt/notesMasters/notesMaster1.xml" Id="R00f3832beafb4f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a238fdfc3041ab" /><Relationship Type="http://schemas.openxmlformats.org/officeDocument/2006/relationships/notesMaster" Target="/ppt/notesMasters/notesMaster1.xml" Id="R3709fb261c724b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da30bb11dc4396" /><Relationship Type="http://schemas.openxmlformats.org/officeDocument/2006/relationships/notesMaster" Target="/ppt/notesMasters/notesMaster1.xml" Id="R4ef033b7053e48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45987ee4da4758" /><Relationship Type="http://schemas.openxmlformats.org/officeDocument/2006/relationships/notesMaster" Target="/ppt/notesMasters/notesMaster1.xml" Id="R19d398d1b83348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d58c5f32694221" /><Relationship Type="http://schemas.openxmlformats.org/officeDocument/2006/relationships/notesMaster" Target="/ppt/notesMasters/notesMaster1.xml" Id="Rc40c3ed5b7e94d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77dfd9cbd348d0" /><Relationship Type="http://schemas.openxmlformats.org/officeDocument/2006/relationships/notesMaster" Target="/ppt/notesMasters/notesMaster1.xml" Id="Re336b1aaec8c4f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ebf2b00c0847ea" /><Relationship Type="http://schemas.openxmlformats.org/officeDocument/2006/relationships/notesMaster" Target="/ppt/notesMasters/notesMaster1.xml" Id="Refed7f7df97e49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135905e0814c3f" /><Relationship Type="http://schemas.openxmlformats.org/officeDocument/2006/relationships/notesMaster" Target="/ppt/notesMasters/notesMaster1.xml" Id="R761c4c93f9ac42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4fe8b66e7f4d6c" /><Relationship Type="http://schemas.openxmlformats.org/officeDocument/2006/relationships/notesMaster" Target="/ppt/notesMasters/notesMaster1.xml" Id="R0359e50135a246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8f4337c86e4ae8" /><Relationship Type="http://schemas.openxmlformats.org/officeDocument/2006/relationships/notesMaster" Target="/ppt/notesMasters/notesMaster1.xml" Id="R14eb016316e64b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2e0a18ae654996" /><Relationship Type="http://schemas.openxmlformats.org/officeDocument/2006/relationships/notesMaster" Target="/ppt/notesMasters/notesMaster1.xml" Id="R34cfd04325744f6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065fbb4c2c43ba" /><Relationship Type="http://schemas.openxmlformats.org/officeDocument/2006/relationships/notesMaster" Target="/ppt/notesMasters/notesMaster1.xml" Id="R4427dd07f5d64a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저희는 4조 UKKKK입니다. 이름이 길어서 발표에서는 편의상 **‘유케이’**라고 부르겠습니다.  </a:t>
            </a:r>
          </a:p>
          <a:p xmlns:a="http://schemas.openxmlformats.org/drawingml/2006/main">
            <a:r>
              <a:t>화면별 기능을 안내하는 오피스 길잡이 **새싹이**도 오늘의 여정을 함께합니다.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원래 과제는 출산·양육 관련 민원과 데이터를 수집해 정책 수요를 도출하는 것이었습니다. 그런데 실제 ‘상상대로 서울’ 데이터를 확인하면서, 시민 제안의 답변 상태와 반복 수요, 실제 담당팀 후보, 기존 정책 근거가 한 흐름으로 연결되어 있지 않다는 점에 주목했습니다.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그래서 저희는 상상대로 서울을 대체하는 서비스가 아니라, **시민 제안을 정책 검토와 후속 조치로 연결해 플랫폼의 활용을 돕는 백오피스**를 만들었습니다.  </a:t>
            </a:r>
          </a:p>
          <a:p xmlns:a="http://schemas.openxmlformats.org/drawingml/2006/main">
            <a:r>
              <a:t>유케이는 시민 제안·민원·정책·뉴스·통계를 통합하고, 시민 수요를 담당 범위와 판단 근거, 다음 조치로 연결하는 행정 의사결정 지원 대시보드입니다.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김서현 주무관은 실제 인물이 아니라 제품의 기능과 시연 과업을 구체화하기 위해 설정한 가상 페르소나입니다.  </a:t>
            </a:r>
          </a:p>
          <a:p xmlns:a="http://schemas.openxmlformats.org/drawingml/2006/main">
            <a:r>
              <a:t>시민 제안을 검토하고 담당 후보와 기존 정책 근거를 대조한 뒤 보고자료를 만든다는 과업을 가정했습니다.  </a:t>
            </a:r>
          </a:p>
          <a:p xmlns:a="http://schemas.openxmlformats.org/drawingml/2006/main">
            <a:r>
              <a:t>실제 상상대로 서울에서는 답변 상태와 반복 수요, 담당 후보와 정책 근거가 서로 분리되어 있어 검토 대상과 다음 조치를 한 화면에서 직관적으로 파악하기 어렵습니다. 가상 페르소나는 이 제품 기능과 시연 흐름을 구체적으로 보여주기 위한 설정입니다.  </a:t>
            </a:r>
          </a:p>
          <a:p xmlns:a="http://schemas.openxmlformats.org/drawingml/2006/main">
            <a:r>
              <a:t>그래서 사용자의 질문을 하나로 정의했습니다. **“이 안건은 누가, 왜, 얼마나 먼저 봐야 하는가?”**</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상상대로 서울에는 시민 제안이 축적되어 있지만, 제안만으로는 **어떤 수요를 먼저 살펴볼지, 어느 정책 영역과 실제 담당 후보가 연결되는지, 판단 근거와 다음 조치가 무엇인지**를 한 흐름에서 확인하기 어렵습니다.  </a:t>
            </a:r>
          </a:p>
          <a:p xmlns:a="http://schemas.openxmlformats.org/drawingml/2006/main">
            <a:r>
              <a:t>저희는 시민 수요와 정책·민원·뉴스·통계, 그리고 **주관·협조부서 후보가 제시된 이유**를 연결해 이 단절을 보완하는 것을 제품이 다룰 문제로 정의했습니다.  </a:t>
            </a:r>
          </a:p>
          <a:p xmlns:a="http://schemas.openxmlformats.org/drawingml/2006/main">
            <a:r>
              <a:t>화면의 누락·혼선·근거 단절은 실제 기관의 확정된 업무 절차가 아니라, 수집 데이터와 제품 구조를 바탕으로 설정한 검토 위험입니다.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왼쪽은 유케이가 받는 입력입니다. 시민 제안과 민원, 기존 정책과 뉴스, 자치구 통계를 한데 모읍니다.  </a:t>
            </a:r>
          </a:p>
          <a:p xmlns:a="http://schemas.openxmlformats.org/drawingml/2006/main">
            <a:r>
              <a:t>오른쪽은 그 데이터를 연결해 만든 출력입니다. 반복되는 수요와 정책 Gap, 주관·협조 R&amp;R 후보, 원문 근거, 맞춤 보고서와 검토 로그를 제공합니다.  </a:t>
            </a:r>
          </a:p>
          <a:p xmlns:a="http://schemas.openxmlformats.org/drawingml/2006/main">
            <a:r>
              <a:t>즉, 이 화면은 실제 조작 순서를 설명하는 페이지가 아니라 **흩어진 입력을 검토 가능한 출력으로 바꾸는 제품의 역할**을 보여줍니다. 최종 판단과 승인은 담당자에게 남겨 둡니다.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데이터는 다섯 출처를 결합했습니다. 상상대로 시민 제안 824건은 정책 수요, 국민신문고 582건은 현장 고충, 몽땅정보통 322개 사업은 기존 공급, 뉴스 1,145건은 사회적 이슈, 자치구 통계는 지역 조건을 보여줍니다.  </a:t>
            </a:r>
          </a:p>
          <a:p xmlns:a="http://schemas.openxmlformats.org/drawingml/2006/main">
            <a:r>
              <a:t>현재 데모는 이 데이터를 미리 수집·정제해 캐시한 구조로 안정적으로 재현됩니다.  </a:t>
            </a:r>
          </a:p>
          <a:p xmlns:a="http://schemas.openxmlformats.org/drawingml/2006/main">
            <a:r>
              <a:t>서로 다른 출처는 제안 ID와 본문, 날짜, 공감·답변 상태, 지역, 정책 계층, R&amp;R 순위, 원문 URL을 가진 공통 스키마로 맞췄습니다. 이후 불용어와 유사어를 정규화하고, 본문과 지역이 없는 값은 임의로 채우지 않은 채 별도 상태로 관리합니다.  </a:t>
            </a:r>
          </a:p>
          <a:p xmlns:a="http://schemas.openxmlformats.org/drawingml/2006/main">
            <a:r>
              <a:t>텍스트는 한 모델이 한 번에 결정하지 않습니다. 먼저 조사·접미사와 불용어를 정리하고 유사어를 통합한 뒤, 규칙 기반으로 8대·중·소분류와 신뢰도를 만듭니다. KR-SBERT는 의미상 가까운 카테고리와 유사 제안 군집을 찾고, 뉴스는 규칙 분류 뒤 기존 카테고리·수집 분류·NMF 토픽 순으로 보완합니다. 마지막으로 본문 자치구와 원본 업무분장을 각각 파싱해 지역 후보와 R&amp;R 후보를 연결합니다.  </a:t>
            </a:r>
          </a:p>
          <a:p xmlns:a="http://schemas.openxmlformats.org/drawingml/2006/main">
            <a:r>
              <a:t>즉, 제안 건수 하나만으로 판단하지 않고 **수요·현장·공급·사회·지역 근거를 함께 보는 구조**입니다.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소개한 오피스 길잡이 새싹이가 첫 번째로 안내할 기능은 상단의 두 단계 담당 범위 선택입니다.  </a:t>
            </a:r>
          </a:p>
          <a:p xmlns:a="http://schemas.openxmlformats.org/drawingml/2006/main">
            <a:r>
              <a:t>첫 번째는 조직이 아니라 8대 **정책 대분류 담당군**입니다. 두 번째가 원본 업무분장에 근거한 **실제 R&amp;R 팀**입니다.  </a:t>
            </a:r>
          </a:p>
          <a:p xmlns:a="http://schemas.openxmlformats.org/drawingml/2006/main">
            <a:r>
              <a:t>이때 별도의 감독학습 모델이 팀을 확정하는 것은 아닙니다. 제안 분류와 원본 업무분장 일치 여부, 본문의 업무 키워드, 기존 담당 후보를 점수화해 R&amp;R 후보 순위를 만듭니다.  </a:t>
            </a:r>
          </a:p>
          <a:p xmlns:a="http://schemas.openxmlformats.org/drawingml/2006/main">
            <a:r>
              <a:t>전체 담당군에서 팀을 고르면 그 팀이 주관 또는 협조로 포함된 모든 안건을 찾습니다. 특정 대분류를 먼저 고르면 동일한 R&amp;R 기준을 그 정책 범위 안에서 적용해 관련 안건만 보여줍니다.  </a:t>
            </a:r>
          </a:p>
          <a:p xmlns:a="http://schemas.openxmlformats.org/drawingml/2006/main">
            <a:r>
              <a:t>따라서 가족지원팀처럼 여러 분야에 협조로 참여하는 팀도 중복을 숨기지 않으면서, 사용자는 지금 ‘관련 안건 전체’를 보는지 ‘주관 안건’을 보는지 구분할 수 있습니다.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개별 제안만 읽으면 같은 요구가 여러 표현으로 흩어집니다. 유케이는 전체 범위의 제안을 57개 문제 군집으로 묶고, 수요·정책 공백·시급성·실행성·근거 신뢰도의 다섯 축으로 비교합니다.  </a:t>
            </a:r>
          </a:p>
          <a:p xmlns:a="http://schemas.openxmlformats.org/drawingml/2006/main">
            <a:r>
              <a:t>이 진단도 고정된 전체 결과만 보여주는 것이 아닙니다. 상단에서 대분류 담당군이나 실제 R&amp;R 팀을 선택하면 그 업무 범위에 포함되는 문제 군집만 남고, 우선점수와 진단 매트릭스, 상세 근거 패널이 같은 기준으로 다시 구성됩니다.  </a:t>
            </a:r>
          </a:p>
          <a:p xmlns:a="http://schemas.openxmlformats.org/drawingml/2006/main">
            <a:r>
              <a:t>기본 모델은 수요 30%, 공백과 시급성 각 25%, 실행성과 신뢰도 각 10%입니다. 사용자는 목적에 따라 시민수요 강조형과 지역형평성 강조형으로 가중치를 바꿔 순위 변화를 볼 수 있습니다.  </a:t>
            </a:r>
          </a:p>
          <a:p xmlns:a="http://schemas.openxmlformats.org/drawingml/2006/main">
            <a:r>
              <a:t>이 점수는 정답이 아니라 **검토 순서를 설명하는 의사결정 보조 지표**입니다.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수요를 발견하는 세 화면입니다. 수요 현황 종합에서 선택 범위의 KPI와 답변 분포를 보고, 시민 목소리 분석에서 반복 키워드와 이슈 흐름을 확인합니다. 긴급 민원 처리에서는 고공감·미답변 안건의 원문과 주관·협조부서 후보가 제시된 이유를 함께 봅니다.  </a:t>
            </a:r>
          </a:p>
          <a:p xmlns:a="http://schemas.openxmlformats.org/drawingml/2006/main">
            <a:r>
              <a:t>어느 화면에서든 하단의 새싹이를 누르면 현재 페이지와 선택한 정책 담당군·실제 팀에 맞춰 다음 확인 순서를 안내합니다.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다음은 공급과 지역 조건을 대조하는 세 화면입니다. 현행 정책 검색에서 322개 사업 중 직접 연결되는 정책을 찾고, 정책 사각지대 탐색에서 반복 수요에 비해 대응 정책이 부족한 지점을 확인합니다. 자치구 통계 비교에서는 특정 지역 요구일 때 실제 지역 지표가 같은 방향을 보이는지 대조합니다.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세 화면은 판단 근거와 데이터 품질을 연결합니다. 통합 정책 근거 분석에서는 시민제안·민원·정책·뉴스·통계를 교차 확인하고 출처를 추적합니다. 정책 갭 진단에서는 문제 군집과 다섯 축 우선순위, 담당부서 매칭 이유를 검토합니다. 필터 검증 통계에서는 차트를 눌러 실제 제안 목록과 원문 연결 상태를 확인하고, 수집 본문이 공식 원문과 같으면 정상 승인으로 기록합니다.</a:t>
            </a:r>
          </a:p>
          <a:p xmlns:a="http://schemas.openxmlformats.org/drawingml/2006/main">
            <a:r>
              <a:t/>
            </a:r>
          </a:p>
          <a:p xmlns:a="http://schemas.openxmlformats.org/drawingml/2006/main">
            <a:r>
              <a:t>세 화면 모두 자동 결정을 내리는 것이 아니라 담당자가 검증할 근거를 한곳에 모아주는 단계입니다.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새싹이가 안내하는 제품 시연 흐름은 여섯 장면으로 구성됩니다.  </a:t>
            </a:r>
          </a:p>
          <a:p xmlns:a="http://schemas.openxmlformats.org/drawingml/2006/main">
            <a:r>
              <a:t>먼저 정책 담당군과 실제 팀으로 오늘 볼 업무를 정합니다. 다음으로 KPI와 키워드, 긴급 안건에서 신호를 찾습니다. 관심 안건은 원문과 주관·협조 후보, 공식 URL로 검증합니다. 이어서 기존 사업과 민원·뉴스·자치구 통계를 대조합니다.  </a:t>
            </a:r>
          </a:p>
          <a:p xmlns:a="http://schemas.openxmlformats.org/drawingml/2006/main">
            <a:r>
              <a:t>정책 공백이 확인되면 갭 점수와 추천 조치를 보되, 담당자가 문구를 수정하고 승인합니다. 마지막으로 선택한 범위가 반영된 보고서나 CSV를 내보냅니다.  </a:t>
            </a:r>
          </a:p>
          <a:p xmlns:a="http://schemas.openxmlformats.org/drawingml/2006/main">
            <a:r>
              <a:t>이 흐름의 핵심은 **필터 조건과 판단 근거가 다음 화면까지 이어진다는 것**입니다.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새싹이 오피스 길잡이는 사용자가 현재 화면에서 무엇을 확인할 수 있는지 안내합니다. 정책 담당군을 선택하면 대분류 기준으로, 실제 팀을 선택하면 팀 기준으로 안내 내용과 화면 흐름을 바꿉니다.  </a:t>
            </a:r>
          </a:p>
          <a:p xmlns:a="http://schemas.openxmlformats.org/drawingml/2006/main">
            <a:r>
              <a:t>이 선택 범위는 화면 조회에서 끝나지 않고 보고서까지 그대로 이어집니다. 전체 범위를 선택하면 전체 R&amp;R 통합 보고서가, 특정 대분류 담당군을 선택하면 해당 정책 분야 보고서가, 실제 팀까지 선택하면 그 팀의 주관·협조 대상만 집계한 맞춤 보고서가 생성됩니다.  </a:t>
            </a:r>
          </a:p>
          <a:p xmlns:a="http://schemas.openxmlformats.org/drawingml/2006/main">
            <a:r>
              <a:t>검토 결과는 우측 보고서 다운로드에서 상세형, 간부 브리핑, 외부 공유용으로 구성할 수 있습니다. 현재 구현은 HWP용 텍스트, PDF 요약 미리보기, CSV 원자료를 제공하며, 현재 선택한 담당 범위와 카테고리·지역 조건이 보고서의 수치, 본문, 추천 섹션에 함께 반영됩니다.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저희는 원본의 자치구 `미상`을 모두 결측치로 보거나 특정 구로 강제 복원하지 않습니다. 824건 중 원본에서 자치구가 선택된 것은 20건입니다. 나머지 중 본문에 25개 자치구명이 직접 등장하는 복원 후보는 49건, 서울시 전체 범위를 명시한 제안은 5건이며, 750건은 서울시 전체 요구와 판별 불가가 섞인 `지역 범위 미확인`으로 남깁니다.  </a:t>
            </a:r>
          </a:p>
          <a:p xmlns:a="http://schemas.openxmlformats.org/drawingml/2006/main">
            <a:r>
              <a:t>별도로 원문이 연결되지 않았거나 30자 미만인 레코드는 186건이며, 본문이 없으면 제목을 반복해 보여주지 않고 수집 상태를 표시합니다.  </a:t>
            </a:r>
          </a:p>
          <a:p xmlns:a="http://schemas.openxmlformats.org/drawingml/2006/main">
            <a:r>
              <a:t>복원 후보는 담당자가 원문을 펼쳐 검토하고 선택한 결과만 반영 이력으로 남깁니다.  </a:t>
            </a:r>
          </a:p>
          <a:p xmlns:a="http://schemas.openxmlformats.org/drawingml/2006/main">
            <a:r>
              <a:t>데이터 품질을 숨기지 않는 것이 공공 의사결정 시스템의 신뢰라고 판단했습니다.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김서현 주무관의 화면에서 먼저 보육·돌봄 인프라 담당군을 선택해 179건을 확인하고, 실제 가족건강팀을 선택해 20건으로 좁히겠습니다.</a:t>
            </a:r>
          </a:p>
          <a:p xmlns:a="http://schemas.openxmlformats.org/drawingml/2006/main">
            <a:r>
              <a:t/>
            </a:r>
          </a:p>
          <a:p xmlns:a="http://schemas.openxmlformats.org/drawingml/2006/main">
            <a:r>
              <a:t>이어서 열 개 메뉴를 한 번씩 열어 같은 담당 범위가 유지되는지 확인합니다. 통합 정책 근거 분석에서는 제안·민원·정책·뉴스·통계의 연결 근거를 확인하고, 정책 갭 진단에서는 제안 원문과 주관·협조 후보의 매칭 이유를 봅니다. 필터 검증 통계에서는 차트에서 원문 목록으로 내려가 데이터 품질을 확인하고, 마지막으로 같은 범위의 보고서를 내보냅니다.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824건에서 시작합니다. 첫 번째 필터에서 보육·돌봄 인프라를 선택하면 179건으로 좁혀지고, 실제 R&amp;R 팀에서 가족건강팀을 선택하면 1·2·3순위 후보 중 관련 안건 20건이 남습니다.</a:t>
            </a:r>
          </a:p>
          <a:p xmlns:a="http://schemas.openxmlformats.org/drawingml/2006/main">
            <a:r>
              <a:t/>
            </a:r>
          </a:p>
          <a:p xmlns:a="http://schemas.openxmlformats.org/drawingml/2006/main">
            <a:r>
              <a:t>메뉴를 이동해도 이 범위가 유지되며 차트와 키워드, 정책 후보가 다시 계산됩니다. 정책 갭 진단에서는 해당 범위의 문제 군집과 우선점수, 주관 1순위와 협조 2·3순위 후보의 근거를 확인합니다. 필터 검증 통계에서는 차트를 눌러 제안 ID·본문·상태·원문 URL 목록으로 내려가고, 공식 원문과 같은 짧은 글은 정상 승인으로 기록합니다. 마지막으로 지금 선택한 범위로 보고서와 CSV를 생성합니다.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성과를 과장하지 않으면서 구현 효과는 재현 가능한 후보 축소로 확인합니다. 이번 시연에서는 824건 전체 목록이 정책 담당군 179건, 실제 팀 관련 안건 20건으로 줄어듭니다. 이는 업무시간 절감률이 아니라 같은 데이터에서 직접 확인해야 할 후보 수가 줄어드는 정도입니다.</a:t>
            </a:r>
          </a:p>
          <a:p xmlns:a="http://schemas.openxmlformats.org/drawingml/2006/main">
            <a:r>
              <a:t/>
            </a:r>
          </a:p>
          <a:p xmlns:a="http://schemas.openxmlformats.org/drawingml/2006/main">
            <a:r>
              <a:t>또한 메뉴 이동 후 건수 유지, 원문과 담당부서 매칭 이유의 동시 표시, 같은 범위의 보고서 생성 여부를 화면과 데이터로 대조합니다.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운영형 도구로 확장하려면 세 가지 기반이 필요합니다.  </a:t>
            </a:r>
          </a:p>
          <a:p xmlns:a="http://schemas.openxmlformats.org/drawingml/2006/main">
            <a:r>
              <a:t>먼저 정기 수집과 출처 관리를 구축하고 상세 원문 확보율을 높여야 합니다. 다음으로 R&amp;R 후보와 지역 범위 분류를 평가할 수 있는 정답 기준과 검증 지표가 필요합니다.  </a:t>
            </a:r>
          </a:p>
          <a:p xmlns:a="http://schemas.openxmlformats.org/drawingml/2006/main">
            <a:r>
              <a:t>마지막으로 대용량 데이터를 API와 데이터베이스로 분리하고, 권한·감사로그·개인정보 보호, 실제 PDF와 HWP 생성까지 연결해야 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확인한 아홉 화면은 각각 다른 기능을 나열한 것이 아닙니다. 현황·시민 목소리·긴급 민원에서 수요를 발견하고, 현행 정책·사각지대·자치구 통계에서 공급과 지역 조건을 대조합니다. 통합 정책 근거 분석에서 시민제안·민원·정책·뉴스·통계를 교차 확인한 뒤, 갭 진단에서 우선순위와 R&amp;R 후보를 검토합니다. 마지막으로 답변 초안과 목적별 보고서, CSV, 개선 로그로 다음 조치를 남깁니다.  </a:t>
            </a:r>
          </a:p>
          <a:p xmlns:a="http://schemas.openxmlformats.org/drawingml/2006/main">
            <a:r>
              <a:t>유케이는 이렇게 시민 제안을 **수요에서 책임으로, 근거에서 조치로 연결해 상상대로 서울의 후속 활용을 돕는 백오피스**입니다. 모르는 값은 표시하고, 근거는 연결하며, 최종 결정은 담당자가 합니다. 새싹이와 함께한 유케이의 여정이었습니다. 감사합니다.</a:t>
            </a:r>
          </a:p>
          <a:p xmlns:a="http://schemas.openxmlformats.org/drawingml/2006/main">
            <a:r>
              <a:t/>
            </a:r>
          </a:p>
          <a:p xmlns:a="http://schemas.openxmlformats.org/drawingml/2006/main">
            <a:r>
              <a:t>[Sources]</a:t>
            </a:r>
          </a:p>
          <a:p xmlns:a="http://schemas.openxmlformats.org/drawingml/2006/main">
            <a:r>
              <a:t>- Local UKKKK application: http://127.0.0.1:3002/</a:t>
            </a:r>
          </a:p>
          <a:p xmlns:a="http://schemas.openxmlformats.org/drawingml/2006/main">
            <a:r>
              <a:t>- 발표_대본_PPT구성_ver12.md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분석 엔진은 감독학습 정답 예측이 아니라 NLP·규칙·가중치 기반 분류, 군집, 우선순위, R&amp;R 후보 추천 구조입니다. 가중치와 임계값은 운영 규칙이며 검증된 정확도 수치로 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텍스트 처리는 한 모델이 모든 값을 한 번에 예측하는 구조가 아닙니다.</a:t>
            </a:r>
          </a:p>
          <a:p xmlns:a="http://schemas.openxmlformats.org/drawingml/2006/main">
            <a:r>
              <a:t>먼저 한국어 조사와 접미사, 불용어를 제거하고 도메인 유사어를 통합합니다.</a:t>
            </a:r>
          </a:p>
          <a:p xmlns:a="http://schemas.openxmlformats.org/drawingml/2006/main">
            <a:r>
              <a:t>계층 분류는 제목·본문·원 카테고리의 키워드 점수로 8대·중·소분류와 신뢰도를 만듭니다.</a:t>
            </a:r>
          </a:p>
          <a:p xmlns:a="http://schemas.openxmlformats.org/drawingml/2006/main">
            <a:r>
              <a:t>KR-SBERT는 카테고리 설명과의 코사인 유사도로 의미 분류를 보완하고, 코사인 거리와 average linkage를 사용한 계층적 군집으로 유사 제안의 cluster_id와 cluster_size를 만듭니다.</a:t>
            </a:r>
          </a:p>
          <a:p xmlns:a="http://schemas.openxmlformats.org/drawingml/2006/main">
            <a:r>
              <a:t>뉴스는 규칙 결과가 없을 때 기존 8대 분류, 수집 카테고리, 이미 생성된 NMF 토픽 라벨을 순서대로 매핑합니다.</a:t>
            </a:r>
          </a:p>
          <a:p xmlns:a="http://schemas.openxmlformats.org/drawingml/2006/main">
            <a:r>
              <a:t>자치구는 본문 키워드와 모호어 감점으로 후보·점수·근거어를 남기고, 실제 팀은 업무분장 원문과 제안 텍스트를 가중치로 대조합니다.</a:t>
            </a:r>
          </a:p>
          <a:p xmlns:a="http://schemas.openxmlformats.org/drawingml/2006/main">
            <a:r>
              <a:t>따라서 각 결과가 어떤 입력과 규칙에서 나왔는지 단계별로 추적할 수 있습니다.</a:t>
            </a:r>
          </a:p>
          <a:p xmlns:a="http://schemas.openxmlformats.org/drawingml/2006/main">
            <a:r>
              <a:t/>
            </a:r>
          </a:p>
          <a:p xmlns:a="http://schemas.openxmlformats.org/drawingml/2006/main">
            <a:r>
              <a:t>[Sources]</a:t>
            </a:r>
          </a:p>
          <a:p xmlns:a="http://schemas.openxmlformats.org/drawingml/2006/main">
            <a:r>
              <a:t>- /Users/parkcy/Desktop/sesac_pjt/UKKKK/docs/데이터분석정의서_ver3.md</a:t>
            </a:r>
          </a:p>
          <a:p xmlns:a="http://schemas.openxmlformats.org/drawingml/2006/main">
            <a:r>
              <a:t>- /Users/parkcy/Desktop/sesac_pjt/UKKKK/frontend/src/utils/textMining.ts</a:t>
            </a:r>
          </a:p>
          <a:p xmlns:a="http://schemas.openxmlformats.org/drawingml/2006/main">
            <a:r>
              <a:t>- /Users/parkcy/Desktop/sesac_pjt/UKKKK/scripts/테스트용/classify_policy_and_match_staff.py</a:t>
            </a:r>
          </a:p>
          <a:p xmlns:a="http://schemas.openxmlformats.org/drawingml/2006/main">
            <a:r>
              <a:t>- /Users/parkcy/Desktop/sesac_pjt/UKKKK/scripts/테스트용/04_semantic_grouping.py</a:t>
            </a:r>
          </a:p>
          <a:p xmlns:a="http://schemas.openxmlformats.org/drawingml/2006/main">
            <a:r>
              <a:t>- /Users/parkcy/Desktop/sesac_pjt/UKKKK/scripts/테스트용/classify_naver_news_taxonomy.py</a:t>
            </a:r>
          </a:p>
          <a:p xmlns:a="http://schemas.openxmlformats.org/drawingml/2006/main">
            <a:r>
              <a:t>- /Users/parkcy/Desktop/sesac_pjt/UKKKK/scripts/06_build_department_ranking.py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정책 대분류와 실제 조직 필터를 분리한 이유와 R&amp;R 후보 모델을 설명합니다. 첫 결과는 제안을 8개 정책 영역으로 묶는 분류이고, 두 번째 결과는 업무분장 18행과 제안 텍스트를 대조해 만드는 R&amp;R 후보 순위입니다.</a:t>
            </a:r>
          </a:p>
          <a:p xmlns:a="http://schemas.openxmlformats.org/drawingml/2006/main">
            <a:r>
              <a:t/>
            </a:r>
          </a:p>
          <a:p xmlns:a="http://schemas.openxmlformats.org/drawingml/2006/main">
            <a:r>
              <a:t>전체 담당군에서 팀을 고르면 1·2·3순위 관련 안건을 찾고, 특정 담당군을 함께 고르면 해당 정책 범위와 팀 후보를 AND 조건으로 교차합니다. 현재 화면에서 실제 선택 가능한 R&amp;R 팀은 11개이며, 순위는 공식 배정이 아니라 원문과 업무분장 근거를 확인하기 위한 검토 후보입니다.</a:t>
            </a:r>
          </a:p>
          <a:p xmlns:a="http://schemas.openxmlformats.org/drawingml/2006/main">
            <a:r>
              <a:t/>
            </a:r>
          </a:p>
          <a:p xmlns:a="http://schemas.openxmlformats.org/drawingml/2006/main">
            <a:r>
              <a:t>[Sources]</a:t>
            </a:r>
          </a:p>
          <a:p xmlns:a="http://schemas.openxmlformats.org/drawingml/2006/main">
            <a:r>
              <a:t>- /Users/parkcy/Desktop/sesac_pjt/UKKKK/frontend/src/utils/departments.ts</a:t>
            </a:r>
          </a:p>
          <a:p xmlns:a="http://schemas.openxmlformats.org/drawingml/2006/main">
            <a:r>
              <a:t>- /Users/parkcy/Desktop/sesac_pjt/UKKKK/frontend/src/App.tsx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로드맵의 PRD와 데이터분석 정의서, EDA 분석보고서, 발표 대본, 프론트엔드, 데이터 검사, 배포 산출물을 최신 버전 경로로 정리했습니다. 별도 파일로 확인되지 않는 산출물이나 측정하지 않은 성과는 완료 사실로 제시하지 않습니다.</a:t>
            </a:r>
          </a:p>
          <a:p xmlns:a="http://schemas.openxmlformats.org/drawingml/2006/main">
            <a:r>
              <a:t/>
            </a:r>
          </a:p>
          <a:p xmlns:a="http://schemas.openxmlformats.org/drawingml/2006/main">
            <a:r>
              <a:t>[Sources]</a:t>
            </a:r>
          </a:p>
          <a:p xmlns:a="http://schemas.openxmlformats.org/drawingml/2006/main">
            <a:r>
              <a:t>- /Users/parkcy/Desktop/sesac_pjt/UKKKK/docs/SYSTEM_DESIGN_PRD_ver3.md</a:t>
            </a:r>
          </a:p>
          <a:p xmlns:a="http://schemas.openxmlformats.org/drawingml/2006/main">
            <a:r>
              <a:t>- /Users/parkcy/Desktop/sesac_pjt/UKKKK/docs/데이터분석정의서_ver3.md</a:t>
            </a:r>
          </a:p>
          <a:p xmlns:a="http://schemas.openxmlformats.org/drawingml/2006/main">
            <a:r>
              <a:t>- /Users/parkcy/Desktop/sesac_pjt/UKKKK/docs/EDA_분석보고서_ver1.md</a:t>
            </a:r>
          </a:p>
          <a:p xmlns:a="http://schemas.openxmlformats.org/drawingml/2006/main">
            <a:r>
              <a:t>- /Users/parkcy/Desktop/sesac_pjt/UKKKK/docs/발표자료/발표_대본_PPT구성_ver14.md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7fb94aaaa74a9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2e39bc9ef143a3" /><Relationship Type="http://schemas.openxmlformats.org/officeDocument/2006/relationships/slideLayout" Target="/ppt/slideLayouts/slideLayout1.xml" Id="R8603697838dc441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03697838dc441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61f348b3b1408d" /><Relationship Type="http://schemas.openxmlformats.org/officeDocument/2006/relationships/image" Target="/ppt/media/image.png" Id="R250b22e3aac84dea" /><Relationship Type="http://schemas.openxmlformats.org/officeDocument/2006/relationships/image" Target="/ppt/media/image2.png" Id="R07bf1e26bf1142b9" /><Relationship Type="http://schemas.openxmlformats.org/officeDocument/2006/relationships/notesSlide" Target="/ppt/notesSlides/notesSlide1.xml" Id="Rb94a54fcf74640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1c7309c96c44de" /><Relationship Type="http://schemas.openxmlformats.org/officeDocument/2006/relationships/image" Target="/ppt/media/image3.png" Id="R0a32860321d94418" /><Relationship Type="http://schemas.openxmlformats.org/officeDocument/2006/relationships/notesSlide" Target="/ppt/notesSlides/notesSlide2.xml" Id="Rb7d688868a8846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be99b9dc9d4dee" /><Relationship Type="http://schemas.openxmlformats.org/officeDocument/2006/relationships/image" Target="/ppt/media/image3.png" Id="R726b07967318472f" /><Relationship Type="http://schemas.openxmlformats.org/officeDocument/2006/relationships/notesSlide" Target="/ppt/notesSlides/notesSlide3.xml" Id="R1fc52b1a465d43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c39d8b15314ab5" /><Relationship Type="http://schemas.openxmlformats.org/officeDocument/2006/relationships/image" Target="/ppt/media/image4.png" Id="R6963358499c84703" /><Relationship Type="http://schemas.openxmlformats.org/officeDocument/2006/relationships/notesSlide" Target="/ppt/notesSlides/notesSlide4.xml" Id="R42f0aa3e95a84f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432d2d6bd64c5a" /><Relationship Type="http://schemas.openxmlformats.org/officeDocument/2006/relationships/image" Target="/ppt/media/image3.png" Id="Rb31e74fa314f4281" /><Relationship Type="http://schemas.openxmlformats.org/officeDocument/2006/relationships/notesSlide" Target="/ppt/notesSlides/notesSlide5.xml" Id="Rba8545bd22d94b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32f6f0ddd14b46" /><Relationship Type="http://schemas.openxmlformats.org/officeDocument/2006/relationships/image" Target="/ppt/media/image4.png" Id="R188901cfa9ed4258" /><Relationship Type="http://schemas.openxmlformats.org/officeDocument/2006/relationships/notesSlide" Target="/ppt/notesSlides/notesSlide6.xml" Id="Re698fcf9d72d49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eb1400d97f4b8a" /><Relationship Type="http://schemas.openxmlformats.org/officeDocument/2006/relationships/image" Target="/ppt/media/image5.png" Id="R9f6475a09e734c95" /><Relationship Type="http://schemas.openxmlformats.org/officeDocument/2006/relationships/notesSlide" Target="/ppt/notesSlides/notesSlide7.xml" Id="R59ad46555a0c48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4d829c6d994777" /><Relationship Type="http://schemas.openxmlformats.org/officeDocument/2006/relationships/image" Target="/ppt/media/image6.png" Id="R0c766f3fec974aa5" /><Relationship Type="http://schemas.openxmlformats.org/officeDocument/2006/relationships/image" Target="/ppt/media/image7.png" Id="R3eb584273c764696" /><Relationship Type="http://schemas.openxmlformats.org/officeDocument/2006/relationships/notesSlide" Target="/ppt/notesSlides/notesSlide8.xml" Id="R01425ea1a58148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322913639a4d0f" /><Relationship Type="http://schemas.openxmlformats.org/officeDocument/2006/relationships/image" Target="/ppt/media/image8.png" Id="Rc1549673421f4e76" /><Relationship Type="http://schemas.openxmlformats.org/officeDocument/2006/relationships/image" Target="/ppt/media/image9.png" Id="R95145b0b58fc4955" /><Relationship Type="http://schemas.openxmlformats.org/officeDocument/2006/relationships/notesSlide" Target="/ppt/notesSlides/notesSlide9.xml" Id="Rc95b7356165a41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1be2fa95f749cf" /><Relationship Type="http://schemas.openxmlformats.org/officeDocument/2006/relationships/image" Target="/ppt/media/image10.png" Id="R3afe3fea4b294e0d" /><Relationship Type="http://schemas.openxmlformats.org/officeDocument/2006/relationships/image" Target="/ppt/media/image.jpeg" Id="Rc57ce199f7264df2" /><Relationship Type="http://schemas.openxmlformats.org/officeDocument/2006/relationships/image" Target="/ppt/media/image2.jpeg" Id="Rd24365cbb8394d97" /><Relationship Type="http://schemas.openxmlformats.org/officeDocument/2006/relationships/image" Target="/ppt/media/image3.jpeg" Id="R086f6c35ccc04f3a" /><Relationship Type="http://schemas.openxmlformats.org/officeDocument/2006/relationships/notesSlide" Target="/ppt/notesSlides/notesSlide10.xml" Id="R1c26697fb0da4e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927bf5bb4943cf" /><Relationship Type="http://schemas.openxmlformats.org/officeDocument/2006/relationships/image" Target="/ppt/media/image10.png" Id="R0adc2a0a53e14f70" /><Relationship Type="http://schemas.openxmlformats.org/officeDocument/2006/relationships/image" Target="/ppt/media/image4.jpeg" Id="Ra71dd030af5d42e8" /><Relationship Type="http://schemas.openxmlformats.org/officeDocument/2006/relationships/image" Target="/ppt/media/image5.jpeg" Id="R42b9a3df05764eba" /><Relationship Type="http://schemas.openxmlformats.org/officeDocument/2006/relationships/image" Target="/ppt/media/image6.jpeg" Id="Rd6b7ada8d94a416b" /><Relationship Type="http://schemas.openxmlformats.org/officeDocument/2006/relationships/notesSlide" Target="/ppt/notesSlides/notesSlide11.xml" Id="R7b051ddcf8e948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6448cb50e0487b" /><Relationship Type="http://schemas.openxmlformats.org/officeDocument/2006/relationships/image" Target="/ppt/media/image10.png" Id="R38956f781aa94bed" /><Relationship Type="http://schemas.openxmlformats.org/officeDocument/2006/relationships/image" Target="/ppt/media/image7.jpeg" Id="Rbb0278f0193a470a" /><Relationship Type="http://schemas.openxmlformats.org/officeDocument/2006/relationships/image" Target="/ppt/media/image8.jpeg" Id="R20a080067b4e4a7f" /><Relationship Type="http://schemas.openxmlformats.org/officeDocument/2006/relationships/image" Target="/ppt/media/image11.png" Id="Rbc0d7e0db68f4b16" /><Relationship Type="http://schemas.openxmlformats.org/officeDocument/2006/relationships/notesSlide" Target="/ppt/notesSlides/notesSlide12.xml" Id="Rba7600251d734e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ed4f5d20a8408b" /><Relationship Type="http://schemas.openxmlformats.org/officeDocument/2006/relationships/image" Target="/ppt/media/image10.png" Id="R2f75d3200ffd4f10" /><Relationship Type="http://schemas.openxmlformats.org/officeDocument/2006/relationships/notesSlide" Target="/ppt/notesSlides/notesSlide13.xml" Id="Re52f589a334f4b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ec91c8651540c6" /><Relationship Type="http://schemas.openxmlformats.org/officeDocument/2006/relationships/image" Target="/ppt/media/image6.png" Id="Rb719e9774319432a" /><Relationship Type="http://schemas.openxmlformats.org/officeDocument/2006/relationships/image" Target="/ppt/media/image7.png" Id="Rd794d5bcb7b6460c" /><Relationship Type="http://schemas.openxmlformats.org/officeDocument/2006/relationships/notesSlide" Target="/ppt/notesSlides/notesSlide14.xml" Id="R4fb96b99d9644c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7fb3848dc764d22" /><Relationship Type="http://schemas.openxmlformats.org/officeDocument/2006/relationships/image" Target="/ppt/media/image12.png" Id="R25e717a7ecd945de" /><Relationship Type="http://schemas.openxmlformats.org/officeDocument/2006/relationships/notesSlide" Target="/ppt/notesSlides/notesSlide15.xml" Id="R3b9f47cf142243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5f177395f4449f" /><Relationship Type="http://schemas.openxmlformats.org/officeDocument/2006/relationships/image" Target="/ppt/media/image3.png" Id="R5894acf7c7594ec6" /><Relationship Type="http://schemas.openxmlformats.org/officeDocument/2006/relationships/notesSlide" Target="/ppt/notesSlides/notesSlide16.xml" Id="R4565a61dbff44e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5ac3f11c42452a" /><Relationship Type="http://schemas.openxmlformats.org/officeDocument/2006/relationships/image" Target="/ppt/media/image13.png" Id="Re6ea8d7106ad4c99" /><Relationship Type="http://schemas.openxmlformats.org/officeDocument/2006/relationships/image" Target="/ppt/media/image14.png" Id="R9c417b5633fb4c20" /><Relationship Type="http://schemas.openxmlformats.org/officeDocument/2006/relationships/hyperlink" Target="https://ukkkk-two.vercel.app/" TargetMode="External" Id="R411cfb90724848e2" /><Relationship Type="http://schemas.openxmlformats.org/officeDocument/2006/relationships/notesSlide" Target="/ppt/notesSlides/notesSlide17.xml" Id="R77877d37fde74b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bc45a766b34adc" /><Relationship Type="http://schemas.openxmlformats.org/officeDocument/2006/relationships/image" Target="/ppt/media/image15.png" Id="R5f3a845b9ef747e1" /><Relationship Type="http://schemas.openxmlformats.org/officeDocument/2006/relationships/notesSlide" Target="/ppt/notesSlides/notesSlide18.xml" Id="R487f05769c0742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348609171bd4135" /><Relationship Type="http://schemas.openxmlformats.org/officeDocument/2006/relationships/image" Target="/ppt/media/image16.png" Id="R0214dd8f92824f40" /><Relationship Type="http://schemas.openxmlformats.org/officeDocument/2006/relationships/notesSlide" Target="/ppt/notesSlides/notesSlide19.xml" Id="R7641fbee3add42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9f1b2b6fe9841b9" /><Relationship Type="http://schemas.openxmlformats.org/officeDocument/2006/relationships/image" Target="/ppt/media/image17.png" Id="R2b60776679c04286" /><Relationship Type="http://schemas.openxmlformats.org/officeDocument/2006/relationships/notesSlide" Target="/ppt/notesSlides/notesSlide20.xml" Id="R758b688d0b0948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347476fd0734e49" /><Relationship Type="http://schemas.openxmlformats.org/officeDocument/2006/relationships/image" Target="/ppt/media/image18.png" Id="Reb805a1e261e4f70" /><Relationship Type="http://schemas.openxmlformats.org/officeDocument/2006/relationships/notesSlide" Target="/ppt/notesSlides/notesSlide21.xml" Id="R840c1a327db642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db9559fdd74ebe" /><Relationship Type="http://schemas.openxmlformats.org/officeDocument/2006/relationships/image" Target="/ppt/media/image18.png" Id="Ra9c65ad20c584dbb" /><Relationship Type="http://schemas.openxmlformats.org/officeDocument/2006/relationships/notesSlide" Target="/ppt/notesSlides/notesSlide22.xml" Id="Rcb6230828b1240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2e6019485c04bb6" /><Relationship Type="http://schemas.openxmlformats.org/officeDocument/2006/relationships/image" Target="/ppt/media/image18.png" Id="R55fb823e8b8240aa" /><Relationship Type="http://schemas.openxmlformats.org/officeDocument/2006/relationships/notesSlide" Target="/ppt/notesSlides/notesSlide23.xml" Id="R7cc8630ed9544e3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d4e665e73994d5e" /><Relationship Type="http://schemas.openxmlformats.org/officeDocument/2006/relationships/image" Target="/ppt/media/image18.png" Id="R84b72124cff54f55" /><Relationship Type="http://schemas.openxmlformats.org/officeDocument/2006/relationships/notesSlide" Target="/ppt/notesSlides/notesSlide24.xml" Id="Rfd6c5789711441a8" /></Relationships>
</file>

<file path=ppt/slides/slide1.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28F5466-C2C7-4651-88CC-CAD43D62A030}"/>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2141DD26-F233-408D-A8BE-E38F4A0E3271}"/>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4FAF8468-8EC9-4219-AB1F-69C61F4E7B20}"/>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F1D7A79C-EAFA-4E09-9C39-F1A084279E5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250b22e3aac84dea"/>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5D03BEF-8EE0-493C-8BAD-C7483F985454}"/>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6F87B268-1561-40AE-802E-EF5C97FAE11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D20E065A-0757-4BBD-87F1-37411C745A38}"/>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D0BDCF98-5C93-4534-B1CD-6E84855B9634}"/>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FB86C6B5-623F-4D92-BA50-E559DEDF4395}"/>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68035B35-B554-4559-8366-255D94770DC0}"/>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250b22e3aac84dea"/>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C2BFA5A-83BD-484E-A89C-1CB41B27A00A}"/>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UKKKK 2차 발표</a:t>
            </a:r>
          </a:p>
        </p:txBody>
      </p:sp>
      <p:sp>
        <p:nvSpPr>
          <p:cNvPr id="15" name="Shape 11">
            <a:extLst xmlns:a="http://schemas.openxmlformats.org/drawingml/2006/main">
              <a:ext uri="{FF2B5EF4-FFF2-40B4-BE49-F238E27FC236}">
                <a16:creationId xmlns:a16="http://schemas.microsoft.com/office/drawing/2014/main" id="{DF820B7D-BD32-4464-BD26-0F546EEE2D14}"/>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890194C8-BBB2-45E4-9DB3-4C05E322395B}"/>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5C105082-997E-413F-AE34-E33FB3FA6C8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EA4622C9-7831-4A66-90D7-51C63708207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9A8A16C7-E10F-4698-BB93-FFFCBDCF58FE}"/>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41A1F09F-1404-4C8E-A666-B39B9AC8D35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ACE9AD44-E399-44FC-AFBF-CB8220B4DE5C}"/>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3FB8705F-087A-45E4-B953-C9A78889D861}"/>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194F5969-B4C8-4D33-B15B-F66412108A0B}"/>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1C70DF73-A762-4C09-85E8-1BA534E3532A}"/>
              </a:ext>
            </a:extLst>
          </p:cNvPr>
          <p:cNvSpPr>
            <a:spLocks xmlns:a="http://schemas.openxmlformats.org/drawingml/2006/main" noGrp="1"/>
          </p:cNvSpPr>
          <p:nvPr/>
        </p:nvSpPr>
        <p:spPr>
          <a:xfrm xmlns:a="http://schemas.openxmlformats.org/drawingml/2006/main">
            <a:off x="0" y="1874520"/>
            <a:ext cx="121916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7C5CE0"/>
                </a:solidFill>
                <a:latin typeface="Calibri"/>
                <a:ea typeface="Calibri"/>
                <a:cs typeface="Calibri"/>
              </a:rPr>
              <a:t>SEOUL · DATA-DRIVEN MATERNITY &amp; CHILDCARE POLICY</a:t>
            </a:r>
          </a:p>
        </p:txBody>
      </p:sp>
      <p:sp>
        <p:nvSpPr>
          <p:cNvPr id="25" name="Text 21">
            <a:extLst xmlns:a="http://schemas.openxmlformats.org/drawingml/2006/main">
              <a:ext uri="{FF2B5EF4-FFF2-40B4-BE49-F238E27FC236}">
                <a16:creationId xmlns:a16="http://schemas.microsoft.com/office/drawing/2014/main" id="{6DB702F7-67F4-4DE4-810C-85786A9059F4}"/>
              </a:ext>
            </a:extLst>
          </p:cNvPr>
          <p:cNvSpPr>
            <a:spLocks xmlns:a="http://schemas.openxmlformats.org/drawingml/2006/main" noGrp="1"/>
          </p:cNvSpPr>
          <p:nvPr/>
        </p:nvSpPr>
        <p:spPr>
          <a:xfrm xmlns:a="http://schemas.openxmlformats.org/drawingml/2006/main">
            <a:off x="0" y="2286000"/>
            <a:ext cx="12191714" cy="1428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0" b="1">
                <a:solidFill>
                  <a:srgbClr val="1B2340"/>
                </a:solidFill>
                <a:latin typeface="Calibri"/>
                <a:ea typeface="Calibri"/>
                <a:cs typeface="Calibri"/>
              </a:rPr>
              <a:t>UKKKK</a:t>
            </a:r>
          </a:p>
        </p:txBody>
      </p:sp>
      <p:sp>
        <p:nvSpPr>
          <p:cNvPr id="27" name="Text 23">
            <a:extLst xmlns:a="http://schemas.openxmlformats.org/drawingml/2006/main">
              <a:ext uri="{FF2B5EF4-FFF2-40B4-BE49-F238E27FC236}">
                <a16:creationId xmlns:a16="http://schemas.microsoft.com/office/drawing/2014/main" id="{9BE82982-7871-4B4E-875F-FAB44481A0A5}"/>
              </a:ext>
            </a:extLst>
          </p:cNvPr>
          <p:cNvSpPr>
            <a:spLocks xmlns:a="http://schemas.openxmlformats.org/drawingml/2006/main" noGrp="1"/>
          </p:cNvSpPr>
          <p:nvPr/>
        </p:nvSpPr>
        <p:spPr>
          <a:xfrm xmlns:a="http://schemas.openxmlformats.org/drawingml/2006/main">
            <a:off x="0" y="4297680"/>
            <a:ext cx="121916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9AA3C7"/>
                </a:solidFill>
                <a:latin typeface="Calibri"/>
                <a:ea typeface="Calibri"/>
                <a:cs typeface="Calibri"/>
              </a:rPr>
              <a:t>Unified Key-Knowledge Kit for Kid · Human-in-the-loop MVP</a:t>
            </a:r>
          </a:p>
        </p:txBody>
      </p:sp>
      <p:sp>
        <p:nvSpPr>
          <p:cNvPr id="28" name="Shape 24">
            <a:extLst xmlns:a="http://schemas.openxmlformats.org/drawingml/2006/main">
              <a:ext uri="{FF2B5EF4-FFF2-40B4-BE49-F238E27FC236}">
                <a16:creationId xmlns:a16="http://schemas.microsoft.com/office/drawing/2014/main" id="{44E7ABE1-21A9-43ED-A7C8-39F3AE1567AA}"/>
              </a:ext>
            </a:extLst>
          </p:cNvPr>
          <p:cNvSpPr>
            <a:spLocks xmlns:a="http://schemas.openxmlformats.org/drawingml/2006/main" noGrp="1"/>
          </p:cNvSpPr>
          <p:nvPr/>
        </p:nvSpPr>
        <p:spPr>
          <a:xfrm xmlns:a="http://schemas.openxmlformats.org/drawingml/2006/main">
            <a:off x="4495648" y="4590288"/>
            <a:ext cx="3200400" cy="603504"/>
          </a:xfrm>
          <a:prstGeom xmlns:a="http://schemas.openxmlformats.org/drawingml/2006/main" prst="rect">
            <a:avLst/>
          </a:prstGeom>
          <a:solidFill xmlns:a="http://schemas.openxmlformats.org/drawingml/2006/main">
            <a:srgbClr val="C6C6BE"/>
          </a:solidFill>
          <a:ln xmlns:a="http://schemas.openxmlformats.org/drawingml/2006/main" w="15875">
            <a:solidFill>
              <a:srgbClr val="6B6B66"/>
            </a:solidFill>
            <a:prstDash val="solid"/>
          </a:ln>
        </p:spPr>
      </p:sp>
      <p:sp>
        <p:nvSpPr>
          <p:cNvPr id="29" name="Shape 25">
            <a:extLst xmlns:a="http://schemas.openxmlformats.org/drawingml/2006/main">
              <a:ext uri="{FF2B5EF4-FFF2-40B4-BE49-F238E27FC236}">
                <a16:creationId xmlns:a16="http://schemas.microsoft.com/office/drawing/2014/main" id="{FE9A7014-B0DD-4B30-A6AC-5FEF6ED07B2F}"/>
              </a:ext>
            </a:extLst>
          </p:cNvPr>
          <p:cNvSpPr>
            <a:spLocks xmlns:a="http://schemas.openxmlformats.org/drawingml/2006/main" noGrp="1"/>
          </p:cNvSpPr>
          <p:nvPr/>
        </p:nvSpPr>
        <p:spPr>
          <a:xfrm xmlns:a="http://schemas.openxmlformats.org/drawingml/2006/main">
            <a:off x="4495648" y="4590288"/>
            <a:ext cx="3200400" cy="45720"/>
          </a:xfrm>
          <a:prstGeom xmlns:a="http://schemas.openxmlformats.org/drawingml/2006/main" prst="rect">
            <a:avLst/>
          </a:prstGeom>
          <a:solidFill xmlns:a="http://schemas.openxmlformats.org/drawingml/2006/main">
            <a:srgbClr val="EFEFEA"/>
          </a:solidFill>
        </p:spPr>
      </p:sp>
      <p:sp>
        <p:nvSpPr>
          <p:cNvPr id="30" name="Shape 26">
            <a:extLst xmlns:a="http://schemas.openxmlformats.org/drawingml/2006/main">
              <a:ext uri="{FF2B5EF4-FFF2-40B4-BE49-F238E27FC236}">
                <a16:creationId xmlns:a16="http://schemas.microsoft.com/office/drawing/2014/main" id="{3176C0E5-89C9-41DA-B7F9-B2CAA50BBB00}"/>
              </a:ext>
            </a:extLst>
          </p:cNvPr>
          <p:cNvSpPr>
            <a:spLocks xmlns:a="http://schemas.openxmlformats.org/drawingml/2006/main" noGrp="1"/>
          </p:cNvSpPr>
          <p:nvPr/>
        </p:nvSpPr>
        <p:spPr>
          <a:xfrm xmlns:a="http://schemas.openxmlformats.org/drawingml/2006/main">
            <a:off x="4495648" y="4590288"/>
            <a:ext cx="45720" cy="603504"/>
          </a:xfrm>
          <a:prstGeom xmlns:a="http://schemas.openxmlformats.org/drawingml/2006/main" prst="rect">
            <a:avLst/>
          </a:prstGeom>
          <a:solidFill xmlns:a="http://schemas.openxmlformats.org/drawingml/2006/main">
            <a:srgbClr val="EFEFEA"/>
          </a:solidFill>
        </p:spPr>
      </p:sp>
      <p:sp>
        <p:nvSpPr>
          <p:cNvPr id="31" name="Text 27">
            <a:extLst xmlns:a="http://schemas.openxmlformats.org/drawingml/2006/main">
              <a:ext uri="{FF2B5EF4-FFF2-40B4-BE49-F238E27FC236}">
                <a16:creationId xmlns:a16="http://schemas.microsoft.com/office/drawing/2014/main" id="{70842DD3-1973-4B17-A992-E9C4E77601A3}"/>
              </a:ext>
            </a:extLst>
          </p:cNvPr>
          <p:cNvSpPr>
            <a:spLocks xmlns:a="http://schemas.openxmlformats.org/drawingml/2006/main" noGrp="1"/>
          </p:cNvSpPr>
          <p:nvPr/>
        </p:nvSpPr>
        <p:spPr>
          <a:xfrm xmlns:a="http://schemas.openxmlformats.org/drawingml/2006/main">
            <a:off x="4495648" y="4590288"/>
            <a:ext cx="32004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B2340"/>
                </a:solidFill>
                <a:latin typeface="Malgun Gothic"/>
                <a:ea typeface="Malgun Gothic"/>
                <a:cs typeface="Malgun Gothic"/>
              </a:rPr>
              <a:t>▶  2차 발표 시작</a:t>
            </a:r>
          </a:p>
        </p:txBody>
      </p:sp>
      <p:pic>
        <p:nvPicPr>
          <p:cNvPr id="71" name="Image 2"/>
          <p:cNvPicPr>
            <a:picLocks xmlns:a="http://schemas.openxmlformats.org/drawingml/2006/main" noChangeAspect="1"/>
          </p:cNvPicPr>
          <p:nvPr/>
        </p:nvPicPr>
        <p:blipFill>
          <a:blip xmlns:r="http://schemas.openxmlformats.org/officeDocument/2006/relationships" xmlns:a="http://schemas.openxmlformats.org/drawingml/2006/main" r:embed="R07bf1e26bf1142b9"/>
          <a:stretch xmlns:a="http://schemas.openxmlformats.org/drawingml/2006/main"/>
        </p:blipFill>
        <p:spPr>
          <a:xfrm xmlns:a="http://schemas.openxmlformats.org/drawingml/2006/main">
            <a:off x="362346" y="4686300"/>
            <a:ext cx="1304132" cy="1619250"/>
          </a:xfrm>
          <a:prstGeom xmlns:a="http://schemas.openxmlformats.org/drawingml/2006/main" prst="rect">
            <a:avLst/>
          </a:prstGeom>
        </p:spPr>
      </p:pic>
      <p:sp>
        <p:nvSpPr>
          <p:cNvPr id="33" name="Shape 28">
            <a:extLst xmlns:a="http://schemas.openxmlformats.org/drawingml/2006/main">
              <a:ext uri="{FF2B5EF4-FFF2-40B4-BE49-F238E27FC236}">
                <a16:creationId xmlns:a16="http://schemas.microsoft.com/office/drawing/2014/main" id="{8E1402FC-FAC7-4886-BC93-103EDC596BEB}"/>
              </a:ext>
            </a:extLst>
          </p:cNvPr>
          <p:cNvSpPr>
            <a:spLocks xmlns:a="http://schemas.openxmlformats.org/drawingml/2006/main" noGrp="1"/>
          </p:cNvSpPr>
          <p:nvPr/>
        </p:nvSpPr>
        <p:spPr>
          <a:xfrm xmlns:a="http://schemas.openxmlformats.org/drawingml/2006/main">
            <a:off x="1527048"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4" name="Text 29">
            <a:extLst xmlns:a="http://schemas.openxmlformats.org/drawingml/2006/main">
              <a:ext uri="{FF2B5EF4-FFF2-40B4-BE49-F238E27FC236}">
                <a16:creationId xmlns:a16="http://schemas.microsoft.com/office/drawing/2014/main" id="{BAFF73D9-34B4-48DB-A897-C7DE69301D95}"/>
              </a:ext>
            </a:extLst>
          </p:cNvPr>
          <p:cNvSpPr>
            <a:spLocks xmlns:a="http://schemas.openxmlformats.org/drawingml/2006/main" noGrp="1"/>
          </p:cNvSpPr>
          <p:nvPr/>
        </p:nvSpPr>
        <p:spPr>
          <a:xfrm xmlns:a="http://schemas.openxmlformats.org/drawingml/2006/main">
            <a:off x="1618488"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안녕하세요! 오늘은 제가 유케이의 기능을 안내할게요</a:t>
            </a:r>
          </a:p>
        </p:txBody>
      </p:sp>
      <p:sp>
        <p:nvSpPr>
          <p:cNvPr id="38" name="Cover value proposition">
            <a:extLst xmlns:a="http://schemas.openxmlformats.org/drawingml/2006/main">
              <a:ext uri="{FF2B5EF4-FFF2-40B4-BE49-F238E27FC236}">
                <a16:creationId xmlns:a16="http://schemas.microsoft.com/office/drawing/2014/main" id="{C90D2CF7-0CA9-4DC6-8A39-B62667F093AD}"/>
              </a:ext>
            </a:extLst>
          </p:cNvPr>
          <p:cNvSpPr>
            <a:spLocks xmlns:a="http://schemas.openxmlformats.org/drawingml/2006/main" noGrp="1"/>
          </p:cNvSpPr>
          <p:nvPr/>
        </p:nvSpPr>
        <p:spPr>
          <a:xfrm xmlns:a="http://schemas.openxmlformats.org/drawingml/2006/main">
            <a:off x="1143000" y="39052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a:solidFill>
                  <a:srgbClr val="5E6B8C"/>
                </a:solidFill>
              </a:defRPr>
            </a:pPr>
            <a:r>
              <a:rPr sz="1950">
                <a:solidFill>
                  <a:srgbClr val="5E6B8C"/>
                </a:solidFill>
              </a:rPr>
              <a:t>상상대로 서울 시민 제안을 담당 범위·근거·후속 조치로 연결하는 정책 백오피스</a:t>
            </a:r>
          </a:p>
        </p:txBody>
      </p:sp>
    </p:spTree>
    <p:extLst>
      <p:ext uri="{BB962C8B-B14F-4D97-AF65-F5344CB8AC3E}">
        <p14:creationId xmlns:p14="http://schemas.microsoft.com/office/powerpoint/2010/main" val="54129151"/>
      </p:ext>
    </p:extLst>
  </p:cSld>
</p:sld>
</file>

<file path=ppt/slides/slide2.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DE45E7B-19F2-47E5-BB38-085F0DE7EDF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2739D35-E8E5-4180-A93F-73FEE791B27A}"/>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275AB19-4FC5-4C49-A20C-EF320202C5E9}"/>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CB932A8-AA0B-4897-9FC4-D8B8C275E19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0a32860321d94418"/>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84BB376-A733-46AB-B6AA-8B6BE3CF3698}"/>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6FD7266-11DB-4A18-AEDD-372019227C4D}"/>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CD2C9D7B-08C2-40EC-B005-EEBA166A4991}"/>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EC2200A9-F434-477E-8442-9CBBA6D6CF5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69136510-38ED-4222-A150-78ED7205BAD9}"/>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35E3B63-462F-4A0F-B434-23339D1970C7}"/>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0a32860321d94418"/>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4692A2A-E56F-4F83-B493-3C43587C2DC8}"/>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 · 문제 정의</a:t>
            </a:r>
          </a:p>
        </p:txBody>
      </p:sp>
      <p:sp>
        <p:nvSpPr>
          <p:cNvPr id="15" name="Shape 11">
            <a:extLst xmlns:a="http://schemas.openxmlformats.org/drawingml/2006/main">
              <a:ext uri="{FF2B5EF4-FFF2-40B4-BE49-F238E27FC236}">
                <a16:creationId xmlns:a16="http://schemas.microsoft.com/office/drawing/2014/main" id="{F64E4E4B-A0C3-47DB-BAED-924D8B99CC4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BF0085D-9140-43E0-AA09-C3A937DC72E2}"/>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4F6ECCD-B796-475E-8E51-17B40B7AD42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948B9517-9E60-448D-93CB-1DE9AA6D421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7D59888B-CAE6-4135-B898-4B57B02E6D67}"/>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7447723E-F930-4775-8A91-05800938D6F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78B1E101-E67A-4593-953E-0E821AB0880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89D70BD-B7B9-450A-869D-9873EBA913FD}"/>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435574-9772-45E9-993D-910DD8C99B92}"/>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3BA63D61-E5D6-4800-A45A-FE8F21A2FEE0}"/>
              </a:ext>
            </a:extLst>
          </p:cNvPr>
          <p:cNvSpPr>
            <a:spLocks xmlns:a="http://schemas.openxmlformats.org/drawingml/2006/main" noGrp="1"/>
          </p:cNvSpPr>
          <p:nvPr/>
        </p:nvSpPr>
        <p:spPr>
          <a:xfrm xmlns:a="http://schemas.openxmlformats.org/drawingml/2006/main">
            <a:off x="0" y="22860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상상대로 서울 실제 데이터에서 확인</a:t>
            </a:r>
          </a:p>
        </p:txBody>
      </p:sp>
      <p:sp>
        <p:nvSpPr>
          <p:cNvPr id="25" name="Text 21">
            <a:extLst xmlns:a="http://schemas.openxmlformats.org/drawingml/2006/main">
              <a:ext uri="{FF2B5EF4-FFF2-40B4-BE49-F238E27FC236}">
                <a16:creationId xmlns:a16="http://schemas.microsoft.com/office/drawing/2014/main" id="{1DE2D97F-B1C0-4FAB-BCF7-7FB39793658A}"/>
              </a:ext>
            </a:extLst>
          </p:cNvPr>
          <p:cNvSpPr>
            <a:spLocks xmlns:a="http://schemas.openxmlformats.org/drawingml/2006/main" noGrp="1"/>
          </p:cNvSpPr>
          <p:nvPr/>
        </p:nvSpPr>
        <p:spPr>
          <a:xfrm xmlns:a="http://schemas.openxmlformats.org/drawingml/2006/main">
            <a:off x="548640" y="269748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800" b="1">
                <a:solidFill>
                  <a:srgbClr val="1B2340"/>
                </a:solidFill>
                <a:latin typeface="Malgun Gothic"/>
                <a:ea typeface="Malgun Gothic"/>
                <a:cs typeface="Malgun Gothic"/>
              </a:rPr>
              <a:t>답변 상태·반복 수요·담당팀 후보·정책 근거가</a:t>
            </a:r>
          </a:p>
          <a:p xmlns:a="http://schemas.openxmlformats.org/drawingml/2006/main">
            <a:pPr marL="0" indent="0" algn="ctr">
              <a:lnSpc>
                <a:spcPct val="108000"/>
              </a:lnSpc>
              <a:buNone/>
            </a:pPr>
            <a:r>
              <a:rPr sz="3800" b="1">
                <a:solidFill>
                  <a:srgbClr val="1B2340"/>
                </a:solidFill>
                <a:latin typeface="Malgun Gothic"/>
                <a:ea typeface="Malgun Gothic"/>
                <a:cs typeface="Malgun Gothic"/>
              </a:rPr>
              <a:t>한 흐름으로 연결되지 않았습니다</a:t>
            </a:r>
          </a:p>
        </p:txBody>
      </p:sp>
      <p:sp>
        <p:nvSpPr>
          <p:cNvPr id="26" name="Shape 22">
            <a:extLst xmlns:a="http://schemas.openxmlformats.org/drawingml/2006/main">
              <a:ext uri="{FF2B5EF4-FFF2-40B4-BE49-F238E27FC236}">
                <a16:creationId xmlns:a16="http://schemas.microsoft.com/office/drawing/2014/main" id="{9BFD0D00-2008-4023-B4D0-5D497B462351}"/>
              </a:ext>
            </a:extLst>
          </p:cNvPr>
          <p:cNvSpPr>
            <a:spLocks xmlns:a="http://schemas.openxmlformats.org/drawingml/2006/main" noGrp="1"/>
          </p:cNvSpPr>
          <p:nvPr/>
        </p:nvSpPr>
        <p:spPr>
          <a:xfrm xmlns:a="http://schemas.openxmlformats.org/drawingml/2006/main">
            <a:off x="6003036" y="5230368"/>
            <a:ext cx="453085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8141230B-A26A-42EF-91BB-78596FD1629D}"/>
              </a:ext>
            </a:extLst>
          </p:cNvPr>
          <p:cNvSpPr>
            <a:spLocks xmlns:a="http://schemas.openxmlformats.org/drawingml/2006/main" noGrp="1"/>
          </p:cNvSpPr>
          <p:nvPr/>
        </p:nvSpPr>
        <p:spPr>
          <a:xfrm xmlns:a="http://schemas.openxmlformats.org/drawingml/2006/main">
            <a:off x="6094476" y="5230368"/>
            <a:ext cx="43479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원래 과제: 출산·양육 민원과 데이터에서 정책 수요 도출</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0a32860321d94418"/>
          <a:stretch xmlns:a="http://schemas.openxmlformats.org/drawingml/2006/main"/>
        </p:blipFill>
        <p:spPr>
          <a:xfrm xmlns:a="http://schemas.openxmlformats.org/drawingml/2006/main">
            <a:off x="362346" y="4686300"/>
            <a:ext cx="1304132" cy="1619250"/>
          </a:xfrm>
          <a:prstGeom xmlns:a="http://schemas.openxmlformats.org/drawingml/2006/main" prst="rect">
            <a:avLst/>
          </a:prstGeom>
        </p:spPr>
      </p:pic>
    </p:spTree>
    <p:extLst>
      <p:ext uri="{BB962C8B-B14F-4D97-AF65-F5344CB8AC3E}">
        <p14:creationId xmlns:p14="http://schemas.microsoft.com/office/powerpoint/2010/main" val="551128248"/>
      </p:ext>
    </p:extLst>
  </p:cSld>
</p:sld>
</file>

<file path=ppt/slides/slide3.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DE45E7B-19F2-47E5-BB38-085F0DE7EDF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2739D35-E8E5-4180-A93F-73FEE791B27A}"/>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275AB19-4FC5-4C49-A20C-EF320202C5E9}"/>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CB932A8-AA0B-4897-9FC4-D8B8C275E19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726b07967318472f"/>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84BB376-A733-46AB-B6AA-8B6BE3CF3698}"/>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6FD7266-11DB-4A18-AEDD-372019227C4D}"/>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CD2C9D7B-08C2-40EC-B005-EEBA166A4991}"/>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EC2200A9-F434-477E-8442-9CBBA6D6CF5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69136510-38ED-4222-A150-78ED7205BAD9}"/>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35E3B63-462F-4A0F-B434-23339D1970C7}"/>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726b07967318472f"/>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4692A2A-E56F-4F83-B493-3C43587C2DC8}"/>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2 · 상상대로 활용 백오피스</a:t>
            </a:r>
          </a:p>
        </p:txBody>
      </p:sp>
      <p:sp>
        <p:nvSpPr>
          <p:cNvPr id="15" name="Shape 11">
            <a:extLst xmlns:a="http://schemas.openxmlformats.org/drawingml/2006/main">
              <a:ext uri="{FF2B5EF4-FFF2-40B4-BE49-F238E27FC236}">
                <a16:creationId xmlns:a16="http://schemas.microsoft.com/office/drawing/2014/main" id="{F64E4E4B-A0C3-47DB-BAED-924D8B99CC4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BF0085D-9140-43E0-AA09-C3A937DC72E2}"/>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4F6ECCD-B796-475E-8E51-17B40B7AD42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948B9517-9E60-448D-93CB-1DE9AA6D421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7D59888B-CAE6-4135-B898-4B57B02E6D67}"/>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7447723E-F930-4775-8A91-05800938D6F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78B1E101-E67A-4593-953E-0E821AB0880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89D70BD-B7B9-450A-869D-9873EBA913FD}"/>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435574-9772-45E9-993D-910DD8C99B92}"/>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3BA63D61-E5D6-4800-A45A-FE8F21A2FEE0}"/>
              </a:ext>
            </a:extLst>
          </p:cNvPr>
          <p:cNvSpPr>
            <a:spLocks xmlns:a="http://schemas.openxmlformats.org/drawingml/2006/main" noGrp="1"/>
          </p:cNvSpPr>
          <p:nvPr/>
        </p:nvSpPr>
        <p:spPr>
          <a:xfrm xmlns:a="http://schemas.openxmlformats.org/drawingml/2006/main">
            <a:off x="0" y="22860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대체가 아니라 연결</a:t>
            </a:r>
          </a:p>
        </p:txBody>
      </p:sp>
      <p:sp>
        <p:nvSpPr>
          <p:cNvPr id="25" name="Text 21">
            <a:extLst xmlns:a="http://schemas.openxmlformats.org/drawingml/2006/main">
              <a:ext uri="{FF2B5EF4-FFF2-40B4-BE49-F238E27FC236}">
                <a16:creationId xmlns:a16="http://schemas.microsoft.com/office/drawing/2014/main" id="{1DE2D97F-B1C0-4FAB-BCF7-7FB39793658A}"/>
              </a:ext>
            </a:extLst>
          </p:cNvPr>
          <p:cNvSpPr>
            <a:spLocks xmlns:a="http://schemas.openxmlformats.org/drawingml/2006/main" noGrp="1"/>
          </p:cNvSpPr>
          <p:nvPr/>
        </p:nvSpPr>
        <p:spPr>
          <a:xfrm xmlns:a="http://schemas.openxmlformats.org/drawingml/2006/main">
            <a:off x="548640" y="269748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800" b="1">
                <a:solidFill>
                  <a:srgbClr val="1B2340"/>
                </a:solidFill>
                <a:latin typeface="Malgun Gothic"/>
                <a:ea typeface="Malgun Gothic"/>
                <a:cs typeface="Malgun Gothic"/>
              </a:rPr>
              <a:t>상상대로를 대체하지 않고,</a:t>
            </a:r>
          </a:p>
          <a:p xmlns:a="http://schemas.openxmlformats.org/drawingml/2006/main">
            <a:pPr marL="0" indent="0" algn="ctr">
              <a:lnSpc>
                <a:spcPct val="108000"/>
              </a:lnSpc>
              <a:buNone/>
            </a:pPr>
            <a:r>
              <a:rPr sz="3800" b="1">
                <a:solidFill>
                  <a:srgbClr val="1B2340"/>
                </a:solidFill>
                <a:latin typeface="Malgun Gothic"/>
                <a:ea typeface="Malgun Gothic"/>
                <a:cs typeface="Malgun Gothic"/>
              </a:rPr>
              <a:t>정책 검토와 후속 조치를 연결합니다</a:t>
            </a:r>
          </a:p>
        </p:txBody>
      </p:sp>
      <p:sp>
        <p:nvSpPr>
          <p:cNvPr id="26" name="Shape 22">
            <a:extLst xmlns:a="http://schemas.openxmlformats.org/drawingml/2006/main">
              <a:ext uri="{FF2B5EF4-FFF2-40B4-BE49-F238E27FC236}">
                <a16:creationId xmlns:a16="http://schemas.microsoft.com/office/drawing/2014/main" id="{9BFD0D00-2008-4023-B4D0-5D497B462351}"/>
              </a:ext>
            </a:extLst>
          </p:cNvPr>
          <p:cNvSpPr>
            <a:spLocks xmlns:a="http://schemas.openxmlformats.org/drawingml/2006/main" noGrp="1"/>
          </p:cNvSpPr>
          <p:nvPr/>
        </p:nvSpPr>
        <p:spPr>
          <a:xfrm xmlns:a="http://schemas.openxmlformats.org/drawingml/2006/main">
            <a:off x="6003036" y="5230368"/>
            <a:ext cx="453085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8141230B-A26A-42EF-91BB-78596FD1629D}"/>
              </a:ext>
            </a:extLst>
          </p:cNvPr>
          <p:cNvSpPr>
            <a:spLocks xmlns:a="http://schemas.openxmlformats.org/drawingml/2006/main" noGrp="1"/>
          </p:cNvSpPr>
          <p:nvPr/>
        </p:nvSpPr>
        <p:spPr>
          <a:xfrm xmlns:a="http://schemas.openxmlformats.org/drawingml/2006/main">
            <a:off x="6094476" y="5230368"/>
            <a:ext cx="43479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시민제안·민원·정책·뉴스·통계를 다음 조치까지 이어드릴게요</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726b07967318472f"/>
          <a:stretch xmlns:a="http://schemas.openxmlformats.org/drawingml/2006/main"/>
        </p:blipFill>
        <p:spPr>
          <a:xfrm xmlns:a="http://schemas.openxmlformats.org/drawingml/2006/main">
            <a:off x="362346" y="4686300"/>
            <a:ext cx="1304132" cy="1619250"/>
          </a:xfrm>
          <a:prstGeom xmlns:a="http://schemas.openxmlformats.org/drawingml/2006/main" prst="rect">
            <a:avLst/>
          </a:prstGeom>
        </p:spPr>
      </p:pic>
    </p:spTree>
    <p:extLst>
      <p:ext uri="{BB962C8B-B14F-4D97-AF65-F5344CB8AC3E}">
        <p14:creationId xmlns:p14="http://schemas.microsoft.com/office/powerpoint/2010/main" val="551128248"/>
      </p:ext>
    </p:extLst>
  </p:cSld>
</p:sld>
</file>

<file path=ppt/slides/slide4.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0CEED8-6C09-4FB4-B857-9C8B43917837}"/>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AA0E26A1-FCB9-4863-9BA6-D7B57D23C855}"/>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5AB58862-61DD-43B1-8B3E-621853063BE1}"/>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F94042FB-F43F-49F5-8E20-7EF1E127F60C}"/>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6963358499c84703"/>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01B6C90-B846-44F6-89CA-4A6ED2C3BE28}"/>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335E495D-F210-4157-B098-D1CE642F25E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7002467D-1E97-447B-B7A6-39F366A5B6D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619E92B9-34AF-44E5-937B-FB892D8E9500}"/>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B3CC2200-B718-4CD8-8227-E09300719FDA}"/>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18A3382-8BFF-45AB-B611-9627171489C0}"/>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6963358499c84703"/>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A02E6B78-4B60-4E79-8F49-8F0EC25C3495}"/>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2 · 페르소나</a:t>
            </a:r>
          </a:p>
        </p:txBody>
      </p:sp>
      <p:sp>
        <p:nvSpPr>
          <p:cNvPr id="15" name="Shape 11">
            <a:extLst xmlns:a="http://schemas.openxmlformats.org/drawingml/2006/main">
              <a:ext uri="{FF2B5EF4-FFF2-40B4-BE49-F238E27FC236}">
                <a16:creationId xmlns:a16="http://schemas.microsoft.com/office/drawing/2014/main" id="{A3BC71F7-169F-4883-AB56-E90D242FC42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B4A5B94-B0F6-4C8F-984D-D59BCA67210E}"/>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6BB10564-D750-4CED-A9B4-19DC17A52394}"/>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726B8E63-1349-48BA-B9AB-3A80B0775C52}"/>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D6A577EC-D88F-454D-9932-1FD9FC92FF36}"/>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2BDD8A20-1567-4312-B173-E62C871183A8}"/>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B198589F-8B90-40A1-A628-5295CD8F890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AC3062D3-ED78-491D-89EC-D2A0ACB41791}"/>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FD6F6370-A145-46D0-8FFD-EDF79128553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6CCE3D6-07DE-4C28-B386-2669C9BAAD13}"/>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가상 페르소나 · 신규 정책담당 김서현</a:t>
            </a:r>
          </a:p>
        </p:txBody>
      </p:sp>
      <p:sp>
        <p:nvSpPr>
          <p:cNvPr id="25" name="Text 21">
            <a:extLst xmlns:a="http://schemas.openxmlformats.org/drawingml/2006/main">
              <a:ext uri="{FF2B5EF4-FFF2-40B4-BE49-F238E27FC236}">
                <a16:creationId xmlns:a16="http://schemas.microsoft.com/office/drawing/2014/main" id="{6E7F0B98-50CF-4A6E-9F62-F66C49F1C879}"/>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월요일 오전, 무엇부터 봐야 할까요?</a:t>
            </a:r>
          </a:p>
        </p:txBody>
      </p:sp>
      <p:sp>
        <p:nvSpPr>
          <p:cNvPr id="26" name="Shape 22">
            <a:extLst xmlns:a="http://schemas.openxmlformats.org/drawingml/2006/main">
              <a:ext uri="{FF2B5EF4-FFF2-40B4-BE49-F238E27FC236}">
                <a16:creationId xmlns:a16="http://schemas.microsoft.com/office/drawing/2014/main" id="{BD4D1DBD-259B-46F2-9A93-E5308C103635}"/>
              </a:ext>
            </a:extLst>
          </p:cNvPr>
          <p:cNvSpPr>
            <a:spLocks xmlns:a="http://schemas.openxmlformats.org/drawingml/2006/main" noGrp="1"/>
          </p:cNvSpPr>
          <p:nvPr/>
        </p:nvSpPr>
        <p:spPr>
          <a:xfrm xmlns:a="http://schemas.openxmlformats.org/drawingml/2006/main">
            <a:off x="792328" y="2788920"/>
            <a:ext cx="4343400" cy="22860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35A22D90-1C5A-4A49-B0FA-0A9BF4F6A3F7}"/>
              </a:ext>
            </a:extLst>
          </p:cNvPr>
          <p:cNvSpPr>
            <a:spLocks xmlns:a="http://schemas.openxmlformats.org/drawingml/2006/main" noGrp="1"/>
          </p:cNvSpPr>
          <p:nvPr/>
        </p:nvSpPr>
        <p:spPr>
          <a:xfrm xmlns:a="http://schemas.openxmlformats.org/drawingml/2006/main">
            <a:off x="956920" y="2898648"/>
            <a:ext cx="4014216" cy="2066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3A4470"/>
                </a:solidFill>
                <a:latin typeface="Malgun Gothic"/>
                <a:ea typeface="Malgun Gothic"/>
                <a:cs typeface="Malgun Gothic"/>
              </a:rPr>
              <a:t>상황</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출산·양육 정책 담당</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여러 출처와 화면</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검토 우선순위 필요</a:t>
            </a:r>
          </a:p>
        </p:txBody>
      </p:sp>
      <p:sp>
        <p:nvSpPr>
          <p:cNvPr id="28" name="Text 24">
            <a:extLst xmlns:a="http://schemas.openxmlformats.org/drawingml/2006/main">
              <a:ext uri="{FF2B5EF4-FFF2-40B4-BE49-F238E27FC236}">
                <a16:creationId xmlns:a16="http://schemas.microsoft.com/office/drawing/2014/main" id="{60403628-BFBD-4F71-ADC6-3C9A8A067BD1}"/>
              </a:ext>
            </a:extLst>
          </p:cNvPr>
          <p:cNvSpPr>
            <a:spLocks xmlns:a="http://schemas.openxmlformats.org/drawingml/2006/main" noGrp="1"/>
          </p:cNvSpPr>
          <p:nvPr/>
        </p:nvSpPr>
        <p:spPr>
          <a:xfrm xmlns:a="http://schemas.openxmlformats.org/drawingml/2006/main">
            <a:off x="5272888" y="2788920"/>
            <a:ext cx="164592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5E04BA05-B476-4166-A593-849F90EB149E}"/>
              </a:ext>
            </a:extLst>
          </p:cNvPr>
          <p:cNvSpPr>
            <a:spLocks xmlns:a="http://schemas.openxmlformats.org/drawingml/2006/main" noGrp="1"/>
          </p:cNvSpPr>
          <p:nvPr/>
        </p:nvSpPr>
        <p:spPr>
          <a:xfrm xmlns:a="http://schemas.openxmlformats.org/drawingml/2006/main">
            <a:off x="7055968" y="2788920"/>
            <a:ext cx="4343400" cy="2286000"/>
          </a:xfrm>
          <a:prstGeom xmlns:a="http://schemas.openxmlformats.org/drawingml/2006/main" prst="rect">
            <a:avLst/>
          </a:prstGeom>
          <a:solidFill xmlns:a="http://schemas.openxmlformats.org/drawingml/2006/main">
            <a:srgbClr val="E1F5EC"/>
          </a:solidFill>
          <a:ln xmlns:a="http://schemas.openxmlformats.org/drawingml/2006/main" w="12700">
            <a:solidFill>
              <a:srgbClr val="9FE1CB"/>
            </a:solidFill>
            <a:prstDash val="solid"/>
          </a:ln>
        </p:spPr>
      </p:sp>
      <p:sp>
        <p:nvSpPr>
          <p:cNvPr id="30" name="Text 26">
            <a:extLst xmlns:a="http://schemas.openxmlformats.org/drawingml/2006/main">
              <a:ext uri="{FF2B5EF4-FFF2-40B4-BE49-F238E27FC236}">
                <a16:creationId xmlns:a16="http://schemas.microsoft.com/office/drawing/2014/main" id="{4895656E-299E-48D2-8A35-D8D19BF78817}"/>
              </a:ext>
            </a:extLst>
          </p:cNvPr>
          <p:cNvSpPr>
            <a:spLocks xmlns:a="http://schemas.openxmlformats.org/drawingml/2006/main" noGrp="1"/>
          </p:cNvSpPr>
          <p:nvPr/>
        </p:nvSpPr>
        <p:spPr>
          <a:xfrm xmlns:a="http://schemas.openxmlformats.org/drawingml/2006/main">
            <a:off x="7220560" y="2898648"/>
            <a:ext cx="4014216" cy="2066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0FA968"/>
                </a:solidFill>
                <a:latin typeface="Malgun Gothic"/>
                <a:ea typeface="Malgun Gothic"/>
                <a:cs typeface="Malgun Gothic"/>
              </a:rPr>
              <a:t>필요한 지원</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내 담당 범위 설정</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반복 수요·근거 확인</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보고자료 작성</a:t>
            </a:r>
          </a:p>
        </p:txBody>
      </p:sp>
      <p:sp>
        <p:nvSpPr>
          <p:cNvPr id="31" name="Shape 27">
            <a:extLst xmlns:a="http://schemas.openxmlformats.org/drawingml/2006/main">
              <a:ext uri="{FF2B5EF4-FFF2-40B4-BE49-F238E27FC236}">
                <a16:creationId xmlns:a16="http://schemas.microsoft.com/office/drawing/2014/main" id="{0CB39D8C-FD8A-4221-A3F6-07739990C006}"/>
              </a:ext>
            </a:extLst>
          </p:cNvPr>
          <p:cNvSpPr>
            <a:spLocks xmlns:a="http://schemas.openxmlformats.org/drawingml/2006/main" noGrp="1"/>
          </p:cNvSpPr>
          <p:nvPr/>
        </p:nvSpPr>
        <p:spPr>
          <a:xfrm xmlns:a="http://schemas.openxmlformats.org/drawingml/2006/main">
            <a:off x="6341364"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2" name="Text 28">
            <a:extLst xmlns:a="http://schemas.openxmlformats.org/drawingml/2006/main">
              <a:ext uri="{FF2B5EF4-FFF2-40B4-BE49-F238E27FC236}">
                <a16:creationId xmlns:a16="http://schemas.microsoft.com/office/drawing/2014/main" id="{B7E6971A-A1BD-4474-A669-165C1074B435}"/>
              </a:ext>
            </a:extLst>
          </p:cNvPr>
          <p:cNvSpPr>
            <a:spLocks xmlns:a="http://schemas.openxmlformats.org/drawingml/2006/main" noGrp="1"/>
          </p:cNvSpPr>
          <p:nvPr/>
        </p:nvSpPr>
        <p:spPr>
          <a:xfrm xmlns:a="http://schemas.openxmlformats.org/drawingml/2006/main">
            <a:off x="6432804"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실제 인물이 아닌 기능 시연용 가상 페르소나예요</a:t>
            </a: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6963358499c84703"/>
          <a:stretch xmlns:a="http://schemas.openxmlformats.org/drawingml/2006/main"/>
        </p:blipFill>
        <p:spPr>
          <a:xfrm xmlns:a="http://schemas.openxmlformats.org/drawingml/2006/main">
            <a:off x="323850" y="4935736"/>
            <a:ext cx="1381125" cy="1120378"/>
          </a:xfrm>
          <a:prstGeom xmlns:a="http://schemas.openxmlformats.org/drawingml/2006/main" prst="rect">
            <a:avLst/>
          </a:prstGeom>
        </p:spPr>
      </p:pic>
    </p:spTree>
    <p:extLst>
      <p:ext uri="{BB962C8B-B14F-4D97-AF65-F5344CB8AC3E}">
        <p14:creationId xmlns:p14="http://schemas.microsoft.com/office/powerpoint/2010/main" val="920103634"/>
      </p:ext>
    </p:extLst>
  </p:cSld>
</p:sld>
</file>

<file path=ppt/slides/slide5.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DE45E7B-19F2-47E5-BB38-085F0DE7EDF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2739D35-E8E5-4180-A93F-73FEE791B27A}"/>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275AB19-4FC5-4C49-A20C-EF320202C5E9}"/>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CB932A8-AA0B-4897-9FC4-D8B8C275E19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b31e74fa314f4281"/>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84BB376-A733-46AB-B6AA-8B6BE3CF3698}"/>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6FD7266-11DB-4A18-AEDD-372019227C4D}"/>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CD2C9D7B-08C2-40EC-B005-EEBA166A4991}"/>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EC2200A9-F434-477E-8442-9CBBA6D6CF5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69136510-38ED-4222-A150-78ED7205BAD9}"/>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35E3B63-462F-4A0F-B434-23339D1970C7}"/>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b31e74fa314f4281"/>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4692A2A-E56F-4F83-B493-3C43587C2DC8}"/>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3 · 검증할 문제 가설</a:t>
            </a:r>
          </a:p>
        </p:txBody>
      </p:sp>
      <p:sp>
        <p:nvSpPr>
          <p:cNvPr id="15" name="Shape 11">
            <a:extLst xmlns:a="http://schemas.openxmlformats.org/drawingml/2006/main">
              <a:ext uri="{FF2B5EF4-FFF2-40B4-BE49-F238E27FC236}">
                <a16:creationId xmlns:a16="http://schemas.microsoft.com/office/drawing/2014/main" id="{F64E4E4B-A0C3-47DB-BAED-924D8B99CC4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BF0085D-9140-43E0-AA09-C3A937DC72E2}"/>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4F6ECCD-B796-475E-8E51-17B40B7AD42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948B9517-9E60-448D-93CB-1DE9AA6D421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7D59888B-CAE6-4135-B898-4B57B02E6D67}"/>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7447723E-F930-4775-8A91-05800938D6F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78B1E101-E67A-4593-953E-0E821AB0880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89D70BD-B7B9-450A-869D-9873EBA913FD}"/>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435574-9772-45E9-993D-910DD8C99B92}"/>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3BA63D61-E5D6-4800-A45A-FE8F21A2FEE0}"/>
              </a:ext>
            </a:extLst>
          </p:cNvPr>
          <p:cNvSpPr>
            <a:spLocks xmlns:a="http://schemas.openxmlformats.org/drawingml/2006/main" noGrp="1"/>
          </p:cNvSpPr>
          <p:nvPr/>
        </p:nvSpPr>
        <p:spPr>
          <a:xfrm xmlns:a="http://schemas.openxmlformats.org/drawingml/2006/main">
            <a:off x="0" y="22860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검증할 문제 가설</a:t>
            </a:r>
          </a:p>
        </p:txBody>
      </p:sp>
      <p:sp>
        <p:nvSpPr>
          <p:cNvPr id="25" name="Text 21">
            <a:extLst xmlns:a="http://schemas.openxmlformats.org/drawingml/2006/main">
              <a:ext uri="{FF2B5EF4-FFF2-40B4-BE49-F238E27FC236}">
                <a16:creationId xmlns:a16="http://schemas.microsoft.com/office/drawing/2014/main" id="{1DE2D97F-B1C0-4FAB-BCF7-7FB39793658A}"/>
              </a:ext>
            </a:extLst>
          </p:cNvPr>
          <p:cNvSpPr>
            <a:spLocks xmlns:a="http://schemas.openxmlformats.org/drawingml/2006/main" noGrp="1"/>
          </p:cNvSpPr>
          <p:nvPr/>
        </p:nvSpPr>
        <p:spPr>
          <a:xfrm xmlns:a="http://schemas.openxmlformats.org/drawingml/2006/main">
            <a:off x="548640" y="269748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800" b="1">
                <a:solidFill>
                  <a:srgbClr val="1B2340"/>
                </a:solidFill>
                <a:latin typeface="Malgun Gothic"/>
                <a:ea typeface="Malgun Gothic"/>
                <a:cs typeface="Malgun Gothic"/>
              </a:rPr>
              <a:t>데이터는 있었지만,</a:t>
            </a:r>
          </a:p>
          <a:p xmlns:a="http://schemas.openxmlformats.org/drawingml/2006/main">
            <a:pPr marL="0" indent="0" algn="ctr">
              <a:lnSpc>
                <a:spcPct val="108000"/>
              </a:lnSpc>
              <a:buNone/>
            </a:pPr>
            <a:r>
              <a:rPr sz="3800" b="1">
                <a:solidFill>
                  <a:srgbClr val="1B2340"/>
                </a:solidFill>
                <a:latin typeface="Malgun Gothic"/>
                <a:ea typeface="Malgun Gothic"/>
                <a:cs typeface="Malgun Gothic"/>
              </a:rPr>
              <a:t>수요와 책임·근거·조치가 끊겨 있었습니다</a:t>
            </a:r>
          </a:p>
        </p:txBody>
      </p:sp>
      <p:sp>
        <p:nvSpPr>
          <p:cNvPr id="26" name="Shape 22">
            <a:extLst xmlns:a="http://schemas.openxmlformats.org/drawingml/2006/main">
              <a:ext uri="{FF2B5EF4-FFF2-40B4-BE49-F238E27FC236}">
                <a16:creationId xmlns:a16="http://schemas.microsoft.com/office/drawing/2014/main" id="{9BFD0D00-2008-4023-B4D0-5D497B462351}"/>
              </a:ext>
            </a:extLst>
          </p:cNvPr>
          <p:cNvSpPr>
            <a:spLocks xmlns:a="http://schemas.openxmlformats.org/drawingml/2006/main" noGrp="1"/>
          </p:cNvSpPr>
          <p:nvPr/>
        </p:nvSpPr>
        <p:spPr>
          <a:xfrm xmlns:a="http://schemas.openxmlformats.org/drawingml/2006/main">
            <a:off x="6003036" y="5230368"/>
            <a:ext cx="453085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8141230B-A26A-42EF-91BB-78596FD1629D}"/>
              </a:ext>
            </a:extLst>
          </p:cNvPr>
          <p:cNvSpPr>
            <a:spLocks xmlns:a="http://schemas.openxmlformats.org/drawingml/2006/main" noGrp="1"/>
          </p:cNvSpPr>
          <p:nvPr/>
        </p:nvSpPr>
        <p:spPr>
          <a:xfrm xmlns:a="http://schemas.openxmlformats.org/drawingml/2006/main">
            <a:off x="6094476" y="5230368"/>
            <a:ext cx="43479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답변 상태·담당 후보·정책 근거를 한 화면에서 연결합니다</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b31e74fa314f4281"/>
          <a:stretch xmlns:a="http://schemas.openxmlformats.org/drawingml/2006/main"/>
        </p:blipFill>
        <p:spPr>
          <a:xfrm xmlns:a="http://schemas.openxmlformats.org/drawingml/2006/main">
            <a:off x="362346" y="4686300"/>
            <a:ext cx="1304132" cy="1619250"/>
          </a:xfrm>
          <a:prstGeom xmlns:a="http://schemas.openxmlformats.org/drawingml/2006/main" prst="rect">
            <a:avLst/>
          </a:prstGeom>
        </p:spPr>
      </p:pic>
    </p:spTree>
    <p:extLst>
      <p:ext uri="{BB962C8B-B14F-4D97-AF65-F5344CB8AC3E}">
        <p14:creationId xmlns:p14="http://schemas.microsoft.com/office/powerpoint/2010/main" val="551128248"/>
      </p:ext>
    </p:extLst>
  </p:cSld>
</p:sld>
</file>

<file path=ppt/slides/slide6.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0CEED8-6C09-4FB4-B857-9C8B43917837}"/>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AA0E26A1-FCB9-4863-9BA6-D7B57D23C855}"/>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5AB58862-61DD-43B1-8B3E-621853063BE1}"/>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F94042FB-F43F-49F5-8E20-7EF1E127F60C}"/>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188901cfa9ed4258"/>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01B6C90-B846-44F6-89CA-4A6ED2C3BE28}"/>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335E495D-F210-4157-B098-D1CE642F25E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7002467D-1E97-447B-B7A6-39F366A5B6D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619E92B9-34AF-44E5-937B-FB892D8E9500}"/>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B3CC2200-B718-4CD8-8227-E09300719FDA}"/>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18A3382-8BFF-45AB-B611-9627171489C0}"/>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188901cfa9ed4258"/>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A02E6B78-4B60-4E79-8F49-8F0EC25C3495}"/>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4 · TO-BE</a:t>
            </a:r>
          </a:p>
        </p:txBody>
      </p:sp>
      <p:sp>
        <p:nvSpPr>
          <p:cNvPr id="15" name="Shape 11">
            <a:extLst xmlns:a="http://schemas.openxmlformats.org/drawingml/2006/main">
              <a:ext uri="{FF2B5EF4-FFF2-40B4-BE49-F238E27FC236}">
                <a16:creationId xmlns:a16="http://schemas.microsoft.com/office/drawing/2014/main" id="{A3BC71F7-169F-4883-AB56-E90D242FC42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B4A5B94-B0F6-4C8F-984D-D59BCA67210E}"/>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6BB10564-D750-4CED-A9B4-19DC17A52394}"/>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726B8E63-1349-48BA-B9AB-3A80B0775C52}"/>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D6A577EC-D88F-454D-9932-1FD9FC92FF36}"/>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2BDD8A20-1567-4312-B173-E62C871183A8}"/>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B198589F-8B90-40A1-A628-5295CD8F890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AC3062D3-ED78-491D-89EC-D2A0ACB41791}"/>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FD6F6370-A145-46D0-8FFD-EDF79128553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6CCE3D6-07DE-4C28-B386-2669C9BAAD13}"/>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수요 → 책임 → 근거 → 조치</a:t>
            </a:r>
          </a:p>
        </p:txBody>
      </p:sp>
      <p:sp>
        <p:nvSpPr>
          <p:cNvPr id="25" name="Text 21">
            <a:extLst xmlns:a="http://schemas.openxmlformats.org/drawingml/2006/main">
              <a:ext uri="{FF2B5EF4-FFF2-40B4-BE49-F238E27FC236}">
                <a16:creationId xmlns:a16="http://schemas.microsoft.com/office/drawing/2014/main" id="{6E7F0B98-50CF-4A6E-9F62-F66C49F1C879}"/>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한 화면에서 근거와 R&amp;R까지 연결합니다</a:t>
            </a:r>
          </a:p>
        </p:txBody>
      </p:sp>
      <p:sp>
        <p:nvSpPr>
          <p:cNvPr id="26" name="Shape 22">
            <a:extLst xmlns:a="http://schemas.openxmlformats.org/drawingml/2006/main">
              <a:ext uri="{FF2B5EF4-FFF2-40B4-BE49-F238E27FC236}">
                <a16:creationId xmlns:a16="http://schemas.microsoft.com/office/drawing/2014/main" id="{BD4D1DBD-259B-46F2-9A93-E5308C103635}"/>
              </a:ext>
            </a:extLst>
          </p:cNvPr>
          <p:cNvSpPr>
            <a:spLocks xmlns:a="http://schemas.openxmlformats.org/drawingml/2006/main" noGrp="1"/>
          </p:cNvSpPr>
          <p:nvPr/>
        </p:nvSpPr>
        <p:spPr>
          <a:xfrm xmlns:a="http://schemas.openxmlformats.org/drawingml/2006/main">
            <a:off x="792328" y="2788920"/>
            <a:ext cx="4343400" cy="22860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35A22D90-1C5A-4A49-B0FA-0A9BF4F6A3F7}"/>
              </a:ext>
            </a:extLst>
          </p:cNvPr>
          <p:cNvSpPr>
            <a:spLocks xmlns:a="http://schemas.openxmlformats.org/drawingml/2006/main" noGrp="1"/>
          </p:cNvSpPr>
          <p:nvPr/>
        </p:nvSpPr>
        <p:spPr>
          <a:xfrm xmlns:a="http://schemas.openxmlformats.org/drawingml/2006/main">
            <a:off x="956920" y="2898648"/>
            <a:ext cx="4014216" cy="2066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3A4470"/>
                </a:solidFill>
                <a:latin typeface="Malgun Gothic"/>
                <a:ea typeface="Malgun Gothic"/>
                <a:cs typeface="Malgun Gothic"/>
              </a:rPr>
              <a:t>입력</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시민 제안·민원</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정책·뉴스</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자치구 통계</a:t>
            </a:r>
          </a:p>
        </p:txBody>
      </p:sp>
      <p:sp>
        <p:nvSpPr>
          <p:cNvPr id="28" name="Text 24">
            <a:extLst xmlns:a="http://schemas.openxmlformats.org/drawingml/2006/main">
              <a:ext uri="{FF2B5EF4-FFF2-40B4-BE49-F238E27FC236}">
                <a16:creationId xmlns:a16="http://schemas.microsoft.com/office/drawing/2014/main" id="{60403628-BFBD-4F71-ADC6-3C9A8A067BD1}"/>
              </a:ext>
            </a:extLst>
          </p:cNvPr>
          <p:cNvSpPr>
            <a:spLocks xmlns:a="http://schemas.openxmlformats.org/drawingml/2006/main" noGrp="1"/>
          </p:cNvSpPr>
          <p:nvPr/>
        </p:nvSpPr>
        <p:spPr>
          <a:xfrm xmlns:a="http://schemas.openxmlformats.org/drawingml/2006/main">
            <a:off x="5272888" y="2788920"/>
            <a:ext cx="164592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5E04BA05-B476-4166-A593-849F90EB149E}"/>
              </a:ext>
            </a:extLst>
          </p:cNvPr>
          <p:cNvSpPr>
            <a:spLocks xmlns:a="http://schemas.openxmlformats.org/drawingml/2006/main" noGrp="1"/>
          </p:cNvSpPr>
          <p:nvPr/>
        </p:nvSpPr>
        <p:spPr>
          <a:xfrm xmlns:a="http://schemas.openxmlformats.org/drawingml/2006/main">
            <a:off x="7055968" y="2788920"/>
            <a:ext cx="4343400" cy="2286000"/>
          </a:xfrm>
          <a:prstGeom xmlns:a="http://schemas.openxmlformats.org/drawingml/2006/main" prst="rect">
            <a:avLst/>
          </a:prstGeom>
          <a:solidFill xmlns:a="http://schemas.openxmlformats.org/drawingml/2006/main">
            <a:srgbClr val="E1F5EC"/>
          </a:solidFill>
          <a:ln xmlns:a="http://schemas.openxmlformats.org/drawingml/2006/main" w="12700">
            <a:solidFill>
              <a:srgbClr val="9FE1CB"/>
            </a:solidFill>
            <a:prstDash val="solid"/>
          </a:ln>
        </p:spPr>
      </p:sp>
      <p:sp>
        <p:nvSpPr>
          <p:cNvPr id="30" name="Text 26">
            <a:extLst xmlns:a="http://schemas.openxmlformats.org/drawingml/2006/main">
              <a:ext uri="{FF2B5EF4-FFF2-40B4-BE49-F238E27FC236}">
                <a16:creationId xmlns:a16="http://schemas.microsoft.com/office/drawing/2014/main" id="{4895656E-299E-48D2-8A35-D8D19BF78817}"/>
              </a:ext>
            </a:extLst>
          </p:cNvPr>
          <p:cNvSpPr>
            <a:spLocks xmlns:a="http://schemas.openxmlformats.org/drawingml/2006/main" noGrp="1"/>
          </p:cNvSpPr>
          <p:nvPr/>
        </p:nvSpPr>
        <p:spPr>
          <a:xfrm xmlns:a="http://schemas.openxmlformats.org/drawingml/2006/main">
            <a:off x="7220560" y="2898648"/>
            <a:ext cx="4014216" cy="2066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0FA968"/>
                </a:solidFill>
                <a:latin typeface="Malgun Gothic"/>
                <a:ea typeface="Malgun Gothic"/>
                <a:cs typeface="Malgun Gothic"/>
              </a:rPr>
              <a:t>출력</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반복 수요·Gap</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R&amp;R 후보·원문</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맞춤 보고서·로그</a:t>
            </a:r>
          </a:p>
        </p:txBody>
      </p:sp>
      <p:sp>
        <p:nvSpPr>
          <p:cNvPr id="31" name="Shape 27">
            <a:extLst xmlns:a="http://schemas.openxmlformats.org/drawingml/2006/main">
              <a:ext uri="{FF2B5EF4-FFF2-40B4-BE49-F238E27FC236}">
                <a16:creationId xmlns:a16="http://schemas.microsoft.com/office/drawing/2014/main" id="{0CB39D8C-FD8A-4221-A3F6-07739990C006}"/>
              </a:ext>
            </a:extLst>
          </p:cNvPr>
          <p:cNvSpPr>
            <a:spLocks xmlns:a="http://schemas.openxmlformats.org/drawingml/2006/main" noGrp="1"/>
          </p:cNvSpPr>
          <p:nvPr/>
        </p:nvSpPr>
        <p:spPr>
          <a:xfrm xmlns:a="http://schemas.openxmlformats.org/drawingml/2006/main">
            <a:off x="6341364"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2" name="Text 28">
            <a:extLst xmlns:a="http://schemas.openxmlformats.org/drawingml/2006/main">
              <a:ext uri="{FF2B5EF4-FFF2-40B4-BE49-F238E27FC236}">
                <a16:creationId xmlns:a16="http://schemas.microsoft.com/office/drawing/2014/main" id="{B7E6971A-A1BD-4474-A669-165C1074B435}"/>
              </a:ext>
            </a:extLst>
          </p:cNvPr>
          <p:cNvSpPr>
            <a:spLocks xmlns:a="http://schemas.openxmlformats.org/drawingml/2006/main" noGrp="1"/>
          </p:cNvSpPr>
          <p:nvPr/>
        </p:nvSpPr>
        <p:spPr>
          <a:xfrm xmlns:a="http://schemas.openxmlformats.org/drawingml/2006/main">
            <a:off x="6432804"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후보와 근거를 연결하고 최종 결정은 사람이 해요</a:t>
            </a: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188901cfa9ed4258"/>
          <a:stretch xmlns:a="http://schemas.openxmlformats.org/drawingml/2006/main"/>
        </p:blipFill>
        <p:spPr>
          <a:xfrm xmlns:a="http://schemas.openxmlformats.org/drawingml/2006/main">
            <a:off x="228600" y="4820102"/>
            <a:ext cx="1619250" cy="1313547"/>
          </a:xfrm>
          <a:prstGeom xmlns:a="http://schemas.openxmlformats.org/drawingml/2006/main" prst="rect">
            <a:avLst/>
          </a:prstGeom>
        </p:spPr>
      </p:pic>
    </p:spTree>
    <p:extLst>
      <p:ext uri="{BB962C8B-B14F-4D97-AF65-F5344CB8AC3E}">
        <p14:creationId xmlns:p14="http://schemas.microsoft.com/office/powerpoint/2010/main" val="920103634"/>
      </p:ext>
    </p:extLst>
  </p:cSld>
</p:sld>
</file>

<file path=ppt/slides/slide7.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5CC833-3EA2-4D0E-9EE2-5996FB713E92}"/>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4272DE01-03D5-4A23-BEBB-128056147579}"/>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E9B9A54B-70BD-4828-B5DE-84A97990F64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9DAD69EF-7AC5-45B2-AE69-87CF493BDDB1}"/>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f6475a09e734c95"/>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96B987A-AE0C-4A3B-85F8-07E796A5E875}"/>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B176C70-3233-415C-80D3-6E3DCC6CCCEB}"/>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B2CC6BF1-D951-47F3-AB45-DB80F6D47C3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7BAF3597-ACEF-4F57-B226-55E77455CD53}"/>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ACFE2892-8A3A-4C19-B85C-047D205C1AF6}"/>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5B48BFE9-9371-4153-B911-1D2740B16B4A}"/>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9f6475a09e734c95"/>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61D2ACCE-6B28-4215-94C9-B19163EAA2ED}"/>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5 · 데이터 파이프라인</a:t>
            </a:r>
          </a:p>
        </p:txBody>
      </p:sp>
      <p:sp>
        <p:nvSpPr>
          <p:cNvPr id="15" name="Shape 11">
            <a:extLst xmlns:a="http://schemas.openxmlformats.org/drawingml/2006/main">
              <a:ext uri="{FF2B5EF4-FFF2-40B4-BE49-F238E27FC236}">
                <a16:creationId xmlns:a16="http://schemas.microsoft.com/office/drawing/2014/main" id="{279B426C-BEDA-4FED-81CD-876C8CB06566}"/>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5F490C22-C6C4-4177-A899-CADCB5776027}"/>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F8A7F2D0-2907-44B1-840F-E34635738646}"/>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FC816E39-3779-4B7F-A3D8-EE6D1076C99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61D42055-784D-41C1-ADCA-BB61EE72B5B9}"/>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2CEFB8EA-A676-4010-B7FC-29283F369AFB}"/>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B14A30CC-1ECE-4DB6-8748-824D63C3E922}"/>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A491FC0E-8D00-4552-9736-EF5C8B478FF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184F77C6-48A0-417C-A08E-505C5644755A}"/>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98AF6AF0-29D2-418C-AC41-413CB12EBB2B}"/>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수집·정제·캐시 기반 재현</a:t>
            </a:r>
          </a:p>
        </p:txBody>
      </p:sp>
      <p:sp>
        <p:nvSpPr>
          <p:cNvPr id="25" name="Text 21">
            <a:extLst xmlns:a="http://schemas.openxmlformats.org/drawingml/2006/main">
              <a:ext uri="{FF2B5EF4-FFF2-40B4-BE49-F238E27FC236}">
                <a16:creationId xmlns:a16="http://schemas.microsoft.com/office/drawing/2014/main" id="{A4BF1851-D08A-40C9-A4FD-4D6DBDABC604}"/>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5개 출처를 공통 스키마로 연결했습니다</a:t>
            </a:r>
          </a:p>
        </p:txBody>
      </p:sp>
      <p:sp>
        <p:nvSpPr>
          <p:cNvPr id="26" name="Shape 22">
            <a:extLst xmlns:a="http://schemas.openxmlformats.org/drawingml/2006/main">
              <a:ext uri="{FF2B5EF4-FFF2-40B4-BE49-F238E27FC236}">
                <a16:creationId xmlns:a16="http://schemas.microsoft.com/office/drawing/2014/main" id="{23C2681F-4494-432A-BD64-BF3D87FD3B14}"/>
              </a:ext>
            </a:extLst>
          </p:cNvPr>
          <p:cNvSpPr>
            <a:spLocks xmlns:a="http://schemas.openxmlformats.org/drawingml/2006/main" noGrp="1"/>
          </p:cNvSpPr>
          <p:nvPr/>
        </p:nvSpPr>
        <p:spPr>
          <a:xfrm xmlns:a="http://schemas.openxmlformats.org/drawingml/2006/main">
            <a:off x="742036"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F5804E55-2BB5-4044-9441-FBCC8648A226}"/>
              </a:ext>
            </a:extLst>
          </p:cNvPr>
          <p:cNvSpPr>
            <a:spLocks xmlns:a="http://schemas.openxmlformats.org/drawingml/2006/main" noGrp="1"/>
          </p:cNvSpPr>
          <p:nvPr/>
        </p:nvSpPr>
        <p:spPr>
          <a:xfrm xmlns:a="http://schemas.openxmlformats.org/drawingml/2006/main">
            <a:off x="742036"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824</a:t>
            </a:r>
          </a:p>
        </p:txBody>
      </p:sp>
      <p:sp>
        <p:nvSpPr>
          <p:cNvPr id="28" name="Text 24">
            <a:extLst xmlns:a="http://schemas.openxmlformats.org/drawingml/2006/main">
              <a:ext uri="{FF2B5EF4-FFF2-40B4-BE49-F238E27FC236}">
                <a16:creationId xmlns:a16="http://schemas.microsoft.com/office/drawing/2014/main" id="{B9F328D4-41F8-4EA7-A6DF-1250055E945F}"/>
              </a:ext>
            </a:extLst>
          </p:cNvPr>
          <p:cNvSpPr>
            <a:spLocks xmlns:a="http://schemas.openxmlformats.org/drawingml/2006/main" noGrp="1"/>
          </p:cNvSpPr>
          <p:nvPr/>
        </p:nvSpPr>
        <p:spPr>
          <a:xfrm xmlns:a="http://schemas.openxmlformats.org/drawingml/2006/main">
            <a:off x="742036"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시민 제안</a:t>
            </a:r>
          </a:p>
        </p:txBody>
      </p:sp>
      <p:sp>
        <p:nvSpPr>
          <p:cNvPr id="29" name="Shape 25">
            <a:extLst xmlns:a="http://schemas.openxmlformats.org/drawingml/2006/main">
              <a:ext uri="{FF2B5EF4-FFF2-40B4-BE49-F238E27FC236}">
                <a16:creationId xmlns:a16="http://schemas.microsoft.com/office/drawing/2014/main" id="{E3C1FAC3-3831-49D5-8C9F-C42B92D57B08}"/>
              </a:ext>
            </a:extLst>
          </p:cNvPr>
          <p:cNvSpPr>
            <a:spLocks xmlns:a="http://schemas.openxmlformats.org/drawingml/2006/main" noGrp="1"/>
          </p:cNvSpPr>
          <p:nvPr/>
        </p:nvSpPr>
        <p:spPr>
          <a:xfrm xmlns:a="http://schemas.openxmlformats.org/drawingml/2006/main">
            <a:off x="2927452"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5CC41A71-AEFB-4357-AEC9-B3866EC25B54}"/>
              </a:ext>
            </a:extLst>
          </p:cNvPr>
          <p:cNvSpPr>
            <a:spLocks xmlns:a="http://schemas.openxmlformats.org/drawingml/2006/main" noGrp="1"/>
          </p:cNvSpPr>
          <p:nvPr/>
        </p:nvSpPr>
        <p:spPr>
          <a:xfrm xmlns:a="http://schemas.openxmlformats.org/drawingml/2006/main">
            <a:off x="2927452"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582</a:t>
            </a:r>
          </a:p>
        </p:txBody>
      </p:sp>
      <p:sp>
        <p:nvSpPr>
          <p:cNvPr id="31" name="Text 27">
            <a:extLst xmlns:a="http://schemas.openxmlformats.org/drawingml/2006/main">
              <a:ext uri="{FF2B5EF4-FFF2-40B4-BE49-F238E27FC236}">
                <a16:creationId xmlns:a16="http://schemas.microsoft.com/office/drawing/2014/main" id="{87D1CE81-67D0-4D7D-83EF-91BF1C304C6F}"/>
              </a:ext>
            </a:extLst>
          </p:cNvPr>
          <p:cNvSpPr>
            <a:spLocks xmlns:a="http://schemas.openxmlformats.org/drawingml/2006/main" noGrp="1"/>
          </p:cNvSpPr>
          <p:nvPr/>
        </p:nvSpPr>
        <p:spPr>
          <a:xfrm xmlns:a="http://schemas.openxmlformats.org/drawingml/2006/main">
            <a:off x="2927452"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현장 민원</a:t>
            </a:r>
          </a:p>
        </p:txBody>
      </p:sp>
      <p:sp>
        <p:nvSpPr>
          <p:cNvPr id="32" name="Shape 28">
            <a:extLst xmlns:a="http://schemas.openxmlformats.org/drawingml/2006/main">
              <a:ext uri="{FF2B5EF4-FFF2-40B4-BE49-F238E27FC236}">
                <a16:creationId xmlns:a16="http://schemas.microsoft.com/office/drawing/2014/main" id="{D1D853C0-C7A8-41FF-A61C-75392A130BC8}"/>
              </a:ext>
            </a:extLst>
          </p:cNvPr>
          <p:cNvSpPr>
            <a:spLocks xmlns:a="http://schemas.openxmlformats.org/drawingml/2006/main" noGrp="1"/>
          </p:cNvSpPr>
          <p:nvPr/>
        </p:nvSpPr>
        <p:spPr>
          <a:xfrm xmlns:a="http://schemas.openxmlformats.org/drawingml/2006/main">
            <a:off x="5112868"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3" name="Text 29">
            <a:extLst xmlns:a="http://schemas.openxmlformats.org/drawingml/2006/main">
              <a:ext uri="{FF2B5EF4-FFF2-40B4-BE49-F238E27FC236}">
                <a16:creationId xmlns:a16="http://schemas.microsoft.com/office/drawing/2014/main" id="{61A0EE75-3CAE-44CF-82A0-A21D789C6C69}"/>
              </a:ext>
            </a:extLst>
          </p:cNvPr>
          <p:cNvSpPr>
            <a:spLocks xmlns:a="http://schemas.openxmlformats.org/drawingml/2006/main" noGrp="1"/>
          </p:cNvSpPr>
          <p:nvPr/>
        </p:nvSpPr>
        <p:spPr>
          <a:xfrm xmlns:a="http://schemas.openxmlformats.org/drawingml/2006/main">
            <a:off x="5112868"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322</a:t>
            </a:r>
          </a:p>
        </p:txBody>
      </p:sp>
      <p:sp>
        <p:nvSpPr>
          <p:cNvPr id="34" name="Text 30">
            <a:extLst xmlns:a="http://schemas.openxmlformats.org/drawingml/2006/main">
              <a:ext uri="{FF2B5EF4-FFF2-40B4-BE49-F238E27FC236}">
                <a16:creationId xmlns:a16="http://schemas.microsoft.com/office/drawing/2014/main" id="{D192D4A7-0FD9-407C-A59A-CFFC05B092B4}"/>
              </a:ext>
            </a:extLst>
          </p:cNvPr>
          <p:cNvSpPr>
            <a:spLocks xmlns:a="http://schemas.openxmlformats.org/drawingml/2006/main" noGrp="1"/>
          </p:cNvSpPr>
          <p:nvPr/>
        </p:nvSpPr>
        <p:spPr>
          <a:xfrm xmlns:a="http://schemas.openxmlformats.org/drawingml/2006/main">
            <a:off x="5112868"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공식 정책</a:t>
            </a:r>
          </a:p>
        </p:txBody>
      </p:sp>
      <p:sp>
        <p:nvSpPr>
          <p:cNvPr id="35" name="Shape 31">
            <a:extLst xmlns:a="http://schemas.openxmlformats.org/drawingml/2006/main">
              <a:ext uri="{FF2B5EF4-FFF2-40B4-BE49-F238E27FC236}">
                <a16:creationId xmlns:a16="http://schemas.microsoft.com/office/drawing/2014/main" id="{5E600F6B-8BC6-41D3-B121-3FDFD47BF4B3}"/>
              </a:ext>
            </a:extLst>
          </p:cNvPr>
          <p:cNvSpPr>
            <a:spLocks xmlns:a="http://schemas.openxmlformats.org/drawingml/2006/main" noGrp="1"/>
          </p:cNvSpPr>
          <p:nvPr/>
        </p:nvSpPr>
        <p:spPr>
          <a:xfrm xmlns:a="http://schemas.openxmlformats.org/drawingml/2006/main">
            <a:off x="7298284"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6" name="Text 32">
            <a:extLst xmlns:a="http://schemas.openxmlformats.org/drawingml/2006/main">
              <a:ext uri="{FF2B5EF4-FFF2-40B4-BE49-F238E27FC236}">
                <a16:creationId xmlns:a16="http://schemas.microsoft.com/office/drawing/2014/main" id="{A19336E2-C495-46E1-970C-7957344BD49D}"/>
              </a:ext>
            </a:extLst>
          </p:cNvPr>
          <p:cNvSpPr>
            <a:spLocks xmlns:a="http://schemas.openxmlformats.org/drawingml/2006/main" noGrp="1"/>
          </p:cNvSpPr>
          <p:nvPr/>
        </p:nvSpPr>
        <p:spPr>
          <a:xfrm xmlns:a="http://schemas.openxmlformats.org/drawingml/2006/main">
            <a:off x="7298284"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1,145</a:t>
            </a:r>
          </a:p>
        </p:txBody>
      </p:sp>
      <p:sp>
        <p:nvSpPr>
          <p:cNvPr id="37" name="Text 33">
            <a:extLst xmlns:a="http://schemas.openxmlformats.org/drawingml/2006/main">
              <a:ext uri="{FF2B5EF4-FFF2-40B4-BE49-F238E27FC236}">
                <a16:creationId xmlns:a16="http://schemas.microsoft.com/office/drawing/2014/main" id="{0D2EA8CB-2107-4C3F-81F8-97D718C71F4B}"/>
              </a:ext>
            </a:extLst>
          </p:cNvPr>
          <p:cNvSpPr>
            <a:spLocks xmlns:a="http://schemas.openxmlformats.org/drawingml/2006/main" noGrp="1"/>
          </p:cNvSpPr>
          <p:nvPr/>
        </p:nvSpPr>
        <p:spPr>
          <a:xfrm xmlns:a="http://schemas.openxmlformats.org/drawingml/2006/main">
            <a:off x="7298284"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뉴스</a:t>
            </a:r>
          </a:p>
        </p:txBody>
      </p:sp>
      <p:sp>
        <p:nvSpPr>
          <p:cNvPr id="38" name="Shape 34">
            <a:extLst xmlns:a="http://schemas.openxmlformats.org/drawingml/2006/main">
              <a:ext uri="{FF2B5EF4-FFF2-40B4-BE49-F238E27FC236}">
                <a16:creationId xmlns:a16="http://schemas.microsoft.com/office/drawing/2014/main" id="{94B71F55-793A-4445-A30A-D16019D5C704}"/>
              </a:ext>
            </a:extLst>
          </p:cNvPr>
          <p:cNvSpPr>
            <a:spLocks xmlns:a="http://schemas.openxmlformats.org/drawingml/2006/main" noGrp="1"/>
          </p:cNvSpPr>
          <p:nvPr/>
        </p:nvSpPr>
        <p:spPr>
          <a:xfrm xmlns:a="http://schemas.openxmlformats.org/drawingml/2006/main">
            <a:off x="9483700"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9" name="Text 35">
            <a:extLst xmlns:a="http://schemas.openxmlformats.org/drawingml/2006/main">
              <a:ext uri="{FF2B5EF4-FFF2-40B4-BE49-F238E27FC236}">
                <a16:creationId xmlns:a16="http://schemas.microsoft.com/office/drawing/2014/main" id="{AFD84046-C4C8-4765-86A3-DEBA5EE55D2C}"/>
              </a:ext>
            </a:extLst>
          </p:cNvPr>
          <p:cNvSpPr>
            <a:spLocks xmlns:a="http://schemas.openxmlformats.org/drawingml/2006/main" noGrp="1"/>
          </p:cNvSpPr>
          <p:nvPr/>
        </p:nvSpPr>
        <p:spPr>
          <a:xfrm xmlns:a="http://schemas.openxmlformats.org/drawingml/2006/main">
            <a:off x="9483700"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25개</a:t>
            </a:r>
          </a:p>
        </p:txBody>
      </p:sp>
      <p:sp>
        <p:nvSpPr>
          <p:cNvPr id="40" name="Text 36">
            <a:extLst xmlns:a="http://schemas.openxmlformats.org/drawingml/2006/main">
              <a:ext uri="{FF2B5EF4-FFF2-40B4-BE49-F238E27FC236}">
                <a16:creationId xmlns:a16="http://schemas.microsoft.com/office/drawing/2014/main" id="{4CC4668A-C8FC-47C0-9DE6-3F4FBB9F3858}"/>
              </a:ext>
            </a:extLst>
          </p:cNvPr>
          <p:cNvSpPr>
            <a:spLocks xmlns:a="http://schemas.openxmlformats.org/drawingml/2006/main" noGrp="1"/>
          </p:cNvSpPr>
          <p:nvPr/>
        </p:nvSpPr>
        <p:spPr>
          <a:xfrm xmlns:a="http://schemas.openxmlformats.org/drawingml/2006/main">
            <a:off x="9483700"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자치구 통계</a:t>
            </a:r>
          </a:p>
        </p:txBody>
      </p:sp>
      <p:sp>
        <p:nvSpPr>
          <p:cNvPr id="41" name="Text 37">
            <a:extLst xmlns:a="http://schemas.openxmlformats.org/drawingml/2006/main">
              <a:ext uri="{FF2B5EF4-FFF2-40B4-BE49-F238E27FC236}">
                <a16:creationId xmlns:a16="http://schemas.microsoft.com/office/drawing/2014/main" id="{16586B18-CB6F-4F76-947D-489AA306C3CD}"/>
              </a:ext>
            </a:extLst>
          </p:cNvPr>
          <p:cNvSpPr>
            <a:spLocks xmlns:a="http://schemas.openxmlformats.org/drawingml/2006/main" noGrp="1"/>
          </p:cNvSpPr>
          <p:nvPr/>
        </p:nvSpPr>
        <p:spPr>
          <a:xfrm xmlns:a="http://schemas.openxmlformats.org/drawingml/2006/main">
            <a:off x="0" y="4343400"/>
            <a:ext cx="121916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9AA3C7"/>
                </a:solidFill>
              </a:rPr>
              <a:t>▼</a:t>
            </a:r>
          </a:p>
        </p:txBody>
      </p:sp>
      <p:sp>
        <p:nvSpPr>
          <p:cNvPr id="42" name="Shape 38">
            <a:extLst xmlns:a="http://schemas.openxmlformats.org/drawingml/2006/main">
              <a:ext uri="{FF2B5EF4-FFF2-40B4-BE49-F238E27FC236}">
                <a16:creationId xmlns:a16="http://schemas.microsoft.com/office/drawing/2014/main" id="{C7050CC4-AA16-4F15-9E55-A1DCD51D9DD7}"/>
              </a:ext>
            </a:extLst>
          </p:cNvPr>
          <p:cNvSpPr>
            <a:spLocks xmlns:a="http://schemas.openxmlformats.org/drawingml/2006/main" noGrp="1"/>
          </p:cNvSpPr>
          <p:nvPr/>
        </p:nvSpPr>
        <p:spPr>
          <a:xfrm xmlns:a="http://schemas.openxmlformats.org/drawingml/2006/main">
            <a:off x="4267048" y="4709160"/>
            <a:ext cx="3657600" cy="640080"/>
          </a:xfrm>
          <a:prstGeom xmlns:a="http://schemas.openxmlformats.org/drawingml/2006/main" prst="rect">
            <a:avLst/>
          </a:prstGeom>
          <a:solidFill xmlns:a="http://schemas.openxmlformats.org/drawingml/2006/main">
            <a:srgbClr val="3558D6"/>
          </a:solidFill>
        </p:spPr>
      </p:sp>
      <p:sp>
        <p:nvSpPr>
          <p:cNvPr id="43" name="Text 39">
            <a:extLst xmlns:a="http://schemas.openxmlformats.org/drawingml/2006/main">
              <a:ext uri="{FF2B5EF4-FFF2-40B4-BE49-F238E27FC236}">
                <a16:creationId xmlns:a16="http://schemas.microsoft.com/office/drawing/2014/main" id="{DFD1FE06-5A70-42B4-8A2F-8892DA4F4EC5}"/>
              </a:ext>
            </a:extLst>
          </p:cNvPr>
          <p:cNvSpPr>
            <a:spLocks xmlns:a="http://schemas.openxmlformats.org/drawingml/2006/main" noGrp="1"/>
          </p:cNvSpPr>
          <p:nvPr/>
        </p:nvSpPr>
        <p:spPr>
          <a:xfrm xmlns:a="http://schemas.openxmlformats.org/drawingml/2006/main">
            <a:off x="4267048" y="470916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Malgun Gothic"/>
                <a:ea typeface="Malgun Gothic"/>
                <a:cs typeface="Malgun Gothic"/>
              </a:rPr>
              <a:t>텍스트 정규화 → 계층 분류 → 의미 군집 → 뉴스 토픽 → 지역·R&amp;R</a:t>
            </a:r>
          </a:p>
        </p:txBody>
      </p:sp>
    </p:spTree>
    <p:extLst>
      <p:ext uri="{BB962C8B-B14F-4D97-AF65-F5344CB8AC3E}">
        <p14:creationId xmlns:p14="http://schemas.microsoft.com/office/powerpoint/2010/main" val="453869656"/>
      </p:ext>
    </p:extLst>
  </p:cSld>
</p:sld>
</file>

<file path=ppt/slides/slide8.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7547D7-2D73-4BA1-838B-EE8A1EA15D81}"/>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2239C6C-5F3E-46D3-B33F-F5EC70675570}"/>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6265DAFA-C801-48F5-AA46-93255BA5316B}"/>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CD50DBF2-2376-42C2-ACAC-E992717141DD}"/>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0c766f3fec974aa5"/>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696C270-65D4-4376-87BC-691C498878C7}"/>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36A7ED09-8521-4BA7-AE2F-31B6F83CB19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B2AD32B1-C3D1-452B-8EB4-333F7F59EC4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9E0AB4A6-A26E-4A3E-BFAE-AB7F11FAB6E7}"/>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25917F6B-4C08-46F7-A104-C5710D3D50B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9ED89CE5-F9CD-4510-826B-DBC991F9D928}"/>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0c766f3fec974aa5"/>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E60850B7-8227-4578-A349-04D5C69994F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6 · 두 단계 담당 범위</a:t>
            </a:r>
          </a:p>
        </p:txBody>
      </p:sp>
      <p:sp>
        <p:nvSpPr>
          <p:cNvPr id="15" name="Shape 11">
            <a:extLst xmlns:a="http://schemas.openxmlformats.org/drawingml/2006/main">
              <a:ext uri="{FF2B5EF4-FFF2-40B4-BE49-F238E27FC236}">
                <a16:creationId xmlns:a16="http://schemas.microsoft.com/office/drawing/2014/main" id="{28DA0427-9E9D-4655-B338-0AF3BA5AA90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32E76F2E-C252-4C47-A4FF-70A6EECF103F}"/>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2BC1127-AE2C-4977-BCF6-6453C78C754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0F735D3-4F6B-47CE-B56F-B5EB6368A0C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A97AECAB-676D-48A8-B5E7-2192695596B4}"/>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A8A3703E-3888-485F-A8A4-0EE8472D139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86807D00-BBCC-4318-8370-96951A2D11C3}"/>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C1228D9-5322-4BC7-B719-A395096998F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62A2F794-BF4F-4103-9A29-C313ED6EE55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08486EDD-FD68-4A70-9660-5E8B7A1ED82E}"/>
              </a:ext>
            </a:extLst>
          </p:cNvPr>
          <p:cNvSpPr>
            <a:spLocks xmlns:a="http://schemas.openxmlformats.org/drawingml/2006/main" noGrp="1"/>
          </p:cNvSpPr>
          <p:nvPr/>
        </p:nvSpPr>
        <p:spPr>
          <a:xfrm xmlns:a="http://schemas.openxmlformats.org/drawingml/2006/main">
            <a:off x="0" y="96012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정책 대분류 담당군 × 실제 R&amp;R 팀</a:t>
            </a:r>
          </a:p>
        </p:txBody>
      </p:sp>
      <p:sp>
        <p:nvSpPr>
          <p:cNvPr id="25" name="Text 21">
            <a:extLst xmlns:a="http://schemas.openxmlformats.org/drawingml/2006/main">
              <a:ext uri="{FF2B5EF4-FFF2-40B4-BE49-F238E27FC236}">
                <a16:creationId xmlns:a16="http://schemas.microsoft.com/office/drawing/2014/main" id="{EDC52F84-59FD-4596-8F0D-DB35F4A29611}"/>
              </a:ext>
            </a:extLst>
          </p:cNvPr>
          <p:cNvSpPr>
            <a:spLocks xmlns:a="http://schemas.openxmlformats.org/drawingml/2006/main" noGrp="1"/>
          </p:cNvSpPr>
          <p:nvPr/>
        </p:nvSpPr>
        <p:spPr>
          <a:xfrm xmlns:a="http://schemas.openxmlformats.org/drawingml/2006/main">
            <a:off x="548640" y="1298448"/>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600" b="1">
                <a:solidFill>
                  <a:srgbClr val="1B2340"/>
                </a:solidFill>
                <a:latin typeface="Malgun Gothic"/>
                <a:ea typeface="Malgun Gothic"/>
                <a:cs typeface="Malgun Gothic"/>
              </a:rPr>
              <a:t>조직명과 정책 분류를 분리해 검색 의미를 명확히 합니다</a:t>
            </a:r>
          </a:p>
        </p:txBody>
      </p:sp>
      <p:sp>
        <p:nvSpPr>
          <p:cNvPr id="26" name="Shape 22">
            <a:extLst xmlns:a="http://schemas.openxmlformats.org/drawingml/2006/main">
              <a:ext uri="{FF2B5EF4-FFF2-40B4-BE49-F238E27FC236}">
                <a16:creationId xmlns:a16="http://schemas.microsoft.com/office/drawing/2014/main" id="{21B42EC0-4394-4968-B572-12066D457163}"/>
              </a:ext>
            </a:extLst>
          </p:cNvPr>
          <p:cNvSpPr>
            <a:spLocks xmlns:a="http://schemas.openxmlformats.org/drawingml/2006/main" noGrp="1"/>
          </p:cNvSpPr>
          <p:nvPr/>
        </p:nvSpPr>
        <p:spPr>
          <a:xfrm xmlns:a="http://schemas.openxmlformats.org/drawingml/2006/main">
            <a:off x="2648560" y="1993392"/>
            <a:ext cx="6894576" cy="3602736"/>
          </a:xfrm>
          <a:prstGeom xmlns:a="http://schemas.openxmlformats.org/drawingml/2006/main" prst="rect">
            <a:avLst/>
          </a:prstGeom>
          <a:solidFill xmlns:a="http://schemas.openxmlformats.org/drawingml/2006/main">
            <a:srgbClr val="FFFFFF"/>
          </a:solidFill>
          <a:ln xmlns:a="http://schemas.openxmlformats.org/drawingml/2006/main" w="19050">
            <a:solidFill>
              <a:srgbClr val="1B2340"/>
            </a:solidFill>
            <a:prstDash val="solid"/>
          </a:ln>
          <a:effectLst xmlns:a="http://schemas.openxmlformats.org/drawingml/2006/main">
            <a:outerShdw blurRad="101600" dist="38100" dir="5400000" sx="100000" sy="100000" kx="0" ky="0" algn="bl" rotWithShape="0">
              <a:srgbClr val="05433D">
                <a:alpha val="40000"/>
              </a:srgbClr>
            </a:outerShdw>
          </a:effectLst>
        </p:spPr>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3eb584273c764696"/>
          <a:stretch xmlns:a="http://schemas.openxmlformats.org/drawingml/2006/main"/>
        </p:blipFill>
        <p:spPr>
          <a:xfrm xmlns:a="http://schemas.openxmlformats.org/drawingml/2006/main">
            <a:off x="3613575" y="2103120"/>
            <a:ext cx="4964547" cy="3383280"/>
          </a:xfrm>
          <a:prstGeom xmlns:a="http://schemas.openxmlformats.org/drawingml/2006/main" prst="rect">
            <a:avLst/>
          </a:prstGeom>
        </p:spPr>
      </p:pic>
      <p:sp>
        <p:nvSpPr>
          <p:cNvPr id="28" name="Shape 23">
            <a:extLst xmlns:a="http://schemas.openxmlformats.org/drawingml/2006/main">
              <a:ext uri="{FF2B5EF4-FFF2-40B4-BE49-F238E27FC236}">
                <a16:creationId xmlns:a16="http://schemas.microsoft.com/office/drawing/2014/main" id="{38012B29-7953-4652-8C2B-07D9F62790D0}"/>
              </a:ext>
            </a:extLst>
          </p:cNvPr>
          <p:cNvSpPr>
            <a:spLocks xmlns:a="http://schemas.openxmlformats.org/drawingml/2006/main" noGrp="1"/>
          </p:cNvSpPr>
          <p:nvPr/>
        </p:nvSpPr>
        <p:spPr>
          <a:xfrm xmlns:a="http://schemas.openxmlformats.org/drawingml/2006/main">
            <a:off x="1527048" y="5230368"/>
            <a:ext cx="368503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9" name="Text 24">
            <a:extLst xmlns:a="http://schemas.openxmlformats.org/drawingml/2006/main">
              <a:ext uri="{FF2B5EF4-FFF2-40B4-BE49-F238E27FC236}">
                <a16:creationId xmlns:a16="http://schemas.microsoft.com/office/drawing/2014/main" id="{C7793120-FA2B-4533-A185-E172455CBAD1}"/>
              </a:ext>
            </a:extLst>
          </p:cNvPr>
          <p:cNvSpPr>
            <a:spLocks xmlns:a="http://schemas.openxmlformats.org/drawingml/2006/main" noGrp="1"/>
          </p:cNvSpPr>
          <p:nvPr/>
        </p:nvSpPr>
        <p:spPr>
          <a:xfrm xmlns:a="http://schemas.openxmlformats.org/drawingml/2006/main">
            <a:off x="1618488" y="5230368"/>
            <a:ext cx="350215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규칙·가중치 R&amp;R 후보</a:t>
            </a:r>
          </a:p>
          <a:p xmlns:a="http://schemas.openxmlformats.org/drawingml/2006/main">
            <a:pPr marL="0" indent="0" algn="ctr">
              <a:buNone/>
            </a:pPr>
            <a:r>
              <a:rPr sz="1350" b="1">
                <a:solidFill>
                  <a:srgbClr val="1A2340"/>
                </a:solidFill>
                <a:latin typeface="Malgun Gothic"/>
                <a:ea typeface="Malgun Gothic"/>
                <a:cs typeface="Malgun Gothic"/>
              </a:rPr>
              <a:t>전체+팀 1·2·3 / 대분류+팀 1순위</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0c766f3fec974aa5"/>
          <a:stretch xmlns:a="http://schemas.openxmlformats.org/drawingml/2006/main"/>
        </p:blipFill>
        <p:spPr>
          <a:xfrm xmlns:a="http://schemas.openxmlformats.org/drawingml/2006/main">
            <a:off x="357406" y="4686300"/>
            <a:ext cx="1314012" cy="1619250"/>
          </a:xfrm>
          <a:prstGeom xmlns:a="http://schemas.openxmlformats.org/drawingml/2006/main" prst="rect">
            <a:avLst/>
          </a:prstGeom>
        </p:spPr>
      </p:pic>
    </p:spTree>
    <p:extLst>
      <p:ext uri="{BB962C8B-B14F-4D97-AF65-F5344CB8AC3E}">
        <p14:creationId xmlns:p14="http://schemas.microsoft.com/office/powerpoint/2010/main" val="1573598473"/>
      </p:ext>
    </p:extLst>
  </p:cSld>
</p:sld>
</file>

<file path=ppt/slides/slide9.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28BF50D-7557-409C-A2E1-8E6DAFB88E7F}"/>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CC8D8F4-6AF8-4CEC-8596-C6556EE93167}"/>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918AC9AB-70DA-4405-BFAB-D91EC2BDAC95}"/>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4B916BD7-4492-4BDF-A232-14085D89E2DF}"/>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1549673421f4e76"/>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1D0274B-0753-4D0B-804D-0EA46532DD6F}"/>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7545DC19-CABD-47D2-AEB2-F655DC5652CB}"/>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FCCEC243-96DE-4E93-950A-128669526E4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3CFF1A22-268F-4F0D-9D1B-294DB3382787}"/>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118843AE-E06E-45C4-AD3A-DB0FF77E3158}"/>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E3F14FDC-14B8-49FC-B86F-CBABB267DD9D}"/>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c1549673421f4e76"/>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ABBE9741-AE91-4C2F-815F-BDA884CDCD7F}"/>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7 · 문제 군집과 Gap 진단</a:t>
            </a:r>
          </a:p>
        </p:txBody>
      </p:sp>
      <p:sp>
        <p:nvSpPr>
          <p:cNvPr id="15" name="Shape 11">
            <a:extLst xmlns:a="http://schemas.openxmlformats.org/drawingml/2006/main">
              <a:ext uri="{FF2B5EF4-FFF2-40B4-BE49-F238E27FC236}">
                <a16:creationId xmlns:a16="http://schemas.microsoft.com/office/drawing/2014/main" id="{5960E81D-1120-49C0-8572-BC2F14E8458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87D5E110-381E-411C-BE5A-10ED7D0F9BAD}"/>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22097747-483F-4B76-BC8A-7912C0BF99E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2323332-D03F-44F1-84E6-1371968AEE55}"/>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C069A73B-5035-466D-AABB-F346DBF23D3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CB4084D-F84D-411A-B09F-1C78ABB3FBE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CAB25D41-0F4A-4259-BEB3-87C02BA3DA0A}"/>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D55A014E-BE73-42AC-B956-9734DE9B1343}"/>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F0BCB530-0BA0-4AC1-9727-9673F7C7DDBB}"/>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06E46C09-9414-471D-A8CC-303F93D74A18}"/>
              </a:ext>
            </a:extLst>
          </p:cNvPr>
          <p:cNvSpPr>
            <a:spLocks xmlns:a="http://schemas.openxmlformats.org/drawingml/2006/main" noGrp="1"/>
          </p:cNvSpPr>
          <p:nvPr/>
        </p:nvSpPr>
        <p:spPr>
          <a:xfrm xmlns:a="http://schemas.openxmlformats.org/drawingml/2006/main">
            <a:off x="0" y="96012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전체 57개 문제 군집 · 선택 범위별 재구성</a:t>
            </a:r>
          </a:p>
        </p:txBody>
      </p:sp>
      <p:sp>
        <p:nvSpPr>
          <p:cNvPr id="25" name="Text 21">
            <a:extLst xmlns:a="http://schemas.openxmlformats.org/drawingml/2006/main">
              <a:ext uri="{FF2B5EF4-FFF2-40B4-BE49-F238E27FC236}">
                <a16:creationId xmlns:a16="http://schemas.microsoft.com/office/drawing/2014/main" id="{FDDC75AA-7632-44E4-8A1F-45F0163B9F68}"/>
              </a:ext>
            </a:extLst>
          </p:cNvPr>
          <p:cNvSpPr>
            <a:spLocks xmlns:a="http://schemas.openxmlformats.org/drawingml/2006/main" noGrp="1"/>
          </p:cNvSpPr>
          <p:nvPr/>
        </p:nvSpPr>
        <p:spPr>
          <a:xfrm xmlns:a="http://schemas.openxmlformats.org/drawingml/2006/main">
            <a:off x="548640" y="1298448"/>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600" b="1">
                <a:solidFill>
                  <a:srgbClr val="1B2340"/>
                </a:solidFill>
                <a:latin typeface="Malgun Gothic"/>
                <a:ea typeface="Malgun Gothic"/>
                <a:cs typeface="Malgun Gothic"/>
              </a:rPr>
              <a:t>개별 제안을 넘어 반복되는 문제 단위로 판단합니다</a:t>
            </a:r>
          </a:p>
        </p:txBody>
      </p:sp>
      <p:sp>
        <p:nvSpPr>
          <p:cNvPr id="26" name="Shape 22">
            <a:extLst xmlns:a="http://schemas.openxmlformats.org/drawingml/2006/main">
              <a:ext uri="{FF2B5EF4-FFF2-40B4-BE49-F238E27FC236}">
                <a16:creationId xmlns:a16="http://schemas.microsoft.com/office/drawing/2014/main" id="{1F2BB539-D185-4EB9-9261-9F2B7D19B88B}"/>
              </a:ext>
            </a:extLst>
          </p:cNvPr>
          <p:cNvSpPr>
            <a:spLocks xmlns:a="http://schemas.openxmlformats.org/drawingml/2006/main" noGrp="1"/>
          </p:cNvSpPr>
          <p:nvPr/>
        </p:nvSpPr>
        <p:spPr>
          <a:xfrm xmlns:a="http://schemas.openxmlformats.org/drawingml/2006/main">
            <a:off x="2648560" y="1993392"/>
            <a:ext cx="6894576" cy="3602736"/>
          </a:xfrm>
          <a:prstGeom xmlns:a="http://schemas.openxmlformats.org/drawingml/2006/main" prst="rect">
            <a:avLst/>
          </a:prstGeom>
          <a:solidFill xmlns:a="http://schemas.openxmlformats.org/drawingml/2006/main">
            <a:srgbClr val="FFFFFF"/>
          </a:solidFill>
          <a:ln xmlns:a="http://schemas.openxmlformats.org/drawingml/2006/main" w="19050">
            <a:solidFill>
              <a:srgbClr val="1B2340"/>
            </a:solidFill>
            <a:prstDash val="solid"/>
          </a:ln>
          <a:effectLst xmlns:a="http://schemas.openxmlformats.org/drawingml/2006/main">
            <a:outerShdw blurRad="101600" dist="38100" dir="5400000" sx="100000" sy="100000" kx="0" ky="0" algn="bl" rotWithShape="0">
              <a:srgbClr val="05433D">
                <a:alpha val="40000"/>
              </a:srgbClr>
            </a:outerShdw>
          </a:effectLst>
        </p:spPr>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95145b0b58fc4955"/>
          <a:stretch xmlns:a="http://schemas.openxmlformats.org/drawingml/2006/main"/>
        </p:blipFill>
        <p:spPr>
          <a:xfrm xmlns:a="http://schemas.openxmlformats.org/drawingml/2006/main">
            <a:off x="2922757" y="2103120"/>
            <a:ext cx="6346182" cy="3383280"/>
          </a:xfrm>
          <a:prstGeom xmlns:a="http://schemas.openxmlformats.org/drawingml/2006/main" prst="rect">
            <a:avLst/>
          </a:prstGeom>
        </p:spPr>
      </p:pic>
      <p:sp>
        <p:nvSpPr>
          <p:cNvPr id="28" name="Shape 23">
            <a:extLst xmlns:a="http://schemas.openxmlformats.org/drawingml/2006/main">
              <a:ext uri="{FF2B5EF4-FFF2-40B4-BE49-F238E27FC236}">
                <a16:creationId xmlns:a16="http://schemas.microsoft.com/office/drawing/2014/main" id="{7CC6B6B6-BAEA-42CD-B4FC-C7F1B6C15C57}"/>
              </a:ext>
            </a:extLst>
          </p:cNvPr>
          <p:cNvSpPr>
            <a:spLocks xmlns:a="http://schemas.openxmlformats.org/drawingml/2006/main" noGrp="1"/>
          </p:cNvSpPr>
          <p:nvPr/>
        </p:nvSpPr>
        <p:spPr>
          <a:xfrm xmlns:a="http://schemas.openxmlformats.org/drawingml/2006/main">
            <a:off x="1527048" y="5230368"/>
            <a:ext cx="3515868"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9" name="Text 24">
            <a:extLst xmlns:a="http://schemas.openxmlformats.org/drawingml/2006/main">
              <a:ext uri="{FF2B5EF4-FFF2-40B4-BE49-F238E27FC236}">
                <a16:creationId xmlns:a16="http://schemas.microsoft.com/office/drawing/2014/main" id="{86004E55-CC3C-4FD6-B153-A6CFE30AC0F2}"/>
              </a:ext>
            </a:extLst>
          </p:cNvPr>
          <p:cNvSpPr>
            <a:spLocks xmlns:a="http://schemas.openxmlformats.org/drawingml/2006/main" noGrp="1"/>
          </p:cNvSpPr>
          <p:nvPr/>
        </p:nvSpPr>
        <p:spPr>
          <a:xfrm xmlns:a="http://schemas.openxmlformats.org/drawingml/2006/main">
            <a:off x="1618488" y="5230368"/>
            <a:ext cx="33329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점수는 검토 우선순위이며 정책 결정 자체가 아니에요</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c1549673421f4e76"/>
          <a:stretch xmlns:a="http://schemas.openxmlformats.org/drawingml/2006/main"/>
        </p:blipFill>
        <p:spPr>
          <a:xfrm xmlns:a="http://schemas.openxmlformats.org/drawingml/2006/main">
            <a:off x="357406" y="4686300"/>
            <a:ext cx="1314012" cy="1619250"/>
          </a:xfrm>
          <a:prstGeom xmlns:a="http://schemas.openxmlformats.org/drawingml/2006/main" prst="rect">
            <a:avLst/>
          </a:prstGeom>
        </p:spPr>
      </p:pic>
    </p:spTree>
    <p:extLst>
      <p:ext uri="{BB962C8B-B14F-4D97-AF65-F5344CB8AC3E}">
        <p14:creationId xmlns:p14="http://schemas.microsoft.com/office/powerpoint/2010/main" val="920412658"/>
      </p:ext>
    </p:extLst>
  </p:cSld>
</p:sld>
</file>

<file path=ppt/slides/slide10.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ABE5180-73FC-4DCE-91D4-D6EBBC3C241D}"/>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90A7FB6-EE89-4028-9CB0-C4D2779AC862}"/>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870F790-A103-4855-A82C-F9C5164ED4A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57A9C996-6C9D-4DB1-A241-3F0EEA1F195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3afe3fea4b294e0d"/>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A9A31C8-D431-4427-AC68-1B0FAEF3D269}"/>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EF126725-0516-465E-826C-05C0F0C1166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6835C2F-4ABA-48B9-8ECD-CC0489F1342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5899C8AF-A655-4893-A625-545C9281B77D}"/>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7A71DBDD-E960-48B8-9984-7F10A460F99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D190EC8-26EE-4805-839F-F3F738529486}"/>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3afe3fea4b294e0d"/>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FEE87D8F-C918-494A-8CB3-FC69C5BA3786}"/>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9 · 실제 화면 1/3</a:t>
            </a:r>
          </a:p>
        </p:txBody>
      </p:sp>
      <p:sp>
        <p:nvSpPr>
          <p:cNvPr id="15" name="Shape 11">
            <a:extLst xmlns:a="http://schemas.openxmlformats.org/drawingml/2006/main">
              <a:ext uri="{FF2B5EF4-FFF2-40B4-BE49-F238E27FC236}">
                <a16:creationId xmlns:a16="http://schemas.microsoft.com/office/drawing/2014/main" id="{158A1966-D186-4A76-83BE-2765C1E2174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7390D3E-4979-46AC-B7C9-4D88BEA9943D}"/>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3C1429F-E157-4672-BF50-3D2F102E469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F9D57518-4838-408F-B40F-2B9AAE74270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8C7A8405-5085-4340-8AC5-58E98555A45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347ED5A7-BE59-4FE5-BFB7-AB6182A2F9A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C5CDF375-ADC5-4ED8-B253-EA41DC1DF7F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050379D-7D18-4401-AC2E-95FED14212A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3E42FE-B46A-4453-A0DE-E911A4A841C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2C96287D-4104-4D0F-8BFE-DD18BBC2B49A}"/>
              </a:ext>
            </a:extLst>
          </p:cNvPr>
          <p:cNvSpPr>
            <a:spLocks xmlns:a="http://schemas.openxmlformats.org/drawingml/2006/main" noGrp="1"/>
          </p:cNvSpPr>
          <p:nvPr/>
        </p:nvSpPr>
        <p:spPr>
          <a:xfrm xmlns:a="http://schemas.openxmlformats.org/drawingml/2006/main">
            <a:off x="0" y="12801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수요 발견</a:t>
            </a:r>
          </a:p>
        </p:txBody>
      </p:sp>
      <p:sp>
        <p:nvSpPr>
          <p:cNvPr id="25" name="Text 21">
            <a:extLst xmlns:a="http://schemas.openxmlformats.org/drawingml/2006/main">
              <a:ext uri="{FF2B5EF4-FFF2-40B4-BE49-F238E27FC236}">
                <a16:creationId xmlns:a16="http://schemas.microsoft.com/office/drawing/2014/main" id="{6D344160-1E25-4C7F-A5DC-A725A1464285}"/>
              </a:ext>
            </a:extLst>
          </p:cNvPr>
          <p:cNvSpPr>
            <a:spLocks xmlns:a="http://schemas.openxmlformats.org/drawingml/2006/main" noGrp="1"/>
          </p:cNvSpPr>
          <p:nvPr/>
        </p:nvSpPr>
        <p:spPr>
          <a:xfrm xmlns:a="http://schemas.openxmlformats.org/drawingml/2006/main">
            <a:off x="548640" y="1627632"/>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수요를 발견하는 3개 화면</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c57ce199f7264df2"/>
          <a:srcRect xmlns:a="http://schemas.openxmlformats.org/drawingml/2006/main" l="0" t="62" r="0" b="62"/>
          <a:stretch xmlns:a="http://schemas.openxmlformats.org/drawingml/2006/main">
            <a:fillRect l="0" t="0" r="0" b="0"/>
          </a:stretch>
        </p:blipFill>
        <p:spPr>
          <a:xfrm xmlns:a="http://schemas.openxmlformats.org/drawingml/2006/main">
            <a:off x="609600" y="2781300"/>
            <a:ext cx="3371850" cy="1895475"/>
          </a:xfrm>
          <a:prstGeom xmlns:a="http://schemas.openxmlformats.org/drawingml/2006/main" prst="roundRect">
            <a:avLst>
              <a:gd name="adj" fmla="val 4020"/>
            </a:avLst>
          </a:prstGeom>
        </p:spPr>
      </p:pic>
      <p:sp>
        <p:nvSpPr>
          <p:cNvPr id="55" name="">
            <a:extLst xmlns:a="http://schemas.openxmlformats.org/drawingml/2006/main">
              <a:ext uri="{FF2B5EF4-FFF2-40B4-BE49-F238E27FC236}">
                <a16:creationId xmlns:a16="http://schemas.microsoft.com/office/drawing/2014/main" id="{303BCB2F-EF98-4C0A-9B4B-81403D9EB585}"/>
              </a:ext>
            </a:extLst>
          </p:cNvPr>
          <p:cNvSpPr>
            <a:spLocks xmlns:a="http://schemas.openxmlformats.org/drawingml/2006/main" noGrp="1"/>
          </p:cNvSpPr>
          <p:nvPr/>
        </p:nvSpPr>
        <p:spPr>
          <a:xfrm xmlns:a="http://schemas.openxmlformats.org/drawingml/2006/main">
            <a:off x="609600"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1. 수요 현황 종합</a:t>
            </a:r>
          </a:p>
        </p:txBody>
      </p:sp>
      <p:sp>
        <p:nvSpPr>
          <p:cNvPr id="56" name="">
            <a:extLst xmlns:a="http://schemas.openxmlformats.org/drawingml/2006/main">
              <a:ext uri="{FF2B5EF4-FFF2-40B4-BE49-F238E27FC236}">
                <a16:creationId xmlns:a16="http://schemas.microsoft.com/office/drawing/2014/main" id="{FDE5F2B9-2F24-4FF0-96F2-4F2438E5A9DC}"/>
              </a:ext>
            </a:extLst>
          </p:cNvPr>
          <p:cNvSpPr>
            <a:spLocks xmlns:a="http://schemas.openxmlformats.org/drawingml/2006/main" noGrp="1"/>
          </p:cNvSpPr>
          <p:nvPr/>
        </p:nvSpPr>
        <p:spPr>
          <a:xfrm xmlns:a="http://schemas.openxmlformats.org/drawingml/2006/main">
            <a:off x="647700"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KPI·답변 분포·데이터 품질</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d24365cbb8394d97"/>
          <a:srcRect xmlns:a="http://schemas.openxmlformats.org/drawingml/2006/main" l="0" t="62" r="0" b="62"/>
          <a:stretch xmlns:a="http://schemas.openxmlformats.org/drawingml/2006/main">
            <a:fillRect l="0" t="0" r="0" b="0"/>
          </a:stretch>
        </p:blipFill>
        <p:spPr>
          <a:xfrm xmlns:a="http://schemas.openxmlformats.org/drawingml/2006/main">
            <a:off x="4219575" y="2781300"/>
            <a:ext cx="3371850" cy="1895475"/>
          </a:xfrm>
          <a:prstGeom xmlns:a="http://schemas.openxmlformats.org/drawingml/2006/main" prst="roundRect">
            <a:avLst>
              <a:gd name="adj" fmla="val 4020"/>
            </a:avLst>
          </a:prstGeom>
        </p:spPr>
      </p:pic>
      <p:sp>
        <p:nvSpPr>
          <p:cNvPr id="58" name="">
            <a:extLst xmlns:a="http://schemas.openxmlformats.org/drawingml/2006/main">
              <a:ext uri="{FF2B5EF4-FFF2-40B4-BE49-F238E27FC236}">
                <a16:creationId xmlns:a16="http://schemas.microsoft.com/office/drawing/2014/main" id="{03D4993D-12A1-465C-A97F-3B894D49FBED}"/>
              </a:ext>
            </a:extLst>
          </p:cNvPr>
          <p:cNvSpPr>
            <a:spLocks xmlns:a="http://schemas.openxmlformats.org/drawingml/2006/main" noGrp="1"/>
          </p:cNvSpPr>
          <p:nvPr/>
        </p:nvSpPr>
        <p:spPr>
          <a:xfrm xmlns:a="http://schemas.openxmlformats.org/drawingml/2006/main">
            <a:off x="4219575"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2. 시민 목소리 분석</a:t>
            </a:r>
          </a:p>
        </p:txBody>
      </p:sp>
      <p:sp>
        <p:nvSpPr>
          <p:cNvPr id="59" name="">
            <a:extLst xmlns:a="http://schemas.openxmlformats.org/drawingml/2006/main">
              <a:ext uri="{FF2B5EF4-FFF2-40B4-BE49-F238E27FC236}">
                <a16:creationId xmlns:a16="http://schemas.microsoft.com/office/drawing/2014/main" id="{41086171-E734-4E12-ADB0-F0B91465DA4D}"/>
              </a:ext>
            </a:extLst>
          </p:cNvPr>
          <p:cNvSpPr>
            <a:spLocks xmlns:a="http://schemas.openxmlformats.org/drawingml/2006/main" noGrp="1"/>
          </p:cNvSpPr>
          <p:nvPr/>
        </p:nvSpPr>
        <p:spPr>
          <a:xfrm xmlns:a="http://schemas.openxmlformats.org/drawingml/2006/main">
            <a:off x="4257675"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반복 키워드·감정·이슈 흐름</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086f6c35ccc04f3a"/>
          <a:srcRect xmlns:a="http://schemas.openxmlformats.org/drawingml/2006/main" l="0" t="62" r="0" b="62"/>
          <a:stretch xmlns:a="http://schemas.openxmlformats.org/drawingml/2006/main">
            <a:fillRect l="0" t="0" r="0" b="0"/>
          </a:stretch>
        </p:blipFill>
        <p:spPr>
          <a:xfrm xmlns:a="http://schemas.openxmlformats.org/drawingml/2006/main">
            <a:off x="7829550" y="2781300"/>
            <a:ext cx="3371850" cy="1895475"/>
          </a:xfrm>
          <a:prstGeom xmlns:a="http://schemas.openxmlformats.org/drawingml/2006/main" prst="roundRect">
            <a:avLst>
              <a:gd name="adj" fmla="val 4020"/>
            </a:avLst>
          </a:prstGeom>
        </p:spPr>
      </p:pic>
      <p:sp>
        <p:nvSpPr>
          <p:cNvPr id="61" name="">
            <a:extLst xmlns:a="http://schemas.openxmlformats.org/drawingml/2006/main">
              <a:ext uri="{FF2B5EF4-FFF2-40B4-BE49-F238E27FC236}">
                <a16:creationId xmlns:a16="http://schemas.microsoft.com/office/drawing/2014/main" id="{9A1BD461-B996-4DF1-AE48-2CAFE493D914}"/>
              </a:ext>
            </a:extLst>
          </p:cNvPr>
          <p:cNvSpPr>
            <a:spLocks xmlns:a="http://schemas.openxmlformats.org/drawingml/2006/main" noGrp="1"/>
          </p:cNvSpPr>
          <p:nvPr/>
        </p:nvSpPr>
        <p:spPr>
          <a:xfrm xmlns:a="http://schemas.openxmlformats.org/drawingml/2006/main">
            <a:off x="7829550"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3. 긴급 민원 처리</a:t>
            </a:r>
          </a:p>
        </p:txBody>
      </p:sp>
      <p:sp>
        <p:nvSpPr>
          <p:cNvPr id="62" name="">
            <a:extLst xmlns:a="http://schemas.openxmlformats.org/drawingml/2006/main">
              <a:ext uri="{FF2B5EF4-FFF2-40B4-BE49-F238E27FC236}">
                <a16:creationId xmlns:a16="http://schemas.microsoft.com/office/drawing/2014/main" id="{5E9AFED8-DFB2-4208-A419-F5A79BE1DA06}"/>
              </a:ext>
            </a:extLst>
          </p:cNvPr>
          <p:cNvSpPr>
            <a:spLocks xmlns:a="http://schemas.openxmlformats.org/drawingml/2006/main" noGrp="1"/>
          </p:cNvSpPr>
          <p:nvPr/>
        </p:nvSpPr>
        <p:spPr>
          <a:xfrm xmlns:a="http://schemas.openxmlformats.org/drawingml/2006/main">
            <a:off x="7867650"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고공감·미답변 원문과 담당 후보</a:t>
            </a:r>
          </a:p>
        </p:txBody>
      </p:sp>
      <p:sp>
        <p:nvSpPr>
          <p:cNvPr id="63" name="">
            <a:extLst xmlns:a="http://schemas.openxmlformats.org/drawingml/2006/main">
              <a:ext uri="{FF2B5EF4-FFF2-40B4-BE49-F238E27FC236}">
                <a16:creationId xmlns:a16="http://schemas.microsoft.com/office/drawing/2014/main" id="{207E7C4C-956C-4B1B-89D8-191BEA9AC783}"/>
              </a:ext>
            </a:extLst>
          </p:cNvPr>
          <p:cNvSpPr>
            <a:spLocks xmlns:a="http://schemas.openxmlformats.org/drawingml/2006/main" noGrp="1"/>
          </p:cNvSpPr>
          <p:nvPr/>
        </p:nvSpPr>
        <p:spPr>
          <a:xfrm xmlns:a="http://schemas.openxmlformats.org/drawingml/2006/main">
            <a:off x="2333625" y="5753100"/>
            <a:ext cx="7524750" cy="323850"/>
          </a:xfrm>
          <a:prstGeom xmlns:a="http://schemas.openxmlformats.org/drawingml/2006/main" prst="rect">
            <a:avLst/>
          </a:prstGeom>
          <a:solidFill xmlns:a="http://schemas.openxmlformats.org/drawingml/2006/main">
            <a:srgbClr val="FFFDE8"/>
          </a:solidFill>
          <a:ln xmlns:a="http://schemas.openxmlformats.org/drawingml/2006/main" w="9525">
            <a:solidFill>
              <a:srgbClr val="D8D3A8"/>
            </a:solid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1B2340"/>
                </a:solidFill>
                <a:latin typeface="Malgun Gothic"/>
                <a:ea typeface="Malgun Gothic"/>
                <a:cs typeface="Malgun Gothic"/>
              </a:defRPr>
            </a:pPr>
            <a:r>
              <a:rPr sz="975" b="1">
                <a:solidFill>
                  <a:srgbClr val="1B2340"/>
                </a:solidFill>
                <a:latin typeface="Malgun Gothic"/>
                <a:ea typeface="Malgun Gothic"/>
                <a:cs typeface="Malgun Gothic"/>
              </a:rPr>
              <a:t>하단 새싹이를 누르면 현재 화면과 선택한 담당 범위에 맞춰 다음 순서를 안내합니다.</a:t>
            </a:r>
          </a:p>
        </p:txBody>
      </p:sp>
    </p:spTree>
    <p:extLst>
      <p:ext uri="{BB962C8B-B14F-4D97-AF65-F5344CB8AC3E}">
        <p14:creationId xmlns:p14="http://schemas.microsoft.com/office/powerpoint/2010/main" val="1095502647"/>
      </p:ext>
    </p:extLst>
  </p:cSld>
</p:sld>
</file>

<file path=ppt/slides/slide11.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ABE5180-73FC-4DCE-91D4-D6EBBC3C241D}"/>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90A7FB6-EE89-4028-9CB0-C4D2779AC862}"/>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870F790-A103-4855-A82C-F9C5164ED4A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57A9C996-6C9D-4DB1-A241-3F0EEA1F195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0adc2a0a53e14f70"/>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A9A31C8-D431-4427-AC68-1B0FAEF3D269}"/>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EF126725-0516-465E-826C-05C0F0C1166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6835C2F-4ABA-48B9-8ECD-CC0489F1342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5899C8AF-A655-4893-A625-545C9281B77D}"/>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7A71DBDD-E960-48B8-9984-7F10A460F99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D190EC8-26EE-4805-839F-F3F738529486}"/>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0adc2a0a53e14f70"/>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FEE87D8F-C918-494A-8CB3-FC69C5BA3786}"/>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10 · 실제 화면 2/3</a:t>
            </a:r>
          </a:p>
        </p:txBody>
      </p:sp>
      <p:sp>
        <p:nvSpPr>
          <p:cNvPr id="15" name="Shape 11">
            <a:extLst xmlns:a="http://schemas.openxmlformats.org/drawingml/2006/main">
              <a:ext uri="{FF2B5EF4-FFF2-40B4-BE49-F238E27FC236}">
                <a16:creationId xmlns:a16="http://schemas.microsoft.com/office/drawing/2014/main" id="{158A1966-D186-4A76-83BE-2765C1E2174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7390D3E-4979-46AC-B7C9-4D88BEA9943D}"/>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3C1429F-E157-4672-BF50-3D2F102E469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F9D57518-4838-408F-B40F-2B9AAE74270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8C7A8405-5085-4340-8AC5-58E98555A45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347ED5A7-BE59-4FE5-BFB7-AB6182A2F9A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C5CDF375-ADC5-4ED8-B253-EA41DC1DF7F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050379D-7D18-4401-AC2E-95FED14212A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3E42FE-B46A-4453-A0DE-E911A4A841C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2C96287D-4104-4D0F-8BFE-DD18BBC2B49A}"/>
              </a:ext>
            </a:extLst>
          </p:cNvPr>
          <p:cNvSpPr>
            <a:spLocks xmlns:a="http://schemas.openxmlformats.org/drawingml/2006/main" noGrp="1"/>
          </p:cNvSpPr>
          <p:nvPr/>
        </p:nvSpPr>
        <p:spPr>
          <a:xfrm xmlns:a="http://schemas.openxmlformats.org/drawingml/2006/main">
            <a:off x="0" y="12801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공급·지역 대조</a:t>
            </a:r>
          </a:p>
        </p:txBody>
      </p:sp>
      <p:sp>
        <p:nvSpPr>
          <p:cNvPr id="25" name="Text 21">
            <a:extLst xmlns:a="http://schemas.openxmlformats.org/drawingml/2006/main">
              <a:ext uri="{FF2B5EF4-FFF2-40B4-BE49-F238E27FC236}">
                <a16:creationId xmlns:a16="http://schemas.microsoft.com/office/drawing/2014/main" id="{6D344160-1E25-4C7F-A5DC-A725A1464285}"/>
              </a:ext>
            </a:extLst>
          </p:cNvPr>
          <p:cNvSpPr>
            <a:spLocks xmlns:a="http://schemas.openxmlformats.org/drawingml/2006/main" noGrp="1"/>
          </p:cNvSpPr>
          <p:nvPr/>
        </p:nvSpPr>
        <p:spPr>
          <a:xfrm xmlns:a="http://schemas.openxmlformats.org/drawingml/2006/main">
            <a:off x="548640" y="1627632"/>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공급 정책과 지역 조건을 대조합니다</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a71dd030af5d42e8"/>
          <a:srcRect xmlns:a="http://schemas.openxmlformats.org/drawingml/2006/main" l="0" t="62" r="0" b="62"/>
          <a:stretch xmlns:a="http://schemas.openxmlformats.org/drawingml/2006/main">
            <a:fillRect l="0" t="0" r="0" b="0"/>
          </a:stretch>
        </p:blipFill>
        <p:spPr>
          <a:xfrm xmlns:a="http://schemas.openxmlformats.org/drawingml/2006/main">
            <a:off x="609600" y="2781300"/>
            <a:ext cx="3371850" cy="1895475"/>
          </a:xfrm>
          <a:prstGeom xmlns:a="http://schemas.openxmlformats.org/drawingml/2006/main" prst="roundRect">
            <a:avLst>
              <a:gd name="adj" fmla="val 4020"/>
            </a:avLst>
          </a:prstGeom>
        </p:spPr>
      </p:pic>
      <p:sp>
        <p:nvSpPr>
          <p:cNvPr id="55" name="">
            <a:extLst xmlns:a="http://schemas.openxmlformats.org/drawingml/2006/main">
              <a:ext uri="{FF2B5EF4-FFF2-40B4-BE49-F238E27FC236}">
                <a16:creationId xmlns:a16="http://schemas.microsoft.com/office/drawing/2014/main" id="{7AF77950-EDC1-4ABF-A2AF-990BFF46EC17}"/>
              </a:ext>
            </a:extLst>
          </p:cNvPr>
          <p:cNvSpPr>
            <a:spLocks xmlns:a="http://schemas.openxmlformats.org/drawingml/2006/main" noGrp="1"/>
          </p:cNvSpPr>
          <p:nvPr/>
        </p:nvSpPr>
        <p:spPr>
          <a:xfrm xmlns:a="http://schemas.openxmlformats.org/drawingml/2006/main">
            <a:off x="609600"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1. 현행 정책 검색</a:t>
            </a:r>
          </a:p>
        </p:txBody>
      </p:sp>
      <p:sp>
        <p:nvSpPr>
          <p:cNvPr id="56" name="">
            <a:extLst xmlns:a="http://schemas.openxmlformats.org/drawingml/2006/main">
              <a:ext uri="{FF2B5EF4-FFF2-40B4-BE49-F238E27FC236}">
                <a16:creationId xmlns:a16="http://schemas.microsoft.com/office/drawing/2014/main" id="{44ECCE79-FD34-495E-A945-1B18CFDF9562}"/>
              </a:ext>
            </a:extLst>
          </p:cNvPr>
          <p:cNvSpPr>
            <a:spLocks xmlns:a="http://schemas.openxmlformats.org/drawingml/2006/main" noGrp="1"/>
          </p:cNvSpPr>
          <p:nvPr/>
        </p:nvSpPr>
        <p:spPr>
          <a:xfrm xmlns:a="http://schemas.openxmlformats.org/drawingml/2006/main">
            <a:off x="647700"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322개 사업 검색과 제안 대조</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42b9a3df05764eba"/>
          <a:srcRect xmlns:a="http://schemas.openxmlformats.org/drawingml/2006/main" l="0" t="62" r="0" b="62"/>
          <a:stretch xmlns:a="http://schemas.openxmlformats.org/drawingml/2006/main">
            <a:fillRect l="0" t="0" r="0" b="0"/>
          </a:stretch>
        </p:blipFill>
        <p:spPr>
          <a:xfrm xmlns:a="http://schemas.openxmlformats.org/drawingml/2006/main">
            <a:off x="4219575" y="2781300"/>
            <a:ext cx="3371850" cy="1895475"/>
          </a:xfrm>
          <a:prstGeom xmlns:a="http://schemas.openxmlformats.org/drawingml/2006/main" prst="roundRect">
            <a:avLst>
              <a:gd name="adj" fmla="val 4020"/>
            </a:avLst>
          </a:prstGeom>
        </p:spPr>
      </p:pic>
      <p:sp>
        <p:nvSpPr>
          <p:cNvPr id="58" name="">
            <a:extLst xmlns:a="http://schemas.openxmlformats.org/drawingml/2006/main">
              <a:ext uri="{FF2B5EF4-FFF2-40B4-BE49-F238E27FC236}">
                <a16:creationId xmlns:a16="http://schemas.microsoft.com/office/drawing/2014/main" id="{9E3DCBCA-5C07-4A53-85AE-14B4BDB46E30}"/>
              </a:ext>
            </a:extLst>
          </p:cNvPr>
          <p:cNvSpPr>
            <a:spLocks xmlns:a="http://schemas.openxmlformats.org/drawingml/2006/main" noGrp="1"/>
          </p:cNvSpPr>
          <p:nvPr/>
        </p:nvSpPr>
        <p:spPr>
          <a:xfrm xmlns:a="http://schemas.openxmlformats.org/drawingml/2006/main">
            <a:off x="4219575"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2. 정책 사각지대 탐색</a:t>
            </a:r>
          </a:p>
        </p:txBody>
      </p:sp>
      <p:sp>
        <p:nvSpPr>
          <p:cNvPr id="59" name="">
            <a:extLst xmlns:a="http://schemas.openxmlformats.org/drawingml/2006/main">
              <a:ext uri="{FF2B5EF4-FFF2-40B4-BE49-F238E27FC236}">
                <a16:creationId xmlns:a16="http://schemas.microsoft.com/office/drawing/2014/main" id="{778AB3D2-68C1-422D-9270-1F5A3E93C9BE}"/>
              </a:ext>
            </a:extLst>
          </p:cNvPr>
          <p:cNvSpPr>
            <a:spLocks xmlns:a="http://schemas.openxmlformats.org/drawingml/2006/main" noGrp="1"/>
          </p:cNvSpPr>
          <p:nvPr/>
        </p:nvSpPr>
        <p:spPr>
          <a:xfrm xmlns:a="http://schemas.openxmlformats.org/drawingml/2006/main">
            <a:off x="4257675"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반복 수요와 직접 대응 공백</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d6b7ada8d94a416b"/>
          <a:srcRect xmlns:a="http://schemas.openxmlformats.org/drawingml/2006/main" l="0" t="62" r="0" b="62"/>
          <a:stretch xmlns:a="http://schemas.openxmlformats.org/drawingml/2006/main">
            <a:fillRect l="0" t="0" r="0" b="0"/>
          </a:stretch>
        </p:blipFill>
        <p:spPr>
          <a:xfrm xmlns:a="http://schemas.openxmlformats.org/drawingml/2006/main">
            <a:off x="7829550" y="2781300"/>
            <a:ext cx="3371850" cy="1895475"/>
          </a:xfrm>
          <a:prstGeom xmlns:a="http://schemas.openxmlformats.org/drawingml/2006/main" prst="roundRect">
            <a:avLst>
              <a:gd name="adj" fmla="val 4020"/>
            </a:avLst>
          </a:prstGeom>
        </p:spPr>
      </p:pic>
      <p:sp>
        <p:nvSpPr>
          <p:cNvPr id="61" name="">
            <a:extLst xmlns:a="http://schemas.openxmlformats.org/drawingml/2006/main">
              <a:ext uri="{FF2B5EF4-FFF2-40B4-BE49-F238E27FC236}">
                <a16:creationId xmlns:a16="http://schemas.microsoft.com/office/drawing/2014/main" id="{C4F85F51-6D1C-4F13-9BE0-6041F427D3EE}"/>
              </a:ext>
            </a:extLst>
          </p:cNvPr>
          <p:cNvSpPr>
            <a:spLocks xmlns:a="http://schemas.openxmlformats.org/drawingml/2006/main" noGrp="1"/>
          </p:cNvSpPr>
          <p:nvPr/>
        </p:nvSpPr>
        <p:spPr>
          <a:xfrm xmlns:a="http://schemas.openxmlformats.org/drawingml/2006/main">
            <a:off x="7829550"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3. 자치구 통계 비교</a:t>
            </a:r>
          </a:p>
        </p:txBody>
      </p:sp>
      <p:sp>
        <p:nvSpPr>
          <p:cNvPr id="62" name="">
            <a:extLst xmlns:a="http://schemas.openxmlformats.org/drawingml/2006/main">
              <a:ext uri="{FF2B5EF4-FFF2-40B4-BE49-F238E27FC236}">
                <a16:creationId xmlns:a16="http://schemas.microsoft.com/office/drawing/2014/main" id="{B797B987-3932-4634-A8B4-4A1FCAF570A2}"/>
              </a:ext>
            </a:extLst>
          </p:cNvPr>
          <p:cNvSpPr>
            <a:spLocks xmlns:a="http://schemas.openxmlformats.org/drawingml/2006/main" noGrp="1"/>
          </p:cNvSpPr>
          <p:nvPr/>
        </p:nvSpPr>
        <p:spPr>
          <a:xfrm xmlns:a="http://schemas.openxmlformats.org/drawingml/2006/main">
            <a:off x="7867650"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지역 지표와 시민 수요 비교</a:t>
            </a:r>
          </a:p>
        </p:txBody>
      </p:sp>
      <p:sp>
        <p:nvSpPr>
          <p:cNvPr id="63" name="">
            <a:extLst xmlns:a="http://schemas.openxmlformats.org/drawingml/2006/main">
              <a:ext uri="{FF2B5EF4-FFF2-40B4-BE49-F238E27FC236}">
                <a16:creationId xmlns:a16="http://schemas.microsoft.com/office/drawing/2014/main" id="{2339F0A1-1719-434F-BDC1-C4205E26AAAD}"/>
              </a:ext>
            </a:extLst>
          </p:cNvPr>
          <p:cNvSpPr>
            <a:spLocks xmlns:a="http://schemas.openxmlformats.org/drawingml/2006/main" noGrp="1"/>
          </p:cNvSpPr>
          <p:nvPr/>
        </p:nvSpPr>
        <p:spPr>
          <a:xfrm xmlns:a="http://schemas.openxmlformats.org/drawingml/2006/main">
            <a:off x="2333625" y="5753100"/>
            <a:ext cx="7524750" cy="323850"/>
          </a:xfrm>
          <a:prstGeom xmlns:a="http://schemas.openxmlformats.org/drawingml/2006/main" prst="rect">
            <a:avLst/>
          </a:prstGeom>
          <a:solidFill xmlns:a="http://schemas.openxmlformats.org/drawingml/2006/main">
            <a:srgbClr val="FFFDE8"/>
          </a:solidFill>
          <a:ln xmlns:a="http://schemas.openxmlformats.org/drawingml/2006/main" w="9525">
            <a:solidFill>
              <a:srgbClr val="D8D3A8"/>
            </a:solid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1B2340"/>
                </a:solidFill>
                <a:latin typeface="Malgun Gothic"/>
                <a:ea typeface="Malgun Gothic"/>
                <a:cs typeface="Malgun Gothic"/>
              </a:defRPr>
            </a:pPr>
            <a:r>
              <a:rPr sz="975" b="1">
                <a:solidFill>
                  <a:srgbClr val="1B2340"/>
                </a:solidFill>
                <a:latin typeface="Malgun Gothic"/>
                <a:ea typeface="Malgun Gothic"/>
                <a:cs typeface="Malgun Gothic"/>
              </a:rPr>
              <a:t>하단 새싹이를 누르면 현재 화면과 선택한 담당 범위에 맞춰 다음 순서를 안내합니다.</a:t>
            </a:r>
          </a:p>
        </p:txBody>
      </p:sp>
    </p:spTree>
    <p:extLst>
      <p:ext uri="{BB962C8B-B14F-4D97-AF65-F5344CB8AC3E}">
        <p14:creationId xmlns:p14="http://schemas.microsoft.com/office/powerpoint/2010/main" val="1095502647"/>
      </p:ext>
    </p:extLst>
  </p:cSld>
</p:sld>
</file>

<file path=ppt/slides/slide12.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ABE5180-73FC-4DCE-91D4-D6EBBC3C241D}"/>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90A7FB6-EE89-4028-9CB0-C4D2779AC862}"/>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870F790-A103-4855-A82C-F9C5164ED4A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57A9C996-6C9D-4DB1-A241-3F0EEA1F195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38956f781aa94bed"/>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A9A31C8-D431-4427-AC68-1B0FAEF3D269}"/>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EF126725-0516-465E-826C-05C0F0C1166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6835C2F-4ABA-48B9-8ECD-CC0489F1342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5899C8AF-A655-4893-A625-545C9281B77D}"/>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7A71DBDD-E960-48B8-9984-7F10A460F99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D190EC8-26EE-4805-839F-F3F738529486}"/>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38956f781aa94bed"/>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FEE87D8F-C918-494A-8CB3-FC69C5BA3786}"/>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11 · 실제 화면 3/3</a:t>
            </a:r>
          </a:p>
        </p:txBody>
      </p:sp>
      <p:sp>
        <p:nvSpPr>
          <p:cNvPr id="15" name="Shape 11">
            <a:extLst xmlns:a="http://schemas.openxmlformats.org/drawingml/2006/main">
              <a:ext uri="{FF2B5EF4-FFF2-40B4-BE49-F238E27FC236}">
                <a16:creationId xmlns:a16="http://schemas.microsoft.com/office/drawing/2014/main" id="{158A1966-D186-4A76-83BE-2765C1E2174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7390D3E-4979-46AC-B7C9-4D88BEA9943D}"/>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3C1429F-E157-4672-BF50-3D2F102E469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F9D57518-4838-408F-B40F-2B9AAE74270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8C7A8405-5085-4340-8AC5-58E98555A45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347ED5A7-BE59-4FE5-BFB7-AB6182A2F9A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C5CDF375-ADC5-4ED8-B253-EA41DC1DF7F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050379D-7D18-4401-AC2E-95FED14212A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3E42FE-B46A-4453-A0DE-E911A4A841C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2C96287D-4104-4D0F-8BFE-DD18BBC2B49A}"/>
              </a:ext>
            </a:extLst>
          </p:cNvPr>
          <p:cNvSpPr>
            <a:spLocks xmlns:a="http://schemas.openxmlformats.org/drawingml/2006/main" noGrp="1"/>
          </p:cNvSpPr>
          <p:nvPr/>
        </p:nvSpPr>
        <p:spPr>
          <a:xfrm xmlns:a="http://schemas.openxmlformats.org/drawingml/2006/main">
            <a:off x="0" y="12801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근거·판단·품질</a:t>
            </a:r>
          </a:p>
        </p:txBody>
      </p:sp>
      <p:sp>
        <p:nvSpPr>
          <p:cNvPr id="25" name="Text 21">
            <a:extLst xmlns:a="http://schemas.openxmlformats.org/drawingml/2006/main">
              <a:ext uri="{FF2B5EF4-FFF2-40B4-BE49-F238E27FC236}">
                <a16:creationId xmlns:a16="http://schemas.microsoft.com/office/drawing/2014/main" id="{6D344160-1E25-4C7F-A5DC-A725A1464285}"/>
              </a:ext>
            </a:extLst>
          </p:cNvPr>
          <p:cNvSpPr>
            <a:spLocks xmlns:a="http://schemas.openxmlformats.org/drawingml/2006/main" noGrp="1"/>
          </p:cNvSpPr>
          <p:nvPr/>
        </p:nvSpPr>
        <p:spPr>
          <a:xfrm xmlns:a="http://schemas.openxmlformats.org/drawingml/2006/main">
            <a:off x="548640" y="1627632"/>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근거를 모아 판단하고 수정 이력을 남깁니다</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bb0278f0193a470a"/>
          <a:srcRect xmlns:a="http://schemas.openxmlformats.org/drawingml/2006/main" l="0" t="62" r="0" b="62"/>
          <a:stretch xmlns:a="http://schemas.openxmlformats.org/drawingml/2006/main">
            <a:fillRect l="0" t="0" r="0" b="0"/>
          </a:stretch>
        </p:blipFill>
        <p:spPr>
          <a:xfrm xmlns:a="http://schemas.openxmlformats.org/drawingml/2006/main">
            <a:off x="609600" y="2781300"/>
            <a:ext cx="3371850" cy="1895475"/>
          </a:xfrm>
          <a:prstGeom xmlns:a="http://schemas.openxmlformats.org/drawingml/2006/main" prst="roundRect">
            <a:avLst>
              <a:gd name="adj" fmla="val 4020"/>
            </a:avLst>
          </a:prstGeom>
        </p:spPr>
      </p:pic>
      <p:sp>
        <p:nvSpPr>
          <p:cNvPr id="55" name="">
            <a:extLst xmlns:a="http://schemas.openxmlformats.org/drawingml/2006/main">
              <a:ext uri="{FF2B5EF4-FFF2-40B4-BE49-F238E27FC236}">
                <a16:creationId xmlns:a16="http://schemas.microsoft.com/office/drawing/2014/main" id="{3651FACD-BB37-4954-B255-7D7EE8856908}"/>
              </a:ext>
            </a:extLst>
          </p:cNvPr>
          <p:cNvSpPr>
            <a:spLocks xmlns:a="http://schemas.openxmlformats.org/drawingml/2006/main" noGrp="1"/>
          </p:cNvSpPr>
          <p:nvPr/>
        </p:nvSpPr>
        <p:spPr>
          <a:xfrm xmlns:a="http://schemas.openxmlformats.org/drawingml/2006/main">
            <a:off x="609600"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1. 통합 정책 근거 분석</a:t>
            </a:r>
          </a:p>
        </p:txBody>
      </p:sp>
      <p:sp>
        <p:nvSpPr>
          <p:cNvPr id="56" name="">
            <a:extLst xmlns:a="http://schemas.openxmlformats.org/drawingml/2006/main">
              <a:ext uri="{FF2B5EF4-FFF2-40B4-BE49-F238E27FC236}">
                <a16:creationId xmlns:a16="http://schemas.microsoft.com/office/drawing/2014/main" id="{5445FD39-40DA-4AC4-ACB0-D92A3030831E}"/>
              </a:ext>
            </a:extLst>
          </p:cNvPr>
          <p:cNvSpPr>
            <a:spLocks xmlns:a="http://schemas.openxmlformats.org/drawingml/2006/main" noGrp="1"/>
          </p:cNvSpPr>
          <p:nvPr/>
        </p:nvSpPr>
        <p:spPr>
          <a:xfrm xmlns:a="http://schemas.openxmlformats.org/drawingml/2006/main">
            <a:off x="647700"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제안·민원·정책·뉴스·통계 교차 확인</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20a080067b4e4a7f"/>
          <a:srcRect xmlns:a="http://schemas.openxmlformats.org/drawingml/2006/main" l="0" t="62" r="0" b="62"/>
          <a:stretch xmlns:a="http://schemas.openxmlformats.org/drawingml/2006/main">
            <a:fillRect l="0" t="0" r="0" b="0"/>
          </a:stretch>
        </p:blipFill>
        <p:spPr>
          <a:xfrm xmlns:a="http://schemas.openxmlformats.org/drawingml/2006/main">
            <a:off x="4219575" y="2781300"/>
            <a:ext cx="3371850" cy="1895475"/>
          </a:xfrm>
          <a:prstGeom xmlns:a="http://schemas.openxmlformats.org/drawingml/2006/main" prst="roundRect">
            <a:avLst>
              <a:gd name="adj" fmla="val 4020"/>
            </a:avLst>
          </a:prstGeom>
        </p:spPr>
      </p:pic>
      <p:sp>
        <p:nvSpPr>
          <p:cNvPr id="58" name="">
            <a:extLst xmlns:a="http://schemas.openxmlformats.org/drawingml/2006/main">
              <a:ext uri="{FF2B5EF4-FFF2-40B4-BE49-F238E27FC236}">
                <a16:creationId xmlns:a16="http://schemas.microsoft.com/office/drawing/2014/main" id="{23781E9E-D253-4392-90F7-3F30E64C35B0}"/>
              </a:ext>
            </a:extLst>
          </p:cNvPr>
          <p:cNvSpPr>
            <a:spLocks xmlns:a="http://schemas.openxmlformats.org/drawingml/2006/main" noGrp="1"/>
          </p:cNvSpPr>
          <p:nvPr/>
        </p:nvSpPr>
        <p:spPr>
          <a:xfrm xmlns:a="http://schemas.openxmlformats.org/drawingml/2006/main">
            <a:off x="4219575"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2. 정책 갭 진단</a:t>
            </a:r>
          </a:p>
        </p:txBody>
      </p:sp>
      <p:sp>
        <p:nvSpPr>
          <p:cNvPr id="59" name="">
            <a:extLst xmlns:a="http://schemas.openxmlformats.org/drawingml/2006/main">
              <a:ext uri="{FF2B5EF4-FFF2-40B4-BE49-F238E27FC236}">
                <a16:creationId xmlns:a16="http://schemas.microsoft.com/office/drawing/2014/main" id="{9082ABA4-BEC0-421F-AD8E-B4968E083FC7}"/>
              </a:ext>
            </a:extLst>
          </p:cNvPr>
          <p:cNvSpPr>
            <a:spLocks xmlns:a="http://schemas.openxmlformats.org/drawingml/2006/main" noGrp="1"/>
          </p:cNvSpPr>
          <p:nvPr/>
        </p:nvSpPr>
        <p:spPr>
          <a:xfrm xmlns:a="http://schemas.openxmlformats.org/drawingml/2006/main">
            <a:off x="4257675"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문제 군집·우선순위·매칭 이유</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bc0d7e0db68f4b16"/>
          <a:srcRect xmlns:a="http://schemas.openxmlformats.org/drawingml/2006/main" l="18946" t="0" r="18946" b="0"/>
          <a:stretch xmlns:a="http://schemas.openxmlformats.org/drawingml/2006/main">
            <a:fillRect l="0" t="0" r="0" b="0"/>
          </a:stretch>
        </p:blipFill>
        <p:spPr>
          <a:xfrm xmlns:a="http://schemas.openxmlformats.org/drawingml/2006/main">
            <a:off x="7829550" y="2781300"/>
            <a:ext cx="3371850" cy="1895475"/>
          </a:xfrm>
          <a:prstGeom xmlns:a="http://schemas.openxmlformats.org/drawingml/2006/main" prst="roundRect">
            <a:avLst/>
          </a:prstGeom>
        </p:spPr>
      </p:pic>
      <p:sp>
        <p:nvSpPr>
          <p:cNvPr id="61" name="">
            <a:extLst xmlns:a="http://schemas.openxmlformats.org/drawingml/2006/main">
              <a:ext uri="{FF2B5EF4-FFF2-40B4-BE49-F238E27FC236}">
                <a16:creationId xmlns:a16="http://schemas.microsoft.com/office/drawing/2014/main" id="{C192616E-3EB5-482F-AEB4-CFC17E118849}"/>
              </a:ext>
            </a:extLst>
          </p:cNvPr>
          <p:cNvSpPr>
            <a:spLocks xmlns:a="http://schemas.openxmlformats.org/drawingml/2006/main" noGrp="1"/>
          </p:cNvSpPr>
          <p:nvPr/>
        </p:nvSpPr>
        <p:spPr>
          <a:xfrm xmlns:a="http://schemas.openxmlformats.org/drawingml/2006/main">
            <a:off x="7829550" y="481012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350" b="1">
                <a:solidFill>
                  <a:srgbClr val="1B2340"/>
                </a:solidFill>
                <a:latin typeface="Malgun Gothic"/>
                <a:ea typeface="Malgun Gothic"/>
                <a:cs typeface="Malgun Gothic"/>
              </a:defRPr>
            </a:pPr>
            <a:r>
              <a:rPr sz="1350" b="1">
                <a:solidFill>
                  <a:srgbClr val="1B2340"/>
                </a:solidFill>
                <a:latin typeface="Malgun Gothic"/>
                <a:ea typeface="Malgun Gothic"/>
                <a:cs typeface="Malgun Gothic"/>
              </a:rPr>
              <a:t>3. 필터 검증 통계</a:t>
            </a:r>
          </a:p>
        </p:txBody>
      </p:sp>
      <p:sp>
        <p:nvSpPr>
          <p:cNvPr id="62" name="">
            <a:extLst xmlns:a="http://schemas.openxmlformats.org/drawingml/2006/main">
              <a:ext uri="{FF2B5EF4-FFF2-40B4-BE49-F238E27FC236}">
                <a16:creationId xmlns:a16="http://schemas.microsoft.com/office/drawing/2014/main" id="{BBE81A6D-44A6-422B-A1B9-A994E801BCF6}"/>
              </a:ext>
            </a:extLst>
          </p:cNvPr>
          <p:cNvSpPr>
            <a:spLocks xmlns:a="http://schemas.openxmlformats.org/drawingml/2006/main" noGrp="1"/>
          </p:cNvSpPr>
          <p:nvPr/>
        </p:nvSpPr>
        <p:spPr>
          <a:xfrm xmlns:a="http://schemas.openxmlformats.org/drawingml/2006/main">
            <a:off x="7867650" y="5162550"/>
            <a:ext cx="329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975">
                <a:solidFill>
                  <a:srgbClr val="59627A"/>
                </a:solidFill>
                <a:latin typeface="Malgun Gothic"/>
                <a:ea typeface="Malgun Gothic"/>
                <a:cs typeface="Malgun Gothic"/>
              </a:defRPr>
            </a:pPr>
            <a:r>
              <a:rPr sz="975">
                <a:solidFill>
                  <a:srgbClr val="59627A"/>
                </a:solidFill>
                <a:latin typeface="Malgun Gothic"/>
                <a:ea typeface="Malgun Gothic"/>
                <a:cs typeface="Malgun Gothic"/>
              </a:rPr>
              <a:t>분포 드릴다운·원문 동일 승인</a:t>
            </a:r>
          </a:p>
        </p:txBody>
      </p:sp>
      <p:sp>
        <p:nvSpPr>
          <p:cNvPr id="63" name="">
            <a:extLst xmlns:a="http://schemas.openxmlformats.org/drawingml/2006/main">
              <a:ext uri="{FF2B5EF4-FFF2-40B4-BE49-F238E27FC236}">
                <a16:creationId xmlns:a16="http://schemas.microsoft.com/office/drawing/2014/main" id="{0A5243F0-6A6A-4932-9FE4-62BA5F1058D1}"/>
              </a:ext>
            </a:extLst>
          </p:cNvPr>
          <p:cNvSpPr>
            <a:spLocks xmlns:a="http://schemas.openxmlformats.org/drawingml/2006/main" noGrp="1"/>
          </p:cNvSpPr>
          <p:nvPr/>
        </p:nvSpPr>
        <p:spPr>
          <a:xfrm xmlns:a="http://schemas.openxmlformats.org/drawingml/2006/main">
            <a:off x="2333625" y="5753100"/>
            <a:ext cx="7524750" cy="323850"/>
          </a:xfrm>
          <a:prstGeom xmlns:a="http://schemas.openxmlformats.org/drawingml/2006/main" prst="rect">
            <a:avLst/>
          </a:prstGeom>
          <a:solidFill xmlns:a="http://schemas.openxmlformats.org/drawingml/2006/main">
            <a:srgbClr val="FFFDE8"/>
          </a:solidFill>
          <a:ln xmlns:a="http://schemas.openxmlformats.org/drawingml/2006/main" w="9525">
            <a:solidFill>
              <a:srgbClr val="D8D3A8"/>
            </a:solid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1B2340"/>
                </a:solidFill>
                <a:latin typeface="Malgun Gothic"/>
                <a:ea typeface="Malgun Gothic"/>
                <a:cs typeface="Malgun Gothic"/>
              </a:defRPr>
            </a:pPr>
            <a:r>
              <a:rPr sz="975" b="1">
                <a:solidFill>
                  <a:srgbClr val="1B2340"/>
                </a:solidFill>
                <a:latin typeface="Malgun Gothic"/>
                <a:ea typeface="Malgun Gothic"/>
                <a:cs typeface="Malgun Gothic"/>
              </a:rPr>
              <a:t>점수와 담당 후보는 검토를 돕는 값이며, 최종 결정은 담당자가 합니다.</a:t>
            </a:r>
          </a:p>
        </p:txBody>
      </p:sp>
    </p:spTree>
    <p:extLst>
      <p:ext uri="{BB962C8B-B14F-4D97-AF65-F5344CB8AC3E}">
        <p14:creationId xmlns:p14="http://schemas.microsoft.com/office/powerpoint/2010/main" val="1095502647"/>
      </p:ext>
    </p:extLst>
  </p:cSld>
</p:sld>
</file>

<file path=ppt/slides/slide13.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ABE5180-73FC-4DCE-91D4-D6EBBC3C241D}"/>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90A7FB6-EE89-4028-9CB0-C4D2779AC862}"/>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870F790-A103-4855-A82C-F9C5164ED4A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57A9C996-6C9D-4DB1-A241-3F0EEA1F195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2f75d3200ffd4f10"/>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A9A31C8-D431-4427-AC68-1B0FAEF3D269}"/>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EF126725-0516-465E-826C-05C0F0C1166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6835C2F-4ABA-48B9-8ECD-CC0489F1342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5899C8AF-A655-4893-A625-545C9281B77D}"/>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7A71DBDD-E960-48B8-9984-7F10A460F99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D190EC8-26EE-4805-839F-F3F738529486}"/>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6" name="Image 1"/>
          <p:cNvPicPr>
            <a:picLocks xmlns:a="http://schemas.openxmlformats.org/drawingml/2006/main" noChangeAspect="1"/>
          </p:cNvPicPr>
          <p:nvPr/>
        </p:nvPicPr>
        <p:blipFill>
          <a:blip xmlns:r="http://schemas.openxmlformats.org/officeDocument/2006/relationships" xmlns:a="http://schemas.openxmlformats.org/drawingml/2006/main" r:embed="R2f75d3200ffd4f10"/>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FEE87D8F-C918-494A-8CB3-FC69C5BA3786}"/>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9 · End-to-End</a:t>
            </a:r>
          </a:p>
        </p:txBody>
      </p:sp>
      <p:sp>
        <p:nvSpPr>
          <p:cNvPr id="15" name="Shape 11">
            <a:extLst xmlns:a="http://schemas.openxmlformats.org/drawingml/2006/main">
              <a:ext uri="{FF2B5EF4-FFF2-40B4-BE49-F238E27FC236}">
                <a16:creationId xmlns:a16="http://schemas.microsoft.com/office/drawing/2014/main" id="{158A1966-D186-4A76-83BE-2765C1E2174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7390D3E-4979-46AC-B7C9-4D88BEA9943D}"/>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3C1429F-E157-4672-BF50-3D2F102E469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F9D57518-4838-408F-B40F-2B9AAE74270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8C7A8405-5085-4340-8AC5-58E98555A45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347ED5A7-BE59-4FE5-BFB7-AB6182A2F9A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C5CDF375-ADC5-4ED8-B253-EA41DC1DF7F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050379D-7D18-4401-AC2E-95FED14212A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3E42FE-B46A-4453-A0DE-E911A4A841C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2C96287D-4104-4D0F-8BFE-DD18BBC2B49A}"/>
              </a:ext>
            </a:extLst>
          </p:cNvPr>
          <p:cNvSpPr>
            <a:spLocks xmlns:a="http://schemas.openxmlformats.org/drawingml/2006/main" noGrp="1"/>
          </p:cNvSpPr>
          <p:nvPr/>
        </p:nvSpPr>
        <p:spPr>
          <a:xfrm xmlns:a="http://schemas.openxmlformats.org/drawingml/2006/main">
            <a:off x="0" y="12801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발견에서 보고서까지</a:t>
            </a:r>
          </a:p>
        </p:txBody>
      </p:sp>
      <p:sp>
        <p:nvSpPr>
          <p:cNvPr id="25" name="Text 21">
            <a:extLst xmlns:a="http://schemas.openxmlformats.org/drawingml/2006/main">
              <a:ext uri="{FF2B5EF4-FFF2-40B4-BE49-F238E27FC236}">
                <a16:creationId xmlns:a16="http://schemas.microsoft.com/office/drawing/2014/main" id="{6D344160-1E25-4C7F-A5DC-A725A1464285}"/>
              </a:ext>
            </a:extLst>
          </p:cNvPr>
          <p:cNvSpPr>
            <a:spLocks xmlns:a="http://schemas.openxmlformats.org/drawingml/2006/main" noGrp="1"/>
          </p:cNvSpPr>
          <p:nvPr/>
        </p:nvSpPr>
        <p:spPr>
          <a:xfrm xmlns:a="http://schemas.openxmlformats.org/drawingml/2006/main">
            <a:off x="548640" y="1627632"/>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선택한 범위가 근거 검토와 후속 조치까지 이어집니다</a:t>
            </a:r>
          </a:p>
        </p:txBody>
      </p:sp>
      <p:sp>
        <p:nvSpPr>
          <p:cNvPr id="26" name="Shape 22">
            <a:extLst xmlns:a="http://schemas.openxmlformats.org/drawingml/2006/main">
              <a:ext uri="{FF2B5EF4-FFF2-40B4-BE49-F238E27FC236}">
                <a16:creationId xmlns:a16="http://schemas.microsoft.com/office/drawing/2014/main" id="{66336C66-E5D0-480C-AF5F-1E5C6371D36A}"/>
              </a:ext>
            </a:extLst>
          </p:cNvPr>
          <p:cNvSpPr>
            <a:spLocks xmlns:a="http://schemas.openxmlformats.org/drawingml/2006/main" noGrp="1"/>
          </p:cNvSpPr>
          <p:nvPr/>
        </p:nvSpPr>
        <p:spPr>
          <a:xfrm xmlns:a="http://schemas.openxmlformats.org/drawingml/2006/main">
            <a:off x="792328"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8D45C03F-7930-4191-8118-376ED1061361}"/>
              </a:ext>
            </a:extLst>
          </p:cNvPr>
          <p:cNvSpPr>
            <a:spLocks xmlns:a="http://schemas.openxmlformats.org/drawingml/2006/main" noGrp="1"/>
          </p:cNvSpPr>
          <p:nvPr/>
        </p:nvSpPr>
        <p:spPr>
          <a:xfrm xmlns:a="http://schemas.openxmlformats.org/drawingml/2006/main">
            <a:off x="920344"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1</a:t>
            </a:r>
          </a:p>
        </p:txBody>
      </p:sp>
      <p:sp>
        <p:nvSpPr>
          <p:cNvPr id="28" name="Text 24">
            <a:extLst xmlns:a="http://schemas.openxmlformats.org/drawingml/2006/main">
              <a:ext uri="{FF2B5EF4-FFF2-40B4-BE49-F238E27FC236}">
                <a16:creationId xmlns:a16="http://schemas.microsoft.com/office/drawing/2014/main" id="{5D4080DB-92A1-4B09-9239-69F8C177F1BC}"/>
              </a:ext>
            </a:extLst>
          </p:cNvPr>
          <p:cNvSpPr>
            <a:spLocks xmlns:a="http://schemas.openxmlformats.org/drawingml/2006/main" noGrp="1"/>
          </p:cNvSpPr>
          <p:nvPr/>
        </p:nvSpPr>
        <p:spPr>
          <a:xfrm xmlns:a="http://schemas.openxmlformats.org/drawingml/2006/main">
            <a:off x="1249528"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담당 범위 선택</a:t>
            </a:r>
          </a:p>
        </p:txBody>
      </p:sp>
      <p:sp>
        <p:nvSpPr>
          <p:cNvPr id="29" name="Shape 25">
            <a:extLst xmlns:a="http://schemas.openxmlformats.org/drawingml/2006/main">
              <a:ext uri="{FF2B5EF4-FFF2-40B4-BE49-F238E27FC236}">
                <a16:creationId xmlns:a16="http://schemas.microsoft.com/office/drawing/2014/main" id="{4D4C4A1F-A6DE-4C62-A4CB-DFA003530419}"/>
              </a:ext>
            </a:extLst>
          </p:cNvPr>
          <p:cNvSpPr>
            <a:spLocks xmlns:a="http://schemas.openxmlformats.org/drawingml/2006/main" noGrp="1"/>
          </p:cNvSpPr>
          <p:nvPr/>
        </p:nvSpPr>
        <p:spPr>
          <a:xfrm xmlns:a="http://schemas.openxmlformats.org/drawingml/2006/main">
            <a:off x="3498952"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99A1A54D-31E1-4454-A944-625730A3F30F}"/>
              </a:ext>
            </a:extLst>
          </p:cNvPr>
          <p:cNvSpPr>
            <a:spLocks xmlns:a="http://schemas.openxmlformats.org/drawingml/2006/main" noGrp="1"/>
          </p:cNvSpPr>
          <p:nvPr/>
        </p:nvSpPr>
        <p:spPr>
          <a:xfrm xmlns:a="http://schemas.openxmlformats.org/drawingml/2006/main">
            <a:off x="3626968"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2AEBCED9-70AB-432B-ADCA-2ED01E725E72}"/>
              </a:ext>
            </a:extLst>
          </p:cNvPr>
          <p:cNvSpPr>
            <a:spLocks xmlns:a="http://schemas.openxmlformats.org/drawingml/2006/main" noGrp="1"/>
          </p:cNvSpPr>
          <p:nvPr/>
        </p:nvSpPr>
        <p:spPr>
          <a:xfrm xmlns:a="http://schemas.openxmlformats.org/drawingml/2006/main">
            <a:off x="3956152"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KPI·키워드</a:t>
            </a:r>
          </a:p>
        </p:txBody>
      </p:sp>
      <p:sp>
        <p:nvSpPr>
          <p:cNvPr id="32" name="Shape 28">
            <a:extLst xmlns:a="http://schemas.openxmlformats.org/drawingml/2006/main">
              <a:ext uri="{FF2B5EF4-FFF2-40B4-BE49-F238E27FC236}">
                <a16:creationId xmlns:a16="http://schemas.microsoft.com/office/drawing/2014/main" id="{6C73ED73-D243-4B62-A291-FC39516317EC}"/>
              </a:ext>
            </a:extLst>
          </p:cNvPr>
          <p:cNvSpPr>
            <a:spLocks xmlns:a="http://schemas.openxmlformats.org/drawingml/2006/main" noGrp="1"/>
          </p:cNvSpPr>
          <p:nvPr/>
        </p:nvSpPr>
        <p:spPr>
          <a:xfrm xmlns:a="http://schemas.openxmlformats.org/drawingml/2006/main">
            <a:off x="6205576"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3" name="Text 29">
            <a:extLst xmlns:a="http://schemas.openxmlformats.org/drawingml/2006/main">
              <a:ext uri="{FF2B5EF4-FFF2-40B4-BE49-F238E27FC236}">
                <a16:creationId xmlns:a16="http://schemas.microsoft.com/office/drawing/2014/main" id="{FD84CB2E-252C-419D-9888-F905E8122BF3}"/>
              </a:ext>
            </a:extLst>
          </p:cNvPr>
          <p:cNvSpPr>
            <a:spLocks xmlns:a="http://schemas.openxmlformats.org/drawingml/2006/main" noGrp="1"/>
          </p:cNvSpPr>
          <p:nvPr/>
        </p:nvSpPr>
        <p:spPr>
          <a:xfrm xmlns:a="http://schemas.openxmlformats.org/drawingml/2006/main">
            <a:off x="6333592"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3</a:t>
            </a:r>
          </a:p>
        </p:txBody>
      </p:sp>
      <p:sp>
        <p:nvSpPr>
          <p:cNvPr id="34" name="Text 30">
            <a:extLst xmlns:a="http://schemas.openxmlformats.org/drawingml/2006/main">
              <a:ext uri="{FF2B5EF4-FFF2-40B4-BE49-F238E27FC236}">
                <a16:creationId xmlns:a16="http://schemas.microsoft.com/office/drawing/2014/main" id="{6591C5A4-05B6-4950-86F0-6B3AEF8D7E3F}"/>
              </a:ext>
            </a:extLst>
          </p:cNvPr>
          <p:cNvSpPr>
            <a:spLocks xmlns:a="http://schemas.openxmlformats.org/drawingml/2006/main" noGrp="1"/>
          </p:cNvSpPr>
          <p:nvPr/>
        </p:nvSpPr>
        <p:spPr>
          <a:xfrm xmlns:a="http://schemas.openxmlformats.org/drawingml/2006/main">
            <a:off x="6662776"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원문 검증</a:t>
            </a:r>
          </a:p>
        </p:txBody>
      </p:sp>
      <p:sp>
        <p:nvSpPr>
          <p:cNvPr id="35" name="Shape 31">
            <a:extLst xmlns:a="http://schemas.openxmlformats.org/drawingml/2006/main">
              <a:ext uri="{FF2B5EF4-FFF2-40B4-BE49-F238E27FC236}">
                <a16:creationId xmlns:a16="http://schemas.microsoft.com/office/drawing/2014/main" id="{66B1B259-AC06-4A51-B5EF-21ED5E11AF70}"/>
              </a:ext>
            </a:extLst>
          </p:cNvPr>
          <p:cNvSpPr>
            <a:spLocks xmlns:a="http://schemas.openxmlformats.org/drawingml/2006/main" noGrp="1"/>
          </p:cNvSpPr>
          <p:nvPr/>
        </p:nvSpPr>
        <p:spPr>
          <a:xfrm xmlns:a="http://schemas.openxmlformats.org/drawingml/2006/main">
            <a:off x="8912200"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6" name="Text 32">
            <a:extLst xmlns:a="http://schemas.openxmlformats.org/drawingml/2006/main">
              <a:ext uri="{FF2B5EF4-FFF2-40B4-BE49-F238E27FC236}">
                <a16:creationId xmlns:a16="http://schemas.microsoft.com/office/drawing/2014/main" id="{1DF9A24D-DFEE-4B49-A8C7-81571EB8BF1F}"/>
              </a:ext>
            </a:extLst>
          </p:cNvPr>
          <p:cNvSpPr>
            <a:spLocks xmlns:a="http://schemas.openxmlformats.org/drawingml/2006/main" noGrp="1"/>
          </p:cNvSpPr>
          <p:nvPr/>
        </p:nvSpPr>
        <p:spPr>
          <a:xfrm xmlns:a="http://schemas.openxmlformats.org/drawingml/2006/main">
            <a:off x="9040216"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4</a:t>
            </a:r>
          </a:p>
        </p:txBody>
      </p:sp>
      <p:sp>
        <p:nvSpPr>
          <p:cNvPr id="37" name="Text 33">
            <a:extLst xmlns:a="http://schemas.openxmlformats.org/drawingml/2006/main">
              <a:ext uri="{FF2B5EF4-FFF2-40B4-BE49-F238E27FC236}">
                <a16:creationId xmlns:a16="http://schemas.microsoft.com/office/drawing/2014/main" id="{971B0AB3-6BE5-473F-941D-D808CCEB77A0}"/>
              </a:ext>
            </a:extLst>
          </p:cNvPr>
          <p:cNvSpPr>
            <a:spLocks xmlns:a="http://schemas.openxmlformats.org/drawingml/2006/main" noGrp="1"/>
          </p:cNvSpPr>
          <p:nvPr/>
        </p:nvSpPr>
        <p:spPr>
          <a:xfrm xmlns:a="http://schemas.openxmlformats.org/drawingml/2006/main">
            <a:off x="9369400"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정책 대조</a:t>
            </a:r>
          </a:p>
        </p:txBody>
      </p:sp>
      <p:sp>
        <p:nvSpPr>
          <p:cNvPr id="38" name="Shape 34">
            <a:extLst xmlns:a="http://schemas.openxmlformats.org/drawingml/2006/main">
              <a:ext uri="{FF2B5EF4-FFF2-40B4-BE49-F238E27FC236}">
                <a16:creationId xmlns:a16="http://schemas.microsoft.com/office/drawing/2014/main" id="{AA4E36B6-35DC-4F76-B675-0ADF076E3B4C}"/>
              </a:ext>
            </a:extLst>
          </p:cNvPr>
          <p:cNvSpPr>
            <a:spLocks xmlns:a="http://schemas.openxmlformats.org/drawingml/2006/main" noGrp="1"/>
          </p:cNvSpPr>
          <p:nvPr/>
        </p:nvSpPr>
        <p:spPr>
          <a:xfrm xmlns:a="http://schemas.openxmlformats.org/drawingml/2006/main">
            <a:off x="792328"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9" name="Text 35">
            <a:extLst xmlns:a="http://schemas.openxmlformats.org/drawingml/2006/main">
              <a:ext uri="{FF2B5EF4-FFF2-40B4-BE49-F238E27FC236}">
                <a16:creationId xmlns:a16="http://schemas.microsoft.com/office/drawing/2014/main" id="{F4DDC87E-C262-4C23-9F92-45DE84E39C61}"/>
              </a:ext>
            </a:extLst>
          </p:cNvPr>
          <p:cNvSpPr>
            <a:spLocks xmlns:a="http://schemas.openxmlformats.org/drawingml/2006/main" noGrp="1"/>
          </p:cNvSpPr>
          <p:nvPr/>
        </p:nvSpPr>
        <p:spPr>
          <a:xfrm xmlns:a="http://schemas.openxmlformats.org/drawingml/2006/main">
            <a:off x="920344"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5</a:t>
            </a:r>
          </a:p>
        </p:txBody>
      </p:sp>
      <p:sp>
        <p:nvSpPr>
          <p:cNvPr id="40" name="Text 36">
            <a:extLst xmlns:a="http://schemas.openxmlformats.org/drawingml/2006/main">
              <a:ext uri="{FF2B5EF4-FFF2-40B4-BE49-F238E27FC236}">
                <a16:creationId xmlns:a16="http://schemas.microsoft.com/office/drawing/2014/main" id="{9F941046-BAB1-4C1B-A453-E9F78A66D677}"/>
              </a:ext>
            </a:extLst>
          </p:cNvPr>
          <p:cNvSpPr>
            <a:spLocks xmlns:a="http://schemas.openxmlformats.org/drawingml/2006/main" noGrp="1"/>
          </p:cNvSpPr>
          <p:nvPr/>
        </p:nvSpPr>
        <p:spPr>
          <a:xfrm xmlns:a="http://schemas.openxmlformats.org/drawingml/2006/main">
            <a:off x="1249528"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민원·뉴스</a:t>
            </a:r>
          </a:p>
        </p:txBody>
      </p:sp>
      <p:sp>
        <p:nvSpPr>
          <p:cNvPr id="41" name="Shape 37">
            <a:extLst xmlns:a="http://schemas.openxmlformats.org/drawingml/2006/main">
              <a:ext uri="{FF2B5EF4-FFF2-40B4-BE49-F238E27FC236}">
                <a16:creationId xmlns:a16="http://schemas.microsoft.com/office/drawing/2014/main" id="{CA3AF210-BACB-4725-B0A6-A8D3D00DA356}"/>
              </a:ext>
            </a:extLst>
          </p:cNvPr>
          <p:cNvSpPr>
            <a:spLocks xmlns:a="http://schemas.openxmlformats.org/drawingml/2006/main" noGrp="1"/>
          </p:cNvSpPr>
          <p:nvPr/>
        </p:nvSpPr>
        <p:spPr>
          <a:xfrm xmlns:a="http://schemas.openxmlformats.org/drawingml/2006/main">
            <a:off x="3498952"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2" name="Text 38">
            <a:extLst xmlns:a="http://schemas.openxmlformats.org/drawingml/2006/main">
              <a:ext uri="{FF2B5EF4-FFF2-40B4-BE49-F238E27FC236}">
                <a16:creationId xmlns:a16="http://schemas.microsoft.com/office/drawing/2014/main" id="{03450745-E85E-4BC0-9C3C-5B8D0794F777}"/>
              </a:ext>
            </a:extLst>
          </p:cNvPr>
          <p:cNvSpPr>
            <a:spLocks xmlns:a="http://schemas.openxmlformats.org/drawingml/2006/main" noGrp="1"/>
          </p:cNvSpPr>
          <p:nvPr/>
        </p:nvSpPr>
        <p:spPr>
          <a:xfrm xmlns:a="http://schemas.openxmlformats.org/drawingml/2006/main">
            <a:off x="3626968"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6</a:t>
            </a:r>
          </a:p>
        </p:txBody>
      </p:sp>
      <p:sp>
        <p:nvSpPr>
          <p:cNvPr id="43" name="Text 39">
            <a:extLst xmlns:a="http://schemas.openxmlformats.org/drawingml/2006/main">
              <a:ext uri="{FF2B5EF4-FFF2-40B4-BE49-F238E27FC236}">
                <a16:creationId xmlns:a16="http://schemas.microsoft.com/office/drawing/2014/main" id="{A42484F5-2DFD-4631-9ACC-4110EB64E998}"/>
              </a:ext>
            </a:extLst>
          </p:cNvPr>
          <p:cNvSpPr>
            <a:spLocks xmlns:a="http://schemas.openxmlformats.org/drawingml/2006/main" noGrp="1"/>
          </p:cNvSpPr>
          <p:nvPr/>
        </p:nvSpPr>
        <p:spPr>
          <a:xfrm xmlns:a="http://schemas.openxmlformats.org/drawingml/2006/main">
            <a:off x="3956152"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자치구 통계</a:t>
            </a:r>
          </a:p>
        </p:txBody>
      </p:sp>
      <p:sp>
        <p:nvSpPr>
          <p:cNvPr id="44" name="Shape 40">
            <a:extLst xmlns:a="http://schemas.openxmlformats.org/drawingml/2006/main">
              <a:ext uri="{FF2B5EF4-FFF2-40B4-BE49-F238E27FC236}">
                <a16:creationId xmlns:a16="http://schemas.microsoft.com/office/drawing/2014/main" id="{98660215-2AD5-4C56-92A4-1CEBDD878566}"/>
              </a:ext>
            </a:extLst>
          </p:cNvPr>
          <p:cNvSpPr>
            <a:spLocks xmlns:a="http://schemas.openxmlformats.org/drawingml/2006/main" noGrp="1"/>
          </p:cNvSpPr>
          <p:nvPr/>
        </p:nvSpPr>
        <p:spPr>
          <a:xfrm xmlns:a="http://schemas.openxmlformats.org/drawingml/2006/main">
            <a:off x="6205576"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5" name="Text 41">
            <a:extLst xmlns:a="http://schemas.openxmlformats.org/drawingml/2006/main">
              <a:ext uri="{FF2B5EF4-FFF2-40B4-BE49-F238E27FC236}">
                <a16:creationId xmlns:a16="http://schemas.microsoft.com/office/drawing/2014/main" id="{CFA3B4EA-31B3-4787-93BF-A9CEB6E5CDA6}"/>
              </a:ext>
            </a:extLst>
          </p:cNvPr>
          <p:cNvSpPr>
            <a:spLocks xmlns:a="http://schemas.openxmlformats.org/drawingml/2006/main" noGrp="1"/>
          </p:cNvSpPr>
          <p:nvPr/>
        </p:nvSpPr>
        <p:spPr>
          <a:xfrm xmlns:a="http://schemas.openxmlformats.org/drawingml/2006/main">
            <a:off x="6333592"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7</a:t>
            </a:r>
          </a:p>
        </p:txBody>
      </p:sp>
      <p:sp>
        <p:nvSpPr>
          <p:cNvPr id="46" name="Text 42">
            <a:extLst xmlns:a="http://schemas.openxmlformats.org/drawingml/2006/main">
              <a:ext uri="{FF2B5EF4-FFF2-40B4-BE49-F238E27FC236}">
                <a16:creationId xmlns:a16="http://schemas.microsoft.com/office/drawing/2014/main" id="{B3FDA57C-48E9-4E97-AC56-E88DE9C16E07}"/>
              </a:ext>
            </a:extLst>
          </p:cNvPr>
          <p:cNvSpPr>
            <a:spLocks xmlns:a="http://schemas.openxmlformats.org/drawingml/2006/main" noGrp="1"/>
          </p:cNvSpPr>
          <p:nvPr/>
        </p:nvSpPr>
        <p:spPr>
          <a:xfrm xmlns:a="http://schemas.openxmlformats.org/drawingml/2006/main">
            <a:off x="6662776"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Gap·R&amp;R</a:t>
            </a:r>
          </a:p>
        </p:txBody>
      </p:sp>
      <p:sp>
        <p:nvSpPr>
          <p:cNvPr id="47" name="Shape 43">
            <a:extLst xmlns:a="http://schemas.openxmlformats.org/drawingml/2006/main">
              <a:ext uri="{FF2B5EF4-FFF2-40B4-BE49-F238E27FC236}">
                <a16:creationId xmlns:a16="http://schemas.microsoft.com/office/drawing/2014/main" id="{C0E58E67-E41D-41D1-AACF-558566EB1A2B}"/>
              </a:ext>
            </a:extLst>
          </p:cNvPr>
          <p:cNvSpPr>
            <a:spLocks xmlns:a="http://schemas.openxmlformats.org/drawingml/2006/main" noGrp="1"/>
          </p:cNvSpPr>
          <p:nvPr/>
        </p:nvSpPr>
        <p:spPr>
          <a:xfrm xmlns:a="http://schemas.openxmlformats.org/drawingml/2006/main">
            <a:off x="8912200"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8" name="Text 44">
            <a:extLst xmlns:a="http://schemas.openxmlformats.org/drawingml/2006/main">
              <a:ext uri="{FF2B5EF4-FFF2-40B4-BE49-F238E27FC236}">
                <a16:creationId xmlns:a16="http://schemas.microsoft.com/office/drawing/2014/main" id="{AA8F6199-C9C7-4B80-994B-A84AAAC932CE}"/>
              </a:ext>
            </a:extLst>
          </p:cNvPr>
          <p:cNvSpPr>
            <a:spLocks xmlns:a="http://schemas.openxmlformats.org/drawingml/2006/main" noGrp="1"/>
          </p:cNvSpPr>
          <p:nvPr/>
        </p:nvSpPr>
        <p:spPr>
          <a:xfrm xmlns:a="http://schemas.openxmlformats.org/drawingml/2006/main">
            <a:off x="9040216"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8</a:t>
            </a:r>
          </a:p>
        </p:txBody>
      </p:sp>
      <p:sp>
        <p:nvSpPr>
          <p:cNvPr id="49" name="Text 45">
            <a:extLst xmlns:a="http://schemas.openxmlformats.org/drawingml/2006/main">
              <a:ext uri="{FF2B5EF4-FFF2-40B4-BE49-F238E27FC236}">
                <a16:creationId xmlns:a16="http://schemas.microsoft.com/office/drawing/2014/main" id="{20C4FE76-8C35-49CF-AD8D-6A454A0637F8}"/>
              </a:ext>
            </a:extLst>
          </p:cNvPr>
          <p:cNvSpPr>
            <a:spLocks xmlns:a="http://schemas.openxmlformats.org/drawingml/2006/main" noGrp="1"/>
          </p:cNvSpPr>
          <p:nvPr/>
        </p:nvSpPr>
        <p:spPr>
          <a:xfrm xmlns:a="http://schemas.openxmlformats.org/drawingml/2006/main">
            <a:off x="9369400"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보고서·로그</a:t>
            </a:r>
          </a:p>
        </p:txBody>
      </p:sp>
      <p:sp>
        <p:nvSpPr>
          <p:cNvPr id="50" name="Shape 46">
            <a:extLst xmlns:a="http://schemas.openxmlformats.org/drawingml/2006/main">
              <a:ext uri="{FF2B5EF4-FFF2-40B4-BE49-F238E27FC236}">
                <a16:creationId xmlns:a16="http://schemas.microsoft.com/office/drawing/2014/main" id="{69797A59-C63E-4E7C-AADF-74F49999FDC0}"/>
              </a:ext>
            </a:extLst>
          </p:cNvPr>
          <p:cNvSpPr>
            <a:spLocks xmlns:a="http://schemas.openxmlformats.org/drawingml/2006/main" noGrp="1"/>
          </p:cNvSpPr>
          <p:nvPr/>
        </p:nvSpPr>
        <p:spPr>
          <a:xfrm xmlns:a="http://schemas.openxmlformats.org/drawingml/2006/main">
            <a:off x="6510528" y="5230368"/>
            <a:ext cx="4023360"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51" name="Text 47">
            <a:extLst xmlns:a="http://schemas.openxmlformats.org/drawingml/2006/main">
              <a:ext uri="{FF2B5EF4-FFF2-40B4-BE49-F238E27FC236}">
                <a16:creationId xmlns:a16="http://schemas.microsoft.com/office/drawing/2014/main" id="{40FBBE47-D27D-470F-B9F0-A9330EBE2316}"/>
              </a:ext>
            </a:extLst>
          </p:cNvPr>
          <p:cNvSpPr>
            <a:spLocks xmlns:a="http://schemas.openxmlformats.org/drawingml/2006/main" noGrp="1"/>
          </p:cNvSpPr>
          <p:nvPr/>
        </p:nvSpPr>
        <p:spPr>
          <a:xfrm xmlns:a="http://schemas.openxmlformats.org/drawingml/2006/main">
            <a:off x="6601968" y="5230368"/>
            <a:ext cx="384048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수요 → 책임 → 근거 → 조치를 한 흐름으로 연결해요</a:t>
            </a:r>
          </a:p>
        </p:txBody>
      </p:sp>
      <p:pic>
        <p:nvPicPr>
          <p:cNvPr id="105" name="Image 2"/>
          <p:cNvPicPr>
            <a:picLocks xmlns:a="http://schemas.openxmlformats.org/drawingml/2006/main" noChangeAspect="1"/>
          </p:cNvPicPr>
          <p:nvPr/>
        </p:nvPicPr>
        <p:blipFill>
          <a:blip xmlns:r="http://schemas.openxmlformats.org/officeDocument/2006/relationships" xmlns:a="http://schemas.openxmlformats.org/drawingml/2006/main" r:embed="R2f75d3200ffd4f10"/>
          <a:stretch xmlns:a="http://schemas.openxmlformats.org/drawingml/2006/main"/>
        </p:blipFill>
        <p:spPr>
          <a:xfrm xmlns:a="http://schemas.openxmlformats.org/drawingml/2006/main">
            <a:off x="323850" y="4749658"/>
            <a:ext cx="1381125" cy="1492535"/>
          </a:xfrm>
          <a:prstGeom xmlns:a="http://schemas.openxmlformats.org/drawingml/2006/main" prst="rect">
            <a:avLst/>
          </a:prstGeom>
        </p:spPr>
      </p:pic>
    </p:spTree>
    <p:extLst>
      <p:ext uri="{BB962C8B-B14F-4D97-AF65-F5344CB8AC3E}">
        <p14:creationId xmlns:p14="http://schemas.microsoft.com/office/powerpoint/2010/main" val="1095502647"/>
      </p:ext>
    </p:extLst>
  </p:cSld>
</p:sld>
</file>

<file path=ppt/slides/slide14.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7547D7-2D73-4BA1-838B-EE8A1EA15D81}"/>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2239C6C-5F3E-46D3-B33F-F5EC70675570}"/>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6265DAFA-C801-48F5-AA46-93255BA5316B}"/>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CD50DBF2-2376-42C2-ACAC-E992717141DD}"/>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b719e9774319432a"/>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696C270-65D4-4376-87BC-691C498878C7}"/>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36A7ED09-8521-4BA7-AE2F-31B6F83CB19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B2AD32B1-C3D1-452B-8EB4-333F7F59EC4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9E0AB4A6-A26E-4A3E-BFAE-AB7F11FAB6E7}"/>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25917F6B-4C08-46F7-A104-C5710D3D50B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9ED89CE5-F9CD-4510-826B-DBC991F9D928}"/>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b719e9774319432a"/>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E60850B7-8227-4578-A349-04D5C69994F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10 · 길잡이와 보고서</a:t>
            </a:r>
          </a:p>
        </p:txBody>
      </p:sp>
      <p:sp>
        <p:nvSpPr>
          <p:cNvPr id="15" name="Shape 11">
            <a:extLst xmlns:a="http://schemas.openxmlformats.org/drawingml/2006/main">
              <a:ext uri="{FF2B5EF4-FFF2-40B4-BE49-F238E27FC236}">
                <a16:creationId xmlns:a16="http://schemas.microsoft.com/office/drawing/2014/main" id="{28DA0427-9E9D-4655-B338-0AF3BA5AA90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32E76F2E-C252-4C47-A4FF-70A6EECF103F}"/>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2BC1127-AE2C-4977-BCF6-6453C78C754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0F735D3-4F6B-47CE-B56F-B5EB6368A0C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A97AECAB-676D-48A8-B5E7-2192695596B4}"/>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A8A3703E-3888-485F-A8A4-0EE8472D139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86807D00-BBCC-4318-8370-96951A2D11C3}"/>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C1228D9-5322-4BC7-B719-A395096998F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62A2F794-BF4F-4103-9A29-C313ED6EE55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08486EDD-FD68-4A70-9660-5E8B7A1ED82E}"/>
              </a:ext>
            </a:extLst>
          </p:cNvPr>
          <p:cNvSpPr>
            <a:spLocks xmlns:a="http://schemas.openxmlformats.org/drawingml/2006/main" noGrp="1"/>
          </p:cNvSpPr>
          <p:nvPr/>
        </p:nvSpPr>
        <p:spPr>
          <a:xfrm xmlns:a="http://schemas.openxmlformats.org/drawingml/2006/main">
            <a:off x="0" y="96012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현재 화면·담당 범위에 맞춘 업무 안내</a:t>
            </a:r>
          </a:p>
        </p:txBody>
      </p:sp>
      <p:sp>
        <p:nvSpPr>
          <p:cNvPr id="25" name="Text 21">
            <a:extLst xmlns:a="http://schemas.openxmlformats.org/drawingml/2006/main">
              <a:ext uri="{FF2B5EF4-FFF2-40B4-BE49-F238E27FC236}">
                <a16:creationId xmlns:a16="http://schemas.microsoft.com/office/drawing/2014/main" id="{EDC52F84-59FD-4596-8F0D-DB35F4A29611}"/>
              </a:ext>
            </a:extLst>
          </p:cNvPr>
          <p:cNvSpPr>
            <a:spLocks xmlns:a="http://schemas.openxmlformats.org/drawingml/2006/main" noGrp="1"/>
          </p:cNvSpPr>
          <p:nvPr/>
        </p:nvSpPr>
        <p:spPr>
          <a:xfrm xmlns:a="http://schemas.openxmlformats.org/drawingml/2006/main">
            <a:off x="548640" y="1298448"/>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600" b="1">
                <a:solidFill>
                  <a:srgbClr val="1B2340"/>
                </a:solidFill>
                <a:latin typeface="Malgun Gothic"/>
                <a:ea typeface="Malgun Gothic"/>
                <a:cs typeface="Malgun Gothic"/>
              </a:rPr>
              <a:t>대분류·실제 팀 선택이 맞춤 보고서까지 그대로 이어집니다</a:t>
            </a:r>
          </a:p>
        </p:txBody>
      </p:sp>
      <p:sp>
        <p:nvSpPr>
          <p:cNvPr id="26" name="Shape 22">
            <a:extLst xmlns:a="http://schemas.openxmlformats.org/drawingml/2006/main">
              <a:ext uri="{FF2B5EF4-FFF2-40B4-BE49-F238E27FC236}">
                <a16:creationId xmlns:a16="http://schemas.microsoft.com/office/drawing/2014/main" id="{21B42EC0-4394-4968-B572-12066D457163}"/>
              </a:ext>
            </a:extLst>
          </p:cNvPr>
          <p:cNvSpPr>
            <a:spLocks xmlns:a="http://schemas.openxmlformats.org/drawingml/2006/main" noGrp="1"/>
          </p:cNvSpPr>
          <p:nvPr/>
        </p:nvSpPr>
        <p:spPr>
          <a:xfrm xmlns:a="http://schemas.openxmlformats.org/drawingml/2006/main">
            <a:off x="2648560" y="1993392"/>
            <a:ext cx="6894576" cy="3602736"/>
          </a:xfrm>
          <a:prstGeom xmlns:a="http://schemas.openxmlformats.org/drawingml/2006/main" prst="rect">
            <a:avLst/>
          </a:prstGeom>
          <a:solidFill xmlns:a="http://schemas.openxmlformats.org/drawingml/2006/main">
            <a:srgbClr val="FFFFFF"/>
          </a:solidFill>
          <a:ln xmlns:a="http://schemas.openxmlformats.org/drawingml/2006/main" w="19050">
            <a:solidFill>
              <a:srgbClr val="1B2340"/>
            </a:solidFill>
            <a:prstDash val="solid"/>
          </a:ln>
          <a:effectLst xmlns:a="http://schemas.openxmlformats.org/drawingml/2006/main">
            <a:outerShdw blurRad="101600" dist="38100" dir="5400000" sx="100000" sy="100000" kx="0" ky="0" algn="bl" rotWithShape="0">
              <a:srgbClr val="05433D">
                <a:alpha val="40000"/>
              </a:srgbClr>
            </a:outerShdw>
          </a:effectLst>
        </p:spPr>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d794d5bcb7b6460c"/>
          <a:stretch xmlns:a="http://schemas.openxmlformats.org/drawingml/2006/main"/>
        </p:blipFill>
        <p:spPr>
          <a:xfrm xmlns:a="http://schemas.openxmlformats.org/drawingml/2006/main">
            <a:off x="3613575" y="2103120"/>
            <a:ext cx="4964547" cy="3383280"/>
          </a:xfrm>
          <a:prstGeom xmlns:a="http://schemas.openxmlformats.org/drawingml/2006/main" prst="rect">
            <a:avLst/>
          </a:prstGeom>
        </p:spPr>
      </p:pic>
      <p:sp>
        <p:nvSpPr>
          <p:cNvPr id="28" name="Shape 23">
            <a:extLst xmlns:a="http://schemas.openxmlformats.org/drawingml/2006/main">
              <a:ext uri="{FF2B5EF4-FFF2-40B4-BE49-F238E27FC236}">
                <a16:creationId xmlns:a16="http://schemas.microsoft.com/office/drawing/2014/main" id="{38012B29-7953-4652-8C2B-07D9F62790D0}"/>
              </a:ext>
            </a:extLst>
          </p:cNvPr>
          <p:cNvSpPr>
            <a:spLocks xmlns:a="http://schemas.openxmlformats.org/drawingml/2006/main" noGrp="1"/>
          </p:cNvSpPr>
          <p:nvPr/>
        </p:nvSpPr>
        <p:spPr>
          <a:xfrm xmlns:a="http://schemas.openxmlformats.org/drawingml/2006/main">
            <a:off x="1527048" y="5230368"/>
            <a:ext cx="368503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9" name="Text 24">
            <a:extLst xmlns:a="http://schemas.openxmlformats.org/drawingml/2006/main">
              <a:ext uri="{FF2B5EF4-FFF2-40B4-BE49-F238E27FC236}">
                <a16:creationId xmlns:a16="http://schemas.microsoft.com/office/drawing/2014/main" id="{C7793120-FA2B-4533-A185-E172455CBAD1}"/>
              </a:ext>
            </a:extLst>
          </p:cNvPr>
          <p:cNvSpPr>
            <a:spLocks xmlns:a="http://schemas.openxmlformats.org/drawingml/2006/main" noGrp="1"/>
          </p:cNvSpPr>
          <p:nvPr/>
        </p:nvSpPr>
        <p:spPr>
          <a:xfrm xmlns:a="http://schemas.openxmlformats.org/drawingml/2006/main">
            <a:off x="1618488" y="5230368"/>
            <a:ext cx="350215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전체·대분류·팀 기준으로 수치·본문·추천 섹션을 다시 구성해요</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b719e9774319432a"/>
          <a:stretch xmlns:a="http://schemas.openxmlformats.org/drawingml/2006/main"/>
        </p:blipFill>
        <p:spPr>
          <a:xfrm xmlns:a="http://schemas.openxmlformats.org/drawingml/2006/main">
            <a:off x="357406" y="4686300"/>
            <a:ext cx="1314012" cy="1619250"/>
          </a:xfrm>
          <a:prstGeom xmlns:a="http://schemas.openxmlformats.org/drawingml/2006/main" prst="rect">
            <a:avLst/>
          </a:prstGeom>
        </p:spPr>
      </p:pic>
    </p:spTree>
    <p:extLst>
      <p:ext uri="{BB962C8B-B14F-4D97-AF65-F5344CB8AC3E}">
        <p14:creationId xmlns:p14="http://schemas.microsoft.com/office/powerpoint/2010/main" val="1573598473"/>
      </p:ext>
    </p:extLst>
  </p:cSld>
</p:sld>
</file>

<file path=ppt/slides/slide15.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FE270FD-9BBF-4E6F-AA51-A4393ECA6289}"/>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FD06088-6BB1-4055-B9BB-ECB2BA8E83F0}"/>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C33320FF-374C-4ABC-9C5A-8B12CBF2F5D0}"/>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DA2D870D-6B4B-445B-BF5D-EC6F4C9DA89D}"/>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25e717a7ecd945de"/>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3CC8931-2FEE-45CB-9CCB-C587AB190D49}"/>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8A989F7B-732F-4EB6-B6DD-9C5406B391C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C1FD351D-86F8-4CBE-B1DF-5E02366D2D49}"/>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0DD54B6C-620B-42D3-BA12-393C298C7DB0}"/>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AB767FE7-EEC2-4817-BB81-314398FE35EB}"/>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8DDA77C1-932B-4391-9332-F77DB9F05DAA}"/>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25e717a7ecd945de"/>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7B267C4-9D3B-4836-AEA1-D3493F582FCD}"/>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11 · 데이터 품질</a:t>
            </a:r>
          </a:p>
        </p:txBody>
      </p:sp>
      <p:sp>
        <p:nvSpPr>
          <p:cNvPr id="15" name="Shape 11">
            <a:extLst xmlns:a="http://schemas.openxmlformats.org/drawingml/2006/main">
              <a:ext uri="{FF2B5EF4-FFF2-40B4-BE49-F238E27FC236}">
                <a16:creationId xmlns:a16="http://schemas.microsoft.com/office/drawing/2014/main" id="{FA8A2193-F52F-40F4-9971-B8D6152B8046}"/>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072DCED6-AEA8-4FD8-8EE5-665F353E3F93}"/>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90E3299D-07F4-4F5B-95A6-E3040CDF24D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E4E0611C-7F7D-47B8-936C-02C0038B681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F01C4691-F64F-4CE4-A062-ADA0837BA201}"/>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41F6E9A0-2001-4E6B-A588-F4E9574B0B62}"/>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1E76A657-DAA3-42B0-8946-3A5BB3D96F3B}"/>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6446DD0-3737-4359-9CD2-12EEDF07A45D}"/>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06462A81-2D9D-4211-A2AB-C6D6455F6B31}"/>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0A0FD98-A082-4105-9201-E25C993776AB}"/>
              </a:ext>
            </a:extLst>
          </p:cNvPr>
          <p:cNvSpPr>
            <a:spLocks xmlns:a="http://schemas.openxmlformats.org/drawingml/2006/main" noGrp="1"/>
          </p:cNvSpPr>
          <p:nvPr/>
        </p:nvSpPr>
        <p:spPr>
          <a:xfrm xmlns:a="http://schemas.openxmlformats.org/drawingml/2006/main">
            <a:off x="0" y="155448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모르는 값은 모른다고 표시합니다</a:t>
            </a:r>
          </a:p>
        </p:txBody>
      </p:sp>
      <p:sp>
        <p:nvSpPr>
          <p:cNvPr id="25" name="Text 21">
            <a:extLst xmlns:a="http://schemas.openxmlformats.org/drawingml/2006/main">
              <a:ext uri="{FF2B5EF4-FFF2-40B4-BE49-F238E27FC236}">
                <a16:creationId xmlns:a16="http://schemas.microsoft.com/office/drawing/2014/main" id="{60EA32B8-008A-441E-9429-2784EE90A199}"/>
              </a:ext>
            </a:extLst>
          </p:cNvPr>
          <p:cNvSpPr>
            <a:spLocks xmlns:a="http://schemas.openxmlformats.org/drawingml/2006/main" noGrp="1"/>
          </p:cNvSpPr>
          <p:nvPr/>
        </p:nvSpPr>
        <p:spPr>
          <a:xfrm xmlns:a="http://schemas.openxmlformats.org/drawingml/2006/main">
            <a:off x="0" y="2103120"/>
            <a:ext cx="1219169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400" b="1">
                <a:solidFill>
                  <a:srgbClr val="C77D00"/>
                </a:solidFill>
                <a:latin typeface="Calibri"/>
                <a:ea typeface="Calibri"/>
                <a:cs typeface="Calibri"/>
              </a:rPr>
              <a:t>804</a:t>
            </a:r>
          </a:p>
        </p:txBody>
      </p:sp>
      <p:sp>
        <p:nvSpPr>
          <p:cNvPr id="26" name="Text 22">
            <a:extLst xmlns:a="http://schemas.openxmlformats.org/drawingml/2006/main">
              <a:ext uri="{FF2B5EF4-FFF2-40B4-BE49-F238E27FC236}">
                <a16:creationId xmlns:a16="http://schemas.microsoft.com/office/drawing/2014/main" id="{C084A70B-5101-4ED0-A994-A1E1427C7169}"/>
              </a:ext>
            </a:extLst>
          </p:cNvPr>
          <p:cNvSpPr>
            <a:spLocks xmlns:a="http://schemas.openxmlformats.org/drawingml/2006/main" noGrp="1"/>
          </p:cNvSpPr>
          <p:nvPr/>
        </p:nvSpPr>
        <p:spPr>
          <a:xfrm xmlns:a="http://schemas.openxmlformats.org/drawingml/2006/main">
            <a:off x="0" y="3429000"/>
            <a:ext cx="1219169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20000"/>
              </a:lnSpc>
              <a:buNone/>
            </a:pPr>
            <a:r>
              <a:rPr sz="1500">
                <a:solidFill>
                  <a:srgbClr val="5C6684"/>
                </a:solidFill>
                <a:latin typeface="Malgun Gothic"/>
                <a:ea typeface="Malgun Gothic"/>
                <a:cs typeface="Malgun Gothic"/>
              </a:rPr>
              <a:t>원본 미상 804건 · 원본 특정 자치구 20건</a:t>
            </a:r>
          </a:p>
        </p:txBody>
      </p:sp>
      <p:sp>
        <p:nvSpPr>
          <p:cNvPr id="27" name="Shape 23">
            <a:extLst xmlns:a="http://schemas.openxmlformats.org/drawingml/2006/main">
              <a:ext uri="{FF2B5EF4-FFF2-40B4-BE49-F238E27FC236}">
                <a16:creationId xmlns:a16="http://schemas.microsoft.com/office/drawing/2014/main" id="{8FCD1F74-BDC3-47B8-B91B-EAD48EA367A2}"/>
              </a:ext>
            </a:extLst>
          </p:cNvPr>
          <p:cNvSpPr>
            <a:spLocks xmlns:a="http://schemas.openxmlformats.org/drawingml/2006/main" noGrp="1"/>
          </p:cNvSpPr>
          <p:nvPr/>
        </p:nvSpPr>
        <p:spPr>
          <a:xfrm xmlns:a="http://schemas.openxmlformats.org/drawingml/2006/main">
            <a:off x="2730856" y="4251960"/>
            <a:ext cx="2194560" cy="457200"/>
          </a:xfrm>
          <a:prstGeom xmlns:a="http://schemas.openxmlformats.org/drawingml/2006/main" prst="rect">
            <a:avLst/>
          </a:prstGeom>
          <a:solidFill xmlns:a="http://schemas.openxmlformats.org/drawingml/2006/main">
            <a:srgbClr val="E1F5EC"/>
          </a:solidFill>
          <a:ln xmlns:a="http://schemas.openxmlformats.org/drawingml/2006/main" w="12700">
            <a:solidFill>
              <a:srgbClr val="0FA968"/>
            </a:solidFill>
            <a:prstDash val="solid"/>
          </a:ln>
        </p:spPr>
      </p:sp>
      <p:sp>
        <p:nvSpPr>
          <p:cNvPr id="28" name="Text 24">
            <a:extLst xmlns:a="http://schemas.openxmlformats.org/drawingml/2006/main">
              <a:ext uri="{FF2B5EF4-FFF2-40B4-BE49-F238E27FC236}">
                <a16:creationId xmlns:a16="http://schemas.microsoft.com/office/drawing/2014/main" id="{F1ACFA58-A759-4FFE-8E56-20D79FA08458}"/>
              </a:ext>
            </a:extLst>
          </p:cNvPr>
          <p:cNvSpPr>
            <a:spLocks xmlns:a="http://schemas.openxmlformats.org/drawingml/2006/main" noGrp="1"/>
          </p:cNvSpPr>
          <p:nvPr/>
        </p:nvSpPr>
        <p:spPr>
          <a:xfrm xmlns:a="http://schemas.openxmlformats.org/drawingml/2006/main">
            <a:off x="2730856" y="425196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A968"/>
                </a:solidFill>
                <a:latin typeface="Malgun Gothic"/>
                <a:ea typeface="Malgun Gothic"/>
                <a:cs typeface="Malgun Gothic"/>
              </a:rPr>
              <a:t>본문 자치구 후보 49</a:t>
            </a:r>
          </a:p>
        </p:txBody>
      </p:sp>
      <p:sp>
        <p:nvSpPr>
          <p:cNvPr id="29" name="Shape 25">
            <a:extLst xmlns:a="http://schemas.openxmlformats.org/drawingml/2006/main">
              <a:ext uri="{FF2B5EF4-FFF2-40B4-BE49-F238E27FC236}">
                <a16:creationId xmlns:a16="http://schemas.microsoft.com/office/drawing/2014/main" id="{A0786225-57F2-40F8-9528-1DF9B198663E}"/>
              </a:ext>
            </a:extLst>
          </p:cNvPr>
          <p:cNvSpPr>
            <a:spLocks xmlns:a="http://schemas.openxmlformats.org/drawingml/2006/main" noGrp="1"/>
          </p:cNvSpPr>
          <p:nvPr/>
        </p:nvSpPr>
        <p:spPr>
          <a:xfrm xmlns:a="http://schemas.openxmlformats.org/drawingml/2006/main">
            <a:off x="5090008" y="4251960"/>
            <a:ext cx="2011680" cy="457200"/>
          </a:xfrm>
          <a:prstGeom xmlns:a="http://schemas.openxmlformats.org/drawingml/2006/main" prst="rect">
            <a:avLst/>
          </a:prstGeom>
          <a:solidFill xmlns:a="http://schemas.openxmlformats.org/drawingml/2006/main">
            <a:srgbClr val="E7EDFF"/>
          </a:solidFill>
          <a:ln xmlns:a="http://schemas.openxmlformats.org/drawingml/2006/main" w="12700">
            <a:solidFill>
              <a:srgbClr val="3558D6"/>
            </a:solidFill>
            <a:prstDash val="solid"/>
          </a:ln>
        </p:spPr>
      </p:sp>
      <p:sp>
        <p:nvSpPr>
          <p:cNvPr id="30" name="Text 26">
            <a:extLst xmlns:a="http://schemas.openxmlformats.org/drawingml/2006/main">
              <a:ext uri="{FF2B5EF4-FFF2-40B4-BE49-F238E27FC236}">
                <a16:creationId xmlns:a16="http://schemas.microsoft.com/office/drawing/2014/main" id="{E1DE7587-49AA-4B16-9575-ADF319BEAA36}"/>
              </a:ext>
            </a:extLst>
          </p:cNvPr>
          <p:cNvSpPr>
            <a:spLocks xmlns:a="http://schemas.openxmlformats.org/drawingml/2006/main" noGrp="1"/>
          </p:cNvSpPr>
          <p:nvPr/>
        </p:nvSpPr>
        <p:spPr>
          <a:xfrm xmlns:a="http://schemas.openxmlformats.org/drawingml/2006/main">
            <a:off x="5090008" y="425196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3558D6"/>
                </a:solidFill>
                <a:latin typeface="Malgun Gothic"/>
                <a:ea typeface="Malgun Gothic"/>
                <a:cs typeface="Malgun Gothic"/>
              </a:rPr>
              <a:t>서울시 전체 명시 5</a:t>
            </a:r>
          </a:p>
        </p:txBody>
      </p:sp>
      <p:sp>
        <p:nvSpPr>
          <p:cNvPr id="31" name="Shape 27">
            <a:extLst xmlns:a="http://schemas.openxmlformats.org/drawingml/2006/main">
              <a:ext uri="{FF2B5EF4-FFF2-40B4-BE49-F238E27FC236}">
                <a16:creationId xmlns:a16="http://schemas.microsoft.com/office/drawing/2014/main" id="{3FAAE6AF-2424-40AE-AFD8-0E71EF940DAC}"/>
              </a:ext>
            </a:extLst>
          </p:cNvPr>
          <p:cNvSpPr>
            <a:spLocks xmlns:a="http://schemas.openxmlformats.org/drawingml/2006/main" noGrp="1"/>
          </p:cNvSpPr>
          <p:nvPr/>
        </p:nvSpPr>
        <p:spPr>
          <a:xfrm xmlns:a="http://schemas.openxmlformats.org/drawingml/2006/main">
            <a:off x="7266280" y="4251960"/>
            <a:ext cx="2194560" cy="457200"/>
          </a:xfrm>
          <a:prstGeom xmlns:a="http://schemas.openxmlformats.org/drawingml/2006/main" prst="rect">
            <a:avLst/>
          </a:prstGeom>
          <a:solidFill xmlns:a="http://schemas.openxmlformats.org/drawingml/2006/main">
            <a:srgbClr val="EFEBFB"/>
          </a:solidFill>
          <a:ln xmlns:a="http://schemas.openxmlformats.org/drawingml/2006/main" w="12700">
            <a:solidFill>
              <a:srgbClr val="7C5CE0"/>
            </a:solidFill>
            <a:prstDash val="solid"/>
          </a:ln>
        </p:spPr>
      </p:sp>
      <p:sp>
        <p:nvSpPr>
          <p:cNvPr id="32" name="Text 28">
            <a:extLst xmlns:a="http://schemas.openxmlformats.org/drawingml/2006/main">
              <a:ext uri="{FF2B5EF4-FFF2-40B4-BE49-F238E27FC236}">
                <a16:creationId xmlns:a16="http://schemas.microsoft.com/office/drawing/2014/main" id="{FF7F7B57-123A-473E-A798-9DF6803122AD}"/>
              </a:ext>
            </a:extLst>
          </p:cNvPr>
          <p:cNvSpPr>
            <a:spLocks xmlns:a="http://schemas.openxmlformats.org/drawingml/2006/main" noGrp="1"/>
          </p:cNvSpPr>
          <p:nvPr/>
        </p:nvSpPr>
        <p:spPr>
          <a:xfrm xmlns:a="http://schemas.openxmlformats.org/drawingml/2006/main">
            <a:off x="7266280" y="425196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7C5CE0"/>
                </a:solidFill>
                <a:latin typeface="Malgun Gothic"/>
                <a:ea typeface="Malgun Gothic"/>
                <a:cs typeface="Malgun Gothic"/>
              </a:rPr>
              <a:t>지역 범위 미확인 750</a:t>
            </a:r>
          </a:p>
        </p:txBody>
      </p:sp>
      <p:sp>
        <p:nvSpPr>
          <p:cNvPr id="33" name="Text 29">
            <a:extLst xmlns:a="http://schemas.openxmlformats.org/drawingml/2006/main">
              <a:ext uri="{FF2B5EF4-FFF2-40B4-BE49-F238E27FC236}">
                <a16:creationId xmlns:a16="http://schemas.microsoft.com/office/drawing/2014/main" id="{1539C9C8-C002-493B-A431-4C002B3AA5DC}"/>
              </a:ext>
            </a:extLst>
          </p:cNvPr>
          <p:cNvSpPr>
            <a:spLocks xmlns:a="http://schemas.openxmlformats.org/drawingml/2006/main" noGrp="1"/>
          </p:cNvSpPr>
          <p:nvPr/>
        </p:nvSpPr>
        <p:spPr>
          <a:xfrm xmlns:a="http://schemas.openxmlformats.org/drawingml/2006/main">
            <a:off x="0" y="4892040"/>
            <a:ext cx="121916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9AA3C7"/>
                </a:solidFill>
                <a:latin typeface="Malgun Gothic"/>
                <a:ea typeface="Malgun Gothic"/>
                <a:cs typeface="Malgun Gothic"/>
              </a:rPr>
              <a:t>분류 기준 · 원본 선택값 + 본문 직접 지명 · 원문 미연결 186건 별도</a:t>
            </a:r>
          </a:p>
        </p:txBody>
      </p:sp>
      <p:sp>
        <p:nvSpPr>
          <p:cNvPr id="34" name="Shape 30">
            <a:extLst xmlns:a="http://schemas.openxmlformats.org/drawingml/2006/main">
              <a:ext uri="{FF2B5EF4-FFF2-40B4-BE49-F238E27FC236}">
                <a16:creationId xmlns:a16="http://schemas.microsoft.com/office/drawing/2014/main" id="{6A41A804-46C5-4B98-9DE9-62E242425AAF}"/>
              </a:ext>
            </a:extLst>
          </p:cNvPr>
          <p:cNvSpPr>
            <a:spLocks xmlns:a="http://schemas.openxmlformats.org/drawingml/2006/main" noGrp="1"/>
          </p:cNvSpPr>
          <p:nvPr/>
        </p:nvSpPr>
        <p:spPr>
          <a:xfrm xmlns:a="http://schemas.openxmlformats.org/drawingml/2006/main">
            <a:off x="1527048" y="5230368"/>
            <a:ext cx="4572000"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5" name="Text 31">
            <a:extLst xmlns:a="http://schemas.openxmlformats.org/drawingml/2006/main">
              <a:ext uri="{FF2B5EF4-FFF2-40B4-BE49-F238E27FC236}">
                <a16:creationId xmlns:a16="http://schemas.microsoft.com/office/drawing/2014/main" id="{D8CF3E53-9158-4BC7-BBFD-F5CFF245CC1C}"/>
              </a:ext>
            </a:extLst>
          </p:cNvPr>
          <p:cNvSpPr>
            <a:spLocks xmlns:a="http://schemas.openxmlformats.org/drawingml/2006/main" noGrp="1"/>
          </p:cNvSpPr>
          <p:nvPr/>
        </p:nvSpPr>
        <p:spPr>
          <a:xfrm xmlns:a="http://schemas.openxmlformats.org/drawingml/2006/main">
            <a:off x="1618488" y="5230368"/>
            <a:ext cx="43891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미상을 결측치로 일괄 처리하지 않고 지역 범위를 구분해요</a:t>
            </a:r>
          </a:p>
        </p:txBody>
      </p:sp>
      <p:pic>
        <p:nvPicPr>
          <p:cNvPr id="73" name="Image 2"/>
          <p:cNvPicPr>
            <a:picLocks xmlns:a="http://schemas.openxmlformats.org/drawingml/2006/main" noChangeAspect="1"/>
          </p:cNvPicPr>
          <p:nvPr/>
        </p:nvPicPr>
        <p:blipFill>
          <a:blip xmlns:r="http://schemas.openxmlformats.org/officeDocument/2006/relationships" xmlns:a="http://schemas.openxmlformats.org/drawingml/2006/main" r:embed="R25e717a7ecd945de"/>
          <a:stretch xmlns:a="http://schemas.openxmlformats.org/drawingml/2006/main"/>
        </p:blipFill>
        <p:spPr>
          <a:xfrm xmlns:a="http://schemas.openxmlformats.org/drawingml/2006/main">
            <a:off x="228600" y="4820102"/>
            <a:ext cx="1619250" cy="1313547"/>
          </a:xfrm>
          <a:prstGeom xmlns:a="http://schemas.openxmlformats.org/drawingml/2006/main" prst="rect">
            <a:avLst/>
          </a:prstGeom>
        </p:spPr>
      </p:pic>
    </p:spTree>
    <p:extLst>
      <p:ext uri="{BB962C8B-B14F-4D97-AF65-F5344CB8AC3E}">
        <p14:creationId xmlns:p14="http://schemas.microsoft.com/office/powerpoint/2010/main" val="1091185325"/>
      </p:ext>
    </p:extLst>
  </p:cSld>
</p:sld>
</file>

<file path=ppt/slides/slide16.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DE45E7B-19F2-47E5-BB38-085F0DE7EDF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2739D35-E8E5-4180-A93F-73FEE791B27A}"/>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275AB19-4FC5-4C49-A20C-EF320202C5E9}"/>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CB932A8-AA0B-4897-9FC4-D8B8C275E197}"/>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5894acf7c7594ec6"/>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84BB376-A733-46AB-B6AA-8B6BE3CF3698}"/>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6FD7266-11DB-4A18-AEDD-372019227C4D}"/>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CD2C9D7B-08C2-40EC-B005-EEBA166A4991}"/>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EC2200A9-F434-477E-8442-9CBBA6D6CF5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69136510-38ED-4222-A150-78ED7205BAD9}"/>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35E3B63-462F-4A0F-B434-23339D1970C7}"/>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5894acf7c7594ec6"/>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4692A2A-E56F-4F83-B493-3C43587C2DC8}"/>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12 · 데모 전 안내</a:t>
            </a:r>
          </a:p>
        </p:txBody>
      </p:sp>
      <p:sp>
        <p:nvSpPr>
          <p:cNvPr id="15" name="Shape 11">
            <a:extLst xmlns:a="http://schemas.openxmlformats.org/drawingml/2006/main">
              <a:ext uri="{FF2B5EF4-FFF2-40B4-BE49-F238E27FC236}">
                <a16:creationId xmlns:a16="http://schemas.microsoft.com/office/drawing/2014/main" id="{F64E4E4B-A0C3-47DB-BAED-924D8B99CC4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BF0085D-9140-43E0-AA09-C3A937DC72E2}"/>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4F6ECCD-B796-475E-8E51-17B40B7AD42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948B9517-9E60-448D-93CB-1DE9AA6D421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7D59888B-CAE6-4135-B898-4B57B02E6D67}"/>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7447723E-F930-4775-8A91-05800938D6FD}"/>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78B1E101-E67A-4593-953E-0E821AB0880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89D70BD-B7B9-450A-869D-9873EBA913FD}"/>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BE435574-9772-45E9-993D-910DD8C99B92}"/>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3BA63D61-E5D6-4800-A45A-FE8F21A2FEE0}"/>
              </a:ext>
            </a:extLst>
          </p:cNvPr>
          <p:cNvSpPr>
            <a:spLocks xmlns:a="http://schemas.openxmlformats.org/drawingml/2006/main" noGrp="1"/>
          </p:cNvSpPr>
          <p:nvPr/>
        </p:nvSpPr>
        <p:spPr>
          <a:xfrm xmlns:a="http://schemas.openxmlformats.org/drawingml/2006/main">
            <a:off x="0" y="22860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8개 화면 빠른 투어 + 핵심 기능 깊은 시연</a:t>
            </a:r>
          </a:p>
        </p:txBody>
      </p:sp>
      <p:sp>
        <p:nvSpPr>
          <p:cNvPr id="25" name="Text 21">
            <a:extLst xmlns:a="http://schemas.openxmlformats.org/drawingml/2006/main">
              <a:ext uri="{FF2B5EF4-FFF2-40B4-BE49-F238E27FC236}">
                <a16:creationId xmlns:a16="http://schemas.microsoft.com/office/drawing/2014/main" id="{1DE2D97F-B1C0-4FAB-BCF7-7FB39793658A}"/>
              </a:ext>
            </a:extLst>
          </p:cNvPr>
          <p:cNvSpPr>
            <a:spLocks xmlns:a="http://schemas.openxmlformats.org/drawingml/2006/main" noGrp="1"/>
          </p:cNvSpPr>
          <p:nvPr/>
        </p:nvSpPr>
        <p:spPr>
          <a:xfrm xmlns:a="http://schemas.openxmlformats.org/drawingml/2006/main">
            <a:off x="548640" y="269748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800" b="1">
                <a:solidFill>
                  <a:srgbClr val="1B2340"/>
                </a:solidFill>
                <a:latin typeface="Malgun Gothic"/>
                <a:ea typeface="Malgun Gothic"/>
                <a:cs typeface="Malgun Gothic"/>
              </a:rPr>
              <a:t>보육·돌봄 인프라 179건 → 가족건강팀 20건</a:t>
            </a:r>
          </a:p>
          <a:p xmlns:a="http://schemas.openxmlformats.org/drawingml/2006/main">
            <a:pPr marL="0" indent="0" algn="ctr">
              <a:lnSpc>
                <a:spcPct val="108000"/>
              </a:lnSpc>
              <a:buNone/>
            </a:pPr>
            <a:r>
              <a:rPr sz="3800" b="1">
                <a:solidFill>
                  <a:srgbClr val="1B2340"/>
                </a:solidFill>
                <a:latin typeface="Malgun Gothic"/>
                <a:ea typeface="Malgun Gothic"/>
                <a:cs typeface="Malgun Gothic"/>
              </a:rPr>
              <a:t>→ 10개 화면 → Gap·R&amp;R → 원문·보고서</a:t>
            </a:r>
          </a:p>
        </p:txBody>
      </p:sp>
      <p:sp>
        <p:nvSpPr>
          <p:cNvPr id="26" name="Shape 22">
            <a:extLst xmlns:a="http://schemas.openxmlformats.org/drawingml/2006/main">
              <a:ext uri="{FF2B5EF4-FFF2-40B4-BE49-F238E27FC236}">
                <a16:creationId xmlns:a16="http://schemas.microsoft.com/office/drawing/2014/main" id="{9BFD0D00-2008-4023-B4D0-5D497B462351}"/>
              </a:ext>
            </a:extLst>
          </p:cNvPr>
          <p:cNvSpPr>
            <a:spLocks xmlns:a="http://schemas.openxmlformats.org/drawingml/2006/main" noGrp="1"/>
          </p:cNvSpPr>
          <p:nvPr/>
        </p:nvSpPr>
        <p:spPr>
          <a:xfrm xmlns:a="http://schemas.openxmlformats.org/drawingml/2006/main">
            <a:off x="6003036" y="5230368"/>
            <a:ext cx="453085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8141230B-A26A-42EF-91BB-78596FD1629D}"/>
              </a:ext>
            </a:extLst>
          </p:cNvPr>
          <p:cNvSpPr>
            <a:spLocks xmlns:a="http://schemas.openxmlformats.org/drawingml/2006/main" noGrp="1"/>
          </p:cNvSpPr>
          <p:nvPr/>
        </p:nvSpPr>
        <p:spPr>
          <a:xfrm xmlns:a="http://schemas.openxmlformats.org/drawingml/2006/main">
            <a:off x="6094476" y="5230368"/>
            <a:ext cx="43479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페이지 하단 새싹이는 현재 화면·담당군·실제 팀 기준으로 안내해요</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5894acf7c7594ec6"/>
          <a:stretch xmlns:a="http://schemas.openxmlformats.org/drawingml/2006/main"/>
        </p:blipFill>
        <p:spPr>
          <a:xfrm xmlns:a="http://schemas.openxmlformats.org/drawingml/2006/main">
            <a:off x="362346" y="4686300"/>
            <a:ext cx="1304132" cy="1619250"/>
          </a:xfrm>
          <a:prstGeom xmlns:a="http://schemas.openxmlformats.org/drawingml/2006/main" prst="rect">
            <a:avLst/>
          </a:prstGeom>
        </p:spPr>
      </p:pic>
    </p:spTree>
    <p:extLst>
      <p:ext uri="{BB962C8B-B14F-4D97-AF65-F5344CB8AC3E}">
        <p14:creationId xmlns:p14="http://schemas.microsoft.com/office/powerpoint/2010/main" val="551128248"/>
      </p:ext>
    </p:extLst>
  </p:cSld>
</p:sld>
</file>

<file path=ppt/slides/slide17.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6ECD12-AB96-4D74-90E5-7E7C7D0B746D}"/>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11CBE152-BBD3-4831-9117-8C8C03259A43}"/>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7E2405E3-A020-4109-86F0-F23F6800F240}"/>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2E6DB040-E546-4440-B2ED-F328AD1DB3AA}"/>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e6ea8d7106ad4c99"/>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209B8BF-A55C-4F98-8188-79DF911F1104}"/>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C023716E-94F6-4040-87AD-823548CB7D48}"/>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B96FD638-43D9-4DE4-B2DC-70BBCFC2447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26347249-1800-42A0-8265-EF1DE2B830EB}"/>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78CA0EE0-E28C-4C3F-9B77-2BA1076C909E}"/>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67E108A6-AAE8-4BE3-8DCC-06BE72D797F5}"/>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8" name="Image 1"/>
          <p:cNvPicPr>
            <a:picLocks xmlns:a="http://schemas.openxmlformats.org/drawingml/2006/main" noChangeAspect="1"/>
          </p:cNvPicPr>
          <p:nvPr/>
        </p:nvPicPr>
        <p:blipFill>
          <a:blip xmlns:r="http://schemas.openxmlformats.org/officeDocument/2006/relationships" xmlns:a="http://schemas.openxmlformats.org/drawingml/2006/main" r:embed="Re6ea8d7106ad4c99"/>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5B05D8A7-485B-4AF2-A0AD-6A821B7154E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13 · 라이브 데모 실행</a:t>
            </a:r>
          </a:p>
        </p:txBody>
      </p:sp>
      <p:sp>
        <p:nvSpPr>
          <p:cNvPr id="15" name="Shape 11">
            <a:extLst xmlns:a="http://schemas.openxmlformats.org/drawingml/2006/main">
              <a:ext uri="{FF2B5EF4-FFF2-40B4-BE49-F238E27FC236}">
                <a16:creationId xmlns:a16="http://schemas.microsoft.com/office/drawing/2014/main" id="{7B822EBF-A04F-4394-9E1C-95073A4F1530}"/>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E4586BFA-AD56-4CAC-940D-64CD3B14381D}"/>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9AFDF8C-9BE9-403D-BAB3-243A2FC297D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781CD298-0988-4BE5-817F-6C2A19B8E4E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1E822D95-1971-4458-B78F-67AEEC664406}"/>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DC32D499-24E4-4F72-8298-0ED29E86B73B}"/>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33211111-4B11-4AE3-972E-034D4A17E05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811E73DA-0819-4FC6-A580-8638FB3630A0}"/>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C4999D27-9CA1-47A8-A3CF-2A6B573A45D6}"/>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7641F6A-FFD6-442F-870E-707765B64751}"/>
              </a:ext>
            </a:extLst>
          </p:cNvPr>
          <p:cNvSpPr>
            <a:spLocks xmlns:a="http://schemas.openxmlformats.org/drawingml/2006/main" noGrp="1"/>
          </p:cNvSpPr>
          <p:nvPr/>
        </p:nvSpPr>
        <p:spPr>
          <a:xfrm xmlns:a="http://schemas.openxmlformats.org/drawingml/2006/main">
            <a:off x="0" y="18288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김서현 주무관의 실제 데이터 여정을 시작합니다</a:t>
            </a:r>
          </a:p>
        </p:txBody>
      </p:sp>
      <p:sp>
        <p:nvSpPr>
          <p:cNvPr id="25" name="Shape 21">
            <a:extLst xmlns:a="http://schemas.openxmlformats.org/drawingml/2006/main">
              <a:ext uri="{FF2B5EF4-FFF2-40B4-BE49-F238E27FC236}">
                <a16:creationId xmlns:a16="http://schemas.microsoft.com/office/drawing/2014/main" id="{9E5130D6-378C-4A87-8F5E-88D56B9A1187}"/>
              </a:ext>
            </a:extLst>
          </p:cNvPr>
          <p:cNvSpPr>
            <a:spLocks xmlns:a="http://schemas.openxmlformats.org/drawingml/2006/main" noGrp="1"/>
          </p:cNvSpPr>
          <p:nvPr/>
        </p:nvSpPr>
        <p:spPr>
          <a:xfrm xmlns:a="http://schemas.openxmlformats.org/drawingml/2006/main">
            <a:off x="81518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6" name="Text 22">
            <a:extLst xmlns:a="http://schemas.openxmlformats.org/drawingml/2006/main">
              <a:ext uri="{FF2B5EF4-FFF2-40B4-BE49-F238E27FC236}">
                <a16:creationId xmlns:a16="http://schemas.microsoft.com/office/drawing/2014/main" id="{A8669F19-2AC1-46BF-A506-9354D33D776E}"/>
              </a:ext>
            </a:extLst>
          </p:cNvPr>
          <p:cNvSpPr>
            <a:spLocks xmlns:a="http://schemas.openxmlformats.org/drawingml/2006/main" noGrp="1"/>
          </p:cNvSpPr>
          <p:nvPr/>
        </p:nvSpPr>
        <p:spPr>
          <a:xfrm xmlns:a="http://schemas.openxmlformats.org/drawingml/2006/main">
            <a:off x="81518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4912C5E9-BC62-4ECB-949D-4D61506693B4}"/>
              </a:ext>
            </a:extLst>
          </p:cNvPr>
          <p:cNvSpPr>
            <a:spLocks xmlns:a="http://schemas.openxmlformats.org/drawingml/2006/main" noGrp="1"/>
          </p:cNvSpPr>
          <p:nvPr/>
        </p:nvSpPr>
        <p:spPr>
          <a:xfrm xmlns:a="http://schemas.openxmlformats.org/drawingml/2006/main">
            <a:off x="81518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보육·돌봄 179건</a:t>
            </a:r>
          </a:p>
        </p:txBody>
      </p:sp>
      <p:sp>
        <p:nvSpPr>
          <p:cNvPr id="28" name="Text 24">
            <a:extLst xmlns:a="http://schemas.openxmlformats.org/drawingml/2006/main">
              <a:ext uri="{FF2B5EF4-FFF2-40B4-BE49-F238E27FC236}">
                <a16:creationId xmlns:a16="http://schemas.microsoft.com/office/drawing/2014/main" id="{CF97DEEE-B82C-4E21-BF3D-71547D70852C}"/>
              </a:ext>
            </a:extLst>
          </p:cNvPr>
          <p:cNvSpPr>
            <a:spLocks xmlns:a="http://schemas.openxmlformats.org/drawingml/2006/main" noGrp="1"/>
          </p:cNvSpPr>
          <p:nvPr/>
        </p:nvSpPr>
        <p:spPr>
          <a:xfrm xmlns:a="http://schemas.openxmlformats.org/drawingml/2006/main">
            <a:off x="3009748" y="2743200"/>
            <a:ext cx="594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6BA70C37-12ED-42E4-87A2-7E407E54C3C4}"/>
              </a:ext>
            </a:extLst>
          </p:cNvPr>
          <p:cNvSpPr>
            <a:spLocks xmlns:a="http://schemas.openxmlformats.org/drawingml/2006/main" noGrp="1"/>
          </p:cNvSpPr>
          <p:nvPr/>
        </p:nvSpPr>
        <p:spPr>
          <a:xfrm xmlns:a="http://schemas.openxmlformats.org/drawingml/2006/main">
            <a:off x="360410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40CFF4F3-C8AE-43CC-8BBD-D7CA58AC8DF3}"/>
              </a:ext>
            </a:extLst>
          </p:cNvPr>
          <p:cNvSpPr>
            <a:spLocks xmlns:a="http://schemas.openxmlformats.org/drawingml/2006/main" noGrp="1"/>
          </p:cNvSpPr>
          <p:nvPr/>
        </p:nvSpPr>
        <p:spPr>
          <a:xfrm xmlns:a="http://schemas.openxmlformats.org/drawingml/2006/main">
            <a:off x="360410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DA188AFD-4A76-4220-9EE4-B130227E912B}"/>
              </a:ext>
            </a:extLst>
          </p:cNvPr>
          <p:cNvSpPr>
            <a:spLocks xmlns:a="http://schemas.openxmlformats.org/drawingml/2006/main" noGrp="1"/>
          </p:cNvSpPr>
          <p:nvPr/>
        </p:nvSpPr>
        <p:spPr>
          <a:xfrm xmlns:a="http://schemas.openxmlformats.org/drawingml/2006/main">
            <a:off x="360410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가족건강팀 20건</a:t>
            </a:r>
          </a:p>
        </p:txBody>
      </p:sp>
      <p:sp>
        <p:nvSpPr>
          <p:cNvPr id="32" name="Text 28">
            <a:extLst xmlns:a="http://schemas.openxmlformats.org/drawingml/2006/main">
              <a:ext uri="{FF2B5EF4-FFF2-40B4-BE49-F238E27FC236}">
                <a16:creationId xmlns:a16="http://schemas.microsoft.com/office/drawing/2014/main" id="{028D1208-5BB3-4FA2-BC95-AD583AD589C8}"/>
              </a:ext>
            </a:extLst>
          </p:cNvPr>
          <p:cNvSpPr>
            <a:spLocks xmlns:a="http://schemas.openxmlformats.org/drawingml/2006/main" noGrp="1"/>
          </p:cNvSpPr>
          <p:nvPr/>
        </p:nvSpPr>
        <p:spPr>
          <a:xfrm xmlns:a="http://schemas.openxmlformats.org/drawingml/2006/main">
            <a:off x="5798668" y="2743200"/>
            <a:ext cx="594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rPr>
              <a:t>➜</a:t>
            </a:r>
          </a:p>
        </p:txBody>
      </p:sp>
      <p:sp>
        <p:nvSpPr>
          <p:cNvPr id="33" name="Shape 29">
            <a:extLst xmlns:a="http://schemas.openxmlformats.org/drawingml/2006/main">
              <a:ext uri="{FF2B5EF4-FFF2-40B4-BE49-F238E27FC236}">
                <a16:creationId xmlns:a16="http://schemas.microsoft.com/office/drawing/2014/main" id="{2388ADD3-D25D-41B6-A945-A5E816C06F96}"/>
              </a:ext>
            </a:extLst>
          </p:cNvPr>
          <p:cNvSpPr>
            <a:spLocks xmlns:a="http://schemas.openxmlformats.org/drawingml/2006/main" noGrp="1"/>
          </p:cNvSpPr>
          <p:nvPr/>
        </p:nvSpPr>
        <p:spPr>
          <a:xfrm xmlns:a="http://schemas.openxmlformats.org/drawingml/2006/main">
            <a:off x="639302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4" name="Text 30">
            <a:extLst xmlns:a="http://schemas.openxmlformats.org/drawingml/2006/main">
              <a:ext uri="{FF2B5EF4-FFF2-40B4-BE49-F238E27FC236}">
                <a16:creationId xmlns:a16="http://schemas.microsoft.com/office/drawing/2014/main" id="{1EAA4E86-66C1-4BB0-92BE-033236808CDF}"/>
              </a:ext>
            </a:extLst>
          </p:cNvPr>
          <p:cNvSpPr>
            <a:spLocks xmlns:a="http://schemas.openxmlformats.org/drawingml/2006/main" noGrp="1"/>
          </p:cNvSpPr>
          <p:nvPr/>
        </p:nvSpPr>
        <p:spPr>
          <a:xfrm xmlns:a="http://schemas.openxmlformats.org/drawingml/2006/main">
            <a:off x="639302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6C1AC0FB-F81B-4924-83B6-010BB8AA1AED}"/>
              </a:ext>
            </a:extLst>
          </p:cNvPr>
          <p:cNvSpPr>
            <a:spLocks xmlns:a="http://schemas.openxmlformats.org/drawingml/2006/main" noGrp="1"/>
          </p:cNvSpPr>
          <p:nvPr/>
        </p:nvSpPr>
        <p:spPr>
          <a:xfrm xmlns:a="http://schemas.openxmlformats.org/drawingml/2006/main">
            <a:off x="639302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10개 화면·Gap</a:t>
            </a:r>
          </a:p>
        </p:txBody>
      </p:sp>
      <p:sp>
        <p:nvSpPr>
          <p:cNvPr id="36" name="Text 32">
            <a:extLst xmlns:a="http://schemas.openxmlformats.org/drawingml/2006/main">
              <a:ext uri="{FF2B5EF4-FFF2-40B4-BE49-F238E27FC236}">
                <a16:creationId xmlns:a16="http://schemas.microsoft.com/office/drawing/2014/main" id="{822EAAEC-BC76-4B41-B33E-28426F20F72F}"/>
              </a:ext>
            </a:extLst>
          </p:cNvPr>
          <p:cNvSpPr>
            <a:spLocks xmlns:a="http://schemas.openxmlformats.org/drawingml/2006/main" noGrp="1"/>
          </p:cNvSpPr>
          <p:nvPr/>
        </p:nvSpPr>
        <p:spPr>
          <a:xfrm xmlns:a="http://schemas.openxmlformats.org/drawingml/2006/main">
            <a:off x="8587588" y="2743200"/>
            <a:ext cx="594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rPr>
              <a:t>➜</a:t>
            </a:r>
          </a:p>
        </p:txBody>
      </p:sp>
      <p:sp>
        <p:nvSpPr>
          <p:cNvPr id="37" name="Shape 33">
            <a:extLst xmlns:a="http://schemas.openxmlformats.org/drawingml/2006/main">
              <a:ext uri="{FF2B5EF4-FFF2-40B4-BE49-F238E27FC236}">
                <a16:creationId xmlns:a16="http://schemas.microsoft.com/office/drawing/2014/main" id="{9B64CD6F-2F23-4534-B851-84ECA2B0ABD0}"/>
              </a:ext>
            </a:extLst>
          </p:cNvPr>
          <p:cNvSpPr>
            <a:spLocks xmlns:a="http://schemas.openxmlformats.org/drawingml/2006/main" noGrp="1"/>
          </p:cNvSpPr>
          <p:nvPr/>
        </p:nvSpPr>
        <p:spPr>
          <a:xfrm xmlns:a="http://schemas.openxmlformats.org/drawingml/2006/main">
            <a:off x="918194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8" name="Text 34">
            <a:extLst xmlns:a="http://schemas.openxmlformats.org/drawingml/2006/main">
              <a:ext uri="{FF2B5EF4-FFF2-40B4-BE49-F238E27FC236}">
                <a16:creationId xmlns:a16="http://schemas.microsoft.com/office/drawing/2014/main" id="{E6B5922A-EFED-4633-A413-5BCCFCEC6B95}"/>
              </a:ext>
            </a:extLst>
          </p:cNvPr>
          <p:cNvSpPr>
            <a:spLocks xmlns:a="http://schemas.openxmlformats.org/drawingml/2006/main" noGrp="1"/>
          </p:cNvSpPr>
          <p:nvPr/>
        </p:nvSpPr>
        <p:spPr>
          <a:xfrm xmlns:a="http://schemas.openxmlformats.org/drawingml/2006/main">
            <a:off x="918194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D4A8AFD9-6C79-4C72-9BE8-A8B026540162}"/>
              </a:ext>
            </a:extLst>
          </p:cNvPr>
          <p:cNvSpPr>
            <a:spLocks xmlns:a="http://schemas.openxmlformats.org/drawingml/2006/main" noGrp="1"/>
          </p:cNvSpPr>
          <p:nvPr/>
        </p:nvSpPr>
        <p:spPr>
          <a:xfrm xmlns:a="http://schemas.openxmlformats.org/drawingml/2006/main">
            <a:off x="918194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원문·보고서</a:t>
            </a: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9c417b5633fb4c20"/>
          <a:stretch xmlns:a="http://schemas.openxmlformats.org/drawingml/2006/main">
            <a:fillRect l="0" t="0" r="0" b="0"/>
          </a:stretch>
        </p:blipFill>
        <p:spPr>
          <a:xfrm xmlns:a="http://schemas.openxmlformats.org/drawingml/2006/main">
            <a:off x="1864523" y="2929116"/>
            <a:ext cx="934787" cy="1143000"/>
          </a:xfrm>
          <a:prstGeom xmlns:a="http://schemas.openxmlformats.org/drawingml/2006/main" prst="rect">
            <a:avLst/>
          </a:prstGeom>
        </p:spPr>
      </p:pic>
      <p:sp>
        <p:nvSpPr>
          <p:cNvPr id="41" name="Shape 36">
            <a:extLst xmlns:a="http://schemas.openxmlformats.org/drawingml/2006/main">
              <a:ext uri="{FF2B5EF4-FFF2-40B4-BE49-F238E27FC236}">
                <a16:creationId xmlns:a16="http://schemas.microsoft.com/office/drawing/2014/main" id="{A47B8172-3078-4FB2-B82E-10B6E24FD60E}"/>
              </a:ext>
            </a:extLst>
          </p:cNvPr>
          <p:cNvSpPr>
            <a:spLocks xmlns:a="http://schemas.openxmlformats.org/drawingml/2006/main" noGrp="1"/>
          </p:cNvSpPr>
          <p:nvPr/>
        </p:nvSpPr>
        <p:spPr>
          <a:xfrm xmlns:a="http://schemas.openxmlformats.org/drawingml/2006/main">
            <a:off x="6341364"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42" name="Text 37">
            <a:hlinkClick xmlns:r="http://schemas.openxmlformats.org/officeDocument/2006/relationships" xmlns:a="http://schemas.openxmlformats.org/drawingml/2006/main" r:id="R411cfb90724848e2"/>
            <a:extLst xmlns:a="http://schemas.openxmlformats.org/drawingml/2006/main">
              <a:ext uri="{FF2B5EF4-FFF2-40B4-BE49-F238E27FC236}">
                <a16:creationId xmlns:a16="http://schemas.microsoft.com/office/drawing/2014/main" id="{A264E091-E010-4775-BE5D-6FD46DAC00F4}"/>
              </a:ext>
            </a:extLst>
          </p:cNvPr>
          <p:cNvSpPr>
            <a:spLocks xmlns:a="http://schemas.openxmlformats.org/drawingml/2006/main" noGrp="1"/>
          </p:cNvSpPr>
          <p:nvPr/>
        </p:nvSpPr>
        <p:spPr>
          <a:xfrm xmlns:a="http://schemas.openxmlformats.org/drawingml/2006/main">
            <a:off x="6432804"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https://ukkkk-two.vercel.app</a:t>
            </a:r>
          </a:p>
        </p:txBody>
      </p:sp>
      <p:pic>
        <p:nvPicPr>
          <p:cNvPr id="88" name="Image 3"/>
          <p:cNvPicPr>
            <a:picLocks xmlns:a="http://schemas.openxmlformats.org/drawingml/2006/main" noChangeAspect="1"/>
          </p:cNvPicPr>
          <p:nvPr/>
        </p:nvPicPr>
        <p:blipFill>
          <a:blip xmlns:r="http://schemas.openxmlformats.org/officeDocument/2006/relationships" xmlns:a="http://schemas.openxmlformats.org/drawingml/2006/main" r:embed="Re6ea8d7106ad4c99"/>
          <a:stretch xmlns:a="http://schemas.openxmlformats.org/drawingml/2006/main"/>
        </p:blipFill>
        <p:spPr>
          <a:xfrm xmlns:a="http://schemas.openxmlformats.org/drawingml/2006/main">
            <a:off x="228600" y="4820102"/>
            <a:ext cx="1619250" cy="1313547"/>
          </a:xfrm>
          <a:prstGeom xmlns:a="http://schemas.openxmlformats.org/drawingml/2006/main" prst="rect">
            <a:avLst/>
          </a:prstGeom>
        </p:spPr>
      </p:pic>
    </p:spTree>
    <p:extLst>
      <p:ext uri="{BB962C8B-B14F-4D97-AF65-F5344CB8AC3E}">
        <p14:creationId xmlns:p14="http://schemas.microsoft.com/office/powerpoint/2010/main" val="1922644305"/>
      </p:ext>
    </p:extLst>
  </p:cSld>
</p:sld>
</file>

<file path=ppt/slides/slide18.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824A226-81DA-4B8B-A57B-51EDDC080262}"/>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230521AB-35F6-4E12-8A90-B438B9094CCD}"/>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4BB8732A-8C57-494E-8C21-7F145B7367FC}"/>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07AF0182-4139-4003-AF33-8A739FE75DF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5f3a845b9ef747e1"/>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EBC46CB-C98E-423E-BD61-10B9F46BB137}"/>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8911FC47-7304-4D83-89A9-887D633A8578}"/>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A65865C0-054B-4AD3-8FB6-8B840962A94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6319D760-DFE4-4E75-AB7C-F13733656EF0}"/>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F786B291-C783-4BE2-8545-F9B277C294C9}"/>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D958BE32-FF96-482B-B174-7078A425EF90}"/>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5f3a845b9ef747e1"/>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85BF17D2-C0DF-40A9-AF0D-440FF30CFC0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14 · 재현 가능한 과업 비교</a:t>
            </a:r>
          </a:p>
        </p:txBody>
      </p:sp>
      <p:sp>
        <p:nvSpPr>
          <p:cNvPr id="15" name="Shape 11">
            <a:extLst xmlns:a="http://schemas.openxmlformats.org/drawingml/2006/main">
              <a:ext uri="{FF2B5EF4-FFF2-40B4-BE49-F238E27FC236}">
                <a16:creationId xmlns:a16="http://schemas.microsoft.com/office/drawing/2014/main" id="{BA27E8ED-FF96-4171-B8FA-8AB2D43AA07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17D42B7E-1FBE-4421-A60A-B3DBC3E2CE48}"/>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6ED95D05-EB64-46FA-A35A-10126ED6B362}"/>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632C329-2F10-44A4-B5AD-91E3F60123B0}"/>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ADEEEF6D-1716-4662-BC99-FDCC347587CA}"/>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81E6B0EB-8C1A-44E9-915C-97B810C42CA3}"/>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AA7EF3ED-0CFA-446B-B9FC-BF1AAE304C0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85DC3FE-FFAA-4FBF-A2CD-3519DED7E9B0}"/>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D2C509BE-45C6-447D-AA73-CED434BA188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86BF7CC-A6EF-45D9-974F-9049E3F3FEC5}"/>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효과 수치 대신, 같은 과업에서 후보와 연결 단계를 비교합니다</a:t>
            </a:r>
          </a:p>
        </p:txBody>
      </p:sp>
      <p:sp>
        <p:nvSpPr>
          <p:cNvPr id="25" name="Text 21">
            <a:extLst xmlns:a="http://schemas.openxmlformats.org/drawingml/2006/main">
              <a:ext uri="{FF2B5EF4-FFF2-40B4-BE49-F238E27FC236}">
                <a16:creationId xmlns:a16="http://schemas.microsoft.com/office/drawing/2014/main" id="{223CDB5E-0AEE-46EB-A209-FAD18FD72D2B}"/>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824건 → 179건 → 20건</a:t>
            </a:r>
          </a:p>
        </p:txBody>
      </p:sp>
      <p:sp>
        <p:nvSpPr>
          <p:cNvPr id="26" name="Shape 22">
            <a:extLst xmlns:a="http://schemas.openxmlformats.org/drawingml/2006/main">
              <a:ext uri="{FF2B5EF4-FFF2-40B4-BE49-F238E27FC236}">
                <a16:creationId xmlns:a16="http://schemas.microsoft.com/office/drawing/2014/main" id="{079665CA-868A-458B-841F-937D06BFA309}"/>
              </a:ext>
            </a:extLst>
          </p:cNvPr>
          <p:cNvSpPr>
            <a:spLocks xmlns:a="http://schemas.openxmlformats.org/drawingml/2006/main" noGrp="1"/>
          </p:cNvSpPr>
          <p:nvPr/>
        </p:nvSpPr>
        <p:spPr>
          <a:xfrm xmlns:a="http://schemas.openxmlformats.org/drawingml/2006/main">
            <a:off x="3535528" y="2651760"/>
            <a:ext cx="1463040" cy="2057400"/>
          </a:xfrm>
          <a:prstGeom xmlns:a="http://schemas.openxmlformats.org/drawingml/2006/main" prst="rect">
            <a:avLst/>
          </a:prstGeom>
          <a:solidFill xmlns:a="http://schemas.openxmlformats.org/drawingml/2006/main">
            <a:srgbClr val="3A4470"/>
          </a:solidFill>
        </p:spPr>
      </p:sp>
      <p:sp>
        <p:nvSpPr>
          <p:cNvPr id="27" name="Text 23">
            <a:extLst xmlns:a="http://schemas.openxmlformats.org/drawingml/2006/main">
              <a:ext uri="{FF2B5EF4-FFF2-40B4-BE49-F238E27FC236}">
                <a16:creationId xmlns:a16="http://schemas.microsoft.com/office/drawing/2014/main" id="{23100A9E-50FF-4ABB-94AC-D5D5C8EC04AF}"/>
              </a:ext>
            </a:extLst>
          </p:cNvPr>
          <p:cNvSpPr>
            <a:spLocks xmlns:a="http://schemas.openxmlformats.org/drawingml/2006/main" noGrp="1"/>
          </p:cNvSpPr>
          <p:nvPr/>
        </p:nvSpPr>
        <p:spPr>
          <a:xfrm xmlns:a="http://schemas.openxmlformats.org/drawingml/2006/main">
            <a:off x="3535528" y="2651760"/>
            <a:ext cx="1463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후보 축소</a:t>
            </a:r>
          </a:p>
        </p:txBody>
      </p:sp>
      <p:sp>
        <p:nvSpPr>
          <p:cNvPr id="28" name="Text 24">
            <a:extLst xmlns:a="http://schemas.openxmlformats.org/drawingml/2006/main">
              <a:ext uri="{FF2B5EF4-FFF2-40B4-BE49-F238E27FC236}">
                <a16:creationId xmlns:a16="http://schemas.microsoft.com/office/drawing/2014/main" id="{E8F3B317-C6DB-46F3-AF23-7571D1CE57FB}"/>
              </a:ext>
            </a:extLst>
          </p:cNvPr>
          <p:cNvSpPr>
            <a:spLocks xmlns:a="http://schemas.openxmlformats.org/drawingml/2006/main" noGrp="1"/>
          </p:cNvSpPr>
          <p:nvPr/>
        </p:nvSpPr>
        <p:spPr>
          <a:xfrm xmlns:a="http://schemas.openxmlformats.org/drawingml/2006/main">
            <a:off x="3261208" y="4818888"/>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5C6684"/>
                </a:solidFill>
                <a:latin typeface="Malgun Gothic"/>
                <a:ea typeface="Malgun Gothic"/>
                <a:cs typeface="Malgun Gothic"/>
              </a:rPr>
              <a:t>전체 탐색에서 담당 범위까지</a:t>
            </a:r>
          </a:p>
        </p:txBody>
      </p:sp>
      <p:sp>
        <p:nvSpPr>
          <p:cNvPr id="29" name="Shape 25">
            <a:extLst xmlns:a="http://schemas.openxmlformats.org/drawingml/2006/main">
              <a:ext uri="{FF2B5EF4-FFF2-40B4-BE49-F238E27FC236}">
                <a16:creationId xmlns:a16="http://schemas.microsoft.com/office/drawing/2014/main" id="{4D707B2E-9A7F-4B74-AD89-FB3B250156EC}"/>
              </a:ext>
            </a:extLst>
          </p:cNvPr>
          <p:cNvSpPr>
            <a:spLocks xmlns:a="http://schemas.openxmlformats.org/drawingml/2006/main" noGrp="1"/>
          </p:cNvSpPr>
          <p:nvPr/>
        </p:nvSpPr>
        <p:spPr>
          <a:xfrm xmlns:a="http://schemas.openxmlformats.org/drawingml/2006/main">
            <a:off x="7193128" y="4379976"/>
            <a:ext cx="1463040" cy="329184"/>
          </a:xfrm>
          <a:prstGeom xmlns:a="http://schemas.openxmlformats.org/drawingml/2006/main" prst="rect">
            <a:avLst/>
          </a:prstGeom>
          <a:solidFill xmlns:a="http://schemas.openxmlformats.org/drawingml/2006/main">
            <a:srgbClr val="C77D00"/>
          </a:solidFill>
        </p:spPr>
      </p:sp>
      <p:sp>
        <p:nvSpPr>
          <p:cNvPr id="30" name="Text 26">
            <a:extLst xmlns:a="http://schemas.openxmlformats.org/drawingml/2006/main">
              <a:ext uri="{FF2B5EF4-FFF2-40B4-BE49-F238E27FC236}">
                <a16:creationId xmlns:a16="http://schemas.microsoft.com/office/drawing/2014/main" id="{1D83D95B-3AF3-4647-9EC4-C9F9A3EB2201}"/>
              </a:ext>
            </a:extLst>
          </p:cNvPr>
          <p:cNvSpPr>
            <a:spLocks xmlns:a="http://schemas.openxmlformats.org/drawingml/2006/main" noGrp="1"/>
          </p:cNvSpPr>
          <p:nvPr/>
        </p:nvSpPr>
        <p:spPr>
          <a:xfrm xmlns:a="http://schemas.openxmlformats.org/drawingml/2006/main">
            <a:off x="6918808" y="3877056"/>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latin typeface="Calibri"/>
                <a:ea typeface="Calibri"/>
                <a:cs typeface="Calibri"/>
              </a:rPr>
              <a:t>연결 확인</a:t>
            </a:r>
          </a:p>
        </p:txBody>
      </p:sp>
      <p:sp>
        <p:nvSpPr>
          <p:cNvPr id="31" name="Text 27">
            <a:extLst xmlns:a="http://schemas.openxmlformats.org/drawingml/2006/main">
              <a:ext uri="{FF2B5EF4-FFF2-40B4-BE49-F238E27FC236}">
                <a16:creationId xmlns:a16="http://schemas.microsoft.com/office/drawing/2014/main" id="{D5B23402-4D9D-4292-8784-39623B339DB3}"/>
              </a:ext>
            </a:extLst>
          </p:cNvPr>
          <p:cNvSpPr>
            <a:spLocks xmlns:a="http://schemas.openxmlformats.org/drawingml/2006/main" noGrp="1"/>
          </p:cNvSpPr>
          <p:nvPr/>
        </p:nvSpPr>
        <p:spPr>
          <a:xfrm xmlns:a="http://schemas.openxmlformats.org/drawingml/2006/main">
            <a:off x="6918808" y="4818888"/>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5C6684"/>
                </a:solidFill>
                <a:latin typeface="Malgun Gothic"/>
                <a:ea typeface="Malgun Gothic"/>
                <a:cs typeface="Malgun Gothic"/>
              </a:rPr>
              <a:t>10개 화면·원문·R&amp;R·보고서</a:t>
            </a:r>
          </a:p>
        </p:txBody>
      </p:sp>
      <p:sp>
        <p:nvSpPr>
          <p:cNvPr id="32" name="Shape 28">
            <a:extLst xmlns:a="http://schemas.openxmlformats.org/drawingml/2006/main">
              <a:ext uri="{FF2B5EF4-FFF2-40B4-BE49-F238E27FC236}">
                <a16:creationId xmlns:a16="http://schemas.microsoft.com/office/drawing/2014/main" id="{2EEBB172-0C30-449D-87CB-56C230A3AA13}"/>
              </a:ext>
            </a:extLst>
          </p:cNvPr>
          <p:cNvSpPr>
            <a:spLocks xmlns:a="http://schemas.openxmlformats.org/drawingml/2006/main" noGrp="1"/>
          </p:cNvSpPr>
          <p:nvPr/>
        </p:nvSpPr>
        <p:spPr>
          <a:xfrm xmlns:a="http://schemas.openxmlformats.org/drawingml/2006/main">
            <a:off x="1527048" y="5230368"/>
            <a:ext cx="3515868"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3" name="Text 29">
            <a:extLst xmlns:a="http://schemas.openxmlformats.org/drawingml/2006/main">
              <a:ext uri="{FF2B5EF4-FFF2-40B4-BE49-F238E27FC236}">
                <a16:creationId xmlns:a16="http://schemas.microsoft.com/office/drawing/2014/main" id="{CD1CDBF3-43FD-4286-BEAB-56444709474A}"/>
              </a:ext>
            </a:extLst>
          </p:cNvPr>
          <p:cNvSpPr>
            <a:spLocks xmlns:a="http://schemas.openxmlformats.org/drawingml/2006/main" noGrp="1"/>
          </p:cNvSpPr>
          <p:nvPr/>
        </p:nvSpPr>
        <p:spPr>
          <a:xfrm xmlns:a="http://schemas.openxmlformats.org/drawingml/2006/main">
            <a:off x="1618488" y="5230368"/>
            <a:ext cx="33329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후보 수·클릭·근거 연결을 같은 조건에서 다시 확인해요</a:t>
            </a:r>
          </a:p>
        </p:txBody>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5f3a845b9ef747e1"/>
          <a:stretch xmlns:a="http://schemas.openxmlformats.org/drawingml/2006/main"/>
        </p:blipFill>
        <p:spPr>
          <a:xfrm xmlns:a="http://schemas.openxmlformats.org/drawingml/2006/main">
            <a:off x="323850" y="4749658"/>
            <a:ext cx="1381125" cy="1492535"/>
          </a:xfrm>
          <a:prstGeom xmlns:a="http://schemas.openxmlformats.org/drawingml/2006/main" prst="rect">
            <a:avLst/>
          </a:prstGeom>
        </p:spPr>
      </p:pic>
    </p:spTree>
    <p:extLst>
      <p:ext uri="{BB962C8B-B14F-4D97-AF65-F5344CB8AC3E}">
        <p14:creationId xmlns:p14="http://schemas.microsoft.com/office/powerpoint/2010/main" val="1496524607"/>
      </p:ext>
    </p:extLst>
  </p:cSld>
</p:sld>
</file>

<file path=ppt/slides/slide19.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983A23B-6CBF-4357-9EB6-66EDFF9A15EB}"/>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7B32989B-6775-4EE6-9996-358BCE65CC6D}"/>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24F4317-47AD-439F-8D98-507FCD6340B0}"/>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3C2F8E4C-04FF-494A-8DFF-38E4DC7799E8}"/>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0214dd8f92824f40"/>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C7989151-D089-42B5-823F-FC9C781E14A3}"/>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5322039B-6325-4749-8A42-9035B26B4736}"/>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68348E33-EC9A-415F-AB76-34A8A4A301DA}"/>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953B3AC0-0CB5-4D8A-AFE7-CB244198D6C8}"/>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B4880495-E371-4724-ABE5-A33E21E2AC91}"/>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60FB16EC-B345-404A-84AD-BE41D9E4C81E}"/>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0214dd8f92824f40"/>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71CC91B5-1331-448E-8AC9-8B88A251E69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15 · 운영화 로드맵</a:t>
            </a:r>
          </a:p>
        </p:txBody>
      </p:sp>
      <p:sp>
        <p:nvSpPr>
          <p:cNvPr id="15" name="Shape 11">
            <a:extLst xmlns:a="http://schemas.openxmlformats.org/drawingml/2006/main">
              <a:ext uri="{FF2B5EF4-FFF2-40B4-BE49-F238E27FC236}">
                <a16:creationId xmlns:a16="http://schemas.microsoft.com/office/drawing/2014/main" id="{A39F7189-DFED-4462-AFD0-C15F12C4EFA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29B984D0-B90B-4CE5-878E-A3BBEB80573F}"/>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C2B7829-4A8C-4773-8698-7143A9BBD5A7}"/>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B8AF3681-D958-479E-B152-8E223923D79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845BB062-7B5C-47FD-83F7-84F6B9AD86E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821E32F5-5E6C-46A8-B404-117EA8525D50}"/>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F25E78B0-C233-4BA9-88CD-A1D7016F573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044B986D-59E9-4B1C-B036-55F2AD852D3D}"/>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E906970B-5D54-4B59-9D24-D5763ED42E8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88BE74F7-289A-4D11-882E-1E23A5BF8834}"/>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데모에서 운영형 의사결정 도구로</a:t>
            </a:r>
          </a:p>
        </p:txBody>
      </p:sp>
      <p:sp>
        <p:nvSpPr>
          <p:cNvPr id="25" name="Text 21">
            <a:extLst xmlns:a="http://schemas.openxmlformats.org/drawingml/2006/main">
              <a:ext uri="{FF2B5EF4-FFF2-40B4-BE49-F238E27FC236}">
                <a16:creationId xmlns:a16="http://schemas.microsoft.com/office/drawing/2014/main" id="{250915ED-B553-4D2B-A859-B3C68115CB27}"/>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데이터 운영화 → 행정 검증 → 서비스 안정화</a:t>
            </a:r>
          </a:p>
        </p:txBody>
      </p:sp>
      <p:sp>
        <p:nvSpPr>
          <p:cNvPr id="26" name="Shape 22">
            <a:extLst xmlns:a="http://schemas.openxmlformats.org/drawingml/2006/main">
              <a:ext uri="{FF2B5EF4-FFF2-40B4-BE49-F238E27FC236}">
                <a16:creationId xmlns:a16="http://schemas.microsoft.com/office/drawing/2014/main" id="{38C44740-196A-473A-B254-26B0259CBA88}"/>
              </a:ext>
            </a:extLst>
          </p:cNvPr>
          <p:cNvSpPr>
            <a:spLocks xmlns:a="http://schemas.openxmlformats.org/drawingml/2006/main" noGrp="1"/>
          </p:cNvSpPr>
          <p:nvPr/>
        </p:nvSpPr>
        <p:spPr>
          <a:xfrm xmlns:a="http://schemas.openxmlformats.org/drawingml/2006/main">
            <a:off x="929488" y="2788920"/>
            <a:ext cx="4343400" cy="219456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439C4094-11A6-4B42-BB96-7D62B0C21585}"/>
              </a:ext>
            </a:extLst>
          </p:cNvPr>
          <p:cNvSpPr>
            <a:spLocks xmlns:a="http://schemas.openxmlformats.org/drawingml/2006/main" noGrp="1"/>
          </p:cNvSpPr>
          <p:nvPr/>
        </p:nvSpPr>
        <p:spPr>
          <a:xfrm xmlns:a="http://schemas.openxmlformats.org/drawingml/2006/main">
            <a:off x="1094080" y="2898648"/>
            <a:ext cx="4014216"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3558D6"/>
                </a:solidFill>
                <a:latin typeface="Malgun Gothic"/>
                <a:ea typeface="Malgun Gothic"/>
                <a:cs typeface="Malgun Gothic"/>
              </a:rPr>
              <a:t>STEP 1·2</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정기 수집·버전·출처 관리</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R&amp;R 정답셋·담당자 피드백</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원문 확보·복원 성능 측정</a:t>
            </a:r>
          </a:p>
        </p:txBody>
      </p:sp>
      <p:sp>
        <p:nvSpPr>
          <p:cNvPr id="28" name="Text 24">
            <a:extLst xmlns:a="http://schemas.openxmlformats.org/drawingml/2006/main">
              <a:ext uri="{FF2B5EF4-FFF2-40B4-BE49-F238E27FC236}">
                <a16:creationId xmlns:a16="http://schemas.microsoft.com/office/drawing/2014/main" id="{40EC00BA-61F4-4A21-89FC-7C2602601755}"/>
              </a:ext>
            </a:extLst>
          </p:cNvPr>
          <p:cNvSpPr>
            <a:spLocks xmlns:a="http://schemas.openxmlformats.org/drawingml/2006/main" noGrp="1"/>
          </p:cNvSpPr>
          <p:nvPr/>
        </p:nvSpPr>
        <p:spPr>
          <a:xfrm xmlns:a="http://schemas.openxmlformats.org/drawingml/2006/main">
            <a:off x="5410048" y="2788920"/>
            <a:ext cx="137160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099588D5-E2C9-4C72-8EFB-A632069FAB3F}"/>
              </a:ext>
            </a:extLst>
          </p:cNvPr>
          <p:cNvSpPr>
            <a:spLocks xmlns:a="http://schemas.openxmlformats.org/drawingml/2006/main" noGrp="1"/>
          </p:cNvSpPr>
          <p:nvPr/>
        </p:nvSpPr>
        <p:spPr>
          <a:xfrm xmlns:a="http://schemas.openxmlformats.org/drawingml/2006/main">
            <a:off x="6918808" y="2788920"/>
            <a:ext cx="4343400" cy="2194560"/>
          </a:xfrm>
          <a:prstGeom xmlns:a="http://schemas.openxmlformats.org/drawingml/2006/main" prst="rect">
            <a:avLst/>
          </a:prstGeom>
          <a:solidFill xmlns:a="http://schemas.openxmlformats.org/drawingml/2006/main">
            <a:srgbClr val="EFEBFB"/>
          </a:solidFill>
          <a:ln xmlns:a="http://schemas.openxmlformats.org/drawingml/2006/main" w="12700">
            <a:solidFill>
              <a:srgbClr val="CECBF6"/>
            </a:solidFill>
            <a:prstDash val="solid"/>
          </a:ln>
        </p:spPr>
      </p:sp>
      <p:sp>
        <p:nvSpPr>
          <p:cNvPr id="30" name="Text 26">
            <a:extLst xmlns:a="http://schemas.openxmlformats.org/drawingml/2006/main">
              <a:ext uri="{FF2B5EF4-FFF2-40B4-BE49-F238E27FC236}">
                <a16:creationId xmlns:a16="http://schemas.microsoft.com/office/drawing/2014/main" id="{F40A2A66-532F-4072-8C44-FD589FE2D13B}"/>
              </a:ext>
            </a:extLst>
          </p:cNvPr>
          <p:cNvSpPr>
            <a:spLocks xmlns:a="http://schemas.openxmlformats.org/drawingml/2006/main" noGrp="1"/>
          </p:cNvSpPr>
          <p:nvPr/>
        </p:nvSpPr>
        <p:spPr>
          <a:xfrm xmlns:a="http://schemas.openxmlformats.org/drawingml/2006/main">
            <a:off x="7083400" y="2898648"/>
            <a:ext cx="4014216"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7C5CE0"/>
                </a:solidFill>
                <a:latin typeface="Malgun Gothic"/>
                <a:ea typeface="Malgun Gothic"/>
                <a:cs typeface="Malgun Gothic"/>
              </a:rPr>
              <a:t>STEP 3</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API·DB 분리</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권한·감사로그·개인정보 보호</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네이티브 PDF·HWP 생성</a:t>
            </a:r>
          </a:p>
        </p:txBody>
      </p:sp>
      <p:sp>
        <p:nvSpPr>
          <p:cNvPr id="31" name="Shape 27">
            <a:extLst xmlns:a="http://schemas.openxmlformats.org/drawingml/2006/main">
              <a:ext uri="{FF2B5EF4-FFF2-40B4-BE49-F238E27FC236}">
                <a16:creationId xmlns:a16="http://schemas.microsoft.com/office/drawing/2014/main" id="{B1263E1A-04A4-4352-94F8-9F854F07C01A}"/>
              </a:ext>
            </a:extLst>
          </p:cNvPr>
          <p:cNvSpPr>
            <a:spLocks xmlns:a="http://schemas.openxmlformats.org/drawingml/2006/main" noGrp="1"/>
          </p:cNvSpPr>
          <p:nvPr/>
        </p:nvSpPr>
        <p:spPr>
          <a:xfrm xmlns:a="http://schemas.openxmlformats.org/drawingml/2006/main">
            <a:off x="6848856" y="5230368"/>
            <a:ext cx="368503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2" name="Text 28">
            <a:extLst xmlns:a="http://schemas.openxmlformats.org/drawingml/2006/main">
              <a:ext uri="{FF2B5EF4-FFF2-40B4-BE49-F238E27FC236}">
                <a16:creationId xmlns:a16="http://schemas.microsoft.com/office/drawing/2014/main" id="{31E3BF5C-1E2F-4E40-B708-F32099524A27}"/>
              </a:ext>
            </a:extLst>
          </p:cNvPr>
          <p:cNvSpPr>
            <a:spLocks xmlns:a="http://schemas.openxmlformats.org/drawingml/2006/main" noGrp="1"/>
          </p:cNvSpPr>
          <p:nvPr/>
        </p:nvSpPr>
        <p:spPr>
          <a:xfrm xmlns:a="http://schemas.openxmlformats.org/drawingml/2006/main">
            <a:off x="6940296" y="5230368"/>
            <a:ext cx="350215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정확도와 운영 책임을 먼저 검증한 뒤 확장할게요</a:t>
            </a: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0214dd8f92824f40"/>
          <a:stretch xmlns:a="http://schemas.openxmlformats.org/drawingml/2006/main"/>
        </p:blipFill>
        <p:spPr>
          <a:xfrm xmlns:a="http://schemas.openxmlformats.org/drawingml/2006/main">
            <a:off x="357406" y="4686300"/>
            <a:ext cx="1314012" cy="1619250"/>
          </a:xfrm>
          <a:prstGeom xmlns:a="http://schemas.openxmlformats.org/drawingml/2006/main" prst="rect">
            <a:avLst/>
          </a:prstGeom>
        </p:spPr>
      </p:pic>
    </p:spTree>
    <p:extLst>
      <p:ext uri="{BB962C8B-B14F-4D97-AF65-F5344CB8AC3E}">
        <p14:creationId xmlns:p14="http://schemas.microsoft.com/office/powerpoint/2010/main" val="1559480347"/>
      </p:ext>
    </p:extLst>
  </p:cSld>
</p:sld>
</file>

<file path=ppt/slides/slide20.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B66D27-151B-4DAF-B199-3BF2D6BB419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209DA734-24B5-416B-BB48-18673CFD1D78}"/>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A62C370F-CC34-4AA2-9DD2-52AE98B767CF}"/>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41269540-49D9-4D42-8197-82A9AD9F7913}"/>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2b60776679c04286"/>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24DA868-25DA-4630-ACCF-47131EA15ECD}"/>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8BADE83A-0832-41ED-B7EE-F90F9910CAE9}"/>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CF2A4AF9-9912-4CBC-9BBA-56424EB7BD3F}"/>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07922247-85AF-4536-9855-F1E06B4EBDCD}"/>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64E57A53-7A79-4323-8B8D-EDC5E60110D5}"/>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577A0214-A504-4F92-85EF-139DCA0983F6}"/>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2b60776679c04286"/>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3567D311-1AAD-417E-A9D3-6C8B2A17FCB1}"/>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16 · 하나의 검토 결과</a:t>
            </a:r>
          </a:p>
        </p:txBody>
      </p:sp>
      <p:sp>
        <p:nvSpPr>
          <p:cNvPr id="15" name="Shape 11">
            <a:extLst xmlns:a="http://schemas.openxmlformats.org/drawingml/2006/main">
              <a:ext uri="{FF2B5EF4-FFF2-40B4-BE49-F238E27FC236}">
                <a16:creationId xmlns:a16="http://schemas.microsoft.com/office/drawing/2014/main" id="{AAA6D9EE-D1A0-4F5E-A117-5B349885F8D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63F891C4-E14A-45BF-B66C-CB78B0C2F758}"/>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9FD5232F-3FB5-43C7-B2FD-EBD1D23A02D4}"/>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82EAA86E-C256-4022-B2DD-058A1B388750}"/>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63D77F82-1DBD-4F20-A67F-49637D87F619}"/>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1D52F23F-B94E-4180-9422-949829EB69C5}"/>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4C899714-9371-48DA-B099-6BCC5D8032B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E41775D4-2FE8-437B-A175-8EE99E88E163}"/>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CD635C84-1537-453F-9776-F1EC9CBB483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17236B1B-8B40-434D-B862-EB793CA3FC53}"/>
              </a:ext>
            </a:extLst>
          </p:cNvPr>
          <p:cNvSpPr>
            <a:spLocks xmlns:a="http://schemas.openxmlformats.org/drawingml/2006/main" noGrp="1"/>
          </p:cNvSpPr>
          <p:nvPr/>
        </p:nvSpPr>
        <p:spPr>
          <a:xfrm xmlns:a="http://schemas.openxmlformats.org/drawingml/2006/main">
            <a:off x="0" y="2286000"/>
            <a:ext cx="1219169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0" b="1">
                <a:solidFill>
                  <a:srgbClr val="1B2340"/>
                </a:solidFill>
                <a:latin typeface="Calibri"/>
                <a:ea typeface="Calibri"/>
                <a:cs typeface="Calibri"/>
              </a:rPr>
              <a:t>수요 → 근거 → 조치</a:t>
            </a:r>
          </a:p>
        </p:txBody>
      </p:sp>
      <p:sp>
        <p:nvSpPr>
          <p:cNvPr id="25" name="Text 21">
            <a:extLst xmlns:a="http://schemas.openxmlformats.org/drawingml/2006/main">
              <a:ext uri="{FF2B5EF4-FFF2-40B4-BE49-F238E27FC236}">
                <a16:creationId xmlns:a16="http://schemas.microsoft.com/office/drawing/2014/main" id="{9C6A9FE3-7AE5-468A-82F5-CD8D7C82BFFA}"/>
              </a:ext>
            </a:extLst>
          </p:cNvPr>
          <p:cNvSpPr>
            <a:spLocks xmlns:a="http://schemas.openxmlformats.org/drawingml/2006/main" noGrp="1"/>
          </p:cNvSpPr>
          <p:nvPr/>
        </p:nvSpPr>
        <p:spPr>
          <a:xfrm xmlns:a="http://schemas.openxmlformats.org/drawingml/2006/main">
            <a:off x="0" y="3794760"/>
            <a:ext cx="121916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1B2340"/>
                </a:solidFill>
                <a:latin typeface="Malgun Gothic"/>
                <a:ea typeface="Malgun Gothic"/>
                <a:cs typeface="Malgun Gothic"/>
              </a:rPr>
              <a:t>8개 화면을 하나의
검토 흐름으로 연결합니다</a:t>
            </a:r>
          </a:p>
        </p:txBody>
      </p:sp>
      <p:sp>
        <p:nvSpPr>
          <p:cNvPr id="26" name="Shape 22">
            <a:extLst xmlns:a="http://schemas.openxmlformats.org/drawingml/2006/main">
              <a:ext uri="{FF2B5EF4-FFF2-40B4-BE49-F238E27FC236}">
                <a16:creationId xmlns:a16="http://schemas.microsoft.com/office/drawing/2014/main" id="{319391D7-EFBA-4727-8DF3-F2E8ADFB7258}"/>
              </a:ext>
            </a:extLst>
          </p:cNvPr>
          <p:cNvSpPr>
            <a:spLocks xmlns:a="http://schemas.openxmlformats.org/drawingml/2006/main" noGrp="1"/>
          </p:cNvSpPr>
          <p:nvPr/>
        </p:nvSpPr>
        <p:spPr>
          <a:xfrm xmlns:a="http://schemas.openxmlformats.org/drawingml/2006/main">
            <a:off x="7525512" y="5230368"/>
            <a:ext cx="3008376"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7E59429E-D8EA-43F6-8179-488C32E5B6DF}"/>
              </a:ext>
            </a:extLst>
          </p:cNvPr>
          <p:cNvSpPr>
            <a:spLocks xmlns:a="http://schemas.openxmlformats.org/drawingml/2006/main" noGrp="1"/>
          </p:cNvSpPr>
          <p:nvPr/>
        </p:nvSpPr>
        <p:spPr>
          <a:xfrm xmlns:a="http://schemas.openxmlformats.org/drawingml/2006/main">
            <a:off x="7616952" y="5230368"/>
            <a:ext cx="28254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상상대로 서울의 시민 제안을 답변·보고·개선 로그로 연결합니다</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2b60776679c04286"/>
          <a:stretch xmlns:a="http://schemas.openxmlformats.org/drawingml/2006/main"/>
        </p:blipFill>
        <p:spPr>
          <a:xfrm xmlns:a="http://schemas.openxmlformats.org/drawingml/2006/main">
            <a:off x="362346" y="4686300"/>
            <a:ext cx="1304132" cy="1619250"/>
          </a:xfrm>
          <a:prstGeom xmlns:a="http://schemas.openxmlformats.org/drawingml/2006/main" prst="rect">
            <a:avLst/>
          </a:prstGeom>
        </p:spPr>
      </p:pic>
    </p:spTree>
    <p:extLst>
      <p:ext uri="{BB962C8B-B14F-4D97-AF65-F5344CB8AC3E}">
        <p14:creationId xmlns:p14="http://schemas.microsoft.com/office/powerpoint/2010/main" val="1705802432"/>
      </p:ext>
    </p:extLst>
  </p:cSld>
</p:sld>
</file>

<file path=ppt/slides/slide21.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5456CDC-DB89-4717-8375-7C6E46AF8D83}"/>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BA56DE2-54C6-4C69-8382-2730E121D73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C96557E-8967-4DE1-BDE3-FD51B6F11E9F}"/>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F658C7C-1AAC-435D-8845-AAE2D5BD493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eb805a1e261e4f70"/>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2582327-9CD4-4017-ADDF-A1465880DF6E}"/>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2AD45906-AACC-465A-9973-69AA1D2511E2}"/>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2980519-33C0-4975-AAFE-3D5FC6CF594A}"/>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F556BF4-7389-4B72-B8A0-EEA16F5B504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43544330-6ACC-4366-BA70-7EE2C3AC7CF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CDFA4A4-EAAF-4F6C-BF39-23413A8D62A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eb805a1e261e4f70"/>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995FAA8C-5B1E-4F74-A576-8FDAFD5627BB}"/>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APPENDIX A · 데이터·모델</a:t>
            </a:r>
          </a:p>
        </p:txBody>
      </p:sp>
      <p:sp>
        <p:nvSpPr>
          <p:cNvPr id="15" name="Shape 11">
            <a:extLst xmlns:a="http://schemas.openxmlformats.org/drawingml/2006/main">
              <a:ext uri="{FF2B5EF4-FFF2-40B4-BE49-F238E27FC236}">
                <a16:creationId xmlns:a16="http://schemas.microsoft.com/office/drawing/2014/main" id="{4B2B36C4-BE5F-45EB-9F39-24BD651CF63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A8C62F1D-58EC-47AC-A345-ABD726955A6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B41529D3-D072-4EAE-ADDC-C81ECB9CB9A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D517BE0B-2727-4F1D-8618-0EF687DB909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9448854-F798-4B3E-A9E4-E1B29F7C1E0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15693E6-2F73-4646-9020-65BED9C94DB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094549DF-8F8D-4CE4-A6EE-ABF7B88AB11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64A99AC-2318-4249-9D2B-AA1BA87EA96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2157A890-0F8F-4BF5-910D-411B174E846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C8D5F0E6-1A37-44B2-AC43-1CA1737B0F74}"/>
              </a:ext>
            </a:extLst>
          </p:cNvPr>
          <p:cNvSpPr>
            <a:spLocks xmlns:a="http://schemas.openxmlformats.org/drawingml/2006/main" noGrp="1"/>
          </p:cNvSpPr>
          <p:nvPr/>
        </p:nvSpPr>
        <p:spPr>
          <a:xfrm xmlns:a="http://schemas.openxmlformats.org/drawingml/2006/main">
            <a:off x="0" y="10515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DATA &amp; MODEL · 재현성과 한계</a:t>
            </a:r>
          </a:p>
        </p:txBody>
      </p:sp>
      <p:sp>
        <p:nvSpPr>
          <p:cNvPr id="25" name="Text 21">
            <a:extLst xmlns:a="http://schemas.openxmlformats.org/drawingml/2006/main">
              <a:ext uri="{FF2B5EF4-FFF2-40B4-BE49-F238E27FC236}">
                <a16:creationId xmlns:a16="http://schemas.microsoft.com/office/drawing/2014/main" id="{C7C26C48-FFE7-47F9-93F5-A8CFCF159A74}"/>
              </a:ext>
            </a:extLst>
          </p:cNvPr>
          <p:cNvSpPr>
            <a:spLocks xmlns:a="http://schemas.openxmlformats.org/drawingml/2006/main" noGrp="1"/>
          </p:cNvSpPr>
          <p:nvPr/>
        </p:nvSpPr>
        <p:spPr>
          <a:xfrm xmlns:a="http://schemas.openxmlformats.org/drawingml/2006/main">
            <a:off x="548640" y="137160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800" b="1">
                <a:solidFill>
                  <a:srgbClr val="1B2340"/>
                </a:solidFill>
                <a:latin typeface="Malgun Gothic"/>
                <a:ea typeface="Malgun Gothic"/>
                <a:cs typeface="Malgun Gothic"/>
              </a:rPr>
              <a:t>통합 스키마와 분석 결과 정의</a:t>
            </a:r>
          </a:p>
        </p:txBody>
      </p:sp>
      <p:sp>
        <p:nvSpPr>
          <p:cNvPr id="26" name="Text 22">
            <a:extLst xmlns:a="http://schemas.openxmlformats.org/drawingml/2006/main">
              <a:ext uri="{FF2B5EF4-FFF2-40B4-BE49-F238E27FC236}">
                <a16:creationId xmlns:a16="http://schemas.microsoft.com/office/drawing/2014/main" id="{7B2C155C-D545-470D-B1E0-3568845AD971}"/>
              </a:ext>
            </a:extLst>
          </p:cNvPr>
          <p:cNvSpPr>
            <a:spLocks xmlns:a="http://schemas.openxmlformats.org/drawingml/2006/main" noGrp="1"/>
          </p:cNvSpPr>
          <p:nvPr/>
        </p:nvSpPr>
        <p:spPr>
          <a:xfrm xmlns:a="http://schemas.openxmlformats.org/drawingml/2006/main">
            <a:off x="1188720" y="251460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04C2E2DA-9F42-420B-BEA0-6BE31AC53A8F}"/>
              </a:ext>
            </a:extLst>
          </p:cNvPr>
          <p:cNvSpPr>
            <a:spLocks xmlns:a="http://schemas.openxmlformats.org/drawingml/2006/main" noGrp="1"/>
          </p:cNvSpPr>
          <p:nvPr/>
        </p:nvSpPr>
        <p:spPr>
          <a:xfrm xmlns:a="http://schemas.openxmlformats.org/drawingml/2006/main">
            <a:off x="1691640" y="251460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입력 피처</a:t>
            </a:r>
          </a:p>
        </p:txBody>
      </p:sp>
      <p:sp>
        <p:nvSpPr>
          <p:cNvPr id="28" name="Text 24">
            <a:extLst xmlns:a="http://schemas.openxmlformats.org/drawingml/2006/main">
              <a:ext uri="{FF2B5EF4-FFF2-40B4-BE49-F238E27FC236}">
                <a16:creationId xmlns:a16="http://schemas.microsoft.com/office/drawing/2014/main" id="{A46BE384-2EEA-48F0-A853-9E9A2A74EEBA}"/>
              </a:ext>
            </a:extLst>
          </p:cNvPr>
          <p:cNvSpPr>
            <a:spLocks xmlns:a="http://schemas.openxmlformats.org/drawingml/2006/main" noGrp="1"/>
          </p:cNvSpPr>
          <p:nvPr/>
        </p:nvSpPr>
        <p:spPr>
          <a:xfrm xmlns:a="http://schemas.openxmlformats.org/drawingml/2006/main">
            <a:off x="5943600" y="251460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건수·공감·댓글·답변·날짜·본문·지역·정책/뉴스/통계</a:t>
            </a:r>
          </a:p>
        </p:txBody>
      </p:sp>
      <p:sp>
        <p:nvSpPr>
          <p:cNvPr id="29" name="Shape 25">
            <a:extLst xmlns:a="http://schemas.openxmlformats.org/drawingml/2006/main">
              <a:ext uri="{FF2B5EF4-FFF2-40B4-BE49-F238E27FC236}">
                <a16:creationId xmlns:a16="http://schemas.microsoft.com/office/drawing/2014/main" id="{55F7B87E-D265-48EB-AFC7-4844AC3C7079}"/>
              </a:ext>
            </a:extLst>
          </p:cNvPr>
          <p:cNvSpPr>
            <a:spLocks xmlns:a="http://schemas.openxmlformats.org/drawingml/2006/main" noGrp="1"/>
          </p:cNvSpPr>
          <p:nvPr/>
        </p:nvSpPr>
        <p:spPr>
          <a:xfrm xmlns:a="http://schemas.openxmlformats.org/drawingml/2006/main">
            <a:off x="1188720" y="300837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0" name="Text 26">
            <a:extLst xmlns:a="http://schemas.openxmlformats.org/drawingml/2006/main">
              <a:ext uri="{FF2B5EF4-FFF2-40B4-BE49-F238E27FC236}">
                <a16:creationId xmlns:a16="http://schemas.microsoft.com/office/drawing/2014/main" id="{4AD37972-35E0-421B-B4E2-375A1F97F294}"/>
              </a:ext>
            </a:extLst>
          </p:cNvPr>
          <p:cNvSpPr>
            <a:spLocks xmlns:a="http://schemas.openxmlformats.org/drawingml/2006/main" noGrp="1"/>
          </p:cNvSpPr>
          <p:nvPr/>
        </p:nvSpPr>
        <p:spPr>
          <a:xfrm xmlns:a="http://schemas.openxmlformats.org/drawingml/2006/main">
            <a:off x="1188720" y="3081528"/>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7D04B64D-2AAA-41D2-A0C7-D35BA2DA2C7A}"/>
              </a:ext>
            </a:extLst>
          </p:cNvPr>
          <p:cNvSpPr>
            <a:spLocks xmlns:a="http://schemas.openxmlformats.org/drawingml/2006/main" noGrp="1"/>
          </p:cNvSpPr>
          <p:nvPr/>
        </p:nvSpPr>
        <p:spPr>
          <a:xfrm xmlns:a="http://schemas.openxmlformats.org/drawingml/2006/main">
            <a:off x="1691640" y="3081528"/>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분류·군집</a:t>
            </a:r>
          </a:p>
        </p:txBody>
      </p:sp>
      <p:sp>
        <p:nvSpPr>
          <p:cNvPr id="32" name="Text 28">
            <a:extLst xmlns:a="http://schemas.openxmlformats.org/drawingml/2006/main">
              <a:ext uri="{FF2B5EF4-FFF2-40B4-BE49-F238E27FC236}">
                <a16:creationId xmlns:a16="http://schemas.microsoft.com/office/drawing/2014/main" id="{C720B9B3-DAC6-44EA-A498-EDBDDD69D51B}"/>
              </a:ext>
            </a:extLst>
          </p:cNvPr>
          <p:cNvSpPr>
            <a:spLocks xmlns:a="http://schemas.openxmlformats.org/drawingml/2006/main" noGrp="1"/>
          </p:cNvSpPr>
          <p:nvPr/>
        </p:nvSpPr>
        <p:spPr>
          <a:xfrm xmlns:a="http://schemas.openxmlformats.org/drawingml/2006/main">
            <a:off x="5943600" y="3081528"/>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8대 대분류→중·소분류 / 전체 57개 문제 군집</a:t>
            </a:r>
          </a:p>
        </p:txBody>
      </p:sp>
      <p:sp>
        <p:nvSpPr>
          <p:cNvPr id="33" name="Shape 29">
            <a:extLst xmlns:a="http://schemas.openxmlformats.org/drawingml/2006/main">
              <a:ext uri="{FF2B5EF4-FFF2-40B4-BE49-F238E27FC236}">
                <a16:creationId xmlns:a16="http://schemas.microsoft.com/office/drawing/2014/main" id="{DC6DCB87-0749-4BDD-9D8C-DB067BAAE9F9}"/>
              </a:ext>
            </a:extLst>
          </p:cNvPr>
          <p:cNvSpPr>
            <a:spLocks xmlns:a="http://schemas.openxmlformats.org/drawingml/2006/main" noGrp="1"/>
          </p:cNvSpPr>
          <p:nvPr/>
        </p:nvSpPr>
        <p:spPr>
          <a:xfrm xmlns:a="http://schemas.openxmlformats.org/drawingml/2006/main">
            <a:off x="1188720" y="3575304"/>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4" name="Text 30">
            <a:extLst xmlns:a="http://schemas.openxmlformats.org/drawingml/2006/main">
              <a:ext uri="{FF2B5EF4-FFF2-40B4-BE49-F238E27FC236}">
                <a16:creationId xmlns:a16="http://schemas.microsoft.com/office/drawing/2014/main" id="{7F80AE9D-D0DB-4A92-B682-91EE5087D0D3}"/>
              </a:ext>
            </a:extLst>
          </p:cNvPr>
          <p:cNvSpPr>
            <a:spLocks xmlns:a="http://schemas.openxmlformats.org/drawingml/2006/main" noGrp="1"/>
          </p:cNvSpPr>
          <p:nvPr/>
        </p:nvSpPr>
        <p:spPr>
          <a:xfrm xmlns:a="http://schemas.openxmlformats.org/drawingml/2006/main">
            <a:off x="1188720" y="3648456"/>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70739ED0-CED6-416A-844B-B4EE7CE7CE49}"/>
              </a:ext>
            </a:extLst>
          </p:cNvPr>
          <p:cNvSpPr>
            <a:spLocks xmlns:a="http://schemas.openxmlformats.org/drawingml/2006/main" noGrp="1"/>
          </p:cNvSpPr>
          <p:nvPr/>
        </p:nvSpPr>
        <p:spPr>
          <a:xfrm xmlns:a="http://schemas.openxmlformats.org/drawingml/2006/main">
            <a:off x="1691640" y="3648456"/>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Gap 결과</a:t>
            </a:r>
          </a:p>
        </p:txBody>
      </p:sp>
      <p:sp>
        <p:nvSpPr>
          <p:cNvPr id="36" name="Text 32">
            <a:extLst xmlns:a="http://schemas.openxmlformats.org/drawingml/2006/main">
              <a:ext uri="{FF2B5EF4-FFF2-40B4-BE49-F238E27FC236}">
                <a16:creationId xmlns:a16="http://schemas.microsoft.com/office/drawing/2014/main" id="{9DC5FB55-0795-483C-8338-BC310EB44ABB}"/>
              </a:ext>
            </a:extLst>
          </p:cNvPr>
          <p:cNvSpPr>
            <a:spLocks xmlns:a="http://schemas.openxmlformats.org/drawingml/2006/main" noGrp="1"/>
          </p:cNvSpPr>
          <p:nvPr/>
        </p:nvSpPr>
        <p:spPr>
          <a:xfrm xmlns:a="http://schemas.openxmlformats.org/drawingml/2006/main">
            <a:off x="5943600" y="3648456"/>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수요·공백·시급성·실행성·근거 신뢰도</a:t>
            </a:r>
          </a:p>
        </p:txBody>
      </p:sp>
      <p:sp>
        <p:nvSpPr>
          <p:cNvPr id="37" name="Shape 33">
            <a:extLst xmlns:a="http://schemas.openxmlformats.org/drawingml/2006/main">
              <a:ext uri="{FF2B5EF4-FFF2-40B4-BE49-F238E27FC236}">
                <a16:creationId xmlns:a16="http://schemas.microsoft.com/office/drawing/2014/main" id="{56A17034-3FDE-4D00-8636-F092A26C302E}"/>
              </a:ext>
            </a:extLst>
          </p:cNvPr>
          <p:cNvSpPr>
            <a:spLocks xmlns:a="http://schemas.openxmlformats.org/drawingml/2006/main" noGrp="1"/>
          </p:cNvSpPr>
          <p:nvPr/>
        </p:nvSpPr>
        <p:spPr>
          <a:xfrm xmlns:a="http://schemas.openxmlformats.org/drawingml/2006/main">
            <a:off x="1188720" y="4142232"/>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8" name="Text 34">
            <a:extLst xmlns:a="http://schemas.openxmlformats.org/drawingml/2006/main">
              <a:ext uri="{FF2B5EF4-FFF2-40B4-BE49-F238E27FC236}">
                <a16:creationId xmlns:a16="http://schemas.microsoft.com/office/drawing/2014/main" id="{BE12A197-64D3-4D68-8823-9332CD2BC066}"/>
              </a:ext>
            </a:extLst>
          </p:cNvPr>
          <p:cNvSpPr>
            <a:spLocks xmlns:a="http://schemas.openxmlformats.org/drawingml/2006/main" noGrp="1"/>
          </p:cNvSpPr>
          <p:nvPr/>
        </p:nvSpPr>
        <p:spPr>
          <a:xfrm xmlns:a="http://schemas.openxmlformats.org/drawingml/2006/main">
            <a:off x="1188720" y="4215384"/>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FE126BFF-B00F-4FD1-8637-ADACF82D12C6}"/>
              </a:ext>
            </a:extLst>
          </p:cNvPr>
          <p:cNvSpPr>
            <a:spLocks xmlns:a="http://schemas.openxmlformats.org/drawingml/2006/main" noGrp="1"/>
          </p:cNvSpPr>
          <p:nvPr/>
        </p:nvSpPr>
        <p:spPr>
          <a:xfrm xmlns:a="http://schemas.openxmlformats.org/drawingml/2006/main">
            <a:off x="1691640" y="4215384"/>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R&amp;R 결과</a:t>
            </a:r>
          </a:p>
        </p:txBody>
      </p:sp>
      <p:sp>
        <p:nvSpPr>
          <p:cNvPr id="40" name="Text 36">
            <a:extLst xmlns:a="http://schemas.openxmlformats.org/drawingml/2006/main">
              <a:ext uri="{FF2B5EF4-FFF2-40B4-BE49-F238E27FC236}">
                <a16:creationId xmlns:a16="http://schemas.microsoft.com/office/drawing/2014/main" id="{29C6F7C8-3F94-49B1-93AE-17770F03CEDF}"/>
              </a:ext>
            </a:extLst>
          </p:cNvPr>
          <p:cNvSpPr>
            <a:spLocks xmlns:a="http://schemas.openxmlformats.org/drawingml/2006/main" noGrp="1"/>
          </p:cNvSpPr>
          <p:nvPr/>
        </p:nvSpPr>
        <p:spPr>
          <a:xfrm xmlns:a="http://schemas.openxmlformats.org/drawingml/2006/main">
            <a:off x="5943600" y="4215384"/>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실제 업무분장 기반 주관 1순위·협조 2·3순위 후보</a:t>
            </a:r>
          </a:p>
        </p:txBody>
      </p:sp>
      <p:sp>
        <p:nvSpPr>
          <p:cNvPr id="41" name="Shape 37">
            <a:extLst xmlns:a="http://schemas.openxmlformats.org/drawingml/2006/main">
              <a:ext uri="{FF2B5EF4-FFF2-40B4-BE49-F238E27FC236}">
                <a16:creationId xmlns:a16="http://schemas.microsoft.com/office/drawing/2014/main" id="{ECC18854-3364-48FF-937E-E2F679571BB2}"/>
              </a:ext>
            </a:extLst>
          </p:cNvPr>
          <p:cNvSpPr>
            <a:spLocks xmlns:a="http://schemas.openxmlformats.org/drawingml/2006/main" noGrp="1"/>
          </p:cNvSpPr>
          <p:nvPr/>
        </p:nvSpPr>
        <p:spPr>
          <a:xfrm xmlns:a="http://schemas.openxmlformats.org/drawingml/2006/main">
            <a:off x="1188720" y="4709160"/>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2" name="Text 38">
            <a:extLst xmlns:a="http://schemas.openxmlformats.org/drawingml/2006/main">
              <a:ext uri="{FF2B5EF4-FFF2-40B4-BE49-F238E27FC236}">
                <a16:creationId xmlns:a16="http://schemas.microsoft.com/office/drawing/2014/main" id="{F0B13506-7511-445C-BFD6-3FF73FE0FEC6}"/>
              </a:ext>
            </a:extLst>
          </p:cNvPr>
          <p:cNvSpPr>
            <a:spLocks xmlns:a="http://schemas.openxmlformats.org/drawingml/2006/main" noGrp="1"/>
          </p:cNvSpPr>
          <p:nvPr/>
        </p:nvSpPr>
        <p:spPr>
          <a:xfrm xmlns:a="http://schemas.openxmlformats.org/drawingml/2006/main">
            <a:off x="1188720" y="4782312"/>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5</a:t>
            </a:r>
          </a:p>
        </p:txBody>
      </p:sp>
      <p:sp>
        <p:nvSpPr>
          <p:cNvPr id="43" name="Text 39">
            <a:extLst xmlns:a="http://schemas.openxmlformats.org/drawingml/2006/main">
              <a:ext uri="{FF2B5EF4-FFF2-40B4-BE49-F238E27FC236}">
                <a16:creationId xmlns:a16="http://schemas.microsoft.com/office/drawing/2014/main" id="{D7AEB1C1-40E0-4AEB-9361-A156B93525E4}"/>
              </a:ext>
            </a:extLst>
          </p:cNvPr>
          <p:cNvSpPr>
            <a:spLocks xmlns:a="http://schemas.openxmlformats.org/drawingml/2006/main" noGrp="1"/>
          </p:cNvSpPr>
          <p:nvPr/>
        </p:nvSpPr>
        <p:spPr>
          <a:xfrm xmlns:a="http://schemas.openxmlformats.org/drawingml/2006/main">
            <a:off x="1691640" y="4782312"/>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최종 결정</a:t>
            </a:r>
          </a:p>
        </p:txBody>
      </p:sp>
      <p:sp>
        <p:nvSpPr>
          <p:cNvPr id="44" name="Text 40">
            <a:extLst xmlns:a="http://schemas.openxmlformats.org/drawingml/2006/main">
              <a:ext uri="{FF2B5EF4-FFF2-40B4-BE49-F238E27FC236}">
                <a16:creationId xmlns:a16="http://schemas.microsoft.com/office/drawing/2014/main" id="{843397BE-3419-4860-A8AF-18F669528E95}"/>
              </a:ext>
            </a:extLst>
          </p:cNvPr>
          <p:cNvSpPr>
            <a:spLocks xmlns:a="http://schemas.openxmlformats.org/drawingml/2006/main" noGrp="1"/>
          </p:cNvSpPr>
          <p:nvPr/>
        </p:nvSpPr>
        <p:spPr>
          <a:xfrm xmlns:a="http://schemas.openxmlformats.org/drawingml/2006/main">
            <a:off x="5943600" y="4782312"/>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담당자가 원문과 근거를 대조해 수정·승인·반려</a:t>
            </a:r>
          </a:p>
        </p:txBody>
      </p:sp>
      <p:sp>
        <p:nvSpPr>
          <p:cNvPr id="45" name="Shape 41">
            <a:extLst xmlns:a="http://schemas.openxmlformats.org/drawingml/2006/main">
              <a:ext uri="{FF2B5EF4-FFF2-40B4-BE49-F238E27FC236}">
                <a16:creationId xmlns:a16="http://schemas.microsoft.com/office/drawing/2014/main" id="{72462C4C-B015-41EB-AECE-548374F580FD}"/>
              </a:ext>
            </a:extLst>
          </p:cNvPr>
          <p:cNvSpPr>
            <a:spLocks xmlns:a="http://schemas.openxmlformats.org/drawingml/2006/main" noGrp="1"/>
          </p:cNvSpPr>
          <p:nvPr/>
        </p:nvSpPr>
        <p:spPr>
          <a:xfrm xmlns:a="http://schemas.openxmlformats.org/drawingml/2006/main">
            <a:off x="1188720" y="5276088"/>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6" name="Text 42">
            <a:extLst xmlns:a="http://schemas.openxmlformats.org/drawingml/2006/main">
              <a:ext uri="{FF2B5EF4-FFF2-40B4-BE49-F238E27FC236}">
                <a16:creationId xmlns:a16="http://schemas.microsoft.com/office/drawing/2014/main" id="{CC917FD3-6836-418B-B99C-E34649A0470D}"/>
              </a:ext>
            </a:extLst>
          </p:cNvPr>
          <p:cNvSpPr>
            <a:spLocks xmlns:a="http://schemas.openxmlformats.org/drawingml/2006/main" noGrp="1"/>
          </p:cNvSpPr>
          <p:nvPr/>
        </p:nvSpPr>
        <p:spPr>
          <a:xfrm xmlns:a="http://schemas.openxmlformats.org/drawingml/2006/main">
            <a:off x="1188720" y="534924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6</a:t>
            </a:r>
          </a:p>
        </p:txBody>
      </p:sp>
      <p:sp>
        <p:nvSpPr>
          <p:cNvPr id="47" name="Text 43">
            <a:extLst xmlns:a="http://schemas.openxmlformats.org/drawingml/2006/main">
              <a:ext uri="{FF2B5EF4-FFF2-40B4-BE49-F238E27FC236}">
                <a16:creationId xmlns:a16="http://schemas.microsoft.com/office/drawing/2014/main" id="{BCDE62F1-DB64-4722-89A9-C04B0146BAF1}"/>
              </a:ext>
            </a:extLst>
          </p:cNvPr>
          <p:cNvSpPr>
            <a:spLocks xmlns:a="http://schemas.openxmlformats.org/drawingml/2006/main" noGrp="1"/>
          </p:cNvSpPr>
          <p:nvPr/>
        </p:nvSpPr>
        <p:spPr>
          <a:xfrm xmlns:a="http://schemas.openxmlformats.org/drawingml/2006/main">
            <a:off x="1691640" y="534924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후속 검증</a:t>
            </a:r>
          </a:p>
        </p:txBody>
      </p:sp>
      <p:sp>
        <p:nvSpPr>
          <p:cNvPr id="48" name="Text 44">
            <a:extLst xmlns:a="http://schemas.openxmlformats.org/drawingml/2006/main">
              <a:ext uri="{FF2B5EF4-FFF2-40B4-BE49-F238E27FC236}">
                <a16:creationId xmlns:a16="http://schemas.microsoft.com/office/drawing/2014/main" id="{4AFA8B1B-16F1-411A-9B3C-13E13BFC1B44}"/>
              </a:ext>
            </a:extLst>
          </p:cNvPr>
          <p:cNvSpPr>
            <a:spLocks xmlns:a="http://schemas.openxmlformats.org/drawingml/2006/main" noGrp="1"/>
          </p:cNvSpPr>
          <p:nvPr/>
        </p:nvSpPr>
        <p:spPr>
          <a:xfrm xmlns:a="http://schemas.openxmlformats.org/drawingml/2006/main">
            <a:off x="5943600" y="534924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군집 안정성·R&amp;R 수용률·임계값 민감도·보고서 수정률</a:t>
            </a:r>
          </a:p>
        </p:txBody>
      </p:sp>
      <p:sp>
        <p:nvSpPr>
          <p:cNvPr id="49" name="Shape 45">
            <a:extLst xmlns:a="http://schemas.openxmlformats.org/drawingml/2006/main">
              <a:ext uri="{FF2B5EF4-FFF2-40B4-BE49-F238E27FC236}">
                <a16:creationId xmlns:a16="http://schemas.microsoft.com/office/drawing/2014/main" id="{2A15DDA8-B758-4E13-9269-2B33E1954AAD}"/>
              </a:ext>
            </a:extLst>
          </p:cNvPr>
          <p:cNvSpPr>
            <a:spLocks xmlns:a="http://schemas.openxmlformats.org/drawingml/2006/main" noGrp="1"/>
          </p:cNvSpPr>
          <p:nvPr/>
        </p:nvSpPr>
        <p:spPr>
          <a:xfrm xmlns:a="http://schemas.openxmlformats.org/drawingml/2006/main">
            <a:off x="1188720" y="584301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Tree>
    <p:extLst>
      <p:ext uri="{BB962C8B-B14F-4D97-AF65-F5344CB8AC3E}">
        <p14:creationId xmlns:p14="http://schemas.microsoft.com/office/powerpoint/2010/main" val="591009332"/>
      </p:ext>
    </p:extLst>
  </p:cSld>
</p:sld>
</file>

<file path=ppt/slides/slide22.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5456CDC-DB89-4717-8375-7C6E46AF8D83}"/>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BA56DE2-54C6-4C69-8382-2730E121D73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C96557E-8967-4DE1-BDE3-FD51B6F11E9F}"/>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F658C7C-1AAC-435D-8845-AAE2D5BD493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a9c65ad20c584dbb"/>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2582327-9CD4-4017-ADDF-A1465880DF6E}"/>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2AD45906-AACC-465A-9973-69AA1D2511E2}"/>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2980519-33C0-4975-AAFE-3D5FC6CF594A}"/>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F556BF4-7389-4B72-B8A0-EEA16F5B504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43544330-6ACC-4366-BA70-7EE2C3AC7CF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CDFA4A4-EAAF-4F6C-BF39-23413A8D62A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a9c65ad20c584dbb"/>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995FAA8C-5B1E-4F74-A576-8FDAFD5627BB}"/>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APPENDIX B · 텍스트 파싱</a:t>
            </a:r>
          </a:p>
        </p:txBody>
      </p:sp>
      <p:sp>
        <p:nvSpPr>
          <p:cNvPr id="15" name="Shape 11">
            <a:extLst xmlns:a="http://schemas.openxmlformats.org/drawingml/2006/main">
              <a:ext uri="{FF2B5EF4-FFF2-40B4-BE49-F238E27FC236}">
                <a16:creationId xmlns:a16="http://schemas.microsoft.com/office/drawing/2014/main" id="{4B2B36C4-BE5F-45EB-9F39-24BD651CF63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A8C62F1D-58EC-47AC-A345-ABD726955A6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B41529D3-D072-4EAE-ADDC-C81ECB9CB9A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D517BE0B-2727-4F1D-8618-0EF687DB909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9448854-F798-4B3E-A9E4-E1B29F7C1E0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15693E6-2F73-4646-9020-65BED9C94DB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094549DF-8F8D-4CE4-A6EE-ABF7B88AB11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64A99AC-2318-4249-9D2B-AA1BA87EA96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2157A890-0F8F-4BF5-910D-411B174E846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C8D5F0E6-1A37-44B2-AC43-1CA1737B0F74}"/>
              </a:ext>
            </a:extLst>
          </p:cNvPr>
          <p:cNvSpPr>
            <a:spLocks xmlns:a="http://schemas.openxmlformats.org/drawingml/2006/main" noGrp="1"/>
          </p:cNvSpPr>
          <p:nvPr/>
        </p:nvSpPr>
        <p:spPr>
          <a:xfrm xmlns:a="http://schemas.openxmlformats.org/drawingml/2006/main">
            <a:off x="0" y="10515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TEXT PIPELINE · 모델별 입력과 출력</a:t>
            </a:r>
          </a:p>
        </p:txBody>
      </p:sp>
      <p:sp>
        <p:nvSpPr>
          <p:cNvPr id="25" name="Text 21">
            <a:extLst xmlns:a="http://schemas.openxmlformats.org/drawingml/2006/main">
              <a:ext uri="{FF2B5EF4-FFF2-40B4-BE49-F238E27FC236}">
                <a16:creationId xmlns:a16="http://schemas.microsoft.com/office/drawing/2014/main" id="{C7C26C48-FFE7-47F9-93F5-A8CFCF159A74}"/>
              </a:ext>
            </a:extLst>
          </p:cNvPr>
          <p:cNvSpPr>
            <a:spLocks xmlns:a="http://schemas.openxmlformats.org/drawingml/2006/main" noGrp="1"/>
          </p:cNvSpPr>
          <p:nvPr/>
        </p:nvSpPr>
        <p:spPr>
          <a:xfrm xmlns:a="http://schemas.openxmlformats.org/drawingml/2006/main">
            <a:off x="548640" y="137160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800" b="1">
                <a:solidFill>
                  <a:srgbClr val="1B2340"/>
                </a:solidFill>
                <a:latin typeface="Malgun Gothic"/>
                <a:ea typeface="Malgun Gothic"/>
                <a:cs typeface="Malgun Gothic"/>
              </a:rPr>
              <a:t>텍스트를 단계별 모델 입력으로 연결합니다</a:t>
            </a:r>
          </a:p>
        </p:txBody>
      </p:sp>
      <p:sp>
        <p:nvSpPr>
          <p:cNvPr id="26" name="Text 22">
            <a:extLst xmlns:a="http://schemas.openxmlformats.org/drawingml/2006/main">
              <a:ext uri="{FF2B5EF4-FFF2-40B4-BE49-F238E27FC236}">
                <a16:creationId xmlns:a16="http://schemas.microsoft.com/office/drawing/2014/main" id="{7B2C155C-D545-470D-B1E0-3568845AD971}"/>
              </a:ext>
            </a:extLst>
          </p:cNvPr>
          <p:cNvSpPr>
            <a:spLocks xmlns:a="http://schemas.openxmlformats.org/drawingml/2006/main" noGrp="1"/>
          </p:cNvSpPr>
          <p:nvPr/>
        </p:nvSpPr>
        <p:spPr>
          <a:xfrm xmlns:a="http://schemas.openxmlformats.org/drawingml/2006/main">
            <a:off x="1188720" y="251460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04C2E2DA-9F42-420B-BEA0-6BE31AC53A8F}"/>
              </a:ext>
            </a:extLst>
          </p:cNvPr>
          <p:cNvSpPr>
            <a:spLocks xmlns:a="http://schemas.openxmlformats.org/drawingml/2006/main" noGrp="1"/>
          </p:cNvSpPr>
          <p:nvPr/>
        </p:nvSpPr>
        <p:spPr>
          <a:xfrm xmlns:a="http://schemas.openxmlformats.org/drawingml/2006/main">
            <a:off x="1691640" y="251460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공통 전처리</a:t>
            </a:r>
          </a:p>
        </p:txBody>
      </p:sp>
      <p:sp>
        <p:nvSpPr>
          <p:cNvPr id="28" name="Text 24">
            <a:extLst xmlns:a="http://schemas.openxmlformats.org/drawingml/2006/main">
              <a:ext uri="{FF2B5EF4-FFF2-40B4-BE49-F238E27FC236}">
                <a16:creationId xmlns:a16="http://schemas.microsoft.com/office/drawing/2014/main" id="{A46BE384-2EEA-48F0-A853-9E9A2A74EEBA}"/>
              </a:ext>
            </a:extLst>
          </p:cNvPr>
          <p:cNvSpPr>
            <a:spLocks xmlns:a="http://schemas.openxmlformats.org/drawingml/2006/main" noGrp="1"/>
          </p:cNvSpPr>
          <p:nvPr/>
        </p:nvSpPr>
        <p:spPr>
          <a:xfrm xmlns:a="http://schemas.openxmlformats.org/drawingml/2006/main">
            <a:off x="5943600" y="251460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조사·접미사 제거 → 유사어 통합 → 불용어 제거</a:t>
            </a:r>
          </a:p>
        </p:txBody>
      </p:sp>
      <p:sp>
        <p:nvSpPr>
          <p:cNvPr id="29" name="Shape 25">
            <a:extLst xmlns:a="http://schemas.openxmlformats.org/drawingml/2006/main">
              <a:ext uri="{FF2B5EF4-FFF2-40B4-BE49-F238E27FC236}">
                <a16:creationId xmlns:a16="http://schemas.microsoft.com/office/drawing/2014/main" id="{55F7B87E-D265-48EB-AFC7-4844AC3C7079}"/>
              </a:ext>
            </a:extLst>
          </p:cNvPr>
          <p:cNvSpPr>
            <a:spLocks xmlns:a="http://schemas.openxmlformats.org/drawingml/2006/main" noGrp="1"/>
          </p:cNvSpPr>
          <p:nvPr/>
        </p:nvSpPr>
        <p:spPr>
          <a:xfrm xmlns:a="http://schemas.openxmlformats.org/drawingml/2006/main">
            <a:off x="1188720" y="300837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0" name="Text 26">
            <a:extLst xmlns:a="http://schemas.openxmlformats.org/drawingml/2006/main">
              <a:ext uri="{FF2B5EF4-FFF2-40B4-BE49-F238E27FC236}">
                <a16:creationId xmlns:a16="http://schemas.microsoft.com/office/drawing/2014/main" id="{4AD37972-35E0-421B-B4E2-375A1F97F294}"/>
              </a:ext>
            </a:extLst>
          </p:cNvPr>
          <p:cNvSpPr>
            <a:spLocks xmlns:a="http://schemas.openxmlformats.org/drawingml/2006/main" noGrp="1"/>
          </p:cNvSpPr>
          <p:nvPr/>
        </p:nvSpPr>
        <p:spPr>
          <a:xfrm xmlns:a="http://schemas.openxmlformats.org/drawingml/2006/main">
            <a:off x="1188720" y="3081528"/>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7D04B64D-2AAA-41D2-A0C7-D35BA2DA2C7A}"/>
              </a:ext>
            </a:extLst>
          </p:cNvPr>
          <p:cNvSpPr>
            <a:spLocks xmlns:a="http://schemas.openxmlformats.org/drawingml/2006/main" noGrp="1"/>
          </p:cNvSpPr>
          <p:nvPr/>
        </p:nvSpPr>
        <p:spPr>
          <a:xfrm xmlns:a="http://schemas.openxmlformats.org/drawingml/2006/main">
            <a:off x="1691640" y="3081528"/>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계층 분류</a:t>
            </a:r>
          </a:p>
        </p:txBody>
      </p:sp>
      <p:sp>
        <p:nvSpPr>
          <p:cNvPr id="32" name="Text 28">
            <a:extLst xmlns:a="http://schemas.openxmlformats.org/drawingml/2006/main">
              <a:ext uri="{FF2B5EF4-FFF2-40B4-BE49-F238E27FC236}">
                <a16:creationId xmlns:a16="http://schemas.microsoft.com/office/drawing/2014/main" id="{C720B9B3-DAC6-44EA-A498-EDBDDD69D51B}"/>
              </a:ext>
            </a:extLst>
          </p:cNvPr>
          <p:cNvSpPr>
            <a:spLocks xmlns:a="http://schemas.openxmlformats.org/drawingml/2006/main" noGrp="1"/>
          </p:cNvSpPr>
          <p:nvPr/>
        </p:nvSpPr>
        <p:spPr>
          <a:xfrm xmlns:a="http://schemas.openxmlformats.org/drawingml/2006/main">
            <a:off x="5943600" y="3081528"/>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규칙 키워드+원 분류 부스트 → 8대·중·소분류·신뢰도</a:t>
            </a:r>
          </a:p>
        </p:txBody>
      </p:sp>
      <p:sp>
        <p:nvSpPr>
          <p:cNvPr id="33" name="Shape 29">
            <a:extLst xmlns:a="http://schemas.openxmlformats.org/drawingml/2006/main">
              <a:ext uri="{FF2B5EF4-FFF2-40B4-BE49-F238E27FC236}">
                <a16:creationId xmlns:a16="http://schemas.microsoft.com/office/drawing/2014/main" id="{DC6DCB87-0749-4BDD-9D8C-DB067BAAE9F9}"/>
              </a:ext>
            </a:extLst>
          </p:cNvPr>
          <p:cNvSpPr>
            <a:spLocks xmlns:a="http://schemas.openxmlformats.org/drawingml/2006/main" noGrp="1"/>
          </p:cNvSpPr>
          <p:nvPr/>
        </p:nvSpPr>
        <p:spPr>
          <a:xfrm xmlns:a="http://schemas.openxmlformats.org/drawingml/2006/main">
            <a:off x="1188720" y="3575304"/>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4" name="Text 30">
            <a:extLst xmlns:a="http://schemas.openxmlformats.org/drawingml/2006/main">
              <a:ext uri="{FF2B5EF4-FFF2-40B4-BE49-F238E27FC236}">
                <a16:creationId xmlns:a16="http://schemas.microsoft.com/office/drawing/2014/main" id="{7F80AE9D-D0DB-4A92-B682-91EE5087D0D3}"/>
              </a:ext>
            </a:extLst>
          </p:cNvPr>
          <p:cNvSpPr>
            <a:spLocks xmlns:a="http://schemas.openxmlformats.org/drawingml/2006/main" noGrp="1"/>
          </p:cNvSpPr>
          <p:nvPr/>
        </p:nvSpPr>
        <p:spPr>
          <a:xfrm xmlns:a="http://schemas.openxmlformats.org/drawingml/2006/main">
            <a:off x="1188720" y="3648456"/>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70739ED0-CED6-416A-844B-B4EE7CE7CE49}"/>
              </a:ext>
            </a:extLst>
          </p:cNvPr>
          <p:cNvSpPr>
            <a:spLocks xmlns:a="http://schemas.openxmlformats.org/drawingml/2006/main" noGrp="1"/>
          </p:cNvSpPr>
          <p:nvPr/>
        </p:nvSpPr>
        <p:spPr>
          <a:xfrm xmlns:a="http://schemas.openxmlformats.org/drawingml/2006/main">
            <a:off x="1691640" y="3648456"/>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의미 분류·군집</a:t>
            </a:r>
          </a:p>
        </p:txBody>
      </p:sp>
      <p:sp>
        <p:nvSpPr>
          <p:cNvPr id="36" name="Text 32">
            <a:extLst xmlns:a="http://schemas.openxmlformats.org/drawingml/2006/main">
              <a:ext uri="{FF2B5EF4-FFF2-40B4-BE49-F238E27FC236}">
                <a16:creationId xmlns:a16="http://schemas.microsoft.com/office/drawing/2014/main" id="{9DC5FB55-0795-483C-8338-BC310EB44ABB}"/>
              </a:ext>
            </a:extLst>
          </p:cNvPr>
          <p:cNvSpPr>
            <a:spLocks xmlns:a="http://schemas.openxmlformats.org/drawingml/2006/main" noGrp="1"/>
          </p:cNvSpPr>
          <p:nvPr/>
        </p:nvSpPr>
        <p:spPr>
          <a:xfrm xmlns:a="http://schemas.openxmlformats.org/drawingml/2006/main">
            <a:off x="5943600" y="3648456"/>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KR-SBERT 코사인 유사도 → 의미 분류·cluster_id</a:t>
            </a:r>
          </a:p>
        </p:txBody>
      </p:sp>
      <p:sp>
        <p:nvSpPr>
          <p:cNvPr id="37" name="Shape 33">
            <a:extLst xmlns:a="http://schemas.openxmlformats.org/drawingml/2006/main">
              <a:ext uri="{FF2B5EF4-FFF2-40B4-BE49-F238E27FC236}">
                <a16:creationId xmlns:a16="http://schemas.microsoft.com/office/drawing/2014/main" id="{56A17034-3FDE-4D00-8636-F092A26C302E}"/>
              </a:ext>
            </a:extLst>
          </p:cNvPr>
          <p:cNvSpPr>
            <a:spLocks xmlns:a="http://schemas.openxmlformats.org/drawingml/2006/main" noGrp="1"/>
          </p:cNvSpPr>
          <p:nvPr/>
        </p:nvSpPr>
        <p:spPr>
          <a:xfrm xmlns:a="http://schemas.openxmlformats.org/drawingml/2006/main">
            <a:off x="1188720" y="4142232"/>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8" name="Text 34">
            <a:extLst xmlns:a="http://schemas.openxmlformats.org/drawingml/2006/main">
              <a:ext uri="{FF2B5EF4-FFF2-40B4-BE49-F238E27FC236}">
                <a16:creationId xmlns:a16="http://schemas.microsoft.com/office/drawing/2014/main" id="{BE12A197-64D3-4D68-8823-9332CD2BC066}"/>
              </a:ext>
            </a:extLst>
          </p:cNvPr>
          <p:cNvSpPr>
            <a:spLocks xmlns:a="http://schemas.openxmlformats.org/drawingml/2006/main" noGrp="1"/>
          </p:cNvSpPr>
          <p:nvPr/>
        </p:nvSpPr>
        <p:spPr>
          <a:xfrm xmlns:a="http://schemas.openxmlformats.org/drawingml/2006/main">
            <a:off x="1188720" y="4215384"/>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FE126BFF-B00F-4FD1-8637-ADACF82D12C6}"/>
              </a:ext>
            </a:extLst>
          </p:cNvPr>
          <p:cNvSpPr>
            <a:spLocks xmlns:a="http://schemas.openxmlformats.org/drawingml/2006/main" noGrp="1"/>
          </p:cNvSpPr>
          <p:nvPr/>
        </p:nvSpPr>
        <p:spPr>
          <a:xfrm xmlns:a="http://schemas.openxmlformats.org/drawingml/2006/main">
            <a:off x="1691640" y="4215384"/>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뉴스 파싱</a:t>
            </a:r>
          </a:p>
        </p:txBody>
      </p:sp>
      <p:sp>
        <p:nvSpPr>
          <p:cNvPr id="40" name="Text 36">
            <a:extLst xmlns:a="http://schemas.openxmlformats.org/drawingml/2006/main">
              <a:ext uri="{FF2B5EF4-FFF2-40B4-BE49-F238E27FC236}">
                <a16:creationId xmlns:a16="http://schemas.microsoft.com/office/drawing/2014/main" id="{29C6F7C8-3F94-49B1-93AE-17770F03CEDF}"/>
              </a:ext>
            </a:extLst>
          </p:cNvPr>
          <p:cNvSpPr>
            <a:spLocks xmlns:a="http://schemas.openxmlformats.org/drawingml/2006/main" noGrp="1"/>
          </p:cNvSpPr>
          <p:nvPr/>
        </p:nvSpPr>
        <p:spPr>
          <a:xfrm xmlns:a="http://schemas.openxmlformats.org/drawingml/2006/main">
            <a:off x="5943600" y="4215384"/>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규칙 → 기존 분류 → 수집 분류 → NMF 토픽 맵</a:t>
            </a:r>
          </a:p>
        </p:txBody>
      </p:sp>
      <p:sp>
        <p:nvSpPr>
          <p:cNvPr id="41" name="Shape 37">
            <a:extLst xmlns:a="http://schemas.openxmlformats.org/drawingml/2006/main">
              <a:ext uri="{FF2B5EF4-FFF2-40B4-BE49-F238E27FC236}">
                <a16:creationId xmlns:a16="http://schemas.microsoft.com/office/drawing/2014/main" id="{ECC18854-3364-48FF-937E-E2F679571BB2}"/>
              </a:ext>
            </a:extLst>
          </p:cNvPr>
          <p:cNvSpPr>
            <a:spLocks xmlns:a="http://schemas.openxmlformats.org/drawingml/2006/main" noGrp="1"/>
          </p:cNvSpPr>
          <p:nvPr/>
        </p:nvSpPr>
        <p:spPr>
          <a:xfrm xmlns:a="http://schemas.openxmlformats.org/drawingml/2006/main">
            <a:off x="1188720" y="4709160"/>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2" name="Text 38">
            <a:extLst xmlns:a="http://schemas.openxmlformats.org/drawingml/2006/main">
              <a:ext uri="{FF2B5EF4-FFF2-40B4-BE49-F238E27FC236}">
                <a16:creationId xmlns:a16="http://schemas.microsoft.com/office/drawing/2014/main" id="{F0B13506-7511-445C-BFD6-3FF73FE0FEC6}"/>
              </a:ext>
            </a:extLst>
          </p:cNvPr>
          <p:cNvSpPr>
            <a:spLocks xmlns:a="http://schemas.openxmlformats.org/drawingml/2006/main" noGrp="1"/>
          </p:cNvSpPr>
          <p:nvPr/>
        </p:nvSpPr>
        <p:spPr>
          <a:xfrm xmlns:a="http://schemas.openxmlformats.org/drawingml/2006/main">
            <a:off x="1188720" y="4782312"/>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5</a:t>
            </a:r>
          </a:p>
        </p:txBody>
      </p:sp>
      <p:sp>
        <p:nvSpPr>
          <p:cNvPr id="43" name="Text 39">
            <a:extLst xmlns:a="http://schemas.openxmlformats.org/drawingml/2006/main">
              <a:ext uri="{FF2B5EF4-FFF2-40B4-BE49-F238E27FC236}">
                <a16:creationId xmlns:a16="http://schemas.microsoft.com/office/drawing/2014/main" id="{D7AEB1C1-40E0-4AEB-9361-A156B93525E4}"/>
              </a:ext>
            </a:extLst>
          </p:cNvPr>
          <p:cNvSpPr>
            <a:spLocks xmlns:a="http://schemas.openxmlformats.org/drawingml/2006/main" noGrp="1"/>
          </p:cNvSpPr>
          <p:nvPr/>
        </p:nvSpPr>
        <p:spPr>
          <a:xfrm xmlns:a="http://schemas.openxmlformats.org/drawingml/2006/main">
            <a:off x="1691640" y="4782312"/>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지역 파싱</a:t>
            </a:r>
          </a:p>
        </p:txBody>
      </p:sp>
      <p:sp>
        <p:nvSpPr>
          <p:cNvPr id="44" name="Text 40">
            <a:extLst xmlns:a="http://schemas.openxmlformats.org/drawingml/2006/main">
              <a:ext uri="{FF2B5EF4-FFF2-40B4-BE49-F238E27FC236}">
                <a16:creationId xmlns:a16="http://schemas.microsoft.com/office/drawing/2014/main" id="{843397BE-3419-4860-A8AF-18F669528E95}"/>
              </a:ext>
            </a:extLst>
          </p:cNvPr>
          <p:cNvSpPr>
            <a:spLocks xmlns:a="http://schemas.openxmlformats.org/drawingml/2006/main" noGrp="1"/>
          </p:cNvSpPr>
          <p:nvPr/>
        </p:nvSpPr>
        <p:spPr>
          <a:xfrm xmlns:a="http://schemas.openxmlformats.org/drawingml/2006/main">
            <a:off x="5943600" y="4782312"/>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자치구 키워드+모호어 감점 → 후보·점수·근거어</a:t>
            </a:r>
          </a:p>
        </p:txBody>
      </p:sp>
      <p:sp>
        <p:nvSpPr>
          <p:cNvPr id="45" name="Shape 41">
            <a:extLst xmlns:a="http://schemas.openxmlformats.org/drawingml/2006/main">
              <a:ext uri="{FF2B5EF4-FFF2-40B4-BE49-F238E27FC236}">
                <a16:creationId xmlns:a16="http://schemas.microsoft.com/office/drawing/2014/main" id="{72462C4C-B015-41EB-AECE-548374F580FD}"/>
              </a:ext>
            </a:extLst>
          </p:cNvPr>
          <p:cNvSpPr>
            <a:spLocks xmlns:a="http://schemas.openxmlformats.org/drawingml/2006/main" noGrp="1"/>
          </p:cNvSpPr>
          <p:nvPr/>
        </p:nvSpPr>
        <p:spPr>
          <a:xfrm xmlns:a="http://schemas.openxmlformats.org/drawingml/2006/main">
            <a:off x="1188720" y="5276088"/>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6" name="Text 42">
            <a:extLst xmlns:a="http://schemas.openxmlformats.org/drawingml/2006/main">
              <a:ext uri="{FF2B5EF4-FFF2-40B4-BE49-F238E27FC236}">
                <a16:creationId xmlns:a16="http://schemas.microsoft.com/office/drawing/2014/main" id="{CC917FD3-6836-418B-B99C-E34649A0470D}"/>
              </a:ext>
            </a:extLst>
          </p:cNvPr>
          <p:cNvSpPr>
            <a:spLocks xmlns:a="http://schemas.openxmlformats.org/drawingml/2006/main" noGrp="1"/>
          </p:cNvSpPr>
          <p:nvPr/>
        </p:nvSpPr>
        <p:spPr>
          <a:xfrm xmlns:a="http://schemas.openxmlformats.org/drawingml/2006/main">
            <a:off x="1188720" y="534924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6</a:t>
            </a:r>
          </a:p>
        </p:txBody>
      </p:sp>
      <p:sp>
        <p:nvSpPr>
          <p:cNvPr id="47" name="Text 43">
            <a:extLst xmlns:a="http://schemas.openxmlformats.org/drawingml/2006/main">
              <a:ext uri="{FF2B5EF4-FFF2-40B4-BE49-F238E27FC236}">
                <a16:creationId xmlns:a16="http://schemas.microsoft.com/office/drawing/2014/main" id="{BCDE62F1-DB64-4722-89A9-C04B0146BAF1}"/>
              </a:ext>
            </a:extLst>
          </p:cNvPr>
          <p:cNvSpPr>
            <a:spLocks xmlns:a="http://schemas.openxmlformats.org/drawingml/2006/main" noGrp="1"/>
          </p:cNvSpPr>
          <p:nvPr/>
        </p:nvSpPr>
        <p:spPr>
          <a:xfrm xmlns:a="http://schemas.openxmlformats.org/drawingml/2006/main">
            <a:off x="1691640" y="534924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R&amp;R 파싱</a:t>
            </a:r>
          </a:p>
        </p:txBody>
      </p:sp>
      <p:sp>
        <p:nvSpPr>
          <p:cNvPr id="48" name="Text 44">
            <a:extLst xmlns:a="http://schemas.openxmlformats.org/drawingml/2006/main">
              <a:ext uri="{FF2B5EF4-FFF2-40B4-BE49-F238E27FC236}">
                <a16:creationId xmlns:a16="http://schemas.microsoft.com/office/drawing/2014/main" id="{4AFA8B1B-16F1-411A-9B3C-13E13BFC1B44}"/>
              </a:ext>
            </a:extLst>
          </p:cNvPr>
          <p:cNvSpPr>
            <a:spLocks xmlns:a="http://schemas.openxmlformats.org/drawingml/2006/main" noGrp="1"/>
          </p:cNvSpPr>
          <p:nvPr/>
        </p:nvSpPr>
        <p:spPr>
          <a:xfrm xmlns:a="http://schemas.openxmlformats.org/drawingml/2006/main">
            <a:off x="5943600" y="534924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업무분장+본문 가중치 → 주관 1순위·협조 2·3순위</a:t>
            </a:r>
          </a:p>
        </p:txBody>
      </p:sp>
      <p:sp>
        <p:nvSpPr>
          <p:cNvPr id="49" name="Shape 45">
            <a:extLst xmlns:a="http://schemas.openxmlformats.org/drawingml/2006/main">
              <a:ext uri="{FF2B5EF4-FFF2-40B4-BE49-F238E27FC236}">
                <a16:creationId xmlns:a16="http://schemas.microsoft.com/office/drawing/2014/main" id="{2A15DDA8-B758-4E13-9269-2B33E1954AAD}"/>
              </a:ext>
            </a:extLst>
          </p:cNvPr>
          <p:cNvSpPr>
            <a:spLocks xmlns:a="http://schemas.openxmlformats.org/drawingml/2006/main" noGrp="1"/>
          </p:cNvSpPr>
          <p:nvPr/>
        </p:nvSpPr>
        <p:spPr>
          <a:xfrm xmlns:a="http://schemas.openxmlformats.org/drawingml/2006/main">
            <a:off x="1188720" y="584301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Tree>
    <p:extLst>
      <p:ext uri="{BB962C8B-B14F-4D97-AF65-F5344CB8AC3E}">
        <p14:creationId xmlns:p14="http://schemas.microsoft.com/office/powerpoint/2010/main" val="591009332"/>
      </p:ext>
    </p:extLst>
  </p:cSld>
</p:sld>
</file>

<file path=ppt/slides/slide23.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5456CDC-DB89-4717-8375-7C6E46AF8D83}"/>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BA56DE2-54C6-4C69-8382-2730E121D73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C96557E-8967-4DE1-BDE3-FD51B6F11E9F}"/>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F658C7C-1AAC-435D-8845-AAE2D5BD493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55fb823e8b8240aa"/>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2582327-9CD4-4017-ADDF-A1465880DF6E}"/>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2AD45906-AACC-465A-9973-69AA1D2511E2}"/>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2980519-33C0-4975-AAFE-3D5FC6CF594A}"/>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F556BF4-7389-4B72-B8A0-EEA16F5B504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43544330-6ACC-4366-BA70-7EE2C3AC7CF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CDFA4A4-EAAF-4F6C-BF39-23413A8D62A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55fb823e8b8240aa"/>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995FAA8C-5B1E-4F74-A576-8FDAFD5627BB}"/>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APPENDIX C · 필터·R&amp;R 모델</a:t>
            </a:r>
          </a:p>
        </p:txBody>
      </p:sp>
      <p:sp>
        <p:nvSpPr>
          <p:cNvPr id="15" name="Shape 11">
            <a:extLst xmlns:a="http://schemas.openxmlformats.org/drawingml/2006/main">
              <a:ext uri="{FF2B5EF4-FFF2-40B4-BE49-F238E27FC236}">
                <a16:creationId xmlns:a16="http://schemas.microsoft.com/office/drawing/2014/main" id="{4B2B36C4-BE5F-45EB-9F39-24BD651CF63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A8C62F1D-58EC-47AC-A345-ABD726955A6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B41529D3-D072-4EAE-ADDC-C81ECB9CB9A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D517BE0B-2727-4F1D-8618-0EF687DB909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9448854-F798-4B3E-A9E4-E1B29F7C1E0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15693E6-2F73-4646-9020-65BED9C94DB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094549DF-8F8D-4CE4-A6EE-ABF7B88AB11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64A99AC-2318-4249-9D2B-AA1BA87EA96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2157A890-0F8F-4BF5-910D-411B174E846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C8D5F0E6-1A37-44B2-AC43-1CA1737B0F74}"/>
              </a:ext>
            </a:extLst>
          </p:cNvPr>
          <p:cNvSpPr>
            <a:spLocks xmlns:a="http://schemas.openxmlformats.org/drawingml/2006/main" noGrp="1"/>
          </p:cNvSpPr>
          <p:nvPr/>
        </p:nvSpPr>
        <p:spPr>
          <a:xfrm xmlns:a="http://schemas.openxmlformats.org/drawingml/2006/main">
            <a:off x="0" y="10515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MODEL DEFINITION · 규칙·가중치 기반</a:t>
            </a:r>
          </a:p>
        </p:txBody>
      </p:sp>
      <p:sp>
        <p:nvSpPr>
          <p:cNvPr id="25" name="Text 21">
            <a:extLst xmlns:a="http://schemas.openxmlformats.org/drawingml/2006/main">
              <a:ext uri="{FF2B5EF4-FFF2-40B4-BE49-F238E27FC236}">
                <a16:creationId xmlns:a16="http://schemas.microsoft.com/office/drawing/2014/main" id="{C7C26C48-FFE7-47F9-93F5-A8CFCF159A74}"/>
              </a:ext>
            </a:extLst>
          </p:cNvPr>
          <p:cNvSpPr>
            <a:spLocks xmlns:a="http://schemas.openxmlformats.org/drawingml/2006/main" noGrp="1"/>
          </p:cNvSpPr>
          <p:nvPr/>
        </p:nvSpPr>
        <p:spPr>
          <a:xfrm xmlns:a="http://schemas.openxmlformats.org/drawingml/2006/main">
            <a:off x="548640" y="137160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800" b="1">
                <a:solidFill>
                  <a:srgbClr val="1B2340"/>
                </a:solidFill>
                <a:latin typeface="Malgun Gothic"/>
                <a:ea typeface="Malgun Gothic"/>
                <a:cs typeface="Malgun Gothic"/>
              </a:rPr>
              <a:t>두 단계 필터와 R&amp;R 후보 모델</a:t>
            </a:r>
          </a:p>
        </p:txBody>
      </p:sp>
      <p:sp>
        <p:nvSpPr>
          <p:cNvPr id="26" name="Text 22">
            <a:extLst xmlns:a="http://schemas.openxmlformats.org/drawingml/2006/main">
              <a:ext uri="{FF2B5EF4-FFF2-40B4-BE49-F238E27FC236}">
                <a16:creationId xmlns:a16="http://schemas.microsoft.com/office/drawing/2014/main" id="{7B2C155C-D545-470D-B1E0-3568845AD971}"/>
              </a:ext>
            </a:extLst>
          </p:cNvPr>
          <p:cNvSpPr>
            <a:spLocks xmlns:a="http://schemas.openxmlformats.org/drawingml/2006/main" noGrp="1"/>
          </p:cNvSpPr>
          <p:nvPr/>
        </p:nvSpPr>
        <p:spPr>
          <a:xfrm xmlns:a="http://schemas.openxmlformats.org/drawingml/2006/main">
            <a:off x="1188720" y="251460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04C2E2DA-9F42-420B-BEA0-6BE31AC53A8F}"/>
              </a:ext>
            </a:extLst>
          </p:cNvPr>
          <p:cNvSpPr>
            <a:spLocks xmlns:a="http://schemas.openxmlformats.org/drawingml/2006/main" noGrp="1"/>
          </p:cNvSpPr>
          <p:nvPr/>
        </p:nvSpPr>
        <p:spPr>
          <a:xfrm xmlns:a="http://schemas.openxmlformats.org/drawingml/2006/main">
            <a:off x="1691640" y="251460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목적</a:t>
            </a:r>
          </a:p>
        </p:txBody>
      </p:sp>
      <p:sp>
        <p:nvSpPr>
          <p:cNvPr id="28" name="Text 24">
            <a:extLst xmlns:a="http://schemas.openxmlformats.org/drawingml/2006/main">
              <a:ext uri="{FF2B5EF4-FFF2-40B4-BE49-F238E27FC236}">
                <a16:creationId xmlns:a16="http://schemas.microsoft.com/office/drawing/2014/main" id="{A46BE384-2EEA-48F0-A853-9E9A2A74EEBA}"/>
              </a:ext>
            </a:extLst>
          </p:cNvPr>
          <p:cNvSpPr>
            <a:spLocks xmlns:a="http://schemas.openxmlformats.org/drawingml/2006/main" noGrp="1"/>
          </p:cNvSpPr>
          <p:nvPr/>
        </p:nvSpPr>
        <p:spPr>
          <a:xfrm xmlns:a="http://schemas.openxmlformats.org/drawingml/2006/main">
            <a:off x="5943600" y="251460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정책 분류와 실제 조직을 분리해 검색 의미를 명확히 함</a:t>
            </a:r>
          </a:p>
        </p:txBody>
      </p:sp>
      <p:sp>
        <p:nvSpPr>
          <p:cNvPr id="29" name="Shape 25">
            <a:extLst xmlns:a="http://schemas.openxmlformats.org/drawingml/2006/main">
              <a:ext uri="{FF2B5EF4-FFF2-40B4-BE49-F238E27FC236}">
                <a16:creationId xmlns:a16="http://schemas.microsoft.com/office/drawing/2014/main" id="{55F7B87E-D265-48EB-AFC7-4844AC3C7079}"/>
              </a:ext>
            </a:extLst>
          </p:cNvPr>
          <p:cNvSpPr>
            <a:spLocks xmlns:a="http://schemas.openxmlformats.org/drawingml/2006/main" noGrp="1"/>
          </p:cNvSpPr>
          <p:nvPr/>
        </p:nvSpPr>
        <p:spPr>
          <a:xfrm xmlns:a="http://schemas.openxmlformats.org/drawingml/2006/main">
            <a:off x="1188720" y="300837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0" name="Text 26">
            <a:extLst xmlns:a="http://schemas.openxmlformats.org/drawingml/2006/main">
              <a:ext uri="{FF2B5EF4-FFF2-40B4-BE49-F238E27FC236}">
                <a16:creationId xmlns:a16="http://schemas.microsoft.com/office/drawing/2014/main" id="{4AD37972-35E0-421B-B4E2-375A1F97F294}"/>
              </a:ext>
            </a:extLst>
          </p:cNvPr>
          <p:cNvSpPr>
            <a:spLocks xmlns:a="http://schemas.openxmlformats.org/drawingml/2006/main" noGrp="1"/>
          </p:cNvSpPr>
          <p:nvPr/>
        </p:nvSpPr>
        <p:spPr>
          <a:xfrm xmlns:a="http://schemas.openxmlformats.org/drawingml/2006/main">
            <a:off x="1188720" y="3081528"/>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7D04B64D-2AAA-41D2-A0C7-D35BA2DA2C7A}"/>
              </a:ext>
            </a:extLst>
          </p:cNvPr>
          <p:cNvSpPr>
            <a:spLocks xmlns:a="http://schemas.openxmlformats.org/drawingml/2006/main" noGrp="1"/>
          </p:cNvSpPr>
          <p:nvPr/>
        </p:nvSpPr>
        <p:spPr>
          <a:xfrm xmlns:a="http://schemas.openxmlformats.org/drawingml/2006/main">
            <a:off x="1691640" y="3081528"/>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입력</a:t>
            </a:r>
          </a:p>
        </p:txBody>
      </p:sp>
      <p:sp>
        <p:nvSpPr>
          <p:cNvPr id="32" name="Text 28">
            <a:extLst xmlns:a="http://schemas.openxmlformats.org/drawingml/2006/main">
              <a:ext uri="{FF2B5EF4-FFF2-40B4-BE49-F238E27FC236}">
                <a16:creationId xmlns:a16="http://schemas.microsoft.com/office/drawing/2014/main" id="{C720B9B3-DAC6-44EA-A498-EDBDDD69D51B}"/>
              </a:ext>
            </a:extLst>
          </p:cNvPr>
          <p:cNvSpPr>
            <a:spLocks xmlns:a="http://schemas.openxmlformats.org/drawingml/2006/main" noGrp="1"/>
          </p:cNvSpPr>
          <p:nvPr/>
        </p:nvSpPr>
        <p:spPr>
          <a:xfrm xmlns:a="http://schemas.openxmlformats.org/drawingml/2006/main">
            <a:off x="5943600" y="3081528"/>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카테고리·제목·본문·기존 담당 후보 + 업무분장 18행</a:t>
            </a:r>
          </a:p>
        </p:txBody>
      </p:sp>
      <p:sp>
        <p:nvSpPr>
          <p:cNvPr id="33" name="Shape 29">
            <a:extLst xmlns:a="http://schemas.openxmlformats.org/drawingml/2006/main">
              <a:ext uri="{FF2B5EF4-FFF2-40B4-BE49-F238E27FC236}">
                <a16:creationId xmlns:a16="http://schemas.microsoft.com/office/drawing/2014/main" id="{DC6DCB87-0749-4BDD-9D8C-DB067BAAE9F9}"/>
              </a:ext>
            </a:extLst>
          </p:cNvPr>
          <p:cNvSpPr>
            <a:spLocks xmlns:a="http://schemas.openxmlformats.org/drawingml/2006/main" noGrp="1"/>
          </p:cNvSpPr>
          <p:nvPr/>
        </p:nvSpPr>
        <p:spPr>
          <a:xfrm xmlns:a="http://schemas.openxmlformats.org/drawingml/2006/main">
            <a:off x="1188720" y="3575304"/>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4" name="Text 30">
            <a:extLst xmlns:a="http://schemas.openxmlformats.org/drawingml/2006/main">
              <a:ext uri="{FF2B5EF4-FFF2-40B4-BE49-F238E27FC236}">
                <a16:creationId xmlns:a16="http://schemas.microsoft.com/office/drawing/2014/main" id="{7F80AE9D-D0DB-4A92-B682-91EE5087D0D3}"/>
              </a:ext>
            </a:extLst>
          </p:cNvPr>
          <p:cNvSpPr>
            <a:spLocks xmlns:a="http://schemas.openxmlformats.org/drawingml/2006/main" noGrp="1"/>
          </p:cNvSpPr>
          <p:nvPr/>
        </p:nvSpPr>
        <p:spPr>
          <a:xfrm xmlns:a="http://schemas.openxmlformats.org/drawingml/2006/main">
            <a:off x="1188720" y="3648456"/>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70739ED0-CED6-416A-844B-B4EE7CE7CE49}"/>
              </a:ext>
            </a:extLst>
          </p:cNvPr>
          <p:cNvSpPr>
            <a:spLocks xmlns:a="http://schemas.openxmlformats.org/drawingml/2006/main" noGrp="1"/>
          </p:cNvSpPr>
          <p:nvPr/>
        </p:nvSpPr>
        <p:spPr>
          <a:xfrm xmlns:a="http://schemas.openxmlformats.org/drawingml/2006/main">
            <a:off x="1691640" y="3648456"/>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전처리</a:t>
            </a:r>
          </a:p>
        </p:txBody>
      </p:sp>
      <p:sp>
        <p:nvSpPr>
          <p:cNvPr id="36" name="Text 32">
            <a:extLst xmlns:a="http://schemas.openxmlformats.org/drawingml/2006/main">
              <a:ext uri="{FF2B5EF4-FFF2-40B4-BE49-F238E27FC236}">
                <a16:creationId xmlns:a16="http://schemas.microsoft.com/office/drawing/2014/main" id="{9DC5FB55-0795-483C-8338-BC310EB44ABB}"/>
              </a:ext>
            </a:extLst>
          </p:cNvPr>
          <p:cNvSpPr>
            <a:spLocks xmlns:a="http://schemas.openxmlformats.org/drawingml/2006/main" noGrp="1"/>
          </p:cNvSpPr>
          <p:nvPr/>
        </p:nvSpPr>
        <p:spPr>
          <a:xfrm xmlns:a="http://schemas.openxmlformats.org/drawingml/2006/main">
            <a:off x="5943600" y="3648456"/>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8대 담당군 정규화 · 본문 토큰과 업무분장 키워드 대조</a:t>
            </a:r>
          </a:p>
        </p:txBody>
      </p:sp>
      <p:sp>
        <p:nvSpPr>
          <p:cNvPr id="37" name="Shape 33">
            <a:extLst xmlns:a="http://schemas.openxmlformats.org/drawingml/2006/main">
              <a:ext uri="{FF2B5EF4-FFF2-40B4-BE49-F238E27FC236}">
                <a16:creationId xmlns:a16="http://schemas.microsoft.com/office/drawing/2014/main" id="{56A17034-3FDE-4D00-8636-F092A26C302E}"/>
              </a:ext>
            </a:extLst>
          </p:cNvPr>
          <p:cNvSpPr>
            <a:spLocks xmlns:a="http://schemas.openxmlformats.org/drawingml/2006/main" noGrp="1"/>
          </p:cNvSpPr>
          <p:nvPr/>
        </p:nvSpPr>
        <p:spPr>
          <a:xfrm xmlns:a="http://schemas.openxmlformats.org/drawingml/2006/main">
            <a:off x="1188720" y="4142232"/>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8" name="Text 34">
            <a:extLst xmlns:a="http://schemas.openxmlformats.org/drawingml/2006/main">
              <a:ext uri="{FF2B5EF4-FFF2-40B4-BE49-F238E27FC236}">
                <a16:creationId xmlns:a16="http://schemas.microsoft.com/office/drawing/2014/main" id="{BE12A197-64D3-4D68-8823-9332CD2BC066}"/>
              </a:ext>
            </a:extLst>
          </p:cNvPr>
          <p:cNvSpPr>
            <a:spLocks xmlns:a="http://schemas.openxmlformats.org/drawingml/2006/main" noGrp="1"/>
          </p:cNvSpPr>
          <p:nvPr/>
        </p:nvSpPr>
        <p:spPr>
          <a:xfrm xmlns:a="http://schemas.openxmlformats.org/drawingml/2006/main">
            <a:off x="1188720" y="4215384"/>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FE126BFF-B00F-4FD1-8637-ADACF82D12C6}"/>
              </a:ext>
            </a:extLst>
          </p:cNvPr>
          <p:cNvSpPr>
            <a:spLocks xmlns:a="http://schemas.openxmlformats.org/drawingml/2006/main" noGrp="1"/>
          </p:cNvSpPr>
          <p:nvPr/>
        </p:nvSpPr>
        <p:spPr>
          <a:xfrm xmlns:a="http://schemas.openxmlformats.org/drawingml/2006/main">
            <a:off x="1691640" y="4215384"/>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랭킹</a:t>
            </a:r>
          </a:p>
        </p:txBody>
      </p:sp>
      <p:sp>
        <p:nvSpPr>
          <p:cNvPr id="40" name="Text 36">
            <a:extLst xmlns:a="http://schemas.openxmlformats.org/drawingml/2006/main">
              <a:ext uri="{FF2B5EF4-FFF2-40B4-BE49-F238E27FC236}">
                <a16:creationId xmlns:a16="http://schemas.microsoft.com/office/drawing/2014/main" id="{29C6F7C8-3F94-49B1-93AE-17770F03CEDF}"/>
              </a:ext>
            </a:extLst>
          </p:cNvPr>
          <p:cNvSpPr>
            <a:spLocks xmlns:a="http://schemas.openxmlformats.org/drawingml/2006/main" noGrp="1"/>
          </p:cNvSpPr>
          <p:nvPr/>
        </p:nvSpPr>
        <p:spPr>
          <a:xfrm xmlns:a="http://schemas.openxmlformats.org/drawingml/2006/main">
            <a:off x="5943600" y="4215384"/>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카테고리·업무 +30 · 키워드 +10 · 기존 담당 후보 +50</a:t>
            </a:r>
          </a:p>
        </p:txBody>
      </p:sp>
      <p:sp>
        <p:nvSpPr>
          <p:cNvPr id="41" name="Shape 37">
            <a:extLst xmlns:a="http://schemas.openxmlformats.org/drawingml/2006/main">
              <a:ext uri="{FF2B5EF4-FFF2-40B4-BE49-F238E27FC236}">
                <a16:creationId xmlns:a16="http://schemas.microsoft.com/office/drawing/2014/main" id="{ECC18854-3364-48FF-937E-E2F679571BB2}"/>
              </a:ext>
            </a:extLst>
          </p:cNvPr>
          <p:cNvSpPr>
            <a:spLocks xmlns:a="http://schemas.openxmlformats.org/drawingml/2006/main" noGrp="1"/>
          </p:cNvSpPr>
          <p:nvPr/>
        </p:nvSpPr>
        <p:spPr>
          <a:xfrm xmlns:a="http://schemas.openxmlformats.org/drawingml/2006/main">
            <a:off x="1188720" y="4709160"/>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2" name="Text 38">
            <a:extLst xmlns:a="http://schemas.openxmlformats.org/drawingml/2006/main">
              <a:ext uri="{FF2B5EF4-FFF2-40B4-BE49-F238E27FC236}">
                <a16:creationId xmlns:a16="http://schemas.microsoft.com/office/drawing/2014/main" id="{F0B13506-7511-445C-BFD6-3FF73FE0FEC6}"/>
              </a:ext>
            </a:extLst>
          </p:cNvPr>
          <p:cNvSpPr>
            <a:spLocks xmlns:a="http://schemas.openxmlformats.org/drawingml/2006/main" noGrp="1"/>
          </p:cNvSpPr>
          <p:nvPr/>
        </p:nvSpPr>
        <p:spPr>
          <a:xfrm xmlns:a="http://schemas.openxmlformats.org/drawingml/2006/main">
            <a:off x="1188720" y="4782312"/>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5</a:t>
            </a:r>
          </a:p>
        </p:txBody>
      </p:sp>
      <p:sp>
        <p:nvSpPr>
          <p:cNvPr id="43" name="Text 39">
            <a:extLst xmlns:a="http://schemas.openxmlformats.org/drawingml/2006/main">
              <a:ext uri="{FF2B5EF4-FFF2-40B4-BE49-F238E27FC236}">
                <a16:creationId xmlns:a16="http://schemas.microsoft.com/office/drawing/2014/main" id="{D7AEB1C1-40E0-4AEB-9361-A156B93525E4}"/>
              </a:ext>
            </a:extLst>
          </p:cNvPr>
          <p:cNvSpPr>
            <a:spLocks xmlns:a="http://schemas.openxmlformats.org/drawingml/2006/main" noGrp="1"/>
          </p:cNvSpPr>
          <p:nvPr/>
        </p:nvSpPr>
        <p:spPr>
          <a:xfrm xmlns:a="http://schemas.openxmlformats.org/drawingml/2006/main">
            <a:off x="1691640" y="4782312"/>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출력</a:t>
            </a:r>
          </a:p>
        </p:txBody>
      </p:sp>
      <p:sp>
        <p:nvSpPr>
          <p:cNvPr id="44" name="Text 40">
            <a:extLst xmlns:a="http://schemas.openxmlformats.org/drawingml/2006/main">
              <a:ext uri="{FF2B5EF4-FFF2-40B4-BE49-F238E27FC236}">
                <a16:creationId xmlns:a16="http://schemas.microsoft.com/office/drawing/2014/main" id="{843397BE-3419-4860-A8AF-18F669528E95}"/>
              </a:ext>
            </a:extLst>
          </p:cNvPr>
          <p:cNvSpPr>
            <a:spLocks xmlns:a="http://schemas.openxmlformats.org/drawingml/2006/main" noGrp="1"/>
          </p:cNvSpPr>
          <p:nvPr/>
        </p:nvSpPr>
        <p:spPr>
          <a:xfrm xmlns:a="http://schemas.openxmlformats.org/drawingml/2006/main">
            <a:off x="5943600" y="4782312"/>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주관 1순위 · 협조 2·3순위 · 연락처 · 업무·매칭 근거</a:t>
            </a:r>
          </a:p>
        </p:txBody>
      </p:sp>
      <p:sp>
        <p:nvSpPr>
          <p:cNvPr id="45" name="Shape 41">
            <a:extLst xmlns:a="http://schemas.openxmlformats.org/drawingml/2006/main">
              <a:ext uri="{FF2B5EF4-FFF2-40B4-BE49-F238E27FC236}">
                <a16:creationId xmlns:a16="http://schemas.microsoft.com/office/drawing/2014/main" id="{72462C4C-B015-41EB-AECE-548374F580FD}"/>
              </a:ext>
            </a:extLst>
          </p:cNvPr>
          <p:cNvSpPr>
            <a:spLocks xmlns:a="http://schemas.openxmlformats.org/drawingml/2006/main" noGrp="1"/>
          </p:cNvSpPr>
          <p:nvPr/>
        </p:nvSpPr>
        <p:spPr>
          <a:xfrm xmlns:a="http://schemas.openxmlformats.org/drawingml/2006/main">
            <a:off x="1188720" y="5276088"/>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6" name="Text 42">
            <a:extLst xmlns:a="http://schemas.openxmlformats.org/drawingml/2006/main">
              <a:ext uri="{FF2B5EF4-FFF2-40B4-BE49-F238E27FC236}">
                <a16:creationId xmlns:a16="http://schemas.microsoft.com/office/drawing/2014/main" id="{CC917FD3-6836-418B-B99C-E34649A0470D}"/>
              </a:ext>
            </a:extLst>
          </p:cNvPr>
          <p:cNvSpPr>
            <a:spLocks xmlns:a="http://schemas.openxmlformats.org/drawingml/2006/main" noGrp="1"/>
          </p:cNvSpPr>
          <p:nvPr/>
        </p:nvSpPr>
        <p:spPr>
          <a:xfrm xmlns:a="http://schemas.openxmlformats.org/drawingml/2006/main">
            <a:off x="1188720" y="534924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6</a:t>
            </a:r>
          </a:p>
        </p:txBody>
      </p:sp>
      <p:sp>
        <p:nvSpPr>
          <p:cNvPr id="47" name="Text 43">
            <a:extLst xmlns:a="http://schemas.openxmlformats.org/drawingml/2006/main">
              <a:ext uri="{FF2B5EF4-FFF2-40B4-BE49-F238E27FC236}">
                <a16:creationId xmlns:a16="http://schemas.microsoft.com/office/drawing/2014/main" id="{BCDE62F1-DB64-4722-89A9-C04B0146BAF1}"/>
              </a:ext>
            </a:extLst>
          </p:cNvPr>
          <p:cNvSpPr>
            <a:spLocks xmlns:a="http://schemas.openxmlformats.org/drawingml/2006/main" noGrp="1"/>
          </p:cNvSpPr>
          <p:nvPr/>
        </p:nvSpPr>
        <p:spPr>
          <a:xfrm xmlns:a="http://schemas.openxmlformats.org/drawingml/2006/main">
            <a:off x="1691640" y="534924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검색 규칙</a:t>
            </a:r>
          </a:p>
        </p:txBody>
      </p:sp>
      <p:sp>
        <p:nvSpPr>
          <p:cNvPr id="48" name="Text 44">
            <a:extLst xmlns:a="http://schemas.openxmlformats.org/drawingml/2006/main">
              <a:ext uri="{FF2B5EF4-FFF2-40B4-BE49-F238E27FC236}">
                <a16:creationId xmlns:a16="http://schemas.microsoft.com/office/drawing/2014/main" id="{4AFA8B1B-16F1-411A-9B3C-13E13BFC1B44}"/>
              </a:ext>
            </a:extLst>
          </p:cNvPr>
          <p:cNvSpPr>
            <a:spLocks xmlns:a="http://schemas.openxmlformats.org/drawingml/2006/main" noGrp="1"/>
          </p:cNvSpPr>
          <p:nvPr/>
        </p:nvSpPr>
        <p:spPr>
          <a:xfrm xmlns:a="http://schemas.openxmlformats.org/drawingml/2006/main">
            <a:off x="5943600" y="534924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전체+팀은 1·2·3순위 / 대분류+팀은 분류 범위와 교차</a:t>
            </a:r>
          </a:p>
        </p:txBody>
      </p:sp>
      <p:sp>
        <p:nvSpPr>
          <p:cNvPr id="49" name="Shape 45">
            <a:extLst xmlns:a="http://schemas.openxmlformats.org/drawingml/2006/main">
              <a:ext uri="{FF2B5EF4-FFF2-40B4-BE49-F238E27FC236}">
                <a16:creationId xmlns:a16="http://schemas.microsoft.com/office/drawing/2014/main" id="{2A15DDA8-B758-4E13-9269-2B33E1954AAD}"/>
              </a:ext>
            </a:extLst>
          </p:cNvPr>
          <p:cNvSpPr>
            <a:spLocks xmlns:a="http://schemas.openxmlformats.org/drawingml/2006/main" noGrp="1"/>
          </p:cNvSpPr>
          <p:nvPr/>
        </p:nvSpPr>
        <p:spPr>
          <a:xfrm xmlns:a="http://schemas.openxmlformats.org/drawingml/2006/main">
            <a:off x="1188720" y="584301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Tree>
    <p:extLst>
      <p:ext uri="{BB962C8B-B14F-4D97-AF65-F5344CB8AC3E}">
        <p14:creationId xmlns:p14="http://schemas.microsoft.com/office/powerpoint/2010/main" val="591009332"/>
      </p:ext>
    </p:extLst>
  </p:cSld>
</p:sld>
</file>

<file path=ppt/slides/slide24.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5456CDC-DB89-4717-8375-7C6E46AF8D83}"/>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BA56DE2-54C6-4C69-8382-2730E121D73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C96557E-8967-4DE1-BDE3-FD51B6F11E9F}"/>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1F658C7C-1AAC-435D-8845-AAE2D5BD493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84b72124cff54f55"/>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2582327-9CD4-4017-ADDF-A1465880DF6E}"/>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2AD45906-AACC-465A-9973-69AA1D2511E2}"/>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2980519-33C0-4975-AAFE-3D5FC6CF594A}"/>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F556BF4-7389-4B72-B8A0-EEA16F5B504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43544330-6ACC-4366-BA70-7EE2C3AC7CF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3CDFA4A4-EAAF-4F6C-BF39-23413A8D62A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84b72124cff54f55"/>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995FAA8C-5B1E-4F74-A576-8FDAFD5627BB}"/>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APPENDIX D · 산출물</a:t>
            </a:r>
          </a:p>
        </p:txBody>
      </p:sp>
      <p:sp>
        <p:nvSpPr>
          <p:cNvPr id="15" name="Shape 11">
            <a:extLst xmlns:a="http://schemas.openxmlformats.org/drawingml/2006/main">
              <a:ext uri="{FF2B5EF4-FFF2-40B4-BE49-F238E27FC236}">
                <a16:creationId xmlns:a16="http://schemas.microsoft.com/office/drawing/2014/main" id="{4B2B36C4-BE5F-45EB-9F39-24BD651CF63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A8C62F1D-58EC-47AC-A345-ABD726955A6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B41529D3-D072-4EAE-ADDC-C81ECB9CB9A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D517BE0B-2727-4F1D-8618-0EF687DB909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9448854-F798-4B3E-A9E4-E1B29F7C1E0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15693E6-2F73-4646-9020-65BED9C94DB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094549DF-8F8D-4CE4-A6EE-ABF7B88AB11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64A99AC-2318-4249-9D2B-AA1BA87EA96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2157A890-0F8F-4BF5-910D-411B174E846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C8D5F0E6-1A37-44B2-AC43-1CA1737B0F74}"/>
              </a:ext>
            </a:extLst>
          </p:cNvPr>
          <p:cNvSpPr>
            <a:spLocks xmlns:a="http://schemas.openxmlformats.org/drawingml/2006/main" noGrp="1"/>
          </p:cNvSpPr>
          <p:nvPr/>
        </p:nvSpPr>
        <p:spPr>
          <a:xfrm xmlns:a="http://schemas.openxmlformats.org/drawingml/2006/main">
            <a:off x="0" y="10515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DELIVERABLES · 실제 파일 기준</a:t>
            </a:r>
          </a:p>
        </p:txBody>
      </p:sp>
      <p:sp>
        <p:nvSpPr>
          <p:cNvPr id="25" name="Text 21">
            <a:extLst xmlns:a="http://schemas.openxmlformats.org/drawingml/2006/main">
              <a:ext uri="{FF2B5EF4-FFF2-40B4-BE49-F238E27FC236}">
                <a16:creationId xmlns:a16="http://schemas.microsoft.com/office/drawing/2014/main" id="{C7C26C48-FFE7-47F9-93F5-A8CFCF159A74}"/>
              </a:ext>
            </a:extLst>
          </p:cNvPr>
          <p:cNvSpPr>
            <a:spLocks xmlns:a="http://schemas.openxmlformats.org/drawingml/2006/main" noGrp="1"/>
          </p:cNvSpPr>
          <p:nvPr/>
        </p:nvSpPr>
        <p:spPr>
          <a:xfrm xmlns:a="http://schemas.openxmlformats.org/drawingml/2006/main">
            <a:off x="548640" y="137160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800" b="1">
                <a:solidFill>
                  <a:srgbClr val="1B2340"/>
                </a:solidFill>
                <a:latin typeface="Malgun Gothic"/>
                <a:ea typeface="Malgun Gothic"/>
                <a:cs typeface="Malgun Gothic"/>
              </a:rPr>
              <a:t>로드맵 요구사항과 확인 가능한 산출물</a:t>
            </a:r>
          </a:p>
        </p:txBody>
      </p:sp>
      <p:sp>
        <p:nvSpPr>
          <p:cNvPr id="26" name="Text 22">
            <a:extLst xmlns:a="http://schemas.openxmlformats.org/drawingml/2006/main">
              <a:ext uri="{FF2B5EF4-FFF2-40B4-BE49-F238E27FC236}">
                <a16:creationId xmlns:a16="http://schemas.microsoft.com/office/drawing/2014/main" id="{7B2C155C-D545-470D-B1E0-3568845AD971}"/>
              </a:ext>
            </a:extLst>
          </p:cNvPr>
          <p:cNvSpPr>
            <a:spLocks xmlns:a="http://schemas.openxmlformats.org/drawingml/2006/main" noGrp="1"/>
          </p:cNvSpPr>
          <p:nvPr/>
        </p:nvSpPr>
        <p:spPr>
          <a:xfrm xmlns:a="http://schemas.openxmlformats.org/drawingml/2006/main">
            <a:off x="1188720" y="251460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04C2E2DA-9F42-420B-BEA0-6BE31AC53A8F}"/>
              </a:ext>
            </a:extLst>
          </p:cNvPr>
          <p:cNvSpPr>
            <a:spLocks xmlns:a="http://schemas.openxmlformats.org/drawingml/2006/main" noGrp="1"/>
          </p:cNvSpPr>
          <p:nvPr/>
        </p:nvSpPr>
        <p:spPr>
          <a:xfrm xmlns:a="http://schemas.openxmlformats.org/drawingml/2006/main">
            <a:off x="1691640" y="251460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시스템 기획·PRD</a:t>
            </a:r>
          </a:p>
        </p:txBody>
      </p:sp>
      <p:sp>
        <p:nvSpPr>
          <p:cNvPr id="28" name="Text 24">
            <a:extLst xmlns:a="http://schemas.openxmlformats.org/drawingml/2006/main">
              <a:ext uri="{FF2B5EF4-FFF2-40B4-BE49-F238E27FC236}">
                <a16:creationId xmlns:a16="http://schemas.microsoft.com/office/drawing/2014/main" id="{A46BE384-2EEA-48F0-A853-9E9A2A74EEBA}"/>
              </a:ext>
            </a:extLst>
          </p:cNvPr>
          <p:cNvSpPr>
            <a:spLocks xmlns:a="http://schemas.openxmlformats.org/drawingml/2006/main" noGrp="1"/>
          </p:cNvSpPr>
          <p:nvPr/>
        </p:nvSpPr>
        <p:spPr>
          <a:xfrm xmlns:a="http://schemas.openxmlformats.org/drawingml/2006/main">
            <a:off x="5943600" y="251460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docs/SYSTEM_DESIGN_PRD_ver3.md</a:t>
            </a:r>
          </a:p>
        </p:txBody>
      </p:sp>
      <p:sp>
        <p:nvSpPr>
          <p:cNvPr id="29" name="Shape 25">
            <a:extLst xmlns:a="http://schemas.openxmlformats.org/drawingml/2006/main">
              <a:ext uri="{FF2B5EF4-FFF2-40B4-BE49-F238E27FC236}">
                <a16:creationId xmlns:a16="http://schemas.microsoft.com/office/drawing/2014/main" id="{55F7B87E-D265-48EB-AFC7-4844AC3C7079}"/>
              </a:ext>
            </a:extLst>
          </p:cNvPr>
          <p:cNvSpPr>
            <a:spLocks xmlns:a="http://schemas.openxmlformats.org/drawingml/2006/main" noGrp="1"/>
          </p:cNvSpPr>
          <p:nvPr/>
        </p:nvSpPr>
        <p:spPr>
          <a:xfrm xmlns:a="http://schemas.openxmlformats.org/drawingml/2006/main">
            <a:off x="1188720" y="300837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0" name="Text 26">
            <a:extLst xmlns:a="http://schemas.openxmlformats.org/drawingml/2006/main">
              <a:ext uri="{FF2B5EF4-FFF2-40B4-BE49-F238E27FC236}">
                <a16:creationId xmlns:a16="http://schemas.microsoft.com/office/drawing/2014/main" id="{4AD37972-35E0-421B-B4E2-375A1F97F294}"/>
              </a:ext>
            </a:extLst>
          </p:cNvPr>
          <p:cNvSpPr>
            <a:spLocks xmlns:a="http://schemas.openxmlformats.org/drawingml/2006/main" noGrp="1"/>
          </p:cNvSpPr>
          <p:nvPr/>
        </p:nvSpPr>
        <p:spPr>
          <a:xfrm xmlns:a="http://schemas.openxmlformats.org/drawingml/2006/main">
            <a:off x="1188720" y="3081528"/>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7D04B64D-2AAA-41D2-A0C7-D35BA2DA2C7A}"/>
              </a:ext>
            </a:extLst>
          </p:cNvPr>
          <p:cNvSpPr>
            <a:spLocks xmlns:a="http://schemas.openxmlformats.org/drawingml/2006/main" noGrp="1"/>
          </p:cNvSpPr>
          <p:nvPr/>
        </p:nvSpPr>
        <p:spPr>
          <a:xfrm xmlns:a="http://schemas.openxmlformats.org/drawingml/2006/main">
            <a:off x="1691640" y="3081528"/>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데이터분석 정의서</a:t>
            </a:r>
          </a:p>
        </p:txBody>
      </p:sp>
      <p:sp>
        <p:nvSpPr>
          <p:cNvPr id="32" name="Text 28">
            <a:extLst xmlns:a="http://schemas.openxmlformats.org/drawingml/2006/main">
              <a:ext uri="{FF2B5EF4-FFF2-40B4-BE49-F238E27FC236}">
                <a16:creationId xmlns:a16="http://schemas.microsoft.com/office/drawing/2014/main" id="{C720B9B3-DAC6-44EA-A498-EDBDDD69D51B}"/>
              </a:ext>
            </a:extLst>
          </p:cNvPr>
          <p:cNvSpPr>
            <a:spLocks xmlns:a="http://schemas.openxmlformats.org/drawingml/2006/main" noGrp="1"/>
          </p:cNvSpPr>
          <p:nvPr/>
        </p:nvSpPr>
        <p:spPr>
          <a:xfrm xmlns:a="http://schemas.openxmlformats.org/drawingml/2006/main">
            <a:off x="5943600" y="3081528"/>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docs/데이터분석정의서_ver3.md</a:t>
            </a:r>
          </a:p>
        </p:txBody>
      </p:sp>
      <p:sp>
        <p:nvSpPr>
          <p:cNvPr id="33" name="Shape 29">
            <a:extLst xmlns:a="http://schemas.openxmlformats.org/drawingml/2006/main">
              <a:ext uri="{FF2B5EF4-FFF2-40B4-BE49-F238E27FC236}">
                <a16:creationId xmlns:a16="http://schemas.microsoft.com/office/drawing/2014/main" id="{DC6DCB87-0749-4BDD-9D8C-DB067BAAE9F9}"/>
              </a:ext>
            </a:extLst>
          </p:cNvPr>
          <p:cNvSpPr>
            <a:spLocks xmlns:a="http://schemas.openxmlformats.org/drawingml/2006/main" noGrp="1"/>
          </p:cNvSpPr>
          <p:nvPr/>
        </p:nvSpPr>
        <p:spPr>
          <a:xfrm xmlns:a="http://schemas.openxmlformats.org/drawingml/2006/main">
            <a:off x="1188720" y="3575304"/>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4" name="Text 30">
            <a:extLst xmlns:a="http://schemas.openxmlformats.org/drawingml/2006/main">
              <a:ext uri="{FF2B5EF4-FFF2-40B4-BE49-F238E27FC236}">
                <a16:creationId xmlns:a16="http://schemas.microsoft.com/office/drawing/2014/main" id="{7F80AE9D-D0DB-4A92-B682-91EE5087D0D3}"/>
              </a:ext>
            </a:extLst>
          </p:cNvPr>
          <p:cNvSpPr>
            <a:spLocks xmlns:a="http://schemas.openxmlformats.org/drawingml/2006/main" noGrp="1"/>
          </p:cNvSpPr>
          <p:nvPr/>
        </p:nvSpPr>
        <p:spPr>
          <a:xfrm xmlns:a="http://schemas.openxmlformats.org/drawingml/2006/main">
            <a:off x="1188720" y="3648456"/>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70739ED0-CED6-416A-844B-B4EE7CE7CE49}"/>
              </a:ext>
            </a:extLst>
          </p:cNvPr>
          <p:cNvSpPr>
            <a:spLocks xmlns:a="http://schemas.openxmlformats.org/drawingml/2006/main" noGrp="1"/>
          </p:cNvSpPr>
          <p:nvPr/>
        </p:nvSpPr>
        <p:spPr>
          <a:xfrm xmlns:a="http://schemas.openxmlformats.org/drawingml/2006/main">
            <a:off x="1691640" y="3648456"/>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발표 대본·시연</a:t>
            </a:r>
          </a:p>
        </p:txBody>
      </p:sp>
      <p:sp>
        <p:nvSpPr>
          <p:cNvPr id="36" name="Text 32">
            <a:extLst xmlns:a="http://schemas.openxmlformats.org/drawingml/2006/main">
              <a:ext uri="{FF2B5EF4-FFF2-40B4-BE49-F238E27FC236}">
                <a16:creationId xmlns:a16="http://schemas.microsoft.com/office/drawing/2014/main" id="{9DC5FB55-0795-483C-8338-BC310EB44ABB}"/>
              </a:ext>
            </a:extLst>
          </p:cNvPr>
          <p:cNvSpPr>
            <a:spLocks xmlns:a="http://schemas.openxmlformats.org/drawingml/2006/main" noGrp="1"/>
          </p:cNvSpPr>
          <p:nvPr/>
        </p:nvSpPr>
        <p:spPr>
          <a:xfrm xmlns:a="http://schemas.openxmlformats.org/drawingml/2006/main">
            <a:off x="5943600" y="3648456"/>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docs/발표자료/발표_대본_PPT구성_ver14.md</a:t>
            </a:r>
          </a:p>
        </p:txBody>
      </p:sp>
      <p:sp>
        <p:nvSpPr>
          <p:cNvPr id="37" name="Shape 33">
            <a:extLst xmlns:a="http://schemas.openxmlformats.org/drawingml/2006/main">
              <a:ext uri="{FF2B5EF4-FFF2-40B4-BE49-F238E27FC236}">
                <a16:creationId xmlns:a16="http://schemas.microsoft.com/office/drawing/2014/main" id="{56A17034-3FDE-4D00-8636-F092A26C302E}"/>
              </a:ext>
            </a:extLst>
          </p:cNvPr>
          <p:cNvSpPr>
            <a:spLocks xmlns:a="http://schemas.openxmlformats.org/drawingml/2006/main" noGrp="1"/>
          </p:cNvSpPr>
          <p:nvPr/>
        </p:nvSpPr>
        <p:spPr>
          <a:xfrm xmlns:a="http://schemas.openxmlformats.org/drawingml/2006/main">
            <a:off x="1188720" y="4142232"/>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8" name="Text 34">
            <a:extLst xmlns:a="http://schemas.openxmlformats.org/drawingml/2006/main">
              <a:ext uri="{FF2B5EF4-FFF2-40B4-BE49-F238E27FC236}">
                <a16:creationId xmlns:a16="http://schemas.microsoft.com/office/drawing/2014/main" id="{BE12A197-64D3-4D68-8823-9332CD2BC066}"/>
              </a:ext>
            </a:extLst>
          </p:cNvPr>
          <p:cNvSpPr>
            <a:spLocks xmlns:a="http://schemas.openxmlformats.org/drawingml/2006/main" noGrp="1"/>
          </p:cNvSpPr>
          <p:nvPr/>
        </p:nvSpPr>
        <p:spPr>
          <a:xfrm xmlns:a="http://schemas.openxmlformats.org/drawingml/2006/main">
            <a:off x="1188720" y="4215384"/>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FE126BFF-B00F-4FD1-8637-ADACF82D12C6}"/>
              </a:ext>
            </a:extLst>
          </p:cNvPr>
          <p:cNvSpPr>
            <a:spLocks xmlns:a="http://schemas.openxmlformats.org/drawingml/2006/main" noGrp="1"/>
          </p:cNvSpPr>
          <p:nvPr/>
        </p:nvSpPr>
        <p:spPr>
          <a:xfrm xmlns:a="http://schemas.openxmlformats.org/drawingml/2006/main">
            <a:off x="1691640" y="4215384"/>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프론트엔드</a:t>
            </a:r>
          </a:p>
        </p:txBody>
      </p:sp>
      <p:sp>
        <p:nvSpPr>
          <p:cNvPr id="40" name="Text 36">
            <a:extLst xmlns:a="http://schemas.openxmlformats.org/drawingml/2006/main">
              <a:ext uri="{FF2B5EF4-FFF2-40B4-BE49-F238E27FC236}">
                <a16:creationId xmlns:a16="http://schemas.microsoft.com/office/drawing/2014/main" id="{29C6F7C8-3F94-49B1-93AE-17770F03CEDF}"/>
              </a:ext>
            </a:extLst>
          </p:cNvPr>
          <p:cNvSpPr>
            <a:spLocks xmlns:a="http://schemas.openxmlformats.org/drawingml/2006/main" noGrp="1"/>
          </p:cNvSpPr>
          <p:nvPr/>
        </p:nvSpPr>
        <p:spPr>
          <a:xfrm xmlns:a="http://schemas.openxmlformats.org/drawingml/2006/main">
            <a:off x="5943600" y="4215384"/>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React·TypeScript·Vite / frontend/src/App.tsx</a:t>
            </a:r>
          </a:p>
        </p:txBody>
      </p:sp>
      <p:sp>
        <p:nvSpPr>
          <p:cNvPr id="41" name="Shape 37">
            <a:extLst xmlns:a="http://schemas.openxmlformats.org/drawingml/2006/main">
              <a:ext uri="{FF2B5EF4-FFF2-40B4-BE49-F238E27FC236}">
                <a16:creationId xmlns:a16="http://schemas.microsoft.com/office/drawing/2014/main" id="{ECC18854-3364-48FF-937E-E2F679571BB2}"/>
              </a:ext>
            </a:extLst>
          </p:cNvPr>
          <p:cNvSpPr>
            <a:spLocks xmlns:a="http://schemas.openxmlformats.org/drawingml/2006/main" noGrp="1"/>
          </p:cNvSpPr>
          <p:nvPr/>
        </p:nvSpPr>
        <p:spPr>
          <a:xfrm xmlns:a="http://schemas.openxmlformats.org/drawingml/2006/main">
            <a:off x="1188720" y="4709160"/>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2" name="Text 38">
            <a:extLst xmlns:a="http://schemas.openxmlformats.org/drawingml/2006/main">
              <a:ext uri="{FF2B5EF4-FFF2-40B4-BE49-F238E27FC236}">
                <a16:creationId xmlns:a16="http://schemas.microsoft.com/office/drawing/2014/main" id="{F0B13506-7511-445C-BFD6-3FF73FE0FEC6}"/>
              </a:ext>
            </a:extLst>
          </p:cNvPr>
          <p:cNvSpPr>
            <a:spLocks xmlns:a="http://schemas.openxmlformats.org/drawingml/2006/main" noGrp="1"/>
          </p:cNvSpPr>
          <p:nvPr/>
        </p:nvSpPr>
        <p:spPr>
          <a:xfrm xmlns:a="http://schemas.openxmlformats.org/drawingml/2006/main">
            <a:off x="1188720" y="4782312"/>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5</a:t>
            </a:r>
          </a:p>
        </p:txBody>
      </p:sp>
      <p:sp>
        <p:nvSpPr>
          <p:cNvPr id="43" name="Text 39">
            <a:extLst xmlns:a="http://schemas.openxmlformats.org/drawingml/2006/main">
              <a:ext uri="{FF2B5EF4-FFF2-40B4-BE49-F238E27FC236}">
                <a16:creationId xmlns:a16="http://schemas.microsoft.com/office/drawing/2014/main" id="{D7AEB1C1-40E0-4AEB-9361-A156B93525E4}"/>
              </a:ext>
            </a:extLst>
          </p:cNvPr>
          <p:cNvSpPr>
            <a:spLocks xmlns:a="http://schemas.openxmlformats.org/drawingml/2006/main" noGrp="1"/>
          </p:cNvSpPr>
          <p:nvPr/>
        </p:nvSpPr>
        <p:spPr>
          <a:xfrm xmlns:a="http://schemas.openxmlformats.org/drawingml/2006/main">
            <a:off x="1691640" y="4782312"/>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데이터 검사</a:t>
            </a:r>
          </a:p>
        </p:txBody>
      </p:sp>
      <p:sp>
        <p:nvSpPr>
          <p:cNvPr id="44" name="Text 40">
            <a:extLst xmlns:a="http://schemas.openxmlformats.org/drawingml/2006/main">
              <a:ext uri="{FF2B5EF4-FFF2-40B4-BE49-F238E27FC236}">
                <a16:creationId xmlns:a16="http://schemas.microsoft.com/office/drawing/2014/main" id="{843397BE-3419-4860-A8AF-18F669528E95}"/>
              </a:ext>
            </a:extLst>
          </p:cNvPr>
          <p:cNvSpPr>
            <a:spLocks xmlns:a="http://schemas.openxmlformats.org/drawingml/2006/main" noGrp="1"/>
          </p:cNvSpPr>
          <p:nvPr/>
        </p:nvSpPr>
        <p:spPr>
          <a:xfrm xmlns:a="http://schemas.openxmlformats.org/drawingml/2006/main">
            <a:off x="5943600" y="4782312"/>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Python 동기화·정합성 검사 스크립트</a:t>
            </a:r>
          </a:p>
        </p:txBody>
      </p:sp>
      <p:sp>
        <p:nvSpPr>
          <p:cNvPr id="45" name="Shape 41">
            <a:extLst xmlns:a="http://schemas.openxmlformats.org/drawingml/2006/main">
              <a:ext uri="{FF2B5EF4-FFF2-40B4-BE49-F238E27FC236}">
                <a16:creationId xmlns:a16="http://schemas.microsoft.com/office/drawing/2014/main" id="{72462C4C-B015-41EB-AECE-548374F580FD}"/>
              </a:ext>
            </a:extLst>
          </p:cNvPr>
          <p:cNvSpPr>
            <a:spLocks xmlns:a="http://schemas.openxmlformats.org/drawingml/2006/main" noGrp="1"/>
          </p:cNvSpPr>
          <p:nvPr/>
        </p:nvSpPr>
        <p:spPr>
          <a:xfrm xmlns:a="http://schemas.openxmlformats.org/drawingml/2006/main">
            <a:off x="1188720" y="5276088"/>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6" name="Text 42">
            <a:extLst xmlns:a="http://schemas.openxmlformats.org/drawingml/2006/main">
              <a:ext uri="{FF2B5EF4-FFF2-40B4-BE49-F238E27FC236}">
                <a16:creationId xmlns:a16="http://schemas.microsoft.com/office/drawing/2014/main" id="{CC917FD3-6836-418B-B99C-E34649A0470D}"/>
              </a:ext>
            </a:extLst>
          </p:cNvPr>
          <p:cNvSpPr>
            <a:spLocks xmlns:a="http://schemas.openxmlformats.org/drawingml/2006/main" noGrp="1"/>
          </p:cNvSpPr>
          <p:nvPr/>
        </p:nvSpPr>
        <p:spPr>
          <a:xfrm xmlns:a="http://schemas.openxmlformats.org/drawingml/2006/main">
            <a:off x="1188720" y="534924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6</a:t>
            </a:r>
          </a:p>
        </p:txBody>
      </p:sp>
      <p:sp>
        <p:nvSpPr>
          <p:cNvPr id="47" name="Text 43">
            <a:extLst xmlns:a="http://schemas.openxmlformats.org/drawingml/2006/main">
              <a:ext uri="{FF2B5EF4-FFF2-40B4-BE49-F238E27FC236}">
                <a16:creationId xmlns:a16="http://schemas.microsoft.com/office/drawing/2014/main" id="{BCDE62F1-DB64-4722-89A9-C04B0146BAF1}"/>
              </a:ext>
            </a:extLst>
          </p:cNvPr>
          <p:cNvSpPr>
            <a:spLocks xmlns:a="http://schemas.openxmlformats.org/drawingml/2006/main" noGrp="1"/>
          </p:cNvSpPr>
          <p:nvPr/>
        </p:nvSpPr>
        <p:spPr>
          <a:xfrm xmlns:a="http://schemas.openxmlformats.org/drawingml/2006/main">
            <a:off x="1691640" y="534924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배포·생성형 AI</a:t>
            </a:r>
          </a:p>
        </p:txBody>
      </p:sp>
      <p:sp>
        <p:nvSpPr>
          <p:cNvPr id="48" name="Text 44">
            <a:extLst xmlns:a="http://schemas.openxmlformats.org/drawingml/2006/main">
              <a:ext uri="{FF2B5EF4-FFF2-40B4-BE49-F238E27FC236}">
                <a16:creationId xmlns:a16="http://schemas.microsoft.com/office/drawing/2014/main" id="{4AFA8B1B-16F1-411A-9B3C-13E13BFC1B44}"/>
              </a:ext>
            </a:extLst>
          </p:cNvPr>
          <p:cNvSpPr>
            <a:spLocks xmlns:a="http://schemas.openxmlformats.org/drawingml/2006/main" noGrp="1"/>
          </p:cNvSpPr>
          <p:nvPr/>
        </p:nvSpPr>
        <p:spPr>
          <a:xfrm xmlns:a="http://schemas.openxmlformats.org/drawingml/2006/main">
            <a:off x="5943600" y="534924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Vercel / Gemini 초안 + 템플릿 Fallback</a:t>
            </a:r>
          </a:p>
        </p:txBody>
      </p:sp>
      <p:sp>
        <p:nvSpPr>
          <p:cNvPr id="49" name="Shape 45">
            <a:extLst xmlns:a="http://schemas.openxmlformats.org/drawingml/2006/main">
              <a:ext uri="{FF2B5EF4-FFF2-40B4-BE49-F238E27FC236}">
                <a16:creationId xmlns:a16="http://schemas.microsoft.com/office/drawing/2014/main" id="{2A15DDA8-B758-4E13-9269-2B33E1954AAD}"/>
              </a:ext>
            </a:extLst>
          </p:cNvPr>
          <p:cNvSpPr>
            <a:spLocks xmlns:a="http://schemas.openxmlformats.org/drawingml/2006/main" noGrp="1"/>
          </p:cNvSpPr>
          <p:nvPr/>
        </p:nvSpPr>
        <p:spPr>
          <a:xfrm xmlns:a="http://schemas.openxmlformats.org/drawingml/2006/main">
            <a:off x="1188720" y="584301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Tree>
    <p:extLst>
      <p:ext uri="{BB962C8B-B14F-4D97-AF65-F5344CB8AC3E}">
        <p14:creationId xmlns:p14="http://schemas.microsoft.com/office/powerpoint/2010/main" val="5910093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2026-07-26T09:18:04.3060000Z</dcterms:created>
  <dcterms:modified xsi:type="dcterms:W3CDTF">2026-07-26T09:18:04.3060000Z</dcterms:modified>
</coreProperties>
</file>