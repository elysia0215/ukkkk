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ff7ced46f94145" /><Relationship Type="http://schemas.openxmlformats.org/officeDocument/2006/relationships/extended-properties" Target="/docProps/app.xml" Id="R6a5d600ee05f4dc8" /><Relationship Type="http://schemas.openxmlformats.org/officeDocument/2006/relationships/officeDocument" Target="/ppt/presentation.xml" Id="R8b6805f53ac44f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71a056bdf406e"/>
  </p:sldMasterIdLst>
  <p:notesMasterIdLst>
    <p:notesMasterId xmlns:r="http://schemas.openxmlformats.org/officeDocument/2006/relationships" r:id="R5118c7033bd34390"/>
  </p:notesMasterIdLst>
  <p:sldIdLst>
    <p:sldId xmlns:r="http://schemas.openxmlformats.org/officeDocument/2006/relationships" id="256" r:id="R5b7118dc032a4d16"/>
    <p:sldId xmlns:r="http://schemas.openxmlformats.org/officeDocument/2006/relationships" id="257" r:id="R2004f1688cbf44ac"/>
    <p:sldId xmlns:r="http://schemas.openxmlformats.org/officeDocument/2006/relationships" id="258" r:id="R15e4d9b91f844c6b"/>
    <p:sldId xmlns:r="http://schemas.openxmlformats.org/officeDocument/2006/relationships" id="259" r:id="Ra392e27035a24ab8"/>
    <p:sldId xmlns:r="http://schemas.openxmlformats.org/officeDocument/2006/relationships" id="260" r:id="R87d839ff3c1f4cd3"/>
    <p:sldId xmlns:r="http://schemas.openxmlformats.org/officeDocument/2006/relationships" id="261" r:id="R057a2586e0164d2e"/>
    <p:sldId xmlns:r="http://schemas.openxmlformats.org/officeDocument/2006/relationships" id="262" r:id="R93d222ef4ec74a63"/>
    <p:sldId xmlns:r="http://schemas.openxmlformats.org/officeDocument/2006/relationships" id="263" r:id="R0a6a55533f9e4ea0"/>
    <p:sldId xmlns:r="http://schemas.openxmlformats.org/officeDocument/2006/relationships" id="264" r:id="R1cee474682ac4bab"/>
    <p:sldId xmlns:r="http://schemas.openxmlformats.org/officeDocument/2006/relationships" id="265" r:id="R70dafd131146423d"/>
    <p:sldId xmlns:r="http://schemas.openxmlformats.org/officeDocument/2006/relationships" id="266" r:id="R032c6ea944f74e45"/>
    <p:sldId xmlns:r="http://schemas.openxmlformats.org/officeDocument/2006/relationships" id="267" r:id="Reba1381a8f7841b9"/>
    <p:sldId xmlns:r="http://schemas.openxmlformats.org/officeDocument/2006/relationships" id="268" r:id="Re6c488e45e3f4f73"/>
    <p:sldId xmlns:r="http://schemas.openxmlformats.org/officeDocument/2006/relationships" id="269" r:id="R28bc9246d0c94a00"/>
    <p:sldId xmlns:r="http://schemas.openxmlformats.org/officeDocument/2006/relationships" id="270" r:id="Rd0eb124c8e5a4503"/>
    <p:sldId xmlns:r="http://schemas.openxmlformats.org/officeDocument/2006/relationships" id="271" r:id="R9f9e8e0893ae408c"/>
    <p:sldId xmlns:r="http://schemas.openxmlformats.org/officeDocument/2006/relationships" id="272" r:id="R6d94fc31639d4e18"/>
    <p:sldId xmlns:r="http://schemas.openxmlformats.org/officeDocument/2006/relationships" id="273" r:id="R9bba72f8e35d4815"/>
    <p:sldId xmlns:r="http://schemas.openxmlformats.org/officeDocument/2006/relationships" id="274" r:id="Re3c9300f466045e7"/>
    <p:sldId xmlns:r="http://schemas.openxmlformats.org/officeDocument/2006/relationships" id="275" r:id="R7b83269e28444a52"/>
    <p:sldId xmlns:r="http://schemas.openxmlformats.org/officeDocument/2006/relationships" id="276" r:id="Re9fd2780a07c4e2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f3b106ee4e4338" /><Relationship Type="http://schemas.openxmlformats.org/officeDocument/2006/relationships/slideMaster" Target="/ppt/slideMasters/slideMaster1.xml" Id="R3ac71a056bdf406e" /><Relationship Type="http://schemas.openxmlformats.org/officeDocument/2006/relationships/notesMaster" Target="/ppt/notesMasters/notesMaster1.xml" Id="R5118c7033bd34390" /><Relationship Type="http://schemas.openxmlformats.org/officeDocument/2006/relationships/presProps" Target="/ppt/presProps.xml" Id="Rd4764e28037d4db9" /><Relationship Type="http://schemas.openxmlformats.org/officeDocument/2006/relationships/viewProps" Target="/ppt/viewProps.xml" Id="R780dfb5e935f4ad4" /><Relationship Type="http://schemas.openxmlformats.org/officeDocument/2006/relationships/tableStyles" Target="/ppt/tableStyles.xml" Id="R563aa80c520d4c13" /><Relationship Type="http://schemas.openxmlformats.org/officeDocument/2006/relationships/slide" Target="/ppt/slides/slide1.xml" Id="R5b7118dc032a4d16" /><Relationship Type="http://schemas.openxmlformats.org/officeDocument/2006/relationships/slide" Target="/ppt/slides/slide2.xml" Id="R2004f1688cbf44ac" /><Relationship Type="http://schemas.openxmlformats.org/officeDocument/2006/relationships/slide" Target="/ppt/slides/slide3.xml" Id="R15e4d9b91f844c6b" /><Relationship Type="http://schemas.openxmlformats.org/officeDocument/2006/relationships/slide" Target="/ppt/slides/slide4.xml" Id="Ra392e27035a24ab8" /><Relationship Type="http://schemas.openxmlformats.org/officeDocument/2006/relationships/slide" Target="/ppt/slides/slide5.xml" Id="R87d839ff3c1f4cd3" /><Relationship Type="http://schemas.openxmlformats.org/officeDocument/2006/relationships/slide" Target="/ppt/slides/slide6.xml" Id="R057a2586e0164d2e" /><Relationship Type="http://schemas.openxmlformats.org/officeDocument/2006/relationships/slide" Target="/ppt/slides/slide7.xml" Id="R93d222ef4ec74a63" /><Relationship Type="http://schemas.openxmlformats.org/officeDocument/2006/relationships/slide" Target="/ppt/slides/slide8.xml" Id="R0a6a55533f9e4ea0" /><Relationship Type="http://schemas.openxmlformats.org/officeDocument/2006/relationships/slide" Target="/ppt/slides/slide9.xml" Id="R1cee474682ac4bab" /><Relationship Type="http://schemas.openxmlformats.org/officeDocument/2006/relationships/slide" Target="/ppt/slides/slide10.xml" Id="R70dafd131146423d" /><Relationship Type="http://schemas.openxmlformats.org/officeDocument/2006/relationships/slide" Target="/ppt/slides/slide11.xml" Id="R032c6ea944f74e45" /><Relationship Type="http://schemas.openxmlformats.org/officeDocument/2006/relationships/slide" Target="/ppt/slides/slide12.xml" Id="Reba1381a8f7841b9" /><Relationship Type="http://schemas.openxmlformats.org/officeDocument/2006/relationships/slide" Target="/ppt/slides/slide13.xml" Id="Re6c488e45e3f4f73" /><Relationship Type="http://schemas.openxmlformats.org/officeDocument/2006/relationships/slide" Target="/ppt/slides/slide14.xml" Id="R28bc9246d0c94a00" /><Relationship Type="http://schemas.openxmlformats.org/officeDocument/2006/relationships/slide" Target="/ppt/slides/slide15.xml" Id="Rd0eb124c8e5a4503" /><Relationship Type="http://schemas.openxmlformats.org/officeDocument/2006/relationships/slide" Target="/ppt/slides/slide16.xml" Id="R9f9e8e0893ae408c" /><Relationship Type="http://schemas.openxmlformats.org/officeDocument/2006/relationships/slide" Target="/ppt/slides/slide17.xml" Id="R6d94fc31639d4e18" /><Relationship Type="http://schemas.openxmlformats.org/officeDocument/2006/relationships/slide" Target="/ppt/slides/slide18.xml" Id="R9bba72f8e35d4815" /><Relationship Type="http://schemas.openxmlformats.org/officeDocument/2006/relationships/slide" Target="/ppt/slides/slide19.xml" Id="Re3c9300f466045e7" /><Relationship Type="http://schemas.openxmlformats.org/officeDocument/2006/relationships/slide" Target="/ppt/slides/slide20.xml" Id="R7b83269e28444a52" /><Relationship Type="http://schemas.openxmlformats.org/officeDocument/2006/relationships/slide" Target="/ppt/slides/slide21.xml" Id="Re9fd2780a07c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ad1fd2149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3eee9209ad4e86" /><Relationship Type="http://schemas.openxmlformats.org/officeDocument/2006/relationships/notesMaster" Target="/ppt/notesMasters/notesMaster1.xml" Id="Rfac2d5253ca346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59b33a2b1b4caa" /><Relationship Type="http://schemas.openxmlformats.org/officeDocument/2006/relationships/notesMaster" Target="/ppt/notesMasters/notesMaster1.xml" Id="Rc642d1328ab943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32b44b40ee42ae" /><Relationship Type="http://schemas.openxmlformats.org/officeDocument/2006/relationships/notesMaster" Target="/ppt/notesMasters/notesMaster1.xml" Id="R3217ee68a51846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324e4734fd4150" /><Relationship Type="http://schemas.openxmlformats.org/officeDocument/2006/relationships/notesMaster" Target="/ppt/notesMasters/notesMaster1.xml" Id="R71db2f611c5947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c7c26f72fd4a8a" /><Relationship Type="http://schemas.openxmlformats.org/officeDocument/2006/relationships/notesMaster" Target="/ppt/notesMasters/notesMaster1.xml" Id="Rd455d4123e5c4c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388d062fb2442f" /><Relationship Type="http://schemas.openxmlformats.org/officeDocument/2006/relationships/notesMaster" Target="/ppt/notesMasters/notesMaster1.xml" Id="R0c66e1bbf3c147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21462f08c24439" /><Relationship Type="http://schemas.openxmlformats.org/officeDocument/2006/relationships/notesMaster" Target="/ppt/notesMasters/notesMaster1.xml" Id="R5872498ccce643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15984eb4544947" /><Relationship Type="http://schemas.openxmlformats.org/officeDocument/2006/relationships/notesMaster" Target="/ppt/notesMasters/notesMaster1.xml" Id="Re803475f2ceb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cb8fbc329545dc" /><Relationship Type="http://schemas.openxmlformats.org/officeDocument/2006/relationships/notesMaster" Target="/ppt/notesMasters/notesMaster1.xml" Id="Ra025abd7f05d44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192f1b4d8e4fa0" /><Relationship Type="http://schemas.openxmlformats.org/officeDocument/2006/relationships/notesMaster" Target="/ppt/notesMasters/notesMaster1.xml" Id="R7603b422ba2443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a45caca404fe8" /><Relationship Type="http://schemas.openxmlformats.org/officeDocument/2006/relationships/notesMaster" Target="/ppt/notesMasters/notesMaster1.xml" Id="R3cdebef6814345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6be82be64e4e2d" /><Relationship Type="http://schemas.openxmlformats.org/officeDocument/2006/relationships/notesMaster" Target="/ppt/notesMasters/notesMaster1.xml" Id="Rdbf75cd4b1b742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ecfab6df1c40f3" /><Relationship Type="http://schemas.openxmlformats.org/officeDocument/2006/relationships/notesMaster" Target="/ppt/notesMasters/notesMaster1.xml" Id="Ra40de5d1f71d4d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4771214d524ce7" /><Relationship Type="http://schemas.openxmlformats.org/officeDocument/2006/relationships/notesMaster" Target="/ppt/notesMasters/notesMaster1.xml" Id="Ra030296115a04b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1dd37183c74dbc" /><Relationship Type="http://schemas.openxmlformats.org/officeDocument/2006/relationships/notesMaster" Target="/ppt/notesMasters/notesMaster1.xml" Id="Ra1a33380e6e743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b3b32f67cb4757" /><Relationship Type="http://schemas.openxmlformats.org/officeDocument/2006/relationships/notesMaster" Target="/ppt/notesMasters/notesMaster1.xml" Id="Rfcff6411fe4443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25e42b6ea646ef" /><Relationship Type="http://schemas.openxmlformats.org/officeDocument/2006/relationships/notesMaster" Target="/ppt/notesMasters/notesMaster1.xml" Id="Rfc2e6d57d2a646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297de85a1e453b" /><Relationship Type="http://schemas.openxmlformats.org/officeDocument/2006/relationships/notesMaster" Target="/ppt/notesMasters/notesMaster1.xml" Id="Re6f26b2766374d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b3f33111af45ee" /><Relationship Type="http://schemas.openxmlformats.org/officeDocument/2006/relationships/notesMaster" Target="/ppt/notesMasters/notesMaster1.xml" Id="R2a54e2cf2be64d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5d9b23628145e0" /><Relationship Type="http://schemas.openxmlformats.org/officeDocument/2006/relationships/notesMaster" Target="/ppt/notesMasters/notesMaster1.xml" Id="Rcd15cb13c13241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934e41dfa24f49" /><Relationship Type="http://schemas.openxmlformats.org/officeDocument/2006/relationships/notesMaster" Target="/ppt/notesMasters/notesMaster1.xml" Id="R3d393f23228d41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4조 UKKKK입니다. 이름이 길어서 발표에서는 편의상 **‘유케이’**라고 부르겠습니다.</a:t>
            </a:r>
          </a:p>
          <a:p xmlns:a="http://schemas.openxmlformats.org/drawingml/2006/main">
            <a:r>
              <a:t>화면별 기능을 안내하는 오피스 길잡이 **새싹이**도 오늘의 여정을 함께합니다.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과제는 출산·양육 관련 민원과 데이터를 수집해 정책 수요를 도출하는 것이었습니다.</a:t>
            </a:r>
          </a:p>
          <a:p xmlns:a="http://schemas.openxmlformats.org/drawingml/2006/main">
            <a:r>
              <a:t>그런데 실제 상상대로 서울 데이터를 확인하면서, 시민 제안의 답변 상태와 반복 수요, 실제 담당팀 후보, 기존 정책 근거가 하나의 검토 흐름으로 연결되어 있지 않다는 점에 주목했습니다.</a:t>
            </a:r>
          </a:p>
          <a:p xmlns:a="http://schemas.openxmlformats.org/drawingml/2006/main">
            <a:r>
              <a:t>그래서 유케이는 상상대로 서울을 대체하는 서비스가 아니라, **시민 제안을 정책 검토와 후속 조치로 연결해 기존 플랫폼의 활용을 돕는 백오피스**로 발전했습니다.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</a:t>
            </a:r>
          </a:p>
          <a:p xmlns:a="http://schemas.openxmlformats.org/drawingml/2006/main">
            <a:r>
              <a:t>실제 상상대로 서울에서는 답변 상태와 반복 수요, 담당 후보와 정책 근거가 서로 분리되어 있어 검토 대상과 다음 조치를 한 화면에서 직관적으로 파악하기 어렵습니다. 가상 페르소나는 이 제품 기능과 시연 흐름을 구체적으로 보여주기 위한 설정입니다.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상상대로 서울에는 시민 제안이 축적되어 있지만, 제안만으로는 **어떤 수요를 먼저 살펴볼지, 어느 정책 영역과 실제 담당 후보가 연결되는지, 판단 근거와 다음 조치가 무엇인지**를 한 흐름에서 확인하기 어렵습니다.</a:t>
            </a:r>
          </a:p>
          <a:p xmlns:a="http://schemas.openxmlformats.org/drawingml/2006/main">
            <a:r>
              <a:t>저희는 시민 수요와 정책·민원·뉴스·통계, 그리고 **주관·협조부서 후보가 제시된 이유**를 연결해 이 단절을 보완하는 것을 제품이 다룰 문제로 정의했습니다.</a:t>
            </a:r>
          </a:p>
          <a:p xmlns:a="http://schemas.openxmlformats.org/drawingml/2006/main">
            <a:r>
              <a:t>화면의 누락·혼선·근거 단절은 실제 기관의 확정된 업무 절차가 아니라, 수집 데이터와 제품 구조를 바탕으로 설정한 검토 위험입니다.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유케이가 받는 입력입니다. 시민 제안과 민원, 기존 정책과 뉴스, 자치구 통계를 한데 모읍니다.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</a:t>
            </a:r>
          </a:p>
          <a:p xmlns:a="http://schemas.openxmlformats.org/drawingml/2006/main">
            <a:r>
              <a:t>현재 데모는 이 데이터를 미리 수집·정제해 캐시한 구조로 안정적으로 재현됩니다.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</a:t>
            </a:r>
          </a:p>
          <a:p xmlns:a="http://schemas.openxmlformats.org/drawingml/2006/main">
            <a:r>
              <a:t>텍스트는 한 모델이 한 번에 결정하지 않습니다. 먼저 조사·접미사와 불용어를 정리하고 유사어를 통합한 뒤, 규칙 기반으로 8대·중·소분류와 신뢰도를 만듭니다. KR-SBERT는 의미상 가까운 카테고리와 유사 제안 군집을 찾고, 뉴스는 규칙 분류 뒤 기존 카테고리·수집 분류·NMF 토픽 순으로 보완합니다. 마지막으로 본문 자치구와 원본 업무분장을 각각 파싱해 지역 후보와 R&amp;R 후보를 연결합니다.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앞서 소개한 오피스 길잡이 새싹이가 첫 번째로 안내할 기능은 상단의 두 단계 담당 범위 선택입니다.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</a:t>
            </a:r>
          </a:p>
          <a:p xmlns:a="http://schemas.openxmlformats.org/drawingml/2006/main">
            <a:r>
              <a:t>이때 별도의 감독학습 모델이 팀을 확정하는 것은 아닙니다. 제안 분류와 원본 업무분장 일치 여부, 본문의 업무 키워드, 기존 담당 후보를 점수화해 R&amp;R 후보 순위를 만듭니다.</a:t>
            </a:r>
          </a:p>
          <a:p xmlns:a="http://schemas.openxmlformats.org/drawingml/2006/main">
            <a:r>
              <a:t>전체 담당군에서 팀을 고르면 그 팀이 주관 또는 협조로 포함된 모든 안건을 찾습니다. 특정 대분류를 먼저 고르면 동일한 R&amp;R 기준을 그 정책 범위 안에서 적용해 관련 안건만 보여줍니다.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유케이는 전체 범위의 제안을 57개 문제 군집으로 묶고, 수요·정책 공백·시급성·실행성·근거 신뢰도의 다섯 축으로 비교합니다.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새싹이를 따라 여덟 개 화면이 어떤 질문에 답하는지 보겠습니다.</a:t>
            </a:r>
          </a:p>
          <a:p xmlns:a="http://schemas.openxmlformats.org/drawingml/2006/main">
            <a:r>
              <a:t>어느 페이지에서든 화면 하단의 새싹이를 클릭하면 현재 페이지의 목적과 기본 사용법을 보여주고, 상단에서 선택한 정책 담당군과 실제 R&amp;R 팀에 맞춰 안내 순서도 달라집니다.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</a:t>
            </a:r>
          </a:p>
          <a:p xmlns:a="http://schemas.openxmlformats.org/drawingml/2006/main">
            <a:r>
              <a:t>각 화면은 독립된 메뉴처럼 보이지만, 제품 안에서는 선택한 담당 범위를 공유하는 **하나의 검토 여정**으로 연결됩니다. 라이브 시연에서는 이 여덟 메뉴를 한 번씩 열어 같은 15건 범위가 유지되는지 먼저 확인한 뒤, 핵심 판단 화면을 자세히 보겠습니다.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안내하는 제품 시연 흐름은 여섯 장면으로 구성됩니다.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 오피스 길잡이는 사용자가 현재 화면에서 무엇을 확인할 수 있는지 안내합니다. 정책 담당군을 선택하면 대분류 기준으로, 실제 팀을 선택하면 팀 기준으로 안내 내용과 화면 흐름을 바꿉니다.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</a:t>
            </a:r>
          </a:p>
          <a:p xmlns:a="http://schemas.openxmlformats.org/drawingml/2006/main">
            <a:r>
              <a:t>복원 후보는 담당자가 원문을 펼쳐 검토하고 선택한 결과만 반영 이력으로 남깁니다.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화면에서 먼저 정보·상담·교육·거버넌스 담당군을 선택해 28건을 확인하고, 실제 저출생사업1팀을 선택해 15건으로 좁히겠습니다.</a:t>
            </a:r>
          </a:p>
          <a:p xmlns:a="http://schemas.openxmlformats.org/drawingml/2006/main">
            <a:r>
              <a:t>이어서 여덟 개 메뉴를 한 번씩 열어 같은 담당 범위가 유지되는지 빠르게 확인합니다. 그다음 갭 진단, **제안 원문과 주관·협조부서 후보의 매칭 이유**, 보고서 내보내기 세 장면을 자세히 보겠습니다.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성과를 과장하지 않으면서도 구현 효과는 재현 가능한 과업 단위로 확인할 수 있습니다.</a:t>
            </a:r>
          </a:p>
          <a:p xmlns:a="http://schemas.openxmlformats.org/drawingml/2006/main">
            <a:r>
              <a:t>이번 시연에서는 824건 전체 목록이 정책 담당군 28건, 실제 팀 15건으로 줄어드는 후보 축소율을 확인합니다. 이것은 업무시간 절감률이 아니라, 동일한 데이터를 대상으로 사용자가 직접 확인해야 할 후보 수가 얼마나 줄었는지를 보여주는 값입니다.</a:t>
            </a:r>
          </a:p>
          <a:p xmlns:a="http://schemas.openxmlformats.org/drawingml/2006/main">
            <a:r>
              <a:t>또한 메뉴 이동 후 건수 유지, **원문과 담당부서 매칭 이유의 동시 표시**, 같은 범위의 보고서 생성 여부를 화면과 데이터로 대조합니다.</a:t>
            </a:r>
          </a:p>
          <a:p xmlns:a="http://schemas.openxmlformats.org/drawingml/2006/main">
            <a:r>
              <a:t>향후에는 이 과업 로그를 이용해 클릭 수, 탐색 단계, 오분류 수정률을 반복 측정할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운영형 도구로 확장하려면 세 가지 기반이 필요합니다.</a:t>
            </a:r>
          </a:p>
          <a:p xmlns:a="http://schemas.openxmlformats.org/drawingml/2006/main">
            <a:r>
              <a:t>먼저 정기 수집과 출처 관리를 구축하고 상세 원문 확보율을 높여야 합니다. 다음으로 R&amp;R 후보와 지역 범위 분류를 평가할 수 있는 정답 기준과 검증 지표가 필요합니다.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확인한 여덟 화면은 각각 다른 기능을 나열한 것이 아닙니다. 현황·시민 목소리·긴급 민원에서 수요를 발견하고, 현행 정책·사각지대·자치구 통계에서 공급과 지역 조건을 대조합니다. 갭 진단에서 우선순위와 R&amp;R 후보를 검토한 뒤, 답변 초안과 목적별 보고서, CSV, 개선 로그로 다음 조치를 남깁니다.</a:t>
            </a:r>
          </a:p>
          <a:p xmlns:a="http://schemas.openxmlformats.org/drawingml/2006/main">
            <a:r>
              <a:t>유케이는 이렇게 시민 제안을 **수요에서 책임으로, 근거에서 조치로 연결해 상상대로 서울의 후속 활용을 돕는 백오피스**입니다. 모르는 값은 표시하고, 근거는 연결하며, 최종 결정은 담당자가 합니다. 새싹이와 함께한 유케이의 여정이었습니다.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텍스트 처리는 한 모델이 모든 값을 한 번에 예측하는 구조가 아닙니다.</a:t>
            </a:r>
          </a:p>
          <a:p xmlns:a="http://schemas.openxmlformats.org/drawingml/2006/main">
            <a:r>
              <a:t>먼저 한국어 조사와 접미사, 불용어를 제거하고 도메인 유사어를 통합합니다.</a:t>
            </a:r>
          </a:p>
          <a:p xmlns:a="http://schemas.openxmlformats.org/drawingml/2006/main">
            <a:r>
              <a:t>계층 분류는 제목·본문·원 카테고리의 키워드 점수로 8대·중·소분류와 신뢰도를 만듭니다.</a:t>
            </a:r>
          </a:p>
          <a:p xmlns:a="http://schemas.openxmlformats.org/drawingml/2006/main">
            <a:r>
              <a:t>KR-SBERT는 카테고리 설명과의 코사인 유사도로 의미 분류를 보완하고, 코사인 거리와 average linkage를 사용한 계층적 군집으로 유사 제안의 cluster_id와 cluster_size를 만듭니다.</a:t>
            </a:r>
          </a:p>
          <a:p xmlns:a="http://schemas.openxmlformats.org/drawingml/2006/main">
            <a:r>
              <a:t>뉴스는 규칙 결과가 없을 때 기존 8대 분류, 수집 카테고리, 이미 생성된 NMF 토픽 라벨을 순서대로 매핑합니다.</a:t>
            </a:r>
          </a:p>
          <a:p xmlns:a="http://schemas.openxmlformats.org/drawingml/2006/main">
            <a:r>
              <a:t>자치구는 본문 키워드와 모호어 감점으로 후보·점수·근거어를 남기고, 실제 팀은 업무분장 원문과 제안 텍스트를 가중치로 대조합니다.</a:t>
            </a:r>
          </a:p>
          <a:p xmlns:a="http://schemas.openxmlformats.org/drawingml/2006/main">
            <a:r>
              <a:t>따라서 각 결과가 어떤 입력과 규칙에서 나왔는지 단계별로 추적할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/Users/parkcy/Desktop/sesac_pjt/UKKKK/frontend/src/utils/textMining.ts</a:t>
            </a:r>
          </a:p>
          <a:p xmlns:a="http://schemas.openxmlformats.org/drawingml/2006/main">
            <a:r>
              <a:t>- /Users/parkcy/Desktop/sesac_pjt/UKKKK/scripts/테스트용/classify_policy_and_match_staff.py</a:t>
            </a:r>
          </a:p>
          <a:p xmlns:a="http://schemas.openxmlformats.org/drawingml/2006/main">
            <a:r>
              <a:t>- /Users/parkcy/Desktop/sesac_pjt/UKKKK/scripts/테스트용/04_semantic_grouping.py</a:t>
            </a:r>
          </a:p>
          <a:p xmlns:a="http://schemas.openxmlformats.org/drawingml/2006/main">
            <a:r>
              <a:t>- /Users/parkcy/Desktop/sesac_pjt/UKKKK/scripts/테스트용/classify_naver_news_taxonomy.py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페이지는 정책 대분류와 실제 조직 필터를 분리한 이유와 R&amp;R 후보 모델을 설명합니다.</a:t>
            </a:r>
          </a:p>
          <a:p xmlns:a="http://schemas.openxmlformats.org/drawingml/2006/main">
            <a:r>
              <a:t>첫 번째 결과는 제안을 8개 정책 영역으로 묶는 분류이고, 두 번째 결과는 업무분장 원문과 제안 텍스트를 대조해 만드는 R&amp;R 후보 순위입니다.</a:t>
            </a:r>
          </a:p>
          <a:p xmlns:a="http://schemas.openxmlformats.org/drawingml/2006/main">
            <a:r>
              <a:t>전체 담당군에서 팀을 고르면 1·2·3순위 관련 안건을 찾고, 특정 담당군을 함께 고르면 같은 후보 기준을 해당 정책 범위와 교차합니다.</a:t>
            </a:r>
          </a:p>
          <a:p xmlns:a="http://schemas.openxmlformats.org/drawingml/2006/main">
            <a:r>
              <a:t>이 순위는 공식 배정이 아니라 원문과 업무분장 근거를 확인하기 위한 검토 후보입니다.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/Users/parkcy/Desktop/sesac_pjt/UKKKK/frontend/src/utils/departments.ts</a:t>
            </a:r>
          </a:p>
          <a:p xmlns:a="http://schemas.openxmlformats.org/drawingml/2006/main">
            <a:r>
              <a:t>- /Users/parkcy/Desktop/sesac_pjt/UKKKK/frontend/src/App.tsx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로드맵의 PRD와 데이터분석 정의서, 발표 대본, 프론트엔드, 데이터 검사, 배포 산출물을 실제 경로로 정리했습니다.</a:t>
            </a:r>
          </a:p>
          <a:p xmlns:a="http://schemas.openxmlformats.org/drawingml/2006/main">
            <a:r>
              <a:t>별도 파일로 확인되지 않는 산출물이나 측정하지 않은 성과는 완료 사실로 제시하지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/Users/parkcy/Desktop/sesac_pjt/UKKKK/docs/SYSTEM_DESIGN_PRD.md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/Users/parkcy/Desktop/sesac_pjt/UKKKK/docs/발표자료/발표_대본_PPT구성_ver9.md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21569a7824e4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55dcb584514959" /><Relationship Type="http://schemas.openxmlformats.org/officeDocument/2006/relationships/slideLayout" Target="/ppt/slideLayouts/slideLayout1.xml" Id="R6a57049b878042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57049b878042f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4e9c1758843e7" /><Relationship Type="http://schemas.openxmlformats.org/officeDocument/2006/relationships/image" Target="/ppt/media/image.png" Id="R41b757496c974d43" /><Relationship Type="http://schemas.openxmlformats.org/officeDocument/2006/relationships/image" Target="/ppt/media/image2.png" Id="R7dba8b625c464068" /><Relationship Type="http://schemas.openxmlformats.org/officeDocument/2006/relationships/notesSlide" Target="/ppt/notesSlides/notesSlide1.xml" Id="R2d6511c0c77648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f96d559eb4e11" /><Relationship Type="http://schemas.openxmlformats.org/officeDocument/2006/relationships/image" Target="/ppt/media/image3.png" Id="R349f7812b89c44dd" /><Relationship Type="http://schemas.openxmlformats.org/officeDocument/2006/relationships/notesSlide" Target="/ppt/notesSlides/notesSlide2.xml" Id="R7348d153c17048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d41b2130642cc" /><Relationship Type="http://schemas.openxmlformats.org/officeDocument/2006/relationships/image" Target="/ppt/media/image4.png" Id="Rb9da2e9dbbab42c7" /><Relationship Type="http://schemas.openxmlformats.org/officeDocument/2006/relationships/notesSlide" Target="/ppt/notesSlides/notesSlide3.xml" Id="Rb7c40045c1174d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284a39178414d" /><Relationship Type="http://schemas.openxmlformats.org/officeDocument/2006/relationships/image" Target="/ppt/media/image3.png" Id="R282a8ce318f941ea" /><Relationship Type="http://schemas.openxmlformats.org/officeDocument/2006/relationships/notesSlide" Target="/ppt/notesSlides/notesSlide4.xml" Id="R13e49761ec7f49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b530fcebc4861" /><Relationship Type="http://schemas.openxmlformats.org/officeDocument/2006/relationships/image" Target="/ppt/media/image4.png" Id="Rffabc652f9484f0a" /><Relationship Type="http://schemas.openxmlformats.org/officeDocument/2006/relationships/notesSlide" Target="/ppt/notesSlides/notesSlide5.xml" Id="R74ec876a8c1248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44c9d53954ebc" /><Relationship Type="http://schemas.openxmlformats.org/officeDocument/2006/relationships/image" Target="/ppt/media/image5.png" Id="Rd70c955a4f5f40aa" /><Relationship Type="http://schemas.openxmlformats.org/officeDocument/2006/relationships/notesSlide" Target="/ppt/notesSlides/notesSlide6.xml" Id="R413f5da0b90f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d52da36d144a2" /><Relationship Type="http://schemas.openxmlformats.org/officeDocument/2006/relationships/image" Target="/ppt/media/image6.png" Id="Rec65f965e08c4804" /><Relationship Type="http://schemas.openxmlformats.org/officeDocument/2006/relationships/image" Target="/ppt/media/image7.png" Id="R91dd5452509e4c8b" /><Relationship Type="http://schemas.openxmlformats.org/officeDocument/2006/relationships/notesSlide" Target="/ppt/notesSlides/notesSlide7.xml" Id="R67c0a9fea29b4f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ccc18d8c74452" /><Relationship Type="http://schemas.openxmlformats.org/officeDocument/2006/relationships/image" Target="/ppt/media/image8.png" Id="Rac4d6a5a48834795" /><Relationship Type="http://schemas.openxmlformats.org/officeDocument/2006/relationships/image" Target="/ppt/media/image9.png" Id="Rc443efae841b4d5e" /><Relationship Type="http://schemas.openxmlformats.org/officeDocument/2006/relationships/notesSlide" Target="/ppt/notesSlides/notesSlide8.xml" Id="R36e727cbf12142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bcc2ab11d4b5c" /><Relationship Type="http://schemas.openxmlformats.org/officeDocument/2006/relationships/image" Target="/ppt/media/image10.png" Id="Rca83b51c637f42c6" /><Relationship Type="http://schemas.openxmlformats.org/officeDocument/2006/relationships/notesSlide" Target="/ppt/notesSlides/notesSlide9.xml" Id="R9da5d7fa9f0c46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3817c09ae4247" /><Relationship Type="http://schemas.openxmlformats.org/officeDocument/2006/relationships/image" Target="/ppt/media/image10.png" Id="R1d17ccfaac054997" /><Relationship Type="http://schemas.openxmlformats.org/officeDocument/2006/relationships/notesSlide" Target="/ppt/notesSlides/notesSlide10.xml" Id="R188923baab7948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c1c137c1e402d" /><Relationship Type="http://schemas.openxmlformats.org/officeDocument/2006/relationships/image" Target="/ppt/media/image6.png" Id="R20ea567cdc594c22" /><Relationship Type="http://schemas.openxmlformats.org/officeDocument/2006/relationships/image" Target="/ppt/media/image7.png" Id="R383fe860a1c84669" /><Relationship Type="http://schemas.openxmlformats.org/officeDocument/2006/relationships/notesSlide" Target="/ppt/notesSlides/notesSlide11.xml" Id="R659149d90ae349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ed44c8dcb4fd3" /><Relationship Type="http://schemas.openxmlformats.org/officeDocument/2006/relationships/image" Target="/ppt/media/image11.png" Id="Rc12c992cfe914616" /><Relationship Type="http://schemas.openxmlformats.org/officeDocument/2006/relationships/notesSlide" Target="/ppt/notesSlides/notesSlide12.xml" Id="Ra9be7cb33ecf4c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795602c1a4aaa" /><Relationship Type="http://schemas.openxmlformats.org/officeDocument/2006/relationships/image" Target="/ppt/media/image3.png" Id="R818a8a072dea4378" /><Relationship Type="http://schemas.openxmlformats.org/officeDocument/2006/relationships/notesSlide" Target="/ppt/notesSlides/notesSlide13.xml" Id="R8ba404dd31e847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5c6314a5e4398" /><Relationship Type="http://schemas.openxmlformats.org/officeDocument/2006/relationships/image" Target="/ppt/media/image12.png" Id="R47b4fbf97a23493f" /><Relationship Type="http://schemas.openxmlformats.org/officeDocument/2006/relationships/image" Target="/ppt/media/image13.png" Id="R31356a772bb64dd5" /><Relationship Type="http://schemas.openxmlformats.org/officeDocument/2006/relationships/hyperlink" Target="https://ukkkk-two.vercel.app/" TargetMode="External" Id="Rd9611732fc614596" /><Relationship Type="http://schemas.openxmlformats.org/officeDocument/2006/relationships/notesSlide" Target="/ppt/notesSlides/notesSlide14.xml" Id="R95c0dfb3325344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ef02888164002" /><Relationship Type="http://schemas.openxmlformats.org/officeDocument/2006/relationships/image" Target="/ppt/media/image14.png" Id="Re68de59d04da4f89" /><Relationship Type="http://schemas.openxmlformats.org/officeDocument/2006/relationships/notesSlide" Target="/ppt/notesSlides/notesSlide15.xml" Id="R8e081f8e04654c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11c1524c24c51" /><Relationship Type="http://schemas.openxmlformats.org/officeDocument/2006/relationships/image" Target="/ppt/media/image15.png" Id="R42a5eda72ffb449d" /><Relationship Type="http://schemas.openxmlformats.org/officeDocument/2006/relationships/notesSlide" Target="/ppt/notesSlides/notesSlide16.xml" Id="Re2d15eb146a14b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75cfe8e9a4f5c" /><Relationship Type="http://schemas.openxmlformats.org/officeDocument/2006/relationships/image" Target="/ppt/media/image16.png" Id="Rcfee84f044674124" /><Relationship Type="http://schemas.openxmlformats.org/officeDocument/2006/relationships/notesSlide" Target="/ppt/notesSlides/notesSlide17.xml" Id="R60eabcc77ed542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cdb3d69164eb7" /><Relationship Type="http://schemas.openxmlformats.org/officeDocument/2006/relationships/image" Target="/ppt/media/image17.png" Id="R2d365e776ee14988" /><Relationship Type="http://schemas.openxmlformats.org/officeDocument/2006/relationships/notesSlide" Target="/ppt/notesSlides/notesSlide18.xml" Id="Re5f23597c9f949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76199adc84722" /><Relationship Type="http://schemas.openxmlformats.org/officeDocument/2006/relationships/image" Target="/ppt/media/image17.png" Id="R7a09b876d36e46dc" /><Relationship Type="http://schemas.openxmlformats.org/officeDocument/2006/relationships/notesSlide" Target="/ppt/notesSlides/notesSlide19.xml" Id="R0d8fcbe68aea4e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f1539021f484e" /><Relationship Type="http://schemas.openxmlformats.org/officeDocument/2006/relationships/image" Target="/ppt/media/image17.png" Id="Rd90291ffd536421c" /><Relationship Type="http://schemas.openxmlformats.org/officeDocument/2006/relationships/notesSlide" Target="/ppt/notesSlides/notesSlide20.xml" Id="Ra7c3504310e744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5da9d49f24677" /><Relationship Type="http://schemas.openxmlformats.org/officeDocument/2006/relationships/image" Target="/ppt/media/image17.png" Id="R2781c41d7fa245b5" /><Relationship Type="http://schemas.openxmlformats.org/officeDocument/2006/relationships/notesSlide" Target="/ppt/notesSlides/notesSlide21.xml" Id="Rbe478004c4df46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757496c974d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757496c974d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714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a8b625c464068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안녕하세요! 오늘은 제가 유케이의 기능을 안내할게요</a:t>
            </a:r>
          </a:p>
        </p:txBody>
      </p:sp>
      <p:sp>
        <p:nvSpPr>
          <p:cNvPr id="38" name="Cover value proposition">
            <a:extLst xmlns:a="http://schemas.openxmlformats.org/drawingml/2006/main">
              <a:ext uri="{FF2B5EF4-FFF2-40B4-BE49-F238E27FC236}">
                <a16:creationId xmlns:a16="http://schemas.microsoft.com/office/drawing/2014/main" id="{C90D2CF7-0CA9-4DC6-8A39-B62667F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E6B8C"/>
                </a:solidFill>
              </a:defRPr>
            </a:pPr>
            <a:r>
              <a:rPr sz="1950">
                <a:solidFill>
                  <a:srgbClr val="5E6B8C"/>
                </a:solidFill>
              </a:rPr>
              <a:t>상상대로 서울 시민 제안을 담당 범위·근거·후속 조치로 연결하는 정책 백오피스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f7812b89c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f7812b89c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과제에서 제품으로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과제 → 실제 데이터 → 제품 방향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수요 분석에서,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조치를 연결하는 백오피스로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상상대로 서울을 대체하지 않고, 기존 플랫폼의 활용을 돕습니다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f7812b89c44dd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a2e9dbbab42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a2e9dbbab42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2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a2e9dbbab42c7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a8ce318f941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a8ce318f941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답변 상태·담당 후보·정책 근거를 한 화면에서 연결합니다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a8ce318f941ea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bc652f948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bc652f948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bc652f9484f0a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c955a4f5f40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c955a4f5f40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텍스트 정규화 → 계층 분류 → 의미 군집 → 뉴스 토픽 → 지역·R&amp;R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f965e08c48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f965e08c48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d5452509e4c8b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규칙·가중치 R&amp;R 후보</a:t>
            </a:r>
          </a:p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 1·2·3 / 대분류+팀 1순위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f965e08c4804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d6a5a4883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d6a5a4883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3efae841b4d5e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d6a5a48834795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b51c637f42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b51c637f42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b51c637f42c6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7ccfaac054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7ccfaac054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7ccfaac054997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a567cdc594c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a567cdc594c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10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fe860a1c84669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a567cdc594c22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c992cfe914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c992cfe914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c992cfe914616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a8a072dea4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a8a072dea4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빠른 투어 + 핵심 기능 깊은 시연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28건 → 실제 팀 15건 → 8개 화면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Gap·R&amp;R → 원문·보고서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 하단 새싹이는 현재 화면·담당군·실제 팀 기준으로 안내해요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a8a072dea4378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4fbf97a2349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4fbf97a2349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김서현 주무관의 실제 데이터 여정을 시작합니다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정보·상담 28건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저출생1팀 15건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8개 화면·Gap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원문·보고서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56a772bb6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d9611732fc614596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4fbf97a23493f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de59d04da4f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de59d04da4f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재현 가능한 과업 비교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효과 수치 대신, 같은 과업에서 후보와 연결 단계를 비교합니다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824건 → 28건 → 15건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후보 축소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전체 탐색에서 담당 범위까지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연결 확인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8개 화면·원문·R&amp;R·보고서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 수·클릭·근거 연결을 같은 조건에서 다시 확인해요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de59d04da4f89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5eda72ffb44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5eda72ffb44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15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5eda72ffb449d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e84f044674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e84f044674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16 · 하나의 검토 결과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8개 화면을 하나의
검토 흐름으로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상상대로 서울의 시민 제안을 답변·보고·개선 로그로 연결합니다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e84f044674124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65e776ee14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65e776ee14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b876d36e46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b876d36e46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텍스트 파싱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TEXT PIPELINE · 모델별 입력과 출력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텍스트를 단계별 모델 입력으로 연결합니다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공통 전처리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조사·접미사 제거 → 유사어 통합 → 불용어 제거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계층 분류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키워드+원 분류 부스트 → 8대·중·소분류·신뢰도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의미 분류·군집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KR-SBERT 코사인 유사도 → 의미 분류·cluster_id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뉴스 파싱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→ 기존 분류 → 수집 분류 → NMF 토픽 맵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지역 파싱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자치구 키워드+모호어 감점 → 후보·점수·근거어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파싱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업무분장+본문 가중치 → 주관 1순위·협조 2·3순위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291ffd536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291ffd536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C · 필터·R&amp;R 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MODEL DEFINITION · 규칙·가중치 기반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두 단계 필터와 R&amp;R 후보 모델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정책 분류와 실제 조직을 분리해 검색 의미를 명확히 함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카테고리·제목·본문·기존 담당 후보 + 18개 업무분장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담당군 정규화 · 본문 토큰과 업무분장 키워드 대조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랭킹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카테고리·업무 +30 · 키워드 +10 · 기존 담당 후보 +50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주관 1순위 · 협조 2·3순위 · 연락처 · 업무·매칭 근거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검색 규칙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전체+팀은 1·2·3순위 / 대분류+팀은 분류 범위와 교차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1c41d7fa2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1c41d7fa2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D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docs/발표자료/발표_대본_PPT구성_ver9.md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2026-07-25T20:00:33.5520000Z</dcterms:created>
  <dcterms:modified xsi:type="dcterms:W3CDTF">2026-07-25T20:00:33.5520000Z</dcterms:modified>
</coreProperties>
</file>