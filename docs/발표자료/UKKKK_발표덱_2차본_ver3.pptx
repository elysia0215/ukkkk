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952d76736c4253" /><Relationship Type="http://schemas.openxmlformats.org/officeDocument/2006/relationships/extended-properties" Target="/docProps/app.xml" Id="R4cba5f5e3ee041be" /><Relationship Type="http://schemas.openxmlformats.org/officeDocument/2006/relationships/officeDocument" Target="/ppt/presentation.xml" Id="Rc029fd251ad643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2bd5bf86624f8a"/>
  </p:sldMasterIdLst>
  <p:notesMasterIdLst>
    <p:notesMasterId xmlns:r="http://schemas.openxmlformats.org/officeDocument/2006/relationships" r:id="Rbc83ceda42924a44"/>
  </p:notesMasterIdLst>
  <p:sldIdLst>
    <p:sldId xmlns:r="http://schemas.openxmlformats.org/officeDocument/2006/relationships" id="256" r:id="R7fc89cea4c1f4533"/>
    <p:sldId xmlns:r="http://schemas.openxmlformats.org/officeDocument/2006/relationships" id="257" r:id="R7d35c79f687047e5"/>
    <p:sldId xmlns:r="http://schemas.openxmlformats.org/officeDocument/2006/relationships" id="258" r:id="R6bb371490f3e45d4"/>
    <p:sldId xmlns:r="http://schemas.openxmlformats.org/officeDocument/2006/relationships" id="259" r:id="Rdf0b3319774c445c"/>
    <p:sldId xmlns:r="http://schemas.openxmlformats.org/officeDocument/2006/relationships" id="260" r:id="Rb7ed1e8b0f8741df"/>
    <p:sldId xmlns:r="http://schemas.openxmlformats.org/officeDocument/2006/relationships" id="261" r:id="R42533d01c27442ee"/>
    <p:sldId xmlns:r="http://schemas.openxmlformats.org/officeDocument/2006/relationships" id="262" r:id="Rf5a514d01d704924"/>
    <p:sldId xmlns:r="http://schemas.openxmlformats.org/officeDocument/2006/relationships" id="263" r:id="R9fc701ffd81a4268"/>
    <p:sldId xmlns:r="http://schemas.openxmlformats.org/officeDocument/2006/relationships" id="264" r:id="R5e5550b1c4bc4737"/>
    <p:sldId xmlns:r="http://schemas.openxmlformats.org/officeDocument/2006/relationships" id="265" r:id="Rfa6e6699b3844007"/>
    <p:sldId xmlns:r="http://schemas.openxmlformats.org/officeDocument/2006/relationships" id="266" r:id="R40f8043e6c0b43e7"/>
    <p:sldId xmlns:r="http://schemas.openxmlformats.org/officeDocument/2006/relationships" id="267" r:id="R808a27ce86c54ab6"/>
    <p:sldId xmlns:r="http://schemas.openxmlformats.org/officeDocument/2006/relationships" id="268" r:id="R493418096910438b"/>
    <p:sldId xmlns:r="http://schemas.openxmlformats.org/officeDocument/2006/relationships" id="269" r:id="Re4af3a13697b4356"/>
    <p:sldId xmlns:r="http://schemas.openxmlformats.org/officeDocument/2006/relationships" id="270" r:id="R26278d32810b4d3e"/>
    <p:sldId xmlns:r="http://schemas.openxmlformats.org/officeDocument/2006/relationships" id="271" r:id="Recd073a03d40405e"/>
    <p:sldId xmlns:r="http://schemas.openxmlformats.org/officeDocument/2006/relationships" id="272" r:id="R120964fbe87b42ae"/>
    <p:sldId xmlns:r="http://schemas.openxmlformats.org/officeDocument/2006/relationships" id="273" r:id="R23cd7c4b50254a75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aaeb7c67c04c73" /><Relationship Type="http://schemas.openxmlformats.org/officeDocument/2006/relationships/slideMaster" Target="/ppt/slideMasters/slideMaster1.xml" Id="R8e2bd5bf86624f8a" /><Relationship Type="http://schemas.openxmlformats.org/officeDocument/2006/relationships/notesMaster" Target="/ppt/notesMasters/notesMaster1.xml" Id="Rbc83ceda42924a44" /><Relationship Type="http://schemas.openxmlformats.org/officeDocument/2006/relationships/presProps" Target="/ppt/presProps.xml" Id="R375947b8f6a3451b" /><Relationship Type="http://schemas.openxmlformats.org/officeDocument/2006/relationships/viewProps" Target="/ppt/viewProps.xml" Id="R2e143f993d0941de" /><Relationship Type="http://schemas.openxmlformats.org/officeDocument/2006/relationships/tableStyles" Target="/ppt/tableStyles.xml" Id="R909cf2bd8f7344c9" /><Relationship Type="http://schemas.openxmlformats.org/officeDocument/2006/relationships/slide" Target="/ppt/slides/slide1.xml" Id="R7fc89cea4c1f4533" /><Relationship Type="http://schemas.openxmlformats.org/officeDocument/2006/relationships/slide" Target="/ppt/slides/slide2.xml" Id="R7d35c79f687047e5" /><Relationship Type="http://schemas.openxmlformats.org/officeDocument/2006/relationships/slide" Target="/ppt/slides/slide3.xml" Id="R6bb371490f3e45d4" /><Relationship Type="http://schemas.openxmlformats.org/officeDocument/2006/relationships/slide" Target="/ppt/slides/slide4.xml" Id="Rdf0b3319774c445c" /><Relationship Type="http://schemas.openxmlformats.org/officeDocument/2006/relationships/slide" Target="/ppt/slides/slide5.xml" Id="Rb7ed1e8b0f8741df" /><Relationship Type="http://schemas.openxmlformats.org/officeDocument/2006/relationships/slide" Target="/ppt/slides/slide6.xml" Id="R42533d01c27442ee" /><Relationship Type="http://schemas.openxmlformats.org/officeDocument/2006/relationships/slide" Target="/ppt/slides/slide7.xml" Id="Rf5a514d01d704924" /><Relationship Type="http://schemas.openxmlformats.org/officeDocument/2006/relationships/slide" Target="/ppt/slides/slide8.xml" Id="R9fc701ffd81a4268" /><Relationship Type="http://schemas.openxmlformats.org/officeDocument/2006/relationships/slide" Target="/ppt/slides/slide9.xml" Id="R5e5550b1c4bc4737" /><Relationship Type="http://schemas.openxmlformats.org/officeDocument/2006/relationships/slide" Target="/ppt/slides/slide10.xml" Id="Rfa6e6699b3844007" /><Relationship Type="http://schemas.openxmlformats.org/officeDocument/2006/relationships/slide" Target="/ppt/slides/slide11.xml" Id="R40f8043e6c0b43e7" /><Relationship Type="http://schemas.openxmlformats.org/officeDocument/2006/relationships/slide" Target="/ppt/slides/slide12.xml" Id="R808a27ce86c54ab6" /><Relationship Type="http://schemas.openxmlformats.org/officeDocument/2006/relationships/slide" Target="/ppt/slides/slide13.xml" Id="R493418096910438b" /><Relationship Type="http://schemas.openxmlformats.org/officeDocument/2006/relationships/slide" Target="/ppt/slides/slide14.xml" Id="Re4af3a13697b4356" /><Relationship Type="http://schemas.openxmlformats.org/officeDocument/2006/relationships/slide" Target="/ppt/slides/slide15.xml" Id="R26278d32810b4d3e" /><Relationship Type="http://schemas.openxmlformats.org/officeDocument/2006/relationships/slide" Target="/ppt/slides/slide16.xml" Id="Recd073a03d40405e" /><Relationship Type="http://schemas.openxmlformats.org/officeDocument/2006/relationships/slide" Target="/ppt/slides/slide17.xml" Id="R120964fbe87b42ae" /><Relationship Type="http://schemas.openxmlformats.org/officeDocument/2006/relationships/slide" Target="/ppt/slides/slide18.xml" Id="R23cd7c4b50254a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0b3d43b2484c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5fdb359a7b467e" /><Relationship Type="http://schemas.openxmlformats.org/officeDocument/2006/relationships/notesMaster" Target="/ppt/notesMasters/notesMaster1.xml" Id="R7d2fd999de9d4d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8357c9ec384d73" /><Relationship Type="http://schemas.openxmlformats.org/officeDocument/2006/relationships/notesMaster" Target="/ppt/notesMasters/notesMaster1.xml" Id="R78465bad567041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ef952d06124984" /><Relationship Type="http://schemas.openxmlformats.org/officeDocument/2006/relationships/notesMaster" Target="/ppt/notesMasters/notesMaster1.xml" Id="Rf3d8aab5a9874c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bbb6f34e0941c8" /><Relationship Type="http://schemas.openxmlformats.org/officeDocument/2006/relationships/notesMaster" Target="/ppt/notesMasters/notesMaster1.xml" Id="R52c2c1b083474f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2e439826f14975" /><Relationship Type="http://schemas.openxmlformats.org/officeDocument/2006/relationships/notesMaster" Target="/ppt/notesMasters/notesMaster1.xml" Id="R12d1146868c343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531de6278b42c1" /><Relationship Type="http://schemas.openxmlformats.org/officeDocument/2006/relationships/notesMaster" Target="/ppt/notesMasters/notesMaster1.xml" Id="R1743a41a874245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198f2d04a94220" /><Relationship Type="http://schemas.openxmlformats.org/officeDocument/2006/relationships/notesMaster" Target="/ppt/notesMasters/notesMaster1.xml" Id="Ra82d9182d5a24b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86c3561a2f48f6" /><Relationship Type="http://schemas.openxmlformats.org/officeDocument/2006/relationships/notesMaster" Target="/ppt/notesMasters/notesMaster1.xml" Id="Rf4f4b6e9f10643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961fbbbac24fdc" /><Relationship Type="http://schemas.openxmlformats.org/officeDocument/2006/relationships/notesMaster" Target="/ppt/notesMasters/notesMaster1.xml" Id="R5a0b0f4919584f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26f59cffb7483b" /><Relationship Type="http://schemas.openxmlformats.org/officeDocument/2006/relationships/notesMaster" Target="/ppt/notesMasters/notesMaster1.xml" Id="R7fa03f91af494b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5ab8095c8e42fa" /><Relationship Type="http://schemas.openxmlformats.org/officeDocument/2006/relationships/notesMaster" Target="/ppt/notesMasters/notesMaster1.xml" Id="Rc66f1356fa9544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8016b7a3654480" /><Relationship Type="http://schemas.openxmlformats.org/officeDocument/2006/relationships/notesMaster" Target="/ppt/notesMasters/notesMaster1.xml" Id="R76961844d5af45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9bd2ca27ac45d9" /><Relationship Type="http://schemas.openxmlformats.org/officeDocument/2006/relationships/notesMaster" Target="/ppt/notesMasters/notesMaster1.xml" Id="R4b5b079d360b44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7924ecc7d94795" /><Relationship Type="http://schemas.openxmlformats.org/officeDocument/2006/relationships/notesMaster" Target="/ppt/notesMasters/notesMaster1.xml" Id="R04f59fcbae264e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37260c500641f5" /><Relationship Type="http://schemas.openxmlformats.org/officeDocument/2006/relationships/notesMaster" Target="/ppt/notesMasters/notesMaster1.xml" Id="R117932586c9742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63bba4bc2541a4" /><Relationship Type="http://schemas.openxmlformats.org/officeDocument/2006/relationships/notesMaster" Target="/ppt/notesMasters/notesMaster1.xml" Id="R6aa2eb87ea5c4c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9c56c284a84d04" /><Relationship Type="http://schemas.openxmlformats.org/officeDocument/2006/relationships/notesMaster" Target="/ppt/notesMasters/notesMaster1.xml" Id="Re3bc5aab7c544c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1d197b233a40f3" /><Relationship Type="http://schemas.openxmlformats.org/officeDocument/2006/relationships/notesMaster" Target="/ppt/notesMasters/notesMaster1.xml" Id="R03243de3ab08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안녕하십니까. 저희는 시민 제안에서 검토 대상과 담당 후보, 판단 근거를 연결하는 과정에 탐색 부담이 있을 수 있다는 문제 가설에서 출발했습니다. 이 흐름은 제품 기능을 설명하기 위해 설정한 업무 가설이며 실제 기관별 절차나 부담의 크기를 대표한다고 단정하지 않습니다.  </a:t>
            </a:r>
          </a:p>
          <a:p xmlns:a="http://schemas.openxmlformats.org/drawingml/2006/main">
            <a:r>
              <a:t>저희 UKKKK는 흩어진 출산·양육 정책 데이터를 한곳에 모아 **시민 수요를 담당 범위와 근거, 다음 조치로 연결하는 행정 의사결정 대시보드**입니다.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주무관은 실제 인물이 아니라 제품의 기능과 시연 과업을 구체화하기 위해 설정한 가상 페르소나입니다.  </a:t>
            </a:r>
          </a:p>
          <a:p xmlns:a="http://schemas.openxmlformats.org/drawingml/2006/main">
            <a:r>
              <a:t>시민 제안을 검토하고 담당 후보와 기존 정책 근거를 대조한 뒤 보고자료를 만든다는 과업을 가정했습니다.  </a:t>
            </a:r>
          </a:p>
          <a:p xmlns:a="http://schemas.openxmlformats.org/drawingml/2006/main">
            <a:r>
              <a:t>여러 정책 영역에 걸친 제안과 본문·지역 범위 미확인은 데이터에서 확인했습니다. 다만 실제 담당자가 사용하는 시스템이나 업무상 어려움을 직접 조사한 결과는 아니므로, 가상 페르소나는 기능 시연을 위한 설정으로만 사용합니다.  </a:t>
            </a:r>
          </a:p>
          <a:p xmlns:a="http://schemas.openxmlformats.org/drawingml/2006/main">
            <a:r>
              <a:t>그래서 사용자의 질문을 하나로 정의했습니다. **“이 안건은 누가, 왜, 얼마나 먼저 봐야 하는가?”**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다섯 단계는 실제 공무원의 확정된 업무 절차가 아니라, 저희가 제품을 설계하기 위해 설정한 검토 흐름 가설입니다.  </a:t>
            </a:r>
          </a:p>
          <a:p xmlns:a="http://schemas.openxmlformats.org/drawingml/2006/main">
            <a:r>
              <a:t>제안 탐색, 내용 분류, 담당 후보 확인, 현행 정책 대조, 보고자료 작성이 서로 분리되어 있을 가능성을 가정했습니다.  </a:t>
            </a:r>
          </a:p>
          <a:p xmlns:a="http://schemas.openxmlformats.org/drawingml/2006/main">
            <a:r>
              <a:t>따라서 이 슬라이드는 현재 공무원의 업무 절차를 재현한 것이 아니라, **수요·담당 후보·판단 근거·후속 조치를 하나의 제품 흐름으로 연결했다는 설계 범위**를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UKKKK는 앞서 설정한 업무 가설을 하나의 제품 흐름으로 구현한 파일럿입니다.  </a:t>
            </a:r>
          </a:p>
          <a:p xmlns:a="http://schemas.openxmlformats.org/drawingml/2006/main">
            <a:r>
              <a:t>먼저 정책 대분류와 실제 R&amp;R 팀으로 업무 범위를 정하고, 반복 수요와 원문을 확인합니다. 다음으로 기존 사업과 민원·뉴스·통계를 대조해 공백을 판단하고, 담당자가 초안을 수정·승인한 뒤 같은 범위로 보고서를 내보냅니다.  </a:t>
            </a:r>
          </a:p>
          <a:p xmlns:a="http://schemas.openxmlformats.org/drawingml/2006/main">
            <a:r>
              <a:t>자동화의 목적은 결정을 대신하는 것이 아닙니다. 업무시간 단축이나 추천 정확도는 이번 발표에서 검증된 성과로 제시하지 않으며, 제품은 **담당자가 검증 가능한 후보와 근거를 한곳에서 확인하도록 지원하는 것**을 목표로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다섯 출처를 결합했습니다. 상상대로 시민 제안 824건은 정책 수요, 국민신문고 582건은 현장 고충, 몽땅정보통 322개 사업은 기존 공급, 뉴스 1,145건은 사회적 이슈, 자치구 통계는 지역 조건을 보여줍니다.  </a:t>
            </a:r>
          </a:p>
          <a:p xmlns:a="http://schemas.openxmlformats.org/drawingml/2006/main">
            <a:r>
              <a:t>현재 데모는 이 데이터를 미리 수집·정제해 캐시한 구조로 안정적으로 재현됩니다.  </a:t>
            </a:r>
          </a:p>
          <a:p xmlns:a="http://schemas.openxmlformats.org/drawingml/2006/main">
            <a:r>
              <a:t>서로 다른 출처는 제안 ID와 본문, 날짜, 공감·답변 상태, 지역, 정책 계층, R&amp;R 순위, 원문 URL을 가진 공통 스키마로 맞췄습니다. 이후 불용어와 유사어를 정규화하고, 본문과 지역이 없는 값은 임의로 채우지 않은 채 별도 상태로 관리합니다.  </a:t>
            </a:r>
          </a:p>
          <a:p xmlns:a="http://schemas.openxmlformats.org/drawingml/2006/main">
            <a:r>
              <a:t>정제된 데이터는 8대 계층 분류, 의미 유사 군집화, 원본 업무분장 기반 R&amp;R 후보 매칭을 거쳐 화면에서 서로 대조합니다.  </a:t>
            </a:r>
          </a:p>
          <a:p xmlns:a="http://schemas.openxmlformats.org/drawingml/2006/main">
            <a:r>
              <a:t>즉, 제안 건수 하나만으로 판단하지 않고 **수요·현장·공급·사회·지역 근거를 함께 보는 구조**입니다.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버전의 가장 중요한 개선은 상단 필터의 의미를 두 단계로 분리한 것입니다.  </a:t>
            </a:r>
          </a:p>
          <a:p xmlns:a="http://schemas.openxmlformats.org/drawingml/2006/main">
            <a:r>
              <a:t>첫 번째는 조직이 아니라 8대 **정책 대분류 담당군**입니다. 두 번째가 원본 업무분장에 근거한 **실제 R&amp;R 팀**입니다.  </a:t>
            </a:r>
          </a:p>
          <a:p xmlns:a="http://schemas.openxmlformats.org/drawingml/2006/main">
            <a:r>
              <a:t>전체 담당군에서 팀을 고르면 그 팀이 주관 또는 협조로 포함된 모든 안건을 찾습니다. 반면 특정 대분류를 먼저 고르면, 그 범위에서 해당 팀이 1순위 주관인 안건만 보여줍니다.  </a:t>
            </a:r>
          </a:p>
          <a:p xmlns:a="http://schemas.openxmlformats.org/drawingml/2006/main">
            <a:r>
              <a:t>따라서 가족지원팀처럼 여러 분야에 협조로 참여하는 팀도 중복을 숨기지 않으면서, 사용자는 지금 ‘관련 안건 전체’를 보는지 ‘주관 안건’을 보는지 구분할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제안만 읽으면 같은 요구가 여러 표현으로 흩어집니다. UKKKK는 전체 범위의 제안을 57개 문제 군집으로 묶고, 수요·정책 공백·시급성·실행성·근거 신뢰도의 다섯 축으로 비교합니다.  </a:t>
            </a:r>
          </a:p>
          <a:p xmlns:a="http://schemas.openxmlformats.org/drawingml/2006/main">
            <a:r>
              <a:t>이 진단도 고정된 전체 결과만 보여주는 것이 아닙니다. 상단에서 대분류 담당군이나 실제 R&amp;R 팀을 선택하면 그 업무 범위에 포함되는 문제 군집만 남고, 우선점수와 진단 매트릭스, 상세 근거 패널이 같은 기준으로 다시 구성됩니다.  </a:t>
            </a:r>
          </a:p>
          <a:p xmlns:a="http://schemas.openxmlformats.org/drawingml/2006/main">
            <a:r>
              <a:t>기본 모델은 수요 30%, 공백과 시급성 각 25%, 실행성과 신뢰도 각 10%입니다. 사용자는 목적에 따라 시민수요 강조형과 지역형평성 강조형으로 가중치를 바꿔 순위 변화를 볼 수 있습니다.  </a:t>
            </a:r>
          </a:p>
          <a:p xmlns:a="http://schemas.openxmlformats.org/drawingml/2006/main">
            <a:r>
              <a:t>이 점수는 정답이 아니라 **검토 순서를 설명하는 의사결정 보조 지표**입니다.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화면은 여덟 개지만 질문의 순서로 연결됩니다.  </a:t>
            </a:r>
          </a:p>
          <a:p xmlns:a="http://schemas.openxmlformats.org/drawingml/2006/main">
            <a:r>
              <a:t>현황에서 범위를 확인하고, 시민 목소리와 긴급 민원에서 수요를 찾습니다. 현행 정책과 사각지대에서 공급 여부를 대조하고, 자치구 통계에서 지역 조건을 봅니다. 마지막으로 갭 진단에서 조치 후보를 검토하고, 결측치·통합 로그에서 데이터 품질과 결정 이력을 관리합니다.  </a:t>
            </a:r>
          </a:p>
          <a:p xmlns:a="http://schemas.openxmlformats.org/drawingml/2006/main">
            <a:r>
              <a:t>각 화면은 독립 메뉴가 아니라 **하나의 정책 검토 과정의 단계**입니다.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주무관의 실제 흐름은 여섯 단계입니다.  </a:t>
            </a:r>
          </a:p>
          <a:p xmlns:a="http://schemas.openxmlformats.org/drawingml/2006/main">
            <a:r>
              <a:t>먼저 정책 담당군과 실제 팀으로 오늘 볼 업무를 정합니다. 다음으로 KPI와 키워드, 긴급 안건에서 신호를 찾습니다. 관심 안건은 원문과 주관·협조 후보, 공식 URL로 검증합니다. 이어서 기존 사업과 민원·뉴스·자치구 통계를 대조합니다.  </a:t>
            </a:r>
          </a:p>
          <a:p xmlns:a="http://schemas.openxmlformats.org/drawingml/2006/main">
            <a:r>
              <a:t>정책 공백이 확인되면 갭 점수와 추천 조치를 보되, 담당자가 문구를 수정하고 승인합니다. 마지막으로 선택한 범위가 반영된 보고서나 CSV를 내보냅니다.  </a:t>
            </a:r>
          </a:p>
          <a:p xmlns:a="http://schemas.openxmlformats.org/drawingml/2006/main">
            <a:r>
              <a:t>이 흐름의 핵심은 **필터 조건과 판단 근거가 다음 화면까지 이어진다는 것**입니다.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신규 담당자가 화면을 외워야 한다는 문제는 새싹이 오피스 길잡이로 줄였습니다. 새싹이는 현재 화면의 목적과 기본 단계, 고급 활용 팁을 안내하고, 정책 담당군을 선택하면 대분류 기준으로, 실제 팀을 선택하면 팀 기준으로 업무 동선을 바꿉니다.  </a:t>
            </a:r>
          </a:p>
          <a:p xmlns:a="http://schemas.openxmlformats.org/drawingml/2006/main">
            <a:r>
              <a:t>이 선택 범위는 화면 조회에서 끝나지 않고 보고서까지 그대로 이어집니다. 전체 범위를 선택하면 전체 R&amp;R 통합 보고서가, 특정 대분류 담당군을 선택하면 해당 정책 분야 보고서가, 실제 팀까지 선택하면 그 팀의 주관·협조 대상만 집계한 맞춤 보고서가 생성됩니다.  </a:t>
            </a:r>
          </a:p>
          <a:p xmlns:a="http://schemas.openxmlformats.org/drawingml/2006/main">
            <a:r>
              <a:t>검토 결과는 우측 보고서 다운로드에서 상세형, 간부 브리핑, 외부 공유용으로 구성할 수 있습니다. 현재 구현은 HWP용 텍스트, PDF 요약 미리보기, CSV 원자료를 제공하며, 현재 선택한 담당 범위와 카테고리·지역 조건이 보고서의 수치, 본문, 추천 섹션에 함께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원본의 자치구 `미상`을 모두 결측치로 보거나 특정 구로 강제 복원하지 않습니다. 824건 중 원본에서 자치구가 선택된 것은 20건입니다. 나머지 중 본문에 25개 자치구명이 직접 등장하는 복원 후보는 49건, 서울시 전체 범위를 명시한 제안은 5건이며, 750건은 서울시 전체 요구와 판별 불가가 섞인 `지역 범위 미확인`으로 남깁니다.  </a:t>
            </a:r>
          </a:p>
          <a:p xmlns:a="http://schemas.openxmlformats.org/drawingml/2006/main">
            <a:r>
              <a:t>별도로 원문이 연결되지 않았거나 30자 미만인 레코드는 186건이며, 본문이 없으면 제목을 반복해 보여주지 않고 수집 상태를 표시합니다.  </a:t>
            </a:r>
          </a:p>
          <a:p xmlns:a="http://schemas.openxmlformats.org/drawingml/2006/main">
            <a:r>
              <a:t>복원 후보는 담당자가 원문을 펼쳐 검토하고 선택한 결과만 반영 이력으로 남깁니다.  </a:t>
            </a:r>
          </a:p>
          <a:p xmlns:a="http://schemas.openxmlformats.org/drawingml/2006/main">
            <a:r>
              <a:t>데이터 품질을 숨기지 않는 것이 공공 의사결정 시스템의 신뢰라고 판단했습니다.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/Users/parkcy/Desktop/sesac_pjt/UKKKK/data/final/proposals.json</a:t>
            </a:r>
          </a:p>
          <a:p xmlns:a="http://schemas.openxmlformats.org/drawingml/2006/main">
            <a:r>
              <a:t>- 판정일: 2026-07-25</a:t>
            </a:r>
          </a:p>
          <a:p xmlns:a="http://schemas.openxmlformats.org/drawingml/2006/main">
            <a:r>
              <a:t>- 규칙: 원본 district 값, 본문 내 25개 자치구명 직접 등장, 서울시 전체·서울 전역·전 자치구 명시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 가상 페르소나 김서현 주무관에게 설정한 시연 과업으로 보여드리겠습니다.  </a:t>
            </a:r>
          </a:p>
          <a:p xmlns:a="http://schemas.openxmlformats.org/drawingml/2006/main">
            <a:r>
              <a:t>오늘 확인할 업무는 출산·산후 초기지원 분야에서 건강팀이 주관해야 할 제안을 찾고, 반복되는 수요를 검토한 뒤 보고자료로 넘기는 것입니다.  </a:t>
            </a:r>
          </a:p>
          <a:p xmlns:a="http://schemas.openxmlformats.org/drawingml/2006/main">
            <a:r>
              <a:t>화면이 예쁜지가 아니라 **선택한 업무 범위가 여러 화면과 보고서까지 정확히 이어지는지**를 봐주시면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상태에서 시작하겠습니다.  </a:t>
            </a:r>
          </a:p>
          <a:p xmlns:a="http://schemas.openxmlformats.org/drawingml/2006/main">
            <a:r>
              <a:t>첫 번째 필터에서 출산·산후 초기지원을 선택하면 총 87건으로 좁혀지고, 실제 주관팀 후보는 가족건강팀과 건강팀 두 개만 남습니다.  </a:t>
            </a:r>
          </a:p>
          <a:p xmlns:a="http://schemas.openxmlformats.org/drawingml/2006/main">
            <a:r>
              <a:t>여기서 건강팀을 선택하면 건강팀이 1순위 주관으로 매칭된 68건이 표시됩니다.  </a:t>
            </a:r>
          </a:p>
          <a:p xmlns:a="http://schemas.openxmlformats.org/drawingml/2006/main">
            <a:r>
              <a:t>시민 목소리 분석으로 이동해도 68건 범위가 유지되고 키워드와 차트가 다시 계산됩니다.  </a:t>
            </a:r>
          </a:p>
          <a:p xmlns:a="http://schemas.openxmlformats.org/drawingml/2006/main">
            <a:r>
              <a:t>정책 갭 진단으로 이동하면 전체 57개 군집 중 건강팀 범위에 해당하는 문제 군집만 남고, 우선점수와 매트릭스, 상세 근거가 같은 기준으로 다시 구성됩니다. 이 점수는 정책을 자동 결정하는 값이 아니라 먼저 검토할 대상을 좁히는 보조 지표입니다.  </a:t>
            </a:r>
          </a:p>
          <a:p xmlns:a="http://schemas.openxmlformats.org/drawingml/2006/main">
            <a:r>
              <a:t>긴급 민원 처리에서는 제안의 상세 본문과 공식 원문을 확인하고, 건강팀이 주관 1순위인지 어떤 팀이 2·3순위 협조 후보인지 구분해 볼 수 있습니다.  </a:t>
            </a:r>
          </a:p>
          <a:p xmlns:a="http://schemas.openxmlformats.org/drawingml/2006/main">
            <a:r>
              <a:t>새싹이도 건강팀 기준의 다음 업무를 안내합니다. 마지막으로 보고서 다운로드를 누르면 지금 선택한 범위로 브리핑 문서와 CSV를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데이터 정합성 검사와 빌드, 2단계 필터, 8개 화면 범위 연동은 확인했습니다.  </a:t>
            </a:r>
          </a:p>
          <a:p xmlns:a="http://schemas.openxmlformats.org/drawingml/2006/main">
            <a:r>
              <a:t>반면 업무시간 단축률, R&amp;R 추천의 실무 수용률, 결측치 복원 정밀도는 아직 실제 사용자 검증이 필요합니다.  </a:t>
            </a:r>
          </a:p>
          <a:p xmlns:a="http://schemas.openxmlformats.org/drawingml/2006/main">
            <a:r>
              <a:t>따라서 저희는 효과를 미리 확정하지 않고, 다음 단계에서 정책 담당자에게 동일 과업을 기존 방식과 UKKKK 방식으로 수행하게 해 시간, 오류, 수정 횟수, 만족도를 측정하겠습니다.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데모를 운영형 도구로 전환하는 것입니다.  </a:t>
            </a:r>
          </a:p>
          <a:p xmlns:a="http://schemas.openxmlformats.org/drawingml/2006/main">
            <a:r>
              <a:t>먼저 정기 수집과 출처·버전 관리를 구축하고 상세 원문 확보율을 높이겠습니다. 다음으로 담당자 피드백을 정답셋으로 쌓아 R&amp;R과 결측치 복원의 정확도를 측정하겠습니다.  </a:t>
            </a:r>
          </a:p>
          <a:p xmlns:a="http://schemas.openxmlformats.org/drawingml/2006/main">
            <a:r>
              <a:t>마지막으로 대용량 데이터를 API와 데이터베이스로 분리하고, 권한·감사로그·개인정보 보호, 실제 PDF와 HWP 생성까지 연결하겠습니다.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UKKKK는 더 많은 숫자를 보여주는 대시보드가 아닙니다. 시민의 수요를 책임과 근거, 다음 조치로 연결하는 업무 도구입니다.  </a:t>
            </a:r>
          </a:p>
          <a:p xmlns:a="http://schemas.openxmlformats.org/drawingml/2006/main">
            <a:r>
              <a:t>모르는 것은 정직하게 표시하고, 근거는 연결하며, 최종 결정은 담당자가 합니다.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분석 엔진은 감독학습 정답 예측이 아니라 NLP·규칙·가중치 기반 분류, 군집, 우선순위, R&amp;R 후보 추천 구조입니다. 가중치와 임계값은 운영 규칙이며 검증된 정확도 수치로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로드맵에서 요구한 시스템 기획·PRD, 데이터분석 정의서, 발표 대본, 프론트엔드, 데이터 검사, 배포 산출물을 실제 파일 경로 기준으로 정리했습니다.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377d930a2457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dd611955084eac" /><Relationship Type="http://schemas.openxmlformats.org/officeDocument/2006/relationships/slideLayout" Target="/ppt/slideLayouts/slideLayout1.xml" Id="R4251a716f740444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1a716f740444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8066e2a264f6c" /><Relationship Type="http://schemas.openxmlformats.org/officeDocument/2006/relationships/image" Target="/ppt/media/image.png" Id="R34997bac139340ca" /><Relationship Type="http://schemas.openxmlformats.org/officeDocument/2006/relationships/image" Target="/ppt/media/image2.png" Id="R36f984bef224400d" /><Relationship Type="http://schemas.openxmlformats.org/officeDocument/2006/relationships/notesSlide" Target="/ppt/notesSlides/notesSlide1.xml" Id="R4803630dddcf4d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f87db4224493c" /><Relationship Type="http://schemas.openxmlformats.org/officeDocument/2006/relationships/image" Target="/ppt/media/image3.png" Id="Reb55f3e994aa4a3d" /><Relationship Type="http://schemas.openxmlformats.org/officeDocument/2006/relationships/notesSlide" Target="/ppt/notesSlides/notesSlide2.xml" Id="R33447059250c43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b739f4be94049" /><Relationship Type="http://schemas.openxmlformats.org/officeDocument/2006/relationships/image" Target="/ppt/media/image4.png" Id="R7beafe1d993643eb" /><Relationship Type="http://schemas.openxmlformats.org/officeDocument/2006/relationships/notesSlide" Target="/ppt/notesSlides/notesSlide3.xml" Id="Rade51a09baeb41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1d289fde548a2" /><Relationship Type="http://schemas.openxmlformats.org/officeDocument/2006/relationships/image" Target="/ppt/media/image3.png" Id="R270889857e1b4268" /><Relationship Type="http://schemas.openxmlformats.org/officeDocument/2006/relationships/notesSlide" Target="/ppt/notesSlides/notesSlide4.xml" Id="R9141b41f86b34d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f6cf7fc674cc8" /><Relationship Type="http://schemas.openxmlformats.org/officeDocument/2006/relationships/image" Target="/ppt/media/image5.png" Id="R6591485f43f444a0" /><Relationship Type="http://schemas.openxmlformats.org/officeDocument/2006/relationships/notesSlide" Target="/ppt/notesSlides/notesSlide5.xml" Id="R5533974360e848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cf5e7bb08444c" /><Relationship Type="http://schemas.openxmlformats.org/officeDocument/2006/relationships/image" Target="/ppt/media/image6.png" Id="R147adad34d9644dd" /><Relationship Type="http://schemas.openxmlformats.org/officeDocument/2006/relationships/image" Target="/ppt/media/image7.png" Id="Red5f4c69848140da" /><Relationship Type="http://schemas.openxmlformats.org/officeDocument/2006/relationships/notesSlide" Target="/ppt/notesSlides/notesSlide6.xml" Id="R0974876d6a1a45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45ad3289c4ca3" /><Relationship Type="http://schemas.openxmlformats.org/officeDocument/2006/relationships/image" Target="/ppt/media/image8.png" Id="Rbcfcb2564eb0428e" /><Relationship Type="http://schemas.openxmlformats.org/officeDocument/2006/relationships/image" Target="/ppt/media/image9.png" Id="R46e9763513354b86" /><Relationship Type="http://schemas.openxmlformats.org/officeDocument/2006/relationships/notesSlide" Target="/ppt/notesSlides/notesSlide7.xml" Id="R40edd387901e4c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d34977d994863" /><Relationship Type="http://schemas.openxmlformats.org/officeDocument/2006/relationships/image" Target="/ppt/media/image10.png" Id="Refba12f100934e44" /><Relationship Type="http://schemas.openxmlformats.org/officeDocument/2006/relationships/notesSlide" Target="/ppt/notesSlides/notesSlide8.xml" Id="R34ca75dd01b445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3050bd1d24f16" /><Relationship Type="http://schemas.openxmlformats.org/officeDocument/2006/relationships/image" Target="/ppt/media/image10.png" Id="Rd29ec114aaf64f5a" /><Relationship Type="http://schemas.openxmlformats.org/officeDocument/2006/relationships/notesSlide" Target="/ppt/notesSlides/notesSlide9.xml" Id="R24c55ff3fe8d45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bd2d051b34134" /><Relationship Type="http://schemas.openxmlformats.org/officeDocument/2006/relationships/image" Target="/ppt/media/image6.png" Id="R14a942ad2a6c4a5e" /><Relationship Type="http://schemas.openxmlformats.org/officeDocument/2006/relationships/image" Target="/ppt/media/image7.png" Id="R813c293bb3934a6a" /><Relationship Type="http://schemas.openxmlformats.org/officeDocument/2006/relationships/notesSlide" Target="/ppt/notesSlides/notesSlide10.xml" Id="R7bc1503c3e5746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09ac16cc745a2" /><Relationship Type="http://schemas.openxmlformats.org/officeDocument/2006/relationships/image" Target="/ppt/media/image11.png" Id="Ra42907f815e742eb" /><Relationship Type="http://schemas.openxmlformats.org/officeDocument/2006/relationships/notesSlide" Target="/ppt/notesSlides/notesSlide11.xml" Id="R2e80d8be103b41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636066a374139" /><Relationship Type="http://schemas.openxmlformats.org/officeDocument/2006/relationships/image" Target="/ppt/media/image4.png" Id="R9c7296519eaf45f5" /><Relationship Type="http://schemas.openxmlformats.org/officeDocument/2006/relationships/notesSlide" Target="/ppt/notesSlides/notesSlide12.xml" Id="R6985c8364b7b4a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573e67f714fa1" /><Relationship Type="http://schemas.openxmlformats.org/officeDocument/2006/relationships/image" Target="/ppt/media/image12.png" Id="R7aee34a324ca46cc" /><Relationship Type="http://schemas.openxmlformats.org/officeDocument/2006/relationships/image" Target="/ppt/media/image13.png" Id="R1113fd1ccf804612" /><Relationship Type="http://schemas.openxmlformats.org/officeDocument/2006/relationships/notesSlide" Target="/ppt/notesSlides/notesSlide13.xml" Id="R703c23b83cec4a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dd0fae3724707" /><Relationship Type="http://schemas.openxmlformats.org/officeDocument/2006/relationships/image" Target="/ppt/media/image14.png" Id="R508fc4e2da8c4fb0" /><Relationship Type="http://schemas.openxmlformats.org/officeDocument/2006/relationships/notesSlide" Target="/ppt/notesSlides/notesSlide14.xml" Id="R65111b5031f241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5552842874772" /><Relationship Type="http://schemas.openxmlformats.org/officeDocument/2006/relationships/image" Target="/ppt/media/image15.png" Id="Rb5d0ff9dc52f4ecc" /><Relationship Type="http://schemas.openxmlformats.org/officeDocument/2006/relationships/notesSlide" Target="/ppt/notesSlides/notesSlide15.xml" Id="R310da1b19dc841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c7fcf9a0d4838" /><Relationship Type="http://schemas.openxmlformats.org/officeDocument/2006/relationships/image" Target="/ppt/media/image16.png" Id="Ra5131359c475431f" /><Relationship Type="http://schemas.openxmlformats.org/officeDocument/2006/relationships/notesSlide" Target="/ppt/notesSlides/notesSlide16.xml" Id="R9daef94acf9a44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8b2b09ba64dc2" /><Relationship Type="http://schemas.openxmlformats.org/officeDocument/2006/relationships/image" Target="/ppt/media/image17.png" Id="Rc40cf8ab72214998" /><Relationship Type="http://schemas.openxmlformats.org/officeDocument/2006/relationships/notesSlide" Target="/ppt/notesSlides/notesSlide17.xml" Id="Rb0559727d14246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62b069df34c79" /><Relationship Type="http://schemas.openxmlformats.org/officeDocument/2006/relationships/image" Target="/ppt/media/image17.png" Id="Rb3583a753f3a434c" /><Relationship Type="http://schemas.openxmlformats.org/officeDocument/2006/relationships/notesSlide" Target="/ppt/notesSlides/notesSlide18.xml" Id="Re8bdbd34c7c44e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F5466-C2C7-4651-88CC-CAD43D6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41DD26-F233-408D-A8BE-E38F4A0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AF8468-8EC9-4219-AB1F-69C61F4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D7A79C-EAFA-4E09-9C39-F1A0842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97bac139340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5D03BEF-8EE0-493C-8BAD-C7483F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87B268-1561-40AE-802E-EF5C97F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0E065A-0757-4BBD-87F1-37411C7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DCF98-5C93-4534-B1CD-6E84855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86C6B5-623F-4D92-BA50-E559DED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8035B35-B554-4559-8366-255D947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97bac139340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C2BFA5A-83BD-484E-A89C-1CB41B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UKKKK 2차 발표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20B7D-BD32-4464-BD26-0F546EE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90194C8-BBB2-45E4-9DB3-4C05E32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105082-997E-413F-AE34-E33FB3F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A4622C9-7831-4A66-90D7-51C6370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A8A16C7-E10F-4698-BB93-FFFCBD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A1F09F-1404-4C8E-A666-B39B9AC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E9AD44-E399-44FC-AFBF-CB8220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FB8705F-087A-45E4-B953-C9A7888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94F5969-B4C8-4D33-B15B-F66412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C70DF73-A762-4C09-85E8-1BA534E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452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SEOUL · DATA-DRIVEN MATERNITY &amp; CHILDCARE POLICY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B702F7-67F4-4DE4-810C-85786A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40280"/>
            <a:ext cx="12191695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A05B4D2-D912-41AA-A749-8DCAA6DE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수요를 책임·근거·조치로 연결하는 정책 의사결정 지원 대시보드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BE82982-7871-4B4E-875F-FAB4448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Unified Key-Knowledge Kit for Kid · Human-in-the-loop MVP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4E7ABE1-21A9-43ED-A7C8-39F3AE1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5875">
            <a:solidFill>
              <a:srgbClr val="6B6B66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9A7014-B0DD-4B30-A6AC-5FEF6E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76C0E5-89C9-41DA-B7F9-B2CAA50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4572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0842DD3-1973-4B17-A992-E9C4E7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▶  2차 발표 시작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984bef22440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9919" y="4703660"/>
            <a:ext cx="1121745" cy="1371600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8E1402FC-FAC7-4886-BC93-103EDC5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AFF73D9-34B4-48DB-A897-C7DE693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값은 표시하고, 결정은 사람이 합니다</a:t>
            </a:r>
          </a:p>
        </p:txBody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97bac139340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9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5f3e994aa4a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5f3e994aa4a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페르소나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신규 정책담당 김서현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월요일 오전, 무엇부터 봐야 할까요?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출산·양육 정책 담당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여러 출처와 화면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검토 우선순위 필요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필요한 지원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내 담당 범위 설정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수요·근거 확인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보고자료 작성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인물이 아닌 기능 시연용 가상 페르소나예요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5f3e994aa4a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afe1d9936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afe1d9936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검증할 문제 가설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검증할 문제 가설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데이터는 있었지만,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수요와 책임·근거·조치가 끊겨 있었습니다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기관별 업무 절차를 대표한다고 단정하지 않아요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afe1d9936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889857e1b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889857e1b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TO-BE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화면에서 근거와 R&amp;R까지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제안·민원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정책·뉴스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수요·Gap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후보·원문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맞춤 보고서·로그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후보와 근거를 연결하고 최종 결정은 사람이 해요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889857e1b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5CC833-3EA2-4D0E-9EE2-5996FB7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2DE01-03D5-4A23-BEBB-1280561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B9A54B-70BD-4828-B5DE-84A9799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AD69EF-7AC5-45B2-AE69-87CF493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1485f43f444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6B987A-AE0C-4A3B-85F8-07E796A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176C70-3233-415C-80D3-6E3DCC6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C6BF1-D951-47F3-AB45-DB80F6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AF3597-ACEF-4F57-B226-55E7745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FE2892-8A3A-4C19-B85C-047D20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48BFE9-9371-4153-B911-1D2740B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1485f43f444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D2ACCE-6B28-4215-94C9-B19163E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데이터 파이프라인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B426C-BEDA-4FED-81CD-876C8C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F490C22-C6C4-4177-A899-CADCB5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8A7F2D0-2907-44B1-840F-E346357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816E39-3779-4B7F-A3D8-EE6D107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D42055-784D-41C1-ADCA-BB61EE7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CEFB8EA-A676-4010-B7FC-29283F3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4A30CC-1ECE-4DB6-8748-824D63C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491FC0E-8D00-4552-9736-EF5C8B4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84F77C6-48A0-417C-A08E-505C564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8AF6AF0-29D2-418C-AC41-413CB12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수집·정제·캐시 기반 재현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4BF1851-D08A-40C9-A4FD-4D6DBD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5개 출처를 공통 스키마로 연결했습니다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C2681F-4494-432A-BD64-BF3D87F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804E55-2BB5-4044-9441-FBCC864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824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9F328D4-41F8-4EA7-A6DF-1250055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3C1FAC3-3831-49D5-8C9F-C42B92D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CC41A71-AEFB-4357-AEC9-B3866E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582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7D1CE81-67D0-4D7D-83EF-91BF1C3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현장 민원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1D853C0-C7A8-41FF-A61C-75392A1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A0EE75-3CAE-44CF-82A0-A21D789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322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92D4A7-0FD9-407C-A59A-CFFC05B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공식 정책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E600F6B-8BC6-41D3-B121-3FDFD47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19336E2-C495-46E1-970C-7957344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1,145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D2EA8CB-2107-4C3F-81F8-97D718C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뉴스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4B71F55-793A-4445-A30A-D16019D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D84046-C4C8-4765-86A3-DEBA5EE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25개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CC4668A-C8FC-47C0-9DE6-3F4FBB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6586B18-CB6F-4F76-947D-489AA30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9AA3C7"/>
                </a:solidFill>
              </a:rPr>
              <a:t>▼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C7050CC4-AA16-4F15-9E55-A1DCD51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8D6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FD1FE06-5A70-42B4-8A2F-8892DA4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스키마 → 정규화 → 8대 분류 → 문제 군집 → R&amp;R 후보</a:t>
            </a:r>
          </a:p>
        </p:txBody>
      </p:sp>
    </p:spTree>
    <p:extLst>
      <p:ext uri="{BB962C8B-B14F-4D97-AF65-F5344CB8AC3E}">
        <p14:creationId xmlns:p14="http://schemas.microsoft.com/office/powerpoint/2010/main" val="453869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adad34d96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adad34d96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4 · 두 단계 담당 범위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정책 대분류 담당군 × 실제 R&amp;R 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조직명과 정책 분류를 분리해 검색 의미를 명확히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f4c69848140da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전체+팀은 1·2·3순위, 대분류+팀은 1순위 주관만 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adad34d96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8BF50D-7557-409C-A2E1-8E6DAF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C8D8F4-6AF8-4CEC-8596-C6556EE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8AC9AB-70DA-4405-BFAB-D91EC2B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916BD7-4492-4BDF-A232-14085D8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cb2564eb042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D0274B-0753-4D0B-804D-0EA4653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45DC19-CABD-47D2-AEB2-F655DC5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CEC243-96DE-4E93-950A-1286695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FF1A22-268F-4F0D-9D1B-294DB3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843AE-E06E-45C4-AD3A-DB0FF7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14FDC-14B8-49FC-B86F-CBABB26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cb2564eb042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BE9741-AE91-4C2F-815F-BDA884C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5 · 문제 군집과 Gap 진단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960E81D-1120-49C0-8572-BC2F14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7D5E110-381E-411C-BE5A-10ED7D0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097747-483F-4B76-BC8A-7912C0B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2323332-D03F-44F1-84E6-1371968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069A73B-5035-466D-AABB-F346DBF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B4084D-F84D-411A-B09F-1C78ABB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AB25D41-0F4A-4259-BEB3-87C02BA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5A014E-BE73-42AC-B956-9734DE9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BCB530-0BA0-4AC1-9727-9673F7C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6E46C09-9414-471D-A8CC-303F93D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전체 57개 문제 군집 · 선택 범위별 재구성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DDC75AA-7632-44E4-8A1F-45F0163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개별 제안을 넘어 반복되는 문제 단위로 판단합니다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F2BB539-D185-4EB9-9261-9F2B7D1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9763513354b86"/>
          <a:stretch xmlns:a="http://schemas.openxmlformats.org/drawingml/2006/main"/>
        </p:blipFill>
        <p:spPr>
          <a:xfrm xmlns:a="http://schemas.openxmlformats.org/drawingml/2006/main">
            <a:off x="2922757" y="2103120"/>
            <a:ext cx="6346182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CC6B6B6-BAEA-42CD-B4FC-C7F1B6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6004E55-CC3C-4FD6-B153-A6CFE3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점수는 검토 우선순위이며 정책 결정 자체가 아니에요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cb2564eb042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2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a12f100934e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a12f100934e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6 · 8개 화면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· 공통 담당 범위 연동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각 화면은 다른 질문에 답하지만 선택 범위는 하나로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 현황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시민 목소리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긴급 민원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현행 정책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사각지대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Gap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결측·로그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페이지를 바꿔도 담당군·실제 팀 기준이 유지돼요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a12f100934e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ec114aaf64f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ec114aaf64f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7 · End-to-End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발견에서 보고서까지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선택한 범위가 근거 검토와 후속 조치까지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 범위 선택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KPI·키워드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 검증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대조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민원·뉴스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수요 → 책임 → 근거 → 조치를 한 흐름으로 연결해요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ec114aaf64f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942ad2a6c4a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942ad2a6c4a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8 · 길잡이와 보고서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현재 화면·담당 범위에 맞춘 업무 안내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대분류·실제 팀 선택이 맞춤 보고서까지 그대로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c293bb3934a6a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전체·대분류·팀 기준으로 수치·본문·추천 섹션을 다시 구성해요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942ad2a6c4a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E270FD-9BBF-4E6F-AA51-A4393E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D06088-6BB1-4055-B9BB-ECB2BA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3320FF-374C-4ABC-9C5A-8B12CBF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2D870D-6B4B-445B-BF5D-EC6F4C9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907f815e742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CC8931-2FEE-45CB-9CCB-C587AB1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989F7B-732F-4EB6-B6DD-9C5406B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FD351D-86F8-4CBE-B1DF-5E0236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D54B6C-620B-42D3-BA12-393C29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B767FE7-EEC2-4817-BB81-314398F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DDA77C1-932B-4391-9332-F77DB9F0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907f815e742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B267C4-9D3B-4836-AEA1-D3493F5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데이터 품질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A8A2193-F52F-40F4-9971-B8D6152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72DCED6-AEA8-4FD8-8EE5-665F353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E3299D-07F4-4F5B-95A6-E3040CD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4E0611C-7F7D-47B8-936C-02C003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1C4691-F64F-4CE4-A062-ADA0837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F6E9A0-2001-4E6B-A588-F4E9574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E76A657-DAA3-42B0-8946-3A5BB3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46DD0-3737-4359-9CD2-12EEDF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6462A81-2D9D-4211-A2AB-C6D6455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0A0FD98-A082-4105-9201-E25C993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모르는 값은 모른다고 표시합니다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0EA32B8-008A-441E-9429-2784EE9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804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084A70B-5101-4ED0-A994-A1E142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5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원본 미상 804건 · 원본 특정 자치구 20건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FCD1F74-BDC3-47B8-B91B-EAD48EA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0FA968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1ACFA58-A759-4FFE-8E56-20D79FA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본문 자치구 후보 49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0786225-57F2-40F8-9528-1DF9B19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12700">
            <a:solidFill>
              <a:srgbClr val="3558D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1DE7587-49AA-4B16-9575-ADF319B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서울시 전체 명시 5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FAAE6AF-2424-40AE-AFD8-0E71EF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7C5CE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7F7B57-123A-473E-A798-9DF6803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지역 범위 미확인 750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539C9C8-C002-493B-A431-4C002B3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920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C7"/>
                </a:solidFill>
                <a:latin typeface="Malgun Gothic"/>
                <a:ea typeface="Malgun Gothic"/>
                <a:cs typeface="Malgun Gothic"/>
              </a:rPr>
              <a:t>분류 기준 · 원본 선택값 + 본문 직접 지명 · 원문 미연결 186건 별도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A41A804-46C5-4B98-9DE9-62E2424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5720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8CF3E53-9158-4BC7-BBFD-F5CFF2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3891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미상을 결측치로 일괄 처리하지 않고 지역 범위를 구분해요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907f815e742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296519eaf45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296519eaf45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10 · 시연 과업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월요일 오전 9:10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출산·산후 초기지원에서 건강팀이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주관할 반복 수요를 찾아 보고자료로 넘깁니다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선택한 범위가 화면과 보고서까지 이어지는지 봐주세요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296519eaf45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ECD12-AB96-4D74-90E5-7E7C7D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CBE152-BBD3-4831-9117-8C8C032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405E3-A020-4109-86F0-F23F680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6DB040-E546-4440-B2ED-F328AD1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e34a324ca46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9B8BF-A55C-4F98-8188-79DF911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023716E-94F6-4040-87AD-823548C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FD638-43D9-4DE4-B2DC-70BBCF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47249-1800-42A0-8265-EF1DE2B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8CA0EE0-E28C-4C3F-9B77-2BA1076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108A6-AAE8-4BE3-8DCC-06BE72D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e34a324ca46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05D8A7-485B-4AF2-A0AD-6A821B7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라이브 데모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B822EBF-A04F-4394-9E1C-95073A4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586BFA-AD56-4CAC-940D-64CD3B1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AFDF8C-9BE9-403D-BAB3-243A2FC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81CD298-0988-4BE5-817F-6C2A19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E822D95-1971-4458-B78F-67AEEC6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32D499-24E4-4F72-8298-0ED29E8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211111-4B11-4AE3-972E-034D4A1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1E73DA-0819-4FC6-A580-8638FB3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999D27-9CA1-47A8-A3CF-2A6B573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7641F6A-FFD6-442F-870E-707765B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90초 라이브 시연 · 담당 범위가 끝까지 이어지는가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E5130D6-378C-4A87-8F5E-88D56B9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669F19-2AC1-46BF-A506-9354D33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12C5E9-BC62-4ECB-949D-4D6150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 87건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F97DEEE-B82C-4E21-BF3D-71547D7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4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A70C37-12ED-42E4-87A2-7E407E5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0CFF4F3-C8AE-43CC-8BBD-D7CA58A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A188AFD-4A76-4220-9EE4-B130227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건강팀 68건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28D1208-5BB3-4FA2-BC95-AD583AD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6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388ADD3-D25D-41B6-A945-A5E816C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EAA4E86-66C1-4BB0-92BE-0332368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C1AC0FB-F81B-4924-83B6-010BB8A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 검증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22EAAEC-BC76-4B41-B33E-28426F2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8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9B64CD6F-2F23-4534-B851-84ECA2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B5922A-EFED-4633-A413-5BCCFCE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4A8AFD9-6C79-4C72-9BE8-A8B0265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보고서·CSV</a:t>
            </a:r>
          </a:p>
        </p:txBody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3fd1ccf8046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4523" y="2929116"/>
            <a:ext cx="934787" cy="1143000"/>
          </a:xfrm>
          <a:prstGeom xmlns:a="http://schemas.openxmlformats.org/drawingml/2006/main" prst="rect">
            <a:avLst/>
          </a:prstGeom>
        </p:spPr>
      </p:pic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A47B8172-3078-4FB2-B82E-10B6E24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42" name="Text 37">
            <a:extLst xmlns:a="http://schemas.openxmlformats.org/drawingml/2006/main">
              <a:ext uri="{FF2B5EF4-FFF2-40B4-BE49-F238E27FC236}">
                <a16:creationId xmlns:a16="http://schemas.microsoft.com/office/drawing/2014/main" id="{A264E091-E010-4775-BE5D-6FD46DA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시민 목소리·Gap·긴급 민원·새싹이·보고서가 같은 범위로 연동돼요</a:t>
            </a:r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e34a324ca46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4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24A226-81DA-4B8B-A57B-51EDDC0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521AB-35F6-4E12-8A90-B438B9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8732A-8C57-494E-8C21-7F145B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F0182-4139-4003-AF33-8A739F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fc4e2da8c4f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BC46CB-C98E-423E-BD61-10B9F4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11FC47-7304-4D83-89A9-887D633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5865C0-054B-4AD3-8FB6-8B84096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19D760-DFE4-4E75-AB7C-F13733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786B291-C783-4BE2-8545-F9B277C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958BE32-FF96-482B-B174-7078A42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fc4e2da8c4f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BF17D2-C0DF-40A9-AF0D-440FF30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검증 상태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27E8ED-FF96-4171-B8FA-8AB2D43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D42B7E-1FBE-4421-A60A-B3DBC3E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ED95D05-EB64-46FA-A35A-10126E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32C329-2F10-44A4-B5AD-91E3F60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EEEF6D-1716-4662-BC99-FDCC347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1E6B0EB-8C1A-44E9-915C-97B810C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A7EF3ED-0CFA-446B-B9FC-BF1AAE3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DC3FE-FFAA-4FBF-A2CD-3519DE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2C509BE-45C6-447D-AA73-CED434B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86BF7CC-A6EF-45D9-974F-9049E3F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확인된 기능과 검증하지 않은 효과를 분리합니다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23CDB5E-0AEE-46EB-A209-FAD18FD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동작 확인 ≠ 업무 효과 검증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9665CA-868A-458B-841F-937D06B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70"/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3100A9E-50FF-4ABB-94AC-D5D5C8E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확인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8F3B317-C6DB-46F3-AF23-7571D1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정합성·필터·8개 화면·빌드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707B2E-9A7F-4B74-AD89-FB3B250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28" y="4379976"/>
            <a:ext cx="1463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0"/>
          </a:solidFill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D83D95B-3AF3-4647-9EC4-C9F9A3E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387705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미검증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B23402-4D9D-4292-8784-39623B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시간 단축·R&amp;R 정확도·만족도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EEBB172-0C30-449D-87CB-56C230A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1CDBF3-43FD-4286-BEAB-5644470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효과 수치는 검증하지 않아 성과로 제시하지 않아요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fc4e2da8c4f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4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A23B-6CBF-4357-9EB6-66EDFF9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32989B-6775-4EE6-9996-358BCE6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F4317-47AD-439F-8D98-507FCD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2F8E4C-04FF-494A-8DFF-38E4DC7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0ff9dc52f4e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989151-D089-42B5-823F-FC9C781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22039B-6325-4749-8A42-9035B26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348E33-EC9A-415F-AB76-34A8A4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3B3AC0-0CB5-4D8A-AFE7-CB2441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880495-E371-4724-ABE5-A33E21E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0FB16EC-B345-404A-84AD-BE41D9E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0ff9dc52f4e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1CC91B5-1331-448E-8AC9-8B88A2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13 · 운영화 로드맵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9F7189-DFED-4462-AFD0-C15F12C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B984D0-B90B-4CE5-878E-A3BBEB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2B7829-4A8C-4773-8698-7143A9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AF3681-D958-479E-B152-8E2239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5BB062-7B5C-47FD-83F7-84F6B9A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1E32F5-5E6C-46A8-B404-117EA8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25E78B0-C233-4BA9-88CD-A1D7016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44B986D-59E9-4B1C-B036-55F2AD8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06970B-5D54-4B59-9D24-D5763ED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BE74F7-289A-4D11-882E-1E23A5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데모에서 운영형 의사결정 도구로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0915ED-B553-4D2B-A859-B3C681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운영화 → 행정 검증 → 서비스 안정화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C44740-196A-473A-B254-26B025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39C4094-11A6-4B42-BB96-7D62B0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8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STEP 1·2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정기 수집·버전·출처 관리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정답셋·담당자 피드백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원문 확보·복원 성능 측정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EC00BA-61F4-4A21-89FC-7C26026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2788920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99588D5-E2C9-4C72-8EFB-A632069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CECBF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40A2A66-532F-4072-8C44-FD589FE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API·DB 분리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권한·감사로그·개인정보 보호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네이티브 PDF·HWP 생성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B1263E1A-04A4-4352-94F8-9F854F0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1E3BF5C-1E2F-4E40-B708-F320995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정확도와 운영 책임을 먼저 검증한 뒤 확장할게요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0ff9dc52f4e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80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B66D27-151B-4DAF-B199-3BF2D6B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DA734-24B5-416B-BB48-18673CF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2C370F-CC34-4AA2-9DD2-52AE98B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269540-49D9-4D42-8197-82A9AD9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31359c47543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4DA868-25DA-4630-ACCF-47131E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ADE83A-0832-41ED-B7EE-F90F991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2A4AF9-9912-4CBC-9BBA-56424EB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922247-85AF-4536-9855-F1E06B4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4E57A53-7A79-4323-8B8D-EDC5E60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7A0214-A504-4F92-85EF-139DCA0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31359c47543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67D311-1AAD-417E-A9D3-6C8B2A1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14 · 결론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A6D9EE-D1A0-4F5E-A117-5B3498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3F891C4-E14A-45BF-B66C-CB78B0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FD5232F-3FB5-43C7-B2FD-EBD1D23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2EAA86E-C256-4022-B2DD-058A1B3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D77F82-1DBD-4F20-A67F-49637D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52F23F-B94E-4180-9422-949829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899714-9371-48DA-B099-6BCC5D8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41775D4-2FE8-437B-A175-8EE99E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635C84-1537-453F-9776-F1EC9CB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7236B1B-8B40-434D-B862-EB793CA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C6A9FE3-7AE5-468A-82F5-CD8D7C8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더 많은 데이터를 보여주는 것이 아니라, 담당자가 다음 행동을 더 정확히 선택하게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9391D7-EFBA-4727-8DF3-F2E8ADF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30368"/>
            <a:ext cx="3008376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E59429E-D8EA-43F6-8179-488C32E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230368"/>
            <a:ext cx="28254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것은 표시하고, 근거는 연결하며, 결정은 사람이 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31359c47543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2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cf8ab72214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cf8ab72214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A · 데이터·모델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DATA &amp; MODEL · 재현성과 한계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통합 스키마와 분석 결과 정의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 피처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건수·공감·댓글·답변·날짜·본문·지역·정책/뉴스/통계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분류·군집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대분류→중·소분류 / 전체 57개 문제 군집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 결과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수요·공백·시급성·실행성·근거 신뢰도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결과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실제 업무분장 기반 주관 1순위·협조 2·3순위 후보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최종 결정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담당자가 원문과 근거를 대조해 수정·승인·반려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군집 안정성·R&amp;R 수용률·임계값 민감도·보고서 수정률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83a753f3a43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83a753f3a43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B · 산출물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DELIVERABLES · 실제 파일 기준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로드맵 요구사항과 확인 가능한 산출물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시스템 기획·PRD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docs/SYSTEM_DESIGN_PRD.md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데이터분석 정의서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docs/데이터분석정의서.md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발표 대본·시연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docs/발표자료/발표_대본_PPT구성_ver2.md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React·TypeScript·Vite / frontend/src/App.tsx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검사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Python 동기화·정합성 검사 스크립트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배포·생성형 AI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Vercel / Gemini 초안 + 템플릿 Fallback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2026-07-25T12:34:44.5400000Z</dcterms:created>
  <dcterms:modified xsi:type="dcterms:W3CDTF">2026-07-25T12:34:44.5400000Z</dcterms:modified>
</coreProperties>
</file>