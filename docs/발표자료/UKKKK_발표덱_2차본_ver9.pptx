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b1dd5c58c54484" /><Relationship Type="http://schemas.openxmlformats.org/officeDocument/2006/relationships/extended-properties" Target="/docProps/app.xml" Id="R10385a2f98c64cdb" /><Relationship Type="http://schemas.openxmlformats.org/officeDocument/2006/relationships/officeDocument" Target="/ppt/presentation.xml" Id="Re1a72872bed6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a43d4d4a504742"/>
  </p:sldMasterIdLst>
  <p:notesMasterIdLst>
    <p:notesMasterId xmlns:r="http://schemas.openxmlformats.org/officeDocument/2006/relationships" r:id="Rffb174592fbf4304"/>
  </p:notesMasterIdLst>
  <p:sldIdLst>
    <p:sldId xmlns:r="http://schemas.openxmlformats.org/officeDocument/2006/relationships" id="256" r:id="R79aaa301a9cf40b1"/>
    <p:sldId xmlns:r="http://schemas.openxmlformats.org/officeDocument/2006/relationships" id="257" r:id="R1e6a022161f54094"/>
    <p:sldId xmlns:r="http://schemas.openxmlformats.org/officeDocument/2006/relationships" id="258" r:id="R98263b4e70d34fe9"/>
    <p:sldId xmlns:r="http://schemas.openxmlformats.org/officeDocument/2006/relationships" id="259" r:id="R29d3fdb5160740e0"/>
    <p:sldId xmlns:r="http://schemas.openxmlformats.org/officeDocument/2006/relationships" id="260" r:id="Rb31a53e3e46145e5"/>
    <p:sldId xmlns:r="http://schemas.openxmlformats.org/officeDocument/2006/relationships" id="261" r:id="R1c51d8c412d64967"/>
    <p:sldId xmlns:r="http://schemas.openxmlformats.org/officeDocument/2006/relationships" id="262" r:id="Ra1b8ef2b2b024062"/>
    <p:sldId xmlns:r="http://schemas.openxmlformats.org/officeDocument/2006/relationships" id="263" r:id="Rd52857ee4ddc4a57"/>
    <p:sldId xmlns:r="http://schemas.openxmlformats.org/officeDocument/2006/relationships" id="264" r:id="R9b3354739c344a8a"/>
    <p:sldId xmlns:r="http://schemas.openxmlformats.org/officeDocument/2006/relationships" id="265" r:id="Rf072598538704501"/>
    <p:sldId xmlns:r="http://schemas.openxmlformats.org/officeDocument/2006/relationships" id="266" r:id="Rdc129ecac57048e6"/>
    <p:sldId xmlns:r="http://schemas.openxmlformats.org/officeDocument/2006/relationships" id="267" r:id="R2a13a34fa1d04b38"/>
    <p:sldId xmlns:r="http://schemas.openxmlformats.org/officeDocument/2006/relationships" id="268" r:id="R520b72230d154eac"/>
    <p:sldId xmlns:r="http://schemas.openxmlformats.org/officeDocument/2006/relationships" id="269" r:id="Rcea33413044c4f39"/>
    <p:sldId xmlns:r="http://schemas.openxmlformats.org/officeDocument/2006/relationships" id="270" r:id="R3676eb038536437a"/>
    <p:sldId xmlns:r="http://schemas.openxmlformats.org/officeDocument/2006/relationships" id="271" r:id="Rb2b5c24ffe4a46fe"/>
    <p:sldId xmlns:r="http://schemas.openxmlformats.org/officeDocument/2006/relationships" id="272" r:id="R3e55d7e1f5a24131"/>
    <p:sldId xmlns:r="http://schemas.openxmlformats.org/officeDocument/2006/relationships" id="273" r:id="R359cef4f438d477e"/>
    <p:sldId xmlns:r="http://schemas.openxmlformats.org/officeDocument/2006/relationships" id="274" r:id="Rafc40644dc134572"/>
    <p:sldId xmlns:r="http://schemas.openxmlformats.org/officeDocument/2006/relationships" id="275" r:id="R445e646e09b7451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7ff2421d984fc4" /><Relationship Type="http://schemas.openxmlformats.org/officeDocument/2006/relationships/slideMaster" Target="/ppt/slideMasters/slideMaster1.xml" Id="R62a43d4d4a504742" /><Relationship Type="http://schemas.openxmlformats.org/officeDocument/2006/relationships/notesMaster" Target="/ppt/notesMasters/notesMaster1.xml" Id="Rffb174592fbf4304" /><Relationship Type="http://schemas.openxmlformats.org/officeDocument/2006/relationships/presProps" Target="/ppt/presProps.xml" Id="R887d3e71d72b40ac" /><Relationship Type="http://schemas.openxmlformats.org/officeDocument/2006/relationships/viewProps" Target="/ppt/viewProps.xml" Id="R969eb840a48848dc" /><Relationship Type="http://schemas.openxmlformats.org/officeDocument/2006/relationships/tableStyles" Target="/ppt/tableStyles.xml" Id="Rbcd05aaf8dd84a79" /><Relationship Type="http://schemas.openxmlformats.org/officeDocument/2006/relationships/slide" Target="/ppt/slides/slide1.xml" Id="R79aaa301a9cf40b1" /><Relationship Type="http://schemas.openxmlformats.org/officeDocument/2006/relationships/slide" Target="/ppt/slides/slide2.xml" Id="R1e6a022161f54094" /><Relationship Type="http://schemas.openxmlformats.org/officeDocument/2006/relationships/slide" Target="/ppt/slides/slide3.xml" Id="R98263b4e70d34fe9" /><Relationship Type="http://schemas.openxmlformats.org/officeDocument/2006/relationships/slide" Target="/ppt/slides/slide4.xml" Id="R29d3fdb5160740e0" /><Relationship Type="http://schemas.openxmlformats.org/officeDocument/2006/relationships/slide" Target="/ppt/slides/slide5.xml" Id="Rb31a53e3e46145e5" /><Relationship Type="http://schemas.openxmlformats.org/officeDocument/2006/relationships/slide" Target="/ppt/slides/slide6.xml" Id="R1c51d8c412d64967" /><Relationship Type="http://schemas.openxmlformats.org/officeDocument/2006/relationships/slide" Target="/ppt/slides/slide7.xml" Id="Ra1b8ef2b2b024062" /><Relationship Type="http://schemas.openxmlformats.org/officeDocument/2006/relationships/slide" Target="/ppt/slides/slide8.xml" Id="Rd52857ee4ddc4a57" /><Relationship Type="http://schemas.openxmlformats.org/officeDocument/2006/relationships/slide" Target="/ppt/slides/slide9.xml" Id="R9b3354739c344a8a" /><Relationship Type="http://schemas.openxmlformats.org/officeDocument/2006/relationships/slide" Target="/ppt/slides/slide10.xml" Id="Rf072598538704501" /><Relationship Type="http://schemas.openxmlformats.org/officeDocument/2006/relationships/slide" Target="/ppt/slides/slide11.xml" Id="Rdc129ecac57048e6" /><Relationship Type="http://schemas.openxmlformats.org/officeDocument/2006/relationships/slide" Target="/ppt/slides/slide12.xml" Id="R2a13a34fa1d04b38" /><Relationship Type="http://schemas.openxmlformats.org/officeDocument/2006/relationships/slide" Target="/ppt/slides/slide13.xml" Id="R520b72230d154eac" /><Relationship Type="http://schemas.openxmlformats.org/officeDocument/2006/relationships/slide" Target="/ppt/slides/slide14.xml" Id="Rcea33413044c4f39" /><Relationship Type="http://schemas.openxmlformats.org/officeDocument/2006/relationships/slide" Target="/ppt/slides/slide15.xml" Id="R3676eb038536437a" /><Relationship Type="http://schemas.openxmlformats.org/officeDocument/2006/relationships/slide" Target="/ppt/slides/slide16.xml" Id="Rb2b5c24ffe4a46fe" /><Relationship Type="http://schemas.openxmlformats.org/officeDocument/2006/relationships/slide" Target="/ppt/slides/slide17.xml" Id="R3e55d7e1f5a24131" /><Relationship Type="http://schemas.openxmlformats.org/officeDocument/2006/relationships/slide" Target="/ppt/slides/slide18.xml" Id="R359cef4f438d477e" /><Relationship Type="http://schemas.openxmlformats.org/officeDocument/2006/relationships/slide" Target="/ppt/slides/slide19.xml" Id="Rafc40644dc134572" /><Relationship Type="http://schemas.openxmlformats.org/officeDocument/2006/relationships/slide" Target="/ppt/slides/slide20.xml" Id="R445e646e09b7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0fea21701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dfc4eb286d4772" /><Relationship Type="http://schemas.openxmlformats.org/officeDocument/2006/relationships/notesMaster" Target="/ppt/notesMasters/notesMaster1.xml" Id="R7fc61105381343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a0fded39e84d9b" /><Relationship Type="http://schemas.openxmlformats.org/officeDocument/2006/relationships/notesMaster" Target="/ppt/notesMasters/notesMaster1.xml" Id="R97a46b7bfc644e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5e80f2a7a4c6a" /><Relationship Type="http://schemas.openxmlformats.org/officeDocument/2006/relationships/notesMaster" Target="/ppt/notesMasters/notesMaster1.xml" Id="R7965537021dc43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90a1204f7444a5" /><Relationship Type="http://schemas.openxmlformats.org/officeDocument/2006/relationships/notesMaster" Target="/ppt/notesMasters/notesMaster1.xml" Id="R1fc97fd67de24e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540deb244484b" /><Relationship Type="http://schemas.openxmlformats.org/officeDocument/2006/relationships/notesMaster" Target="/ppt/notesMasters/notesMaster1.xml" Id="Ra1c773683e5c4d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29f4e6fc5349ff" /><Relationship Type="http://schemas.openxmlformats.org/officeDocument/2006/relationships/notesMaster" Target="/ppt/notesMasters/notesMaster1.xml" Id="R3b2e2277cd544d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36c1c079e24a18" /><Relationship Type="http://schemas.openxmlformats.org/officeDocument/2006/relationships/notesMaster" Target="/ppt/notesMasters/notesMaster1.xml" Id="R7262e4b2307247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9886d9534c4c42" /><Relationship Type="http://schemas.openxmlformats.org/officeDocument/2006/relationships/notesMaster" Target="/ppt/notesMasters/notesMaster1.xml" Id="Rbbcf707f1a224d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f8ca130c724386" /><Relationship Type="http://schemas.openxmlformats.org/officeDocument/2006/relationships/notesMaster" Target="/ppt/notesMasters/notesMaster1.xml" Id="R8693db4f53b540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f49d61f50415e" /><Relationship Type="http://schemas.openxmlformats.org/officeDocument/2006/relationships/notesMaster" Target="/ppt/notesMasters/notesMaster1.xml" Id="R3c497c1d840649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24501f29f54fd6" /><Relationship Type="http://schemas.openxmlformats.org/officeDocument/2006/relationships/notesMaster" Target="/ppt/notesMasters/notesMaster1.xml" Id="R35a3b99f305743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c966ac45e54304" /><Relationship Type="http://schemas.openxmlformats.org/officeDocument/2006/relationships/notesMaster" Target="/ppt/notesMasters/notesMaster1.xml" Id="R7397f1f4b5fe43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1ed48f5eba48bb" /><Relationship Type="http://schemas.openxmlformats.org/officeDocument/2006/relationships/notesMaster" Target="/ppt/notesMasters/notesMaster1.xml" Id="Rf4f3a14823d142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2ee6ec8a3cc432b" /><Relationship Type="http://schemas.openxmlformats.org/officeDocument/2006/relationships/notesMaster" Target="/ppt/notesMasters/notesMaster1.xml" Id="Rd814f512186d4b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1b08fde23540eb" /><Relationship Type="http://schemas.openxmlformats.org/officeDocument/2006/relationships/notesMaster" Target="/ppt/notesMasters/notesMaster1.xml" Id="R5f0cc3da554f49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7bcebcd5b954e27" /><Relationship Type="http://schemas.openxmlformats.org/officeDocument/2006/relationships/notesMaster" Target="/ppt/notesMasters/notesMaster1.xml" Id="Raa00cbe7c50e45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367f9712b74495" /><Relationship Type="http://schemas.openxmlformats.org/officeDocument/2006/relationships/notesMaster" Target="/ppt/notesMasters/notesMaster1.xml" Id="R46810e8bd41341e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f6f1ad61bf47a3" /><Relationship Type="http://schemas.openxmlformats.org/officeDocument/2006/relationships/notesMaster" Target="/ppt/notesMasters/notesMaster1.xml" Id="Rc8727639a2f7489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495693b2c164755" /><Relationship Type="http://schemas.openxmlformats.org/officeDocument/2006/relationships/notesMaster" Target="/ppt/notesMasters/notesMaster1.xml" Id="R969fd94ae30b4a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ca521171294dce" /><Relationship Type="http://schemas.openxmlformats.org/officeDocument/2006/relationships/notesMaster" Target="/ppt/notesMasters/notesMaster1.xml" Id="R0d35cc74210a4b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4조 UKKKK입니다.  </a:t>
            </a:r>
          </a:p>
          <a:p xmlns:a="http://schemas.openxmlformats.org/drawingml/2006/main">
            <a:r>
              <a:t>원래 과제는 출산·양육 관련 민원과 데이터를 수집해 정책 수요를 도출하는 것이었습니다. 그런데 실제 ‘상상대로 서울’ 데이터를 확인하면서, 시민 제안의 답변 상태와 반복 수요, 실제 담당팀 후보, 기존 정책 근거가 한 흐름으로 연결되어 있지 않다는 점에 주목했습니다.  </a:t>
            </a:r>
          </a:p>
          <a:p xmlns:a="http://schemas.openxmlformats.org/drawingml/2006/main">
            <a:r>
              <a:t>그래서 저희는 상상대로 서울을 대체하는 서비스가 아니라, **시민 제안을 정책 검토와 후속 조치로 연결해 플랫폼의 활용을 돕는 백오피스**를 만들었습니다.  </a:t>
            </a:r>
          </a:p>
          <a:p xmlns:a="http://schemas.openxmlformats.org/drawingml/2006/main">
            <a:r>
              <a:t>UKKKK는 시민 제안·민원·정책·뉴스·통계를 통합하고, 시민 수요를 담당 범위와 판단 근거, 다음 조치로 연결하는 행정 의사결정 지원 대시보드입니다.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본문·지역 범위 미확인은 실제 데이터에서 확인했습니다. 담당자의 시스템 사용 방식과 업무 부담은 이번 분석 범위에 포함하지 않았으며, 가상 페르소나는 제품 기능과 시연 흐름을 설명하기 위한 설정입니다.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상상대로 서울에는 시민 제안이 축적되어 있지만, 제안만으로는 **어떤 수요를 먼저 살펴볼지, 어느 정책 영역과 실제 담당 후보가 연결되는지, 판단 근거와 다음 조치가 무엇인지**를 한 흐름에서 확인하기 어렵습니다.  </a:t>
            </a:r>
          </a:p>
          <a:p xmlns:a="http://schemas.openxmlformats.org/drawingml/2006/main">
            <a:r>
              <a:t>저희는 시민 수요와 정책·민원·뉴스·통계, R&amp;R 근거를 연결해 이 단절을 보완하는 것을 제품이 다룰 문제로 정의했습니다.  </a:t>
            </a:r>
          </a:p>
          <a:p xmlns:a="http://schemas.openxmlformats.org/drawingml/2006/main">
            <a:r>
              <a:t>화면의 누락·혼선·근거 단절은 실제 기관의 확정된 업무 절차가 아니라, 수집 데이터와 제품 구조를 바탕으로 설정한 검토 위험입니다.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왼쪽은 UKKKK가 받는 입력입니다. 시민 제안과 민원, 기존 정책과 뉴스, 자치구 통계를 한데 모읍니다.  </a:t>
            </a:r>
          </a:p>
          <a:p xmlns:a="http://schemas.openxmlformats.org/drawingml/2006/main">
            <a:r>
              <a:t>오른쪽은 그 데이터를 연결해 만든 출력입니다. 반복되는 수요와 정책 Gap, 주관·협조 R&amp;R 후보, 원문 근거, 맞춤 보고서와 검토 로그를 제공합니다.  </a:t>
            </a:r>
          </a:p>
          <a:p xmlns:a="http://schemas.openxmlformats.org/drawingml/2006/main">
            <a:r>
              <a:t>즉, 이 화면은 실제 조작 순서를 설명하는 페이지가 아니라 **흩어진 입력을 검토 가능한 출력으로 바꾸는 제품의 역할**을 보여줍니다. 최종 판단과 승인은 담당자에게 남겨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</a:t>
            </a:r>
          </a:p>
          <a:p xmlns:a="http://schemas.openxmlformats.org/drawingml/2006/main">
            <a:r>
              <a:t>현재 데모는 이 데이터를 미리 수집·정제해 캐시한 구조로 안정적으로 재현됩니다.</a:t>
            </a:r>
          </a:p>
          <a:p xmlns:a="http://schemas.openxmlformats.org/drawingml/2006/main">
            <a:r>
              <a:t>텍스트는 한 모델이 모든 값을 한 번에 결정하지 않습니다. 먼저 조사·접미사와 불용어를 정리하고 유사어를 통합한 뒤, 규칙 기반으로 8대·중·소분류와 신뢰도를 만듭니다.</a:t>
            </a:r>
          </a:p>
          <a:p xmlns:a="http://schemas.openxmlformats.org/drawingml/2006/main">
            <a:r>
              <a:t>KR-SBERT는 의미상 가까운 카테고리와 유사 제안 군집을 찾고, 뉴스는 규칙 분류 뒤 기존 카테고리·수집 분류·NMF 토픽 순으로 보완합니다.</a:t>
            </a:r>
          </a:p>
          <a:p xmlns:a="http://schemas.openxmlformats.org/drawingml/2006/main">
            <a:r>
              <a:t>마지막으로 본문 자치구와 원본 업무분장을 각각 파싱해 지역 후보와 R&amp;R 후보를 연결합니다.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/Users/parkcy/Desktop/sesac_pjt/UKKKK/frontend/src/utils/textMining.ts</a:t>
            </a:r>
          </a:p>
          <a:p xmlns:a="http://schemas.openxmlformats.org/drawingml/2006/main">
            <a:r>
              <a:t>- /Users/parkcy/Desktop/sesac_pjt/UKKKK/scripts/테스트용/classify_policy_and_match_staff.py</a:t>
            </a:r>
          </a:p>
          <a:p xmlns:a="http://schemas.openxmlformats.org/drawingml/2006/main">
            <a:r>
              <a:t>- /Users/parkcy/Desktop/sesac_pjt/UKKKK/scripts/테스트용/04_semantic_grouping.py</a:t>
            </a:r>
          </a:p>
          <a:p xmlns:a="http://schemas.openxmlformats.org/drawingml/2006/main">
            <a:r>
              <a:t>- /Users/parkcy/Desktop/sesac_pjt/UKKKK/scripts/테스트용/classify_naver_news_taxonomy.py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먼저 안내할 기능은 상단의 두 단계 담당 범위 선택입니다.</a:t>
            </a:r>
          </a:p>
          <a:p xmlns:a="http://schemas.openxmlformats.org/drawingml/2006/main">
            <a:r>
              <a:t>첫 번째는 조직이 아니라 8대 정책 대분류 담당군이고, 두 번째가 원본 업무분장에 근거한 실제 R&amp;R 팀입니다.</a:t>
            </a:r>
          </a:p>
          <a:p xmlns:a="http://schemas.openxmlformats.org/drawingml/2006/main">
            <a:r>
              <a:t>별도의 감독학습 모델이 팀을 확정하는 것이 아니라 제안 분류와 업무분장 일치, 본문의 업무 키워드, 기존 담당 후보를 점수화해 R&amp;R 후보 순위를 만듭니다.</a:t>
            </a:r>
          </a:p>
          <a:p xmlns:a="http://schemas.openxmlformats.org/drawingml/2006/main">
            <a:r>
              <a:t>전체 담당군에서 팀을 고르면 그 팀이 주관 또는 협조로 포함된 1·2·3순위 안건을 찾고, 특정 대분류를 먼저 고르면 그 범위에서 해당 팀이 1순위 주관인 안건만 보여줍니다.</a:t>
            </a:r>
          </a:p>
          <a:p xmlns:a="http://schemas.openxmlformats.org/drawingml/2006/main">
            <a:r>
              <a:t>따라서 같은 팀이 여러 정책 분야에 등장해도 중복을 숨기지 않으면서 검색 의미를 구분할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새싹이를 따라 여덟 개 화면이 어떤 질문에 답하는지 보겠습니다.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독립된 메뉴처럼 보이지만, 제품 안에서는 선택한 담당 범위를 공유하는 **하나의 검토 여정**으로 연결됩니다.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새싹이가 안내하는 제품 시연 흐름은 여섯 장면으로 구성됩니다.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새싹이 오피스 길잡이는 사용자가 현재 화면에서 무엇을 확인할 수 있는지 안내합니다. 정책 담당군을 선택하면 대분류 기준으로, 실제 팀을 선택하면 팀 기준으로 안내 내용과 화면 흐름을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원본의 자치구 `미상`을 모두 결측치로 보거나 특정 구로 강제 복원하지 않습니다. 824건 중 원본에서 자치구가 선택된 것은 20건입니다. 나머지 중 본문에 25개 자치구명이 직접 등장하는 복원 후보는 49건, 서울시 전체 범위를 명시한 제안은 5건이며, 750건은 서울시 전체 요구와 판별 불가가 섞인 `지역 범위 미확인`으로 남깁니다.  </a:t>
            </a:r>
          </a:p>
          <a:p xmlns:a="http://schemas.openxmlformats.org/drawingml/2006/main">
            <a:r>
              <a:t>별도로 원문이 연결되지 않았거나 30자 미만인 레코드는 186건이며, 본문이 없으면 제목을 반복해 보여주지 않고 수집 상태를 표시합니다.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라이브 화면을 열기 전에 다섯 장면만 먼저 말씀드리겠습니다.  </a:t>
            </a:r>
          </a:p>
          <a:p xmlns:a="http://schemas.openxmlformats.org/drawingml/2006/main">
            <a:r>
              <a:t>첫째 출산·산후 초기지원 담당군을 선택하고, 둘째 실제 건강팀을 선택해 68건으로 좁힙니다. 셋째 시민 목소리와 Gap이 같은 범위로 재계산되는지 확인합니다. 넷째 주관 1순위와 협조 2·3순위 근거를 보고, 마지막으로 같은 범위가 보고서까지 이어지는지 확인합니다.  </a:t>
            </a:r>
          </a:p>
          <a:p xmlns:a="http://schemas.openxmlformats.org/drawingml/2006/main">
            <a:r>
              <a:t>이제 다음 장의 버튼을 눌러 실제 데모 페이지로 이동하겠습니다.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 정확도, 만족도는 이번 프로젝트에서 측정하지 않았습니다.  </a:t>
            </a:r>
          </a:p>
          <a:p xmlns:a="http://schemas.openxmlformats.org/drawingml/2006/main">
            <a:r>
              <a:t>따라서 효과 수치를 성과로 제시하지 않고, 현재 확인한 범위를 **기능 구현과 데이터 처리 기준**으로 한정합니다.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운영형 도구로 확장하려면 세 가지 기반이 필요합니다.  </a:t>
            </a:r>
          </a:p>
          <a:p xmlns:a="http://schemas.openxmlformats.org/drawingml/2006/main">
            <a:r>
              <a:t>먼저 정기 수집과 출처 관리를 구축하고 상세 원문 확보율을 높여야 합니다. 다음으로 R&amp;R 후보와 지역 범위 분류를 평가할 수 있는 정답 기준과 검증 지표가 필요합니다.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검증된 정확도 수치로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텍스트 처리는 한 모델이 모든 값을 한 번에 예측하는 구조가 아닙니다.</a:t>
            </a:r>
          </a:p>
          <a:p xmlns:a="http://schemas.openxmlformats.org/drawingml/2006/main">
            <a:r>
              <a:t>먼저 한국어 조사와 접미사, 불용어를 제거하고 도메인 유사어를 통합합니다.</a:t>
            </a:r>
          </a:p>
          <a:p xmlns:a="http://schemas.openxmlformats.org/drawingml/2006/main">
            <a:r>
              <a:t>계층 분류는 제목·본문·원 카테고리의 키워드 점수로 8대·중·소분류와 신뢰도를 만듭니다.</a:t>
            </a:r>
          </a:p>
          <a:p xmlns:a="http://schemas.openxmlformats.org/drawingml/2006/main">
            <a:r>
              <a:t>KR-SBERT는 카테고리 설명과의 코사인 유사도로 의미 분류를 보완하고, 코사인 거리와 average linkage를 사용한 계층적 군집으로 유사 제안의 cluster_id와 cluster_size를 만듭니다.</a:t>
            </a:r>
          </a:p>
          <a:p xmlns:a="http://schemas.openxmlformats.org/drawingml/2006/main">
            <a:r>
              <a:t>뉴스는 규칙 결과가 없을 때 기존 8대 분류, 수집 카테고리, 이미 생성된 NMF 토픽 라벨을 순서대로 매핑합니다.</a:t>
            </a:r>
          </a:p>
          <a:p xmlns:a="http://schemas.openxmlformats.org/drawingml/2006/main">
            <a:r>
              <a:t>자치구는 본문 키워드와 모호어 감점으로 후보·점수·근거어를 남기고, 실제 팀은 업무분장 원문과 제안 텍스트를 가중치로 대조합니다.</a:t>
            </a:r>
          </a:p>
          <a:p xmlns:a="http://schemas.openxmlformats.org/drawingml/2006/main">
            <a:r>
              <a:t>따라서 각 결과가 어떤 입력과 규칙에서 나왔는지 단계별로 추적할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/Users/parkcy/Desktop/sesac_pjt/UKKKK/frontend/src/utils/textMining.ts</a:t>
            </a:r>
          </a:p>
          <a:p xmlns:a="http://schemas.openxmlformats.org/drawingml/2006/main">
            <a:r>
              <a:t>- /Users/parkcy/Desktop/sesac_pjt/UKKKK/scripts/테스트용/classify_policy_and_match_staff.py</a:t>
            </a:r>
          </a:p>
          <a:p xmlns:a="http://schemas.openxmlformats.org/drawingml/2006/main">
            <a:r>
              <a:t>- /Users/parkcy/Desktop/sesac_pjt/UKKKK/scripts/테스트용/04_semantic_grouping.py</a:t>
            </a:r>
          </a:p>
          <a:p xmlns:a="http://schemas.openxmlformats.org/drawingml/2006/main">
            <a:r>
              <a:t>- /Users/parkcy/Desktop/sesac_pjt/UKKKK/scripts/테스트용/classify_naver_news_taxonomy.py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페이지가 두 필터를 나눈 이유와 실제 모델입니다.</a:t>
            </a:r>
          </a:p>
          <a:p xmlns:a="http://schemas.openxmlformats.org/drawingml/2006/main">
            <a:r>
              <a:t>첫 번째 결과는 제안을 8개 정책 영역으로 묶는 분류이고, 두 번째 결과는 18개 업무분장 원문과 제안 텍스트를 대조해 만드는 R&amp;R 후보 순위입니다.</a:t>
            </a:r>
          </a:p>
          <a:p xmlns:a="http://schemas.openxmlformats.org/drawingml/2006/main">
            <a:r>
              <a:t>카테고리 업무 일치에는 30점, 본문과 업무분장의 키워드 일치에는 단어별 10점, 기존 담당 후보 일치에는 50점을 주고 상위 세 팀을 정렬합니다.</a:t>
            </a:r>
          </a:p>
          <a:p xmlns:a="http://schemas.openxmlformats.org/drawingml/2006/main">
            <a:r>
              <a:t>장애·임신건강·직원복지처럼 일반 단어로 잘못 연결되기 쉬운 팀은 해당 문맥이 없을 때 제외합니다.</a:t>
            </a:r>
          </a:p>
          <a:p xmlns:a="http://schemas.openxmlformats.org/drawingml/2006/main">
            <a:r>
              <a:t>이 순위는 공식 배정이 아니라 검토 후보입니다. 전체 담당군일 때는 1·2·3순위 관련 안건을, 특정 담당군과 팀을 함께 선택하면 해당 정책 영역의 1순위 주관 안건만 보여줍니다.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/Users/parkcy/Desktop/sesac_pjt/UKKKK/scripts/06_build_department_ranking.py</a:t>
            </a:r>
          </a:p>
          <a:p xmlns:a="http://schemas.openxmlformats.org/drawingml/2006/main">
            <a:r>
              <a:t>- /Users/parkcy/Desktop/sesac_pjt/UKKKK/frontend/src/utils/departments.ts</a:t>
            </a:r>
          </a:p>
          <a:p xmlns:a="http://schemas.openxmlformats.org/drawingml/2006/main">
            <a:r>
              <a:t>- /Users/parkcy/Desktop/sesac_pjt/UKKKK/frontend/src/App.tsx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로드맵의 PRD와 데이터분석 정의서, 발표 대본, 프론트엔드, 데이터 검사, 배포 산출물을 실제 경로로 정리했습니다.</a:t>
            </a:r>
          </a:p>
          <a:p xmlns:a="http://schemas.openxmlformats.org/drawingml/2006/main">
            <a:r>
              <a:t>별도 파일로 확인되지 않는 산출물이나 측정하지 않은 성과는 완료 사실로 제시하지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/Users/parkcy/Desktop/sesac_pjt/UKKKK/docs/SYSTEM_DESIGN_PRD.md</a:t>
            </a:r>
          </a:p>
          <a:p xmlns:a="http://schemas.openxmlformats.org/drawingml/2006/main">
            <a:r>
              <a:t>- /Users/parkcy/Desktop/sesac_pjt/UKKKK/docs/데이터분석정의서.md</a:t>
            </a:r>
          </a:p>
          <a:p xmlns:a="http://schemas.openxmlformats.org/drawingml/2006/main">
            <a:r>
              <a:t>- /Users/parkcy/Desktop/sesac_pjt/UKKKK/docs/발표자료/발표_대본_PPT구성_ver9.md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cbf6b161c4c3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b99ce0ee04202" /><Relationship Type="http://schemas.openxmlformats.org/officeDocument/2006/relationships/slideLayout" Target="/ppt/slideLayouts/slideLayout1.xml" Id="R2a5273a068a8433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5273a068a84335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07d9e6e1a4e7c" /><Relationship Type="http://schemas.openxmlformats.org/officeDocument/2006/relationships/image" Target="/ppt/media/image.png" Id="Rd3c8aaaee4c44cf9" /><Relationship Type="http://schemas.openxmlformats.org/officeDocument/2006/relationships/image" Target="/ppt/media/image2.png" Id="R6b8c55239c4c4f2c" /><Relationship Type="http://schemas.openxmlformats.org/officeDocument/2006/relationships/notesSlide" Target="/ppt/notesSlides/notesSlide1.xml" Id="Rf34c86e509444b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f37fb37834547" /><Relationship Type="http://schemas.openxmlformats.org/officeDocument/2006/relationships/image" Target="/ppt/media/image3.png" Id="R49542f9bff5143c4" /><Relationship Type="http://schemas.openxmlformats.org/officeDocument/2006/relationships/notesSlide" Target="/ppt/notesSlides/notesSlide2.xml" Id="R7524ed6fc6384f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d75320cc342cb" /><Relationship Type="http://schemas.openxmlformats.org/officeDocument/2006/relationships/image" Target="/ppt/media/image4.png" Id="R4b4956a150af4f6b" /><Relationship Type="http://schemas.openxmlformats.org/officeDocument/2006/relationships/notesSlide" Target="/ppt/notesSlides/notesSlide3.xml" Id="Re58d9051564f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9b760ee264a52" /><Relationship Type="http://schemas.openxmlformats.org/officeDocument/2006/relationships/image" Target="/ppt/media/image3.png" Id="R96ff30c464f0449f" /><Relationship Type="http://schemas.openxmlformats.org/officeDocument/2006/relationships/notesSlide" Target="/ppt/notesSlides/notesSlide4.xml" Id="Rca4de855dc574a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a5b1011594cb7" /><Relationship Type="http://schemas.openxmlformats.org/officeDocument/2006/relationships/image" Target="/ppt/media/image5.png" Id="R71c1e943db514e2e" /><Relationship Type="http://schemas.openxmlformats.org/officeDocument/2006/relationships/notesSlide" Target="/ppt/notesSlides/notesSlide5.xml" Id="Ra9bbf448681b43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f60110f2544b7" /><Relationship Type="http://schemas.openxmlformats.org/officeDocument/2006/relationships/image" Target="/ppt/media/image6.png" Id="R1e39cf99ab9d4134" /><Relationship Type="http://schemas.openxmlformats.org/officeDocument/2006/relationships/image" Target="/ppt/media/image7.png" Id="R798a904d1e0e43ed" /><Relationship Type="http://schemas.openxmlformats.org/officeDocument/2006/relationships/notesSlide" Target="/ppt/notesSlides/notesSlide6.xml" Id="R1e0712be90194c8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ff2f5dc1b4a27" /><Relationship Type="http://schemas.openxmlformats.org/officeDocument/2006/relationships/image" Target="/ppt/media/image8.png" Id="R14074c7e118046f3" /><Relationship Type="http://schemas.openxmlformats.org/officeDocument/2006/relationships/image" Target="/ppt/media/image9.png" Id="R0e69dea30b994ce5" /><Relationship Type="http://schemas.openxmlformats.org/officeDocument/2006/relationships/notesSlide" Target="/ppt/notesSlides/notesSlide7.xml" Id="Rdebd0d44089b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194974bab4392" /><Relationship Type="http://schemas.openxmlformats.org/officeDocument/2006/relationships/image" Target="/ppt/media/image10.png" Id="R2c18ec8a1735472f" /><Relationship Type="http://schemas.openxmlformats.org/officeDocument/2006/relationships/notesSlide" Target="/ppt/notesSlides/notesSlide8.xml" Id="R1f9e65158f8b4b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bd7323feb4b3e" /><Relationship Type="http://schemas.openxmlformats.org/officeDocument/2006/relationships/image" Target="/ppt/media/image10.png" Id="Re3c9ddca169e439b" /><Relationship Type="http://schemas.openxmlformats.org/officeDocument/2006/relationships/notesSlide" Target="/ppt/notesSlides/notesSlide9.xml" Id="R4ab0d7b8a89d4f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f2ddad6a5451f" /><Relationship Type="http://schemas.openxmlformats.org/officeDocument/2006/relationships/image" Target="/ppt/media/image6.png" Id="R165164f230374a3f" /><Relationship Type="http://schemas.openxmlformats.org/officeDocument/2006/relationships/image" Target="/ppt/media/image7.png" Id="Rfc268b61c996456f" /><Relationship Type="http://schemas.openxmlformats.org/officeDocument/2006/relationships/notesSlide" Target="/ppt/notesSlides/notesSlide10.xml" Id="Rd7e63443c57d47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6d8a3290342e3" /><Relationship Type="http://schemas.openxmlformats.org/officeDocument/2006/relationships/image" Target="/ppt/media/image11.png" Id="R9d767e087d8840b9" /><Relationship Type="http://schemas.openxmlformats.org/officeDocument/2006/relationships/notesSlide" Target="/ppt/notesSlides/notesSlide11.xml" Id="Rbdbba9fe9cc4468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5e2912f674b0d" /><Relationship Type="http://schemas.openxmlformats.org/officeDocument/2006/relationships/image" Target="/ppt/media/image4.png" Id="Rd495515c3ac14997" /><Relationship Type="http://schemas.openxmlformats.org/officeDocument/2006/relationships/notesSlide" Target="/ppt/notesSlides/notesSlide12.xml" Id="R479db1e245b847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11c734b6a49b2" /><Relationship Type="http://schemas.openxmlformats.org/officeDocument/2006/relationships/image" Target="/ppt/media/image12.png" Id="R4f31b4445b444ad7" /><Relationship Type="http://schemas.openxmlformats.org/officeDocument/2006/relationships/image" Target="/ppt/media/image13.png" Id="R3803c2086bd44ee5" /><Relationship Type="http://schemas.openxmlformats.org/officeDocument/2006/relationships/hyperlink" Target="https://ukkkk-two.vercel.app/" TargetMode="External" Id="R09d0338cfaab49c6" /><Relationship Type="http://schemas.openxmlformats.org/officeDocument/2006/relationships/notesSlide" Target="/ppt/notesSlides/notesSlide13.xml" Id="R176201d056184e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72ce733d14c7d" /><Relationship Type="http://schemas.openxmlformats.org/officeDocument/2006/relationships/image" Target="/ppt/media/image14.png" Id="R3aeb65633d8042f6" /><Relationship Type="http://schemas.openxmlformats.org/officeDocument/2006/relationships/notesSlide" Target="/ppt/notesSlides/notesSlide14.xml" Id="Rd386c1b765ce4d3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d1f064b44185" /><Relationship Type="http://schemas.openxmlformats.org/officeDocument/2006/relationships/image" Target="/ppt/media/image15.png" Id="Ra926a0fa6a944ddc" /><Relationship Type="http://schemas.openxmlformats.org/officeDocument/2006/relationships/notesSlide" Target="/ppt/notesSlides/notesSlide15.xml" Id="R899bf127b5c240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cd315405a44f8" /><Relationship Type="http://schemas.openxmlformats.org/officeDocument/2006/relationships/image" Target="/ppt/media/image16.png" Id="R67309855493d429a" /><Relationship Type="http://schemas.openxmlformats.org/officeDocument/2006/relationships/notesSlide" Target="/ppt/notesSlides/notesSlide16.xml" Id="R639f9baccf8445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a36192c8e462a" /><Relationship Type="http://schemas.openxmlformats.org/officeDocument/2006/relationships/image" Target="/ppt/media/image17.png" Id="R59a8f0f296834ad6" /><Relationship Type="http://schemas.openxmlformats.org/officeDocument/2006/relationships/notesSlide" Target="/ppt/notesSlides/notesSlide17.xml" Id="R353d748055cb4f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ff2d302c3491b" /><Relationship Type="http://schemas.openxmlformats.org/officeDocument/2006/relationships/image" Target="/ppt/media/image17.png" Id="R944ca2c4826d4ff9" /><Relationship Type="http://schemas.openxmlformats.org/officeDocument/2006/relationships/notesSlide" Target="/ppt/notesSlides/notesSlide18.xml" Id="Rb15bbaba857c48c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5f0224ae4fe6" /><Relationship Type="http://schemas.openxmlformats.org/officeDocument/2006/relationships/image" Target="/ppt/media/image17.png" Id="R04b2b129d22f4a1e" /><Relationship Type="http://schemas.openxmlformats.org/officeDocument/2006/relationships/notesSlide" Target="/ppt/notesSlides/notesSlide19.xml" Id="R2a07b7c89e0b433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891febf2648cb" /><Relationship Type="http://schemas.openxmlformats.org/officeDocument/2006/relationships/image" Target="/ppt/media/image17.png" Id="R386e09e19e7940e6" /><Relationship Type="http://schemas.openxmlformats.org/officeDocument/2006/relationships/notesSlide" Target="/ppt/notesSlides/notesSlide20.xml" Id="Rf307fad15ac341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8aaaee4c4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8aaaee4c4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714" cy="1428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c55239c4c4f2c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시민 제안이 다음 검토로 이어지도록 안내할게요</a:t>
            </a:r>
          </a:p>
        </p:txBody>
      </p:sp>
      <p:sp>
        <p:nvSpPr>
          <p:cNvPr id="38" name="Cover value proposition">
            <a:extLst xmlns:a="http://schemas.openxmlformats.org/drawingml/2006/main">
              <a:ext uri="{FF2B5EF4-FFF2-40B4-BE49-F238E27FC236}">
                <a16:creationId xmlns:a16="http://schemas.microsoft.com/office/drawing/2014/main" id="{C90D2CF7-0CA9-4DC6-8A39-B62667F0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E6B8C"/>
                </a:solidFill>
              </a:defRPr>
            </a:pPr>
            <a:r>
              <a:rPr sz="1950">
                <a:solidFill>
                  <a:srgbClr val="5E6B8C"/>
                </a:solidFill>
              </a:rPr>
              <a:t>상상대로 서울 시민 제안을 담당 범위·근거·후속 조치로 연결하는 정책 백오피스</a:t>
            </a:r>
          </a:p>
        </p:txBody>
      </p:sp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2f9bff51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2f9bff5143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42f9bff5143c4"/>
          <a:stretch xmlns:a="http://schemas.openxmlformats.org/drawingml/2006/main"/>
        </p:blipFill>
        <p:spPr>
          <a:xfrm xmlns:a="http://schemas.openxmlformats.org/drawingml/2006/main">
            <a:off x="323850" y="4935736"/>
            <a:ext cx="1381125" cy="11203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56a150af4f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56a150af4f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기관별 업무 절차를 대표한다고 단정하지 않아요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956a150af4f6b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30c464f0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30c464f044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f30c464f0449f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1e943db514e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1e943db514e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텍스트 정규화 → 계층 분류 → 의미 군집 → 뉴스 토픽 → 지역·R&amp;R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cf99ab9d4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cf99ab9d41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a904d1e0e43ed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규칙·가중치 R&amp;R 후보</a:t>
            </a:r>
          </a:p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 1·2·3 / 대분류+팀 1순위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9cf99ab9d4134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4c7e1180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4c7e118046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9dea30b994ce5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74c7e118046f3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8ec8a173547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8ec8a173547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8ec8a1735472f"/>
          <a:stretch xmlns:a="http://schemas.openxmlformats.org/drawingml/2006/main"/>
        </p:blipFill>
        <p:spPr>
          <a:xfrm xmlns:a="http://schemas.openxmlformats.org/drawingml/2006/main">
            <a:off x="377174" y="4762500"/>
            <a:ext cx="1322102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9ddca169e43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9ddca169e43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9ddca169e439b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164f230374a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164f230374a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68b61c996456f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164f230374a3f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67e087d88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67e087d8840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원본 미상 804건 · 원본 특정 자치구 20건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자치구 후보 49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서울시 전체 명시 5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지역 범위 미확인 750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분류 기준 · 원본 선택값 + 본문 직접 지명 · 원문 미연결 186건 별도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미상을 결측치로 일괄 처리하지 않고 지역 범위를 구분해요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67e087d8840b9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5515c3ac1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5515c3ac1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데모 전 안내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라이브 화면에서 볼 다섯 장면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 → 건강팀 68건 → 재계산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→ R&amp;R 근거 → 보고서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다음 장의 실행 화면에서 실제 데모를 열어요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95515c3ac14997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b4445b444a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b4445b444a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라이브 데모 실행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실제 배포 페이지로 이동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담당군 선택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03c2086bd44e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hlinkClick xmlns:r="http://schemas.openxmlformats.org/officeDocument/2006/relationships" xmlns:a="http://schemas.openxmlformats.org/drawingml/2006/main" r:id="R09d0338cfaab49c6"/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https://ukkkk-two.vercel.app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1b4445b444ad7"/>
          <a:stretch xmlns:a="http://schemas.openxmlformats.org/drawingml/2006/main"/>
        </p:blipFill>
        <p:spPr>
          <a:xfrm xmlns:a="http://schemas.openxmlformats.org/drawingml/2006/main">
            <a:off x="228600" y="4820102"/>
            <a:ext cx="1619250" cy="131354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65633d8042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65633d8042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검증하지 않은 효과를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미검증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 단축·R&amp;R 정확도·만족도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효과 수치는 검증하지 않아 성과로 제시하지 않아요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b65633d8042f6"/>
          <a:stretch xmlns:a="http://schemas.openxmlformats.org/drawingml/2006/main"/>
        </p:blipFill>
        <p:spPr>
          <a:xfrm xmlns:a="http://schemas.openxmlformats.org/drawingml/2006/main">
            <a:off x="323850" y="4749658"/>
            <a:ext cx="1381125" cy="14925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6a0fa6a944d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6a0fa6a944d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6a0fa6a944ddc"/>
          <a:stretch xmlns:a="http://schemas.openxmlformats.org/drawingml/2006/main"/>
        </p:blipFill>
        <p:spPr>
          <a:xfrm xmlns:a="http://schemas.openxmlformats.org/drawingml/2006/main">
            <a:off x="357406" y="4686300"/>
            <a:ext cx="131401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09855493d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09855493d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309855493d429a"/>
          <a:stretch xmlns:a="http://schemas.openxmlformats.org/drawingml/2006/main"/>
        </p:blipFill>
        <p:spPr>
          <a:xfrm xmlns:a="http://schemas.openxmlformats.org/drawingml/2006/main">
            <a:off x="362346" y="4686300"/>
            <a:ext cx="1304132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8f0f29683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8f0f29683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ca2c4826d4f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ca2c4826d4f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텍스트 파싱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TEXT PIPELINE · 모델별 입력과 출력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텍스트를 단계별 모델 입력으로 연결합니다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공통 전처리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조사·접미사 제거 → 유사어 통합 → 불용어 제거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계층 분류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키워드+원 분류 부스트 → 8대·중·소분류·신뢰도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의미 분류·군집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KR-SBERT 코사인 유사도 → 의미 분류·cluster_id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뉴스 파싱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규칙 → 기존 분류 → 수집 분류 → NMF 토픽 맵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지역 파싱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자치구 키워드+모호어 감점 → 후보·점수·근거어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파싱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업무분장+본문 가중치 → 주관 1순위·협조 2·3순위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2b129d22f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2b129d22f4a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C · 필터·R&amp;R 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MODEL DEFINITION · 규칙·가중치 기반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두 단계 필터와 R&amp;R 후보 모델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정책 분류와 실제 조직을 분리해 검색 의미를 명확히 함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카테고리·제목·본문·기존 담당 후보 + 18개 업무분장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담당군 정규화 · 본문 토큰과 업무분장 키워드 대조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랭킹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카테고리·업무 +30 · 키워드 +10 · 기존 담당 후보 +50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주관 1순위 · 협조 2·3순위 · 연락처 · 업무·매칭 근거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검색 규칙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전체+팀은 1·2·3순위 / 대분류+팀은 해당 분류 1순위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e09e19e7940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e09e19e7940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D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docs/발표자료/발표_대본_PPT구성_ver9.md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2026-07-25T14:24:47.5090000Z</dcterms:created>
  <dcterms:modified xsi:type="dcterms:W3CDTF">2026-07-25T14:24:47.5090000Z</dcterms:modified>
</coreProperties>
</file>